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theme/themeOverride2.xml" ContentType="application/vnd.openxmlformats-officedocument.themeOverride+xml"/>
  <Override PartName="/ppt/notesSlides/notesSlide3.xml" ContentType="application/vnd.openxmlformats-officedocument.presentationml.notesSlide+xml"/>
  <Override PartName="/ppt/theme/themeOverride3.xml" ContentType="application/vnd.openxmlformats-officedocument.themeOverride+xml"/>
  <Override PartName="/ppt/notesSlides/notesSlide4.xml" ContentType="application/vnd.openxmlformats-officedocument.presentationml.notesSlide+xml"/>
  <Override PartName="/ppt/theme/themeOverride4.xml" ContentType="application/vnd.openxmlformats-officedocument.themeOverride+xml"/>
  <Override PartName="/ppt/notesSlides/notesSlide5.xml" ContentType="application/vnd.openxmlformats-officedocument.presentationml.notesSlide+xml"/>
  <Override PartName="/ppt/theme/themeOverride5.xml" ContentType="application/vnd.openxmlformats-officedocument.themeOverride+xml"/>
  <Override PartName="/ppt/notesSlides/notesSlide6.xml" ContentType="application/vnd.openxmlformats-officedocument.presentationml.notesSlide+xml"/>
  <Override PartName="/ppt/theme/themeOverride6.xml" ContentType="application/vnd.openxmlformats-officedocument.themeOverride+xml"/>
  <Override PartName="/ppt/notesSlides/notesSlide7.xml" ContentType="application/vnd.openxmlformats-officedocument.presentationml.notesSlide+xml"/>
  <Override PartName="/ppt/theme/themeOverride7.xml" ContentType="application/vnd.openxmlformats-officedocument.themeOverride+xml"/>
  <Override PartName="/ppt/theme/themeOverride8.xml" ContentType="application/vnd.openxmlformats-officedocument.themeOverr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heme/themeOverride9.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720" r:id="rId2"/>
  </p:sldMasterIdLst>
  <p:notesMasterIdLst>
    <p:notesMasterId r:id="rId21"/>
  </p:notesMasterIdLst>
  <p:sldIdLst>
    <p:sldId id="256" r:id="rId3"/>
    <p:sldId id="257" r:id="rId4"/>
    <p:sldId id="269" r:id="rId5"/>
    <p:sldId id="272" r:id="rId6"/>
    <p:sldId id="273" r:id="rId7"/>
    <p:sldId id="274" r:id="rId8"/>
    <p:sldId id="275" r:id="rId9"/>
    <p:sldId id="276" r:id="rId10"/>
    <p:sldId id="281" r:id="rId11"/>
    <p:sldId id="282" r:id="rId12"/>
    <p:sldId id="285" r:id="rId13"/>
    <p:sldId id="289" r:id="rId14"/>
    <p:sldId id="284" r:id="rId15"/>
    <p:sldId id="290" r:id="rId16"/>
    <p:sldId id="287" r:id="rId17"/>
    <p:sldId id="291" r:id="rId18"/>
    <p:sldId id="292" r:id="rId19"/>
    <p:sldId id="283" r:id="rId20"/>
  </p:sldIdLst>
  <p:sldSz cx="9144000" cy="6858000" type="screen4x3"/>
  <p:notesSz cx="6858000" cy="9144000"/>
  <p:custDataLst>
    <p:tags r:id="rId2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CC"/>
    <a:srgbClr val="9900FF"/>
    <a:srgbClr val="EE0000"/>
    <a:srgbClr val="0005CA"/>
    <a:srgbClr val="1D6D6B"/>
    <a:srgbClr val="000099"/>
    <a:srgbClr val="C60477"/>
    <a:srgbClr val="C60269"/>
    <a:srgbClr val="88064A"/>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067" autoAdjust="0"/>
    <p:restoredTop sz="63658" autoAdjust="0"/>
  </p:normalViewPr>
  <p:slideViewPr>
    <p:cSldViewPr>
      <p:cViewPr varScale="1">
        <p:scale>
          <a:sx n="63" d="100"/>
          <a:sy n="63" d="100"/>
        </p:scale>
        <p:origin x="-1858" y="-62"/>
      </p:cViewPr>
      <p:guideLst>
        <p:guide orient="horz" pos="2160"/>
        <p:guide pos="2880"/>
      </p:guideLst>
    </p:cSldViewPr>
  </p:slideViewPr>
  <p:notesTextViewPr>
    <p:cViewPr>
      <p:scale>
        <a:sx n="1" d="1"/>
        <a:sy n="1" d="1"/>
      </p:scale>
      <p:origin x="0" y="0"/>
    </p:cViewPr>
  </p:notesTextViewPr>
  <p:sorterViewPr>
    <p:cViewPr>
      <p:scale>
        <a:sx n="100" d="100"/>
        <a:sy n="100" d="100"/>
      </p:scale>
      <p:origin x="0" y="121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4073C2E-51A6-420F-8788-9A3EAC99032A}" type="datetimeFigureOut">
              <a:rPr lang="en-US" smtClean="0"/>
              <a:pPr/>
              <a:t>10/14/2015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5091714-3304-44AF-AABA-9711959465C3}" type="slidenum">
              <a:rPr lang="en-US" smtClean="0"/>
              <a:pPr/>
              <a:t>‹#›</a:t>
            </a:fld>
            <a:endParaRPr lang="en-US"/>
          </a:p>
        </p:txBody>
      </p:sp>
    </p:spTree>
    <p:extLst>
      <p:ext uri="{BB962C8B-B14F-4D97-AF65-F5344CB8AC3E}">
        <p14:creationId xmlns:p14="http://schemas.microsoft.com/office/powerpoint/2010/main" val="3151996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2</a:t>
            </a:fld>
            <a:endParaRPr lang="en-US" dirty="0"/>
          </a:p>
        </p:txBody>
      </p:sp>
    </p:spTree>
    <p:extLst>
      <p:ext uri="{BB962C8B-B14F-4D97-AF65-F5344CB8AC3E}">
        <p14:creationId xmlns:p14="http://schemas.microsoft.com/office/powerpoint/2010/main" val="37271413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200" kern="1200" dirty="0" smtClean="0">
                <a:solidFill>
                  <a:schemeClr val="tx1"/>
                </a:solidFill>
                <a:effectLst/>
                <a:latin typeface="+mn-lt"/>
                <a:ea typeface="+mn-ea"/>
                <a:cs typeface="+mn-cs"/>
              </a:rPr>
              <a:t>The database manager is similar to a text editor when working with text files. When you want to do a change in text file , we write a simple Python program just like working with databases.</a:t>
            </a:r>
          </a:p>
          <a:p>
            <a:endParaRPr lang="en-IN"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5091714-3304-44AF-AABA-9711959465C3}" type="slidenum">
              <a:rPr lang="en-US" smtClean="0"/>
              <a:pPr/>
              <a:t>3</a:t>
            </a:fld>
            <a:endParaRPr lang="en-US" dirty="0"/>
          </a:p>
        </p:txBody>
      </p:sp>
    </p:spTree>
    <p:extLst>
      <p:ext uri="{BB962C8B-B14F-4D97-AF65-F5344CB8AC3E}">
        <p14:creationId xmlns:p14="http://schemas.microsoft.com/office/powerpoint/2010/main" val="24112825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smtClean="0">
                <a:solidFill>
                  <a:schemeClr val="tx1"/>
                </a:solidFill>
                <a:effectLst/>
                <a:latin typeface="+mn-lt"/>
                <a:ea typeface="+mn-ea"/>
                <a:cs typeface="+mn-cs"/>
              </a:rPr>
              <a:t>Databases require more defined structure than Python lists or dictionaries. When we create a database table we must tell the database in advance the names of each of the columns in the table and the type of data which we are planning to store in each column. When the database software knows the type of data in each column, it can choose the most efficient way to store and lookup the data based on the type of data. Defining structure for your data up front may seem inconvenient at the beginning, but the payoff is fast access to your data even when the database contains a large amount of data.</a:t>
            </a:r>
            <a:endParaRPr lang="en-IN"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5091714-3304-44AF-AABA-9711959465C3}" type="slidenum">
              <a:rPr lang="en-US" smtClean="0"/>
              <a:pPr/>
              <a:t>4</a:t>
            </a:fld>
            <a:endParaRPr lang="en-US" dirty="0"/>
          </a:p>
        </p:txBody>
      </p:sp>
    </p:spTree>
    <p:extLst>
      <p:ext uri="{BB962C8B-B14F-4D97-AF65-F5344CB8AC3E}">
        <p14:creationId xmlns:p14="http://schemas.microsoft.com/office/powerpoint/2010/main" val="3819578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The connect operation makes a “connection” to the database stored in the file College.sqlite3 in the current directory. If the file does not exist, it will be created. </a:t>
            </a:r>
          </a:p>
          <a:p>
            <a:r>
              <a:rPr lang="en-US" sz="1200" b="0" i="0" u="none" strike="noStrike" kern="1200" baseline="0" dirty="0" smtClean="0">
                <a:solidFill>
                  <a:schemeClr val="tx1"/>
                </a:solidFill>
                <a:latin typeface="+mn-lt"/>
                <a:ea typeface="+mn-ea"/>
                <a:cs typeface="+mn-cs"/>
              </a:rPr>
              <a:t>The reason this is called a “connection” is that sometimes the database is stored on a separate “database server” from the server on which we are running our application. In our simple examples the database will just be a local file in the same directory as the Python code we are running.</a:t>
            </a:r>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5</a:t>
            </a:fld>
            <a:endParaRPr lang="en-US" dirty="0"/>
          </a:p>
        </p:txBody>
      </p:sp>
    </p:spTree>
    <p:extLst>
      <p:ext uri="{BB962C8B-B14F-4D97-AF65-F5344CB8AC3E}">
        <p14:creationId xmlns:p14="http://schemas.microsoft.com/office/powerpoint/2010/main" val="19155539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A cursor is like a file handle that we can use to perform operations on the data stored in the database. Calling cursor() is very similar conceptually to calling</a:t>
            </a:r>
          </a:p>
          <a:p>
            <a:r>
              <a:rPr lang="en-US" sz="1200" b="0" i="0" u="none" strike="noStrike" kern="1200" baseline="0" dirty="0" smtClean="0">
                <a:solidFill>
                  <a:schemeClr val="tx1"/>
                </a:solidFill>
                <a:latin typeface="+mn-lt"/>
                <a:ea typeface="+mn-ea"/>
                <a:cs typeface="+mn-cs"/>
              </a:rPr>
              <a:t>open() when dealing with text files. Once we have the cursor, we can begin to execute commands on the contents of the database using the execute() method.</a:t>
            </a:r>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6</a:t>
            </a:fld>
            <a:endParaRPr lang="en-US" dirty="0"/>
          </a:p>
        </p:txBody>
      </p:sp>
    </p:spTree>
    <p:extLst>
      <p:ext uri="{BB962C8B-B14F-4D97-AF65-F5344CB8AC3E}">
        <p14:creationId xmlns:p14="http://schemas.microsoft.com/office/powerpoint/2010/main" val="5448778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First we INSERT two rows into our table and use commit() to force the data to be written to the database file. </a:t>
            </a:r>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7</a:t>
            </a:fld>
            <a:endParaRPr lang="en-US" dirty="0"/>
          </a:p>
        </p:txBody>
      </p:sp>
    </p:spTree>
    <p:extLst>
      <p:ext uri="{BB962C8B-B14F-4D97-AF65-F5344CB8AC3E}">
        <p14:creationId xmlns:p14="http://schemas.microsoft.com/office/powerpoint/2010/main" val="12515285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A relational database is made up of tables, rows, and columns. The columns generally have a type such as text, numeric, or date data. When we create a table, we indicate the names and types of the columns: CREATE TABLE Tracks (title TEXT, plays INTEGER).</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 </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To insert a row into a table, we use the SQL INSERT command:</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INSERT INTO Tracks (title, plays) VALUES ('My Way', 15)</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 </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The INSERT statement specifies the table name, and then a list of the fields/columns that you would like to set in the new row, and then the keyword VALUES and then a list of corresponding values for each of the fields. The SQL SELECT command is used to retrieve rows and columns from a database. The SELECT statement lets you specify which columns you would like to retrieve as well as a WHERE clause to select which rows you would like to see. It also allows an optional ORDER BY clause to control the sorting of the returned rows.</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 </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SELECT * FROM Tracks WHERE title = 'My Way'</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Using * indicates that you want the database to return all of the columns for each row that matches the WHERE clause.</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Note, unlike in Python, in a SQL WHERE clause we use a single equal sign to indicate a test for equality rather than a double equal sign. Other logical operations</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allowed in a WHERE clause include &lt;, &gt;, &lt;=, &gt;=, !=, as well as AND </a:t>
            </a:r>
            <a:r>
              <a:rPr lang="en-US" sz="1200" kern="1200" dirty="0" err="1" smtClean="0">
                <a:solidFill>
                  <a:schemeClr val="tx1"/>
                </a:solidFill>
                <a:effectLst/>
                <a:latin typeface="+mn-lt"/>
                <a:ea typeface="+mn-ea"/>
                <a:cs typeface="+mn-cs"/>
              </a:rPr>
              <a:t>and</a:t>
            </a:r>
            <a:r>
              <a:rPr lang="en-US" sz="1200" kern="1200" dirty="0" smtClean="0">
                <a:solidFill>
                  <a:schemeClr val="tx1"/>
                </a:solidFill>
                <a:effectLst/>
                <a:latin typeface="+mn-lt"/>
                <a:ea typeface="+mn-ea"/>
                <a:cs typeface="+mn-cs"/>
              </a:rPr>
              <a:t> OR and parentheses to build your logical expressions.</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You can request that the returned rows be sorted by one of the fields as follows: SELECT </a:t>
            </a:r>
            <a:r>
              <a:rPr lang="en-US" sz="1200" kern="1200" dirty="0" err="1" smtClean="0">
                <a:solidFill>
                  <a:schemeClr val="tx1"/>
                </a:solidFill>
                <a:effectLst/>
                <a:latin typeface="+mn-lt"/>
                <a:ea typeface="+mn-ea"/>
                <a:cs typeface="+mn-cs"/>
              </a:rPr>
              <a:t>title,plays</a:t>
            </a:r>
            <a:r>
              <a:rPr lang="en-US" sz="1200" kern="1200" dirty="0" smtClean="0">
                <a:solidFill>
                  <a:schemeClr val="tx1"/>
                </a:solidFill>
                <a:effectLst/>
                <a:latin typeface="+mn-lt"/>
                <a:ea typeface="+mn-ea"/>
                <a:cs typeface="+mn-cs"/>
              </a:rPr>
              <a:t> FROM Tracks ORDER BY title</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To remove a row, you need a WHERE clause on an SQL DELETE statement. The WHERE clause determines which rows are to be deleted:</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DELETE FROM Tracks WHERE title = 'My Way'</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It is possible to UPDATE a column or columns within one or more rows in a table using the SQL UPDATE statement as follows:</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UPDATE Tracks SET plays = 16 WHERE title = 'My Way'</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The UPDATE statement specifies a table and then a list of fields and values to change after the SET keyword and then an optional WHERE clause to select the rows that are to be updated. A single UPDATE statement will change all of the rows that match the WHERE clause, or if a WHERE clause is not specified, it performs the UPDATE on</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all of the rows in the table.</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These four basic SQL commands (INSERT, SELECT, UPDATE, and DELETE) allow the four basic operations needed to create and maintain data.</a:t>
            </a:r>
            <a:endParaRPr lang="en-IN"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 </a:t>
            </a:r>
            <a:endParaRPr lang="en-IN"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5091714-3304-44AF-AABA-9711959465C3}" type="slidenum">
              <a:rPr lang="en-US" smtClean="0"/>
              <a:pPr/>
              <a:t>8</a:t>
            </a:fld>
            <a:endParaRPr lang="en-US"/>
          </a:p>
        </p:txBody>
      </p:sp>
    </p:spTree>
    <p:extLst>
      <p:ext uri="{BB962C8B-B14F-4D97-AF65-F5344CB8AC3E}">
        <p14:creationId xmlns:p14="http://schemas.microsoft.com/office/powerpoint/2010/main" val="40397125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The real power of a relational database is when we make multiple tables and make links between those tables. The act of deciding how to break up your application</a:t>
            </a:r>
          </a:p>
          <a:p>
            <a:r>
              <a:rPr lang="en-US" sz="1200" b="0" i="0" u="none" strike="noStrike" kern="1200" baseline="0" dirty="0" smtClean="0">
                <a:solidFill>
                  <a:schemeClr val="tx1"/>
                </a:solidFill>
                <a:latin typeface="+mn-lt"/>
                <a:ea typeface="+mn-ea"/>
                <a:cs typeface="+mn-cs"/>
              </a:rPr>
              <a:t>data into multiple tables and establishing the relationships between the two tables is called data modeling. The design document that shows the tables and their</a:t>
            </a:r>
          </a:p>
          <a:p>
            <a:r>
              <a:rPr lang="en-US" sz="1200" b="0" i="0" u="none" strike="noStrike" kern="1200" baseline="0" dirty="0" smtClean="0">
                <a:solidFill>
                  <a:schemeClr val="tx1"/>
                </a:solidFill>
                <a:latin typeface="+mn-lt"/>
                <a:ea typeface="+mn-ea"/>
                <a:cs typeface="+mn-cs"/>
              </a:rPr>
              <a:t>relationships is called a data model.</a:t>
            </a: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This duplication of string data violates the best practices for database normalization which basically states that we should never put the same string data in the</a:t>
            </a:r>
          </a:p>
          <a:p>
            <a:r>
              <a:rPr lang="en-US" sz="1200" b="0" i="0" u="none" strike="noStrike" kern="1200" baseline="0" dirty="0" smtClean="0">
                <a:solidFill>
                  <a:schemeClr val="tx1"/>
                </a:solidFill>
                <a:latin typeface="+mn-lt"/>
                <a:ea typeface="+mn-ea"/>
                <a:cs typeface="+mn-cs"/>
              </a:rPr>
              <a:t>database more than once. If we need the data more than once, we create a numeric key for the data and reference the actual data using this key.</a:t>
            </a: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We can create the People table with this additional id column as follows:</a:t>
            </a:r>
          </a:p>
          <a:p>
            <a:r>
              <a:rPr lang="en-US" sz="1200" b="0" i="0" u="none" strike="noStrike" kern="1200" baseline="0" dirty="0" smtClean="0">
                <a:solidFill>
                  <a:schemeClr val="tx1"/>
                </a:solidFill>
                <a:latin typeface="+mn-lt"/>
                <a:ea typeface="+mn-ea"/>
                <a:cs typeface="+mn-cs"/>
              </a:rPr>
              <a:t>CREATE TABLE People (id INTEGER PRIMARY KEY, name TEXT UNIQUE, retrieved INTEGER)</a:t>
            </a: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Notice that we are no longer maintaining a friend count in each row of the People table. When we select INTEGER PRIMARY KEY as the type of our id column,</a:t>
            </a:r>
          </a:p>
          <a:p>
            <a:r>
              <a:rPr lang="en-US" sz="1200" b="0" i="0" u="none" strike="noStrike" kern="1200" baseline="0" dirty="0" smtClean="0">
                <a:solidFill>
                  <a:schemeClr val="tx1"/>
                </a:solidFill>
                <a:latin typeface="+mn-lt"/>
                <a:ea typeface="+mn-ea"/>
                <a:cs typeface="+mn-cs"/>
              </a:rPr>
              <a:t>we are indicating that we would like SQLite to manage this column and assign a unique numeric key to each row we insert automatically. We also add the keyword</a:t>
            </a:r>
          </a:p>
          <a:p>
            <a:r>
              <a:rPr lang="en-US" sz="1200" b="0" i="0" u="none" strike="noStrike" kern="1200" baseline="0" dirty="0" smtClean="0">
                <a:solidFill>
                  <a:schemeClr val="tx1"/>
                </a:solidFill>
                <a:latin typeface="+mn-lt"/>
                <a:ea typeface="+mn-ea"/>
                <a:cs typeface="+mn-cs"/>
              </a:rPr>
              <a:t>UNIQUE to indicate that we will not allow SQLite to insert two rows with the same value for name.</a:t>
            </a:r>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10</a:t>
            </a:fld>
            <a:endParaRPr lang="en-US"/>
          </a:p>
        </p:txBody>
      </p:sp>
    </p:spTree>
    <p:extLst>
      <p:ext uri="{BB962C8B-B14F-4D97-AF65-F5344CB8AC3E}">
        <p14:creationId xmlns:p14="http://schemas.microsoft.com/office/powerpoint/2010/main" val="33243023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5091714-3304-44AF-AABA-9711959465C3}" type="slidenum">
              <a:rPr lang="en-US" smtClean="0"/>
              <a:t>11</a:t>
            </a:fld>
            <a:endParaRPr lang="en-US"/>
          </a:p>
        </p:txBody>
      </p:sp>
    </p:spTree>
    <p:extLst>
      <p:ext uri="{BB962C8B-B14F-4D97-AF65-F5344CB8AC3E}">
        <p14:creationId xmlns:p14="http://schemas.microsoft.com/office/powerpoint/2010/main" val="2596889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Solution: </a:t>
            </a:r>
          </a:p>
          <a:p>
            <a:r>
              <a:rPr lang="en-US" dirty="0" smtClean="0"/>
              <a:t>Select</a:t>
            </a:r>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12</a:t>
            </a:fld>
            <a:endParaRPr lang="en-US"/>
          </a:p>
        </p:txBody>
      </p:sp>
    </p:spTree>
    <p:extLst>
      <p:ext uri="{BB962C8B-B14F-4D97-AF65-F5344CB8AC3E}">
        <p14:creationId xmlns:p14="http://schemas.microsoft.com/office/powerpoint/2010/main" val="2596889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5091714-3304-44AF-AABA-9711959465C3}" type="slidenum">
              <a:rPr lang="en-US" smtClean="0"/>
              <a:t>13</a:t>
            </a:fld>
            <a:endParaRPr lang="en-US"/>
          </a:p>
        </p:txBody>
      </p:sp>
    </p:spTree>
    <p:extLst>
      <p:ext uri="{BB962C8B-B14F-4D97-AF65-F5344CB8AC3E}">
        <p14:creationId xmlns:p14="http://schemas.microsoft.com/office/powerpoint/2010/main" val="2596889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Solution</a:t>
            </a:r>
          </a:p>
          <a:p>
            <a:r>
              <a:rPr lang="en-US" dirty="0" smtClean="0"/>
              <a:t>Cursor</a:t>
            </a:r>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14</a:t>
            </a:fld>
            <a:endParaRPr lang="en-US"/>
          </a:p>
        </p:txBody>
      </p:sp>
    </p:spTree>
    <p:extLst>
      <p:ext uri="{BB962C8B-B14F-4D97-AF65-F5344CB8AC3E}">
        <p14:creationId xmlns:p14="http://schemas.microsoft.com/office/powerpoint/2010/main" val="2596889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5091714-3304-44AF-AABA-9711959465C3}" type="slidenum">
              <a:rPr lang="en-US" smtClean="0"/>
              <a:t>15</a:t>
            </a:fld>
            <a:endParaRPr lang="en-US"/>
          </a:p>
        </p:txBody>
      </p:sp>
    </p:spTree>
    <p:extLst>
      <p:ext uri="{BB962C8B-B14F-4D97-AF65-F5344CB8AC3E}">
        <p14:creationId xmlns:p14="http://schemas.microsoft.com/office/powerpoint/2010/main" val="2596889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Solution:</a:t>
            </a:r>
          </a:p>
          <a:p>
            <a:r>
              <a:rPr lang="en-US" dirty="0" smtClean="0"/>
              <a:t>DataModel</a:t>
            </a:r>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16</a:t>
            </a:fld>
            <a:endParaRPr lang="en-US"/>
          </a:p>
        </p:txBody>
      </p:sp>
    </p:spTree>
    <p:extLst>
      <p:ext uri="{BB962C8B-B14F-4D97-AF65-F5344CB8AC3E}">
        <p14:creationId xmlns:p14="http://schemas.microsoft.com/office/powerpoint/2010/main" val="2596889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b="1" dirty="0" smtClean="0">
                <a:latin typeface="Calibri" panose="020F0502020204030204" pitchFamily="34" charset="0"/>
                <a:ea typeface="Calibri" panose="020F0502020204030204" pitchFamily="34" charset="0"/>
                <a:cs typeface="Times New Roman" panose="02020603050405020304" pitchFamily="18" charset="0"/>
              </a:rPr>
              <a:t>Solution:</a:t>
            </a:r>
          </a:p>
          <a:p>
            <a:endParaRPr lang="en-US" sz="1600" b="1" dirty="0" smtClean="0">
              <a:latin typeface="Calibri" panose="020F0502020204030204" pitchFamily="34" charset="0"/>
              <a:ea typeface="Calibri" panose="020F0502020204030204" pitchFamily="34" charset="0"/>
              <a:cs typeface="Times New Roman" panose="02020603050405020304" pitchFamily="18" charset="0"/>
            </a:endParaRPr>
          </a:p>
          <a:p>
            <a:r>
              <a:rPr lang="en-US" sz="1200" dirty="0" smtClean="0"/>
              <a:t>In order to do this activity, you need to perform the following tasks:</a:t>
            </a:r>
          </a:p>
          <a:p>
            <a:pPr marL="342900" indent="-342900">
              <a:buAutoNum type="arabicPeriod"/>
            </a:pPr>
            <a:r>
              <a:rPr lang="en-US" sz="1200" dirty="0" smtClean="0"/>
              <a:t>Create a</a:t>
            </a:r>
            <a:r>
              <a:rPr lang="en-US" sz="1200" baseline="0" dirty="0" smtClean="0"/>
              <a:t> </a:t>
            </a:r>
            <a:r>
              <a:rPr lang="en-US" sz="1200" dirty="0" smtClean="0"/>
              <a:t>Python empty project.</a:t>
            </a:r>
          </a:p>
          <a:p>
            <a:pPr marL="342900" indent="-342900">
              <a:buAutoNum type="arabicPeriod"/>
            </a:pPr>
            <a:r>
              <a:rPr lang="en-US" sz="1200" dirty="0" smtClean="0"/>
              <a:t>Use </a:t>
            </a:r>
            <a:r>
              <a:rPr lang="en-US" sz="1200" b="1" dirty="0" smtClean="0"/>
              <a:t>sqlite3</a:t>
            </a:r>
            <a:r>
              <a:rPr lang="en-US" sz="1200" dirty="0" smtClean="0"/>
              <a:t> library to access python database API,</a:t>
            </a:r>
            <a:r>
              <a:rPr lang="en-US" sz="1200" baseline="0" dirty="0" smtClean="0"/>
              <a:t> </a:t>
            </a:r>
            <a:r>
              <a:rPr lang="en-US" sz="1200" dirty="0" smtClean="0"/>
              <a:t>use </a:t>
            </a:r>
            <a:r>
              <a:rPr lang="en-US" sz="1200" b="1" dirty="0" smtClean="0"/>
              <a:t>connect()</a:t>
            </a:r>
            <a:r>
              <a:rPr lang="en-US" sz="1200" dirty="0" smtClean="0"/>
              <a:t> to create and open the connection,</a:t>
            </a:r>
            <a:r>
              <a:rPr lang="en-US" sz="1200" baseline="0" dirty="0" smtClean="0"/>
              <a:t> </a:t>
            </a:r>
            <a:r>
              <a:rPr lang="en-US" sz="1200" dirty="0" smtClean="0"/>
              <a:t>use </a:t>
            </a:r>
            <a:r>
              <a:rPr lang="en-US" sz="1200" b="1" dirty="0" smtClean="0"/>
              <a:t>execute()</a:t>
            </a:r>
            <a:r>
              <a:rPr lang="en-US" sz="1200" dirty="0" smtClean="0"/>
              <a:t> to execute </a:t>
            </a:r>
            <a:r>
              <a:rPr lang="en-US" sz="1200" b="1" dirty="0" smtClean="0"/>
              <a:t>SQL create</a:t>
            </a:r>
            <a:r>
              <a:rPr lang="en-US" sz="1200" b="1" baseline="0" dirty="0" smtClean="0"/>
              <a:t> table</a:t>
            </a:r>
            <a:r>
              <a:rPr lang="en-US" sz="1200" baseline="0" dirty="0" smtClean="0"/>
              <a:t> </a:t>
            </a:r>
            <a:r>
              <a:rPr lang="en-US" sz="1200" dirty="0" smtClean="0"/>
              <a:t>statement,</a:t>
            </a:r>
            <a:r>
              <a:rPr lang="en-US" sz="1200" baseline="0" dirty="0" smtClean="0"/>
              <a:t> </a:t>
            </a:r>
            <a:r>
              <a:rPr lang="en-US" sz="1200" dirty="0" smtClean="0"/>
              <a:t>use </a:t>
            </a:r>
            <a:r>
              <a:rPr lang="en-US" sz="1200" b="1" dirty="0" smtClean="0"/>
              <a:t>execute()</a:t>
            </a:r>
            <a:r>
              <a:rPr lang="en-US" sz="1200" dirty="0" smtClean="0"/>
              <a:t> to write </a:t>
            </a:r>
            <a:r>
              <a:rPr lang="en-US" sz="1200" b="1" dirty="0" smtClean="0"/>
              <a:t>SQL insert</a:t>
            </a:r>
            <a:r>
              <a:rPr lang="en-US" sz="1200" dirty="0" smtClean="0"/>
              <a:t> statement to Insert two records,</a:t>
            </a:r>
            <a:r>
              <a:rPr lang="en-US" sz="1200" baseline="0" dirty="0" smtClean="0"/>
              <a:t> u</a:t>
            </a:r>
            <a:r>
              <a:rPr lang="en-US" sz="1200" dirty="0" smtClean="0"/>
              <a:t>se </a:t>
            </a:r>
            <a:r>
              <a:rPr lang="en-US" sz="1200" b="1" dirty="0" smtClean="0"/>
              <a:t>close()</a:t>
            </a:r>
            <a:r>
              <a:rPr lang="en-US" sz="1200" dirty="0" smtClean="0"/>
              <a:t> to close the connection.</a:t>
            </a:r>
          </a:p>
          <a:p>
            <a:pPr marL="0" indent="0">
              <a:buNone/>
            </a:pPr>
            <a:endParaRPr lang="en-US" dirty="0" smtClean="0"/>
          </a:p>
          <a:p>
            <a:r>
              <a:rPr lang="en-US" sz="1600" b="1" dirty="0" smtClean="0"/>
              <a:t>Task 1</a:t>
            </a:r>
            <a:r>
              <a:rPr lang="en-US" sz="1600" dirty="0" smtClean="0"/>
              <a:t>: Create a Python empty project:</a:t>
            </a:r>
          </a:p>
          <a:p>
            <a:r>
              <a:rPr lang="en-US" sz="1200" dirty="0" smtClean="0"/>
              <a:t>Step 1: Open </a:t>
            </a:r>
            <a:r>
              <a:rPr lang="en-US" sz="1200" b="1" dirty="0" smtClean="0"/>
              <a:t>NetBeans 8.0.2</a:t>
            </a:r>
            <a:r>
              <a:rPr lang="en-US" sz="1200"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Step 2: Click </a:t>
            </a:r>
            <a:r>
              <a:rPr lang="en-US" sz="1200" b="1" dirty="0" smtClean="0"/>
              <a:t>File</a:t>
            </a:r>
            <a:r>
              <a:rPr lang="en-US" sz="1200" dirty="0" smtClean="0"/>
              <a:t> menu.</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Step 3: Select </a:t>
            </a:r>
            <a:r>
              <a:rPr lang="en-US" sz="1200" b="1" dirty="0" smtClean="0"/>
              <a:t>New Project</a:t>
            </a:r>
            <a:r>
              <a:rPr lang="en-US" sz="1200" b="0"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smtClean="0"/>
              <a:t>Step 4:</a:t>
            </a:r>
            <a:r>
              <a:rPr lang="en-US" sz="1200" dirty="0" smtClean="0"/>
              <a:t> Select </a:t>
            </a:r>
            <a:r>
              <a:rPr lang="en-US" sz="1200" b="1" dirty="0" smtClean="0"/>
              <a:t>Python</a:t>
            </a:r>
            <a:r>
              <a:rPr lang="en-US" sz="1200" dirty="0" smtClean="0"/>
              <a:t> from Categories list and </a:t>
            </a:r>
            <a:r>
              <a:rPr lang="en-US" sz="1200" b="1" dirty="0" smtClean="0"/>
              <a:t>Python Project</a:t>
            </a:r>
            <a:r>
              <a:rPr lang="en-US" sz="1200" dirty="0" smtClean="0"/>
              <a:t> from Projects list.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Step 5: Click </a:t>
            </a:r>
            <a:r>
              <a:rPr lang="en-US" sz="1200" b="1" dirty="0" smtClean="0"/>
              <a:t>Next</a:t>
            </a:r>
            <a:r>
              <a:rPr lang="en-US" sz="1200" dirty="0" smtClean="0"/>
              <a:t> button.</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Step 6: On New Python Project dialog box set the Project Name as </a:t>
            </a:r>
            <a:r>
              <a:rPr lang="en-US" sz="1200" b="1" dirty="0" smtClean="0"/>
              <a:t>CR_Session17_Activity01</a:t>
            </a:r>
            <a:r>
              <a:rPr lang="en-US" sz="1200" b="0"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smtClean="0"/>
              <a:t>Step</a:t>
            </a:r>
            <a:r>
              <a:rPr lang="en-US" sz="1200" b="0" baseline="0" dirty="0" smtClean="0"/>
              <a:t> 7:</a:t>
            </a:r>
            <a:r>
              <a:rPr lang="en-US" sz="1200" dirty="0" smtClean="0"/>
              <a:t> Select project Location by clicking </a:t>
            </a:r>
            <a:r>
              <a:rPr lang="en-US" sz="1200" b="1" dirty="0" smtClean="0"/>
              <a:t>Browse</a:t>
            </a:r>
            <a:r>
              <a:rPr lang="en-US" sz="1200" dirty="0" smtClean="0"/>
              <a:t> button.</a:t>
            </a:r>
          </a:p>
          <a:p>
            <a:r>
              <a:rPr lang="en-US" sz="1050" dirty="0" smtClean="0"/>
              <a:t>Step</a:t>
            </a:r>
            <a:r>
              <a:rPr lang="en-US" sz="1050" baseline="0" dirty="0" smtClean="0"/>
              <a:t> 8</a:t>
            </a:r>
            <a:r>
              <a:rPr lang="en-US" sz="1050" dirty="0" smtClean="0"/>
              <a:t>: Click </a:t>
            </a:r>
            <a:r>
              <a:rPr lang="en-US" sz="1050" b="1" dirty="0" smtClean="0"/>
              <a:t>Finish</a:t>
            </a:r>
            <a:r>
              <a:rPr lang="en-US" sz="1050" dirty="0" smtClean="0"/>
              <a:t> button.</a:t>
            </a:r>
          </a:p>
          <a:p>
            <a:endParaRPr lang="en-US" sz="1050" dirty="0" smtClean="0"/>
          </a:p>
          <a:p>
            <a:pPr lvl="0"/>
            <a:r>
              <a:rPr lang="en-US" sz="1200" b="1" dirty="0" smtClean="0"/>
              <a:t>Task 2</a:t>
            </a:r>
            <a:r>
              <a:rPr lang="en-US" sz="1200" dirty="0" smtClean="0"/>
              <a:t>: Use </a:t>
            </a:r>
            <a:r>
              <a:rPr lang="en-US" sz="1200" b="1" dirty="0" smtClean="0"/>
              <a:t>sqlite3</a:t>
            </a:r>
            <a:r>
              <a:rPr lang="en-US" sz="1200" dirty="0" smtClean="0"/>
              <a:t> library to access python database API,</a:t>
            </a:r>
            <a:r>
              <a:rPr lang="en-US" sz="1200" baseline="0" dirty="0" smtClean="0"/>
              <a:t> </a:t>
            </a:r>
            <a:r>
              <a:rPr lang="en-US" sz="1200" dirty="0" smtClean="0"/>
              <a:t>use </a:t>
            </a:r>
            <a:r>
              <a:rPr lang="en-US" sz="1200" b="1" dirty="0" smtClean="0"/>
              <a:t>connect()</a:t>
            </a:r>
            <a:r>
              <a:rPr lang="en-US" sz="1200" dirty="0" smtClean="0"/>
              <a:t> to create and open the connection,</a:t>
            </a:r>
            <a:r>
              <a:rPr lang="en-US" sz="1200" baseline="0" dirty="0" smtClean="0"/>
              <a:t> </a:t>
            </a:r>
            <a:r>
              <a:rPr lang="en-US" sz="1200" dirty="0" smtClean="0"/>
              <a:t>use </a:t>
            </a:r>
            <a:r>
              <a:rPr lang="en-US" sz="1200" b="1" dirty="0" smtClean="0"/>
              <a:t>execute()</a:t>
            </a:r>
            <a:r>
              <a:rPr lang="en-US" sz="1200" dirty="0" smtClean="0"/>
              <a:t> to execute </a:t>
            </a:r>
            <a:r>
              <a:rPr lang="en-US" sz="1200" b="1" dirty="0" smtClean="0"/>
              <a:t>SQL create</a:t>
            </a:r>
            <a:r>
              <a:rPr lang="en-US" sz="1200" b="1" baseline="0" dirty="0" smtClean="0"/>
              <a:t> table</a:t>
            </a:r>
            <a:r>
              <a:rPr lang="en-US" sz="1200" baseline="0" dirty="0" smtClean="0"/>
              <a:t> </a:t>
            </a:r>
            <a:r>
              <a:rPr lang="en-US" sz="1200" dirty="0" smtClean="0"/>
              <a:t>statement,</a:t>
            </a:r>
            <a:r>
              <a:rPr lang="en-US" sz="1200" baseline="0" dirty="0" smtClean="0"/>
              <a:t> </a:t>
            </a:r>
            <a:r>
              <a:rPr lang="en-US" sz="1200" dirty="0" smtClean="0"/>
              <a:t>use </a:t>
            </a:r>
            <a:r>
              <a:rPr lang="en-US" sz="1200" b="1" dirty="0" smtClean="0"/>
              <a:t>execute()</a:t>
            </a:r>
            <a:r>
              <a:rPr lang="en-US" sz="1200" dirty="0" smtClean="0"/>
              <a:t> to write </a:t>
            </a:r>
            <a:r>
              <a:rPr lang="en-US" sz="1200" b="1" dirty="0" smtClean="0"/>
              <a:t>SQL insert</a:t>
            </a:r>
            <a:r>
              <a:rPr lang="en-US" sz="1200" dirty="0" smtClean="0"/>
              <a:t> statement to Insert two records,</a:t>
            </a:r>
            <a:r>
              <a:rPr lang="en-US" sz="1200" baseline="0" dirty="0" smtClean="0"/>
              <a:t> u</a:t>
            </a:r>
            <a:r>
              <a:rPr lang="en-US" sz="1200" dirty="0" smtClean="0"/>
              <a:t>se </a:t>
            </a:r>
            <a:r>
              <a:rPr lang="en-US" sz="1200" b="1" dirty="0" smtClean="0"/>
              <a:t>close()</a:t>
            </a:r>
            <a:r>
              <a:rPr lang="en-US" sz="1200" dirty="0" smtClean="0"/>
              <a:t> to close the connection:</a:t>
            </a:r>
          </a:p>
          <a:p>
            <a:pPr lvl="0"/>
            <a:r>
              <a:rPr lang="en-US" sz="1200" dirty="0" smtClean="0"/>
              <a:t>Step</a:t>
            </a:r>
            <a:r>
              <a:rPr lang="en-US" sz="1200" baseline="0" dirty="0" smtClean="0"/>
              <a:t> 1: Type the following code:</a:t>
            </a:r>
          </a:p>
          <a:p>
            <a:pPr lvl="0"/>
            <a:endParaRPr lang="en-US" sz="1200" dirty="0" smtClean="0"/>
          </a:p>
          <a:p>
            <a:r>
              <a:rPr lang="en-US" altLang="en-US" sz="1200" dirty="0" smtClean="0">
                <a:latin typeface="+mn-lt"/>
              </a:rPr>
              <a:t>	</a:t>
            </a:r>
            <a:r>
              <a:rPr lang="en-US" sz="1200" dirty="0" smtClean="0">
                <a:latin typeface="+mn-lt"/>
              </a:rPr>
              <a:t>import sqlite3</a:t>
            </a:r>
          </a:p>
          <a:p>
            <a:r>
              <a:rPr lang="en-US" sz="1200" dirty="0" smtClean="0">
                <a:latin typeface="+mn-lt"/>
              </a:rPr>
              <a:t>	conn = sqlite3.connect('music.sqlite3')</a:t>
            </a:r>
          </a:p>
          <a:p>
            <a:r>
              <a:rPr lang="en-US" sz="1200" dirty="0" smtClean="0">
                <a:latin typeface="+mn-lt"/>
              </a:rPr>
              <a:t>	cur = </a:t>
            </a:r>
            <a:r>
              <a:rPr lang="en-US" sz="1200" dirty="0" err="1" smtClean="0">
                <a:latin typeface="+mn-lt"/>
              </a:rPr>
              <a:t>conn.cursor</a:t>
            </a:r>
            <a:r>
              <a:rPr lang="en-US" sz="1200" dirty="0" smtClean="0">
                <a:latin typeface="+mn-lt"/>
              </a:rPr>
              <a:t>()</a:t>
            </a:r>
          </a:p>
          <a:p>
            <a:r>
              <a:rPr lang="en-US" sz="1200" dirty="0" smtClean="0">
                <a:latin typeface="+mn-lt"/>
              </a:rPr>
              <a:t>	</a:t>
            </a:r>
            <a:r>
              <a:rPr lang="en-US" sz="1200" dirty="0" err="1" smtClean="0">
                <a:latin typeface="+mn-lt"/>
              </a:rPr>
              <a:t>cur.execute</a:t>
            </a:r>
            <a:r>
              <a:rPr lang="en-US" sz="1200" dirty="0" smtClean="0">
                <a:latin typeface="+mn-lt"/>
              </a:rPr>
              <a:t>('DROP TABLE IF EXISTS Writers')</a:t>
            </a:r>
          </a:p>
          <a:p>
            <a:r>
              <a:rPr lang="en-US" altLang="en-US" sz="1200" dirty="0" smtClean="0">
                <a:latin typeface="+mn-lt"/>
              </a:rPr>
              <a:t>	</a:t>
            </a:r>
            <a:r>
              <a:rPr lang="en-US" sz="1200" dirty="0" err="1" smtClean="0">
                <a:latin typeface="+mn-lt"/>
              </a:rPr>
              <a:t>cur.execute</a:t>
            </a:r>
            <a:r>
              <a:rPr lang="en-US" sz="1200" dirty="0" smtClean="0">
                <a:latin typeface="+mn-lt"/>
              </a:rPr>
              <a:t>('CREATE TABLE Writers(Id number PRIMARY KEY ,Name VARCHAR(25))')</a:t>
            </a:r>
          </a:p>
          <a:p>
            <a:r>
              <a:rPr lang="en-US" sz="1200" dirty="0" smtClean="0">
                <a:latin typeface="+mn-lt"/>
              </a:rPr>
              <a:t>	</a:t>
            </a:r>
            <a:r>
              <a:rPr lang="en-US" sz="1200" dirty="0" err="1" smtClean="0">
                <a:latin typeface="+mn-lt"/>
              </a:rPr>
              <a:t>cur.execute</a:t>
            </a:r>
            <a:r>
              <a:rPr lang="en-US" sz="1200" dirty="0" smtClean="0">
                <a:latin typeface="+mn-lt"/>
              </a:rPr>
              <a:t>("INSERT INTO Writers VALUES(1,'Jack London')")</a:t>
            </a:r>
          </a:p>
          <a:p>
            <a:r>
              <a:rPr lang="en-US" sz="1200" dirty="0" smtClean="0">
                <a:latin typeface="+mn-lt"/>
              </a:rPr>
              <a:t>	</a:t>
            </a:r>
            <a:r>
              <a:rPr lang="en-US" sz="1200" dirty="0" err="1" smtClean="0">
                <a:latin typeface="+mn-lt"/>
              </a:rPr>
              <a:t>cur.execute</a:t>
            </a:r>
            <a:r>
              <a:rPr lang="en-US" sz="1200" dirty="0" smtClean="0">
                <a:latin typeface="+mn-lt"/>
              </a:rPr>
              <a:t>("INSERT INTO Writers VALUES(2,'Honore de Balzac')")</a:t>
            </a:r>
          </a:p>
          <a:p>
            <a:r>
              <a:rPr lang="en-US" sz="1200" dirty="0" smtClean="0">
                <a:latin typeface="+mn-lt"/>
              </a:rPr>
              <a:t>	</a:t>
            </a:r>
            <a:r>
              <a:rPr lang="en-US" sz="1200" dirty="0" err="1" smtClean="0">
                <a:latin typeface="+mn-lt"/>
              </a:rPr>
              <a:t>cur.execute</a:t>
            </a:r>
            <a:r>
              <a:rPr lang="en-US" sz="1200" dirty="0" smtClean="0">
                <a:latin typeface="+mn-lt"/>
              </a:rPr>
              <a:t>("INSERT INTO Writers VALUES(3,'Lion Feuchtwanger')")</a:t>
            </a:r>
          </a:p>
          <a:p>
            <a:r>
              <a:rPr lang="en-US" sz="1200" dirty="0" smtClean="0">
                <a:latin typeface="+mn-lt"/>
              </a:rPr>
              <a:t>	</a:t>
            </a:r>
            <a:r>
              <a:rPr lang="en-US" sz="1200" dirty="0" err="1" smtClean="0">
                <a:latin typeface="+mn-lt"/>
              </a:rPr>
              <a:t>cur.execute</a:t>
            </a:r>
            <a:r>
              <a:rPr lang="en-US" sz="1200" dirty="0" smtClean="0">
                <a:latin typeface="+mn-lt"/>
              </a:rPr>
              <a:t>("INSERT INTO Writers VALUES(4,'Emile Zola')")</a:t>
            </a:r>
          </a:p>
          <a:p>
            <a:r>
              <a:rPr lang="en-US" sz="1200" dirty="0" smtClean="0">
                <a:latin typeface="+mn-lt"/>
              </a:rPr>
              <a:t>	</a:t>
            </a:r>
            <a:r>
              <a:rPr lang="en-US" sz="1200" dirty="0" err="1" smtClean="0">
                <a:latin typeface="+mn-lt"/>
              </a:rPr>
              <a:t>cur.execute</a:t>
            </a:r>
            <a:r>
              <a:rPr lang="en-US" sz="1200" dirty="0" smtClean="0">
                <a:latin typeface="+mn-lt"/>
              </a:rPr>
              <a:t>("INSERT INTO Writers VALUES(5,'Truman Capote')")</a:t>
            </a:r>
          </a:p>
          <a:p>
            <a:r>
              <a:rPr lang="en-US" sz="1200" dirty="0" smtClean="0">
                <a:latin typeface="+mn-lt"/>
              </a:rPr>
              <a:t>	</a:t>
            </a:r>
            <a:r>
              <a:rPr lang="en-US" sz="1200" dirty="0" err="1" smtClean="0">
                <a:latin typeface="+mn-lt"/>
              </a:rPr>
              <a:t>conn.commit</a:t>
            </a:r>
            <a:r>
              <a:rPr lang="en-US" sz="1200" dirty="0" smtClean="0">
                <a:latin typeface="+mn-lt"/>
              </a:rPr>
              <a:t>()</a:t>
            </a:r>
          </a:p>
          <a:p>
            <a:r>
              <a:rPr lang="en-US" sz="1200" dirty="0" smtClean="0">
                <a:latin typeface="+mn-lt"/>
              </a:rPr>
              <a:t> </a:t>
            </a:r>
          </a:p>
          <a:p>
            <a:r>
              <a:rPr lang="en-US" sz="1200" dirty="0" smtClean="0">
                <a:latin typeface="+mn-lt"/>
              </a:rPr>
              <a:t>	print 'Writers:'</a:t>
            </a:r>
          </a:p>
          <a:p>
            <a:r>
              <a:rPr lang="en-US" sz="1200" dirty="0" smtClean="0">
                <a:latin typeface="+mn-lt"/>
              </a:rPr>
              <a:t>	</a:t>
            </a:r>
            <a:r>
              <a:rPr lang="en-US" sz="1200" dirty="0" err="1" smtClean="0">
                <a:latin typeface="+mn-lt"/>
              </a:rPr>
              <a:t>cur.execute</a:t>
            </a:r>
            <a:r>
              <a:rPr lang="en-US" sz="1200" dirty="0" smtClean="0">
                <a:latin typeface="+mn-lt"/>
              </a:rPr>
              <a:t>('SELECT * FROM Writers LIMIT 4')</a:t>
            </a:r>
          </a:p>
          <a:p>
            <a:r>
              <a:rPr lang="en-US" sz="1200" dirty="0" smtClean="0">
                <a:latin typeface="+mn-lt"/>
              </a:rPr>
              <a:t>	rows = </a:t>
            </a:r>
            <a:r>
              <a:rPr lang="en-US" sz="1200" dirty="0" err="1" smtClean="0">
                <a:latin typeface="+mn-lt"/>
              </a:rPr>
              <a:t>cur.fetchall</a:t>
            </a:r>
            <a:r>
              <a:rPr lang="en-US" sz="1200" dirty="0" smtClean="0">
                <a:latin typeface="+mn-lt"/>
              </a:rPr>
              <a:t>()</a:t>
            </a:r>
          </a:p>
          <a:p>
            <a:r>
              <a:rPr lang="en-US" sz="1200" dirty="0" smtClean="0">
                <a:latin typeface="+mn-lt"/>
              </a:rPr>
              <a:t>	for row in rows:</a:t>
            </a:r>
          </a:p>
          <a:p>
            <a:r>
              <a:rPr lang="en-US" sz="1200" dirty="0" smtClean="0">
                <a:latin typeface="+mn-lt"/>
              </a:rPr>
              <a:t>    		print row[0], row[1]</a:t>
            </a:r>
          </a:p>
          <a:p>
            <a:pPr lvl="0"/>
            <a:r>
              <a:rPr lang="en-US" altLang="en-US" sz="1200" dirty="0" smtClean="0">
                <a:latin typeface="+mn-lt"/>
              </a:rPr>
              <a:t>	</a:t>
            </a:r>
          </a:p>
          <a:p>
            <a:r>
              <a:rPr lang="en-US" sz="1200" dirty="0" smtClean="0"/>
              <a:t>	</a:t>
            </a:r>
            <a:r>
              <a:rPr lang="en-US" sz="1200" dirty="0" err="1" smtClean="0">
                <a:latin typeface="+mn-lt"/>
              </a:rPr>
              <a:t>cur.execute</a:t>
            </a:r>
            <a:r>
              <a:rPr lang="en-US" sz="1200" dirty="0" smtClean="0">
                <a:latin typeface="+mn-lt"/>
              </a:rPr>
              <a:t>("UPDATE Writers SET Name = 'Guy de </a:t>
            </a:r>
            <a:r>
              <a:rPr lang="en-US" sz="1200" dirty="0" err="1" smtClean="0">
                <a:latin typeface="+mn-lt"/>
              </a:rPr>
              <a:t>Maupasant</a:t>
            </a:r>
            <a:r>
              <a:rPr lang="en-US" sz="1200" dirty="0" smtClean="0">
                <a:latin typeface="+mn-lt"/>
              </a:rPr>
              <a:t>' WHERE Id = 4")        </a:t>
            </a:r>
          </a:p>
          <a:p>
            <a:r>
              <a:rPr lang="en-US" sz="1200" dirty="0" smtClean="0">
                <a:latin typeface="+mn-lt"/>
              </a:rPr>
              <a:t>    </a:t>
            </a:r>
          </a:p>
          <a:p>
            <a:r>
              <a:rPr lang="en-US" sz="1200" dirty="0" smtClean="0">
                <a:latin typeface="+mn-lt"/>
              </a:rPr>
              <a:t>	print("Number of rows updated:"+  </a:t>
            </a:r>
            <a:r>
              <a:rPr lang="en-US" sz="1200" dirty="0" err="1" smtClean="0">
                <a:latin typeface="+mn-lt"/>
              </a:rPr>
              <a:t>str</a:t>
            </a:r>
            <a:r>
              <a:rPr lang="en-US" sz="1200" dirty="0" smtClean="0">
                <a:latin typeface="+mn-lt"/>
              </a:rPr>
              <a:t>(</a:t>
            </a:r>
            <a:r>
              <a:rPr lang="en-US" sz="1200" dirty="0" err="1" smtClean="0">
                <a:latin typeface="+mn-lt"/>
              </a:rPr>
              <a:t>cur.rowcount</a:t>
            </a:r>
            <a:r>
              <a:rPr lang="en-US" sz="1200" dirty="0" smtClean="0">
                <a:latin typeface="+mn-lt"/>
              </a:rPr>
              <a:t>))</a:t>
            </a:r>
          </a:p>
          <a:p>
            <a:r>
              <a:rPr lang="en-US" sz="1200" dirty="0" smtClean="0">
                <a:latin typeface="+mn-lt"/>
              </a:rPr>
              <a:t>	</a:t>
            </a:r>
            <a:r>
              <a:rPr lang="en-US" sz="1200" dirty="0" err="1" smtClean="0">
                <a:latin typeface="+mn-lt"/>
              </a:rPr>
              <a:t>conn.commit</a:t>
            </a:r>
            <a:r>
              <a:rPr lang="en-US" sz="1200" dirty="0" smtClean="0">
                <a:latin typeface="+mn-lt"/>
              </a:rPr>
              <a:t>()</a:t>
            </a:r>
          </a:p>
          <a:p>
            <a:r>
              <a:rPr lang="en-US" sz="1200" dirty="0" err="1" smtClean="0">
                <a:latin typeface="+mn-lt"/>
              </a:rPr>
              <a:t>cur.close</a:t>
            </a:r>
            <a:r>
              <a:rPr lang="en-US" sz="1200" dirty="0" smtClean="0">
                <a:latin typeface="+mn-lt"/>
              </a:rPr>
              <a:t>()</a:t>
            </a:r>
          </a:p>
          <a:p>
            <a:endParaRPr lang="en-US" altLang="en-US" sz="1200" dirty="0" smtClean="0">
              <a:latin typeface="+mn-lt"/>
            </a:endParaRPr>
          </a:p>
          <a:p>
            <a:pPr marR="0" lvl="0" indent="0" eaLnBrk="1" fontAlgn="base" hangingPunct="1">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altLang="en-US" sz="1200" dirty="0" smtClean="0">
                <a:latin typeface="+mn-lt"/>
              </a:rPr>
              <a:t>Step</a:t>
            </a:r>
            <a:r>
              <a:rPr lang="en-US" altLang="en-US" sz="1200" baseline="0" dirty="0" smtClean="0">
                <a:latin typeface="+mn-lt"/>
              </a:rPr>
              <a:t> 2</a:t>
            </a:r>
            <a:r>
              <a:rPr lang="en-US" altLang="en-US" sz="1200" dirty="0" smtClean="0">
                <a:latin typeface="+mn-lt"/>
              </a:rPr>
              <a:t>: Run the program.</a:t>
            </a:r>
          </a:p>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17</a:t>
            </a:fld>
            <a:endParaRPr lang="en-US"/>
          </a:p>
        </p:txBody>
      </p:sp>
    </p:spTree>
    <p:extLst>
      <p:ext uri="{BB962C8B-B14F-4D97-AF65-F5344CB8AC3E}">
        <p14:creationId xmlns:p14="http://schemas.microsoft.com/office/powerpoint/2010/main" val="25830641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C862BE6-9897-48DF-A539-0D6DA8099BAA}" type="datetimeFigureOut">
              <a:rPr lang="en-US" smtClean="0"/>
              <a:pPr/>
              <a:t>10/14/2015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F7C62-785B-4A6A-BA6E-4ECCE5259ECC}" type="slidenum">
              <a:rPr lang="en-US" smtClean="0"/>
              <a:pPr/>
              <a:t>‹#›</a:t>
            </a:fld>
            <a:endParaRPr lang="en-US"/>
          </a:p>
        </p:txBody>
      </p:sp>
    </p:spTree>
    <p:extLst>
      <p:ext uri="{BB962C8B-B14F-4D97-AF65-F5344CB8AC3E}">
        <p14:creationId xmlns:p14="http://schemas.microsoft.com/office/powerpoint/2010/main" val="178906743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smtClean="0"/>
              <a:pPr/>
              <a:t>10/14/2015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F7C62-785B-4A6A-BA6E-4ECCE5259ECC}" type="slidenum">
              <a:rPr lang="en-US" smtClean="0"/>
              <a:pPr/>
              <a:t>‹#›</a:t>
            </a:fld>
            <a:endParaRPr lang="en-US"/>
          </a:p>
        </p:txBody>
      </p:sp>
    </p:spTree>
    <p:extLst>
      <p:ext uri="{BB962C8B-B14F-4D97-AF65-F5344CB8AC3E}">
        <p14:creationId xmlns:p14="http://schemas.microsoft.com/office/powerpoint/2010/main" val="23036920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C862BE6-9897-48DF-A539-0D6DA8099BAA}" type="datetimeFigureOut">
              <a:rPr lang="en-US" smtClean="0"/>
              <a:pPr/>
              <a:t>10/14/2015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F7C62-785B-4A6A-BA6E-4ECCE5259ECC}" type="slidenum">
              <a:rPr lang="en-US" smtClean="0"/>
              <a:pPr/>
              <a:t>‹#›</a:t>
            </a:fld>
            <a:endParaRPr lang="en-US"/>
          </a:p>
        </p:txBody>
      </p:sp>
    </p:spTree>
    <p:extLst>
      <p:ext uri="{BB962C8B-B14F-4D97-AF65-F5344CB8AC3E}">
        <p14:creationId xmlns:p14="http://schemas.microsoft.com/office/powerpoint/2010/main" val="2318555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C862BE6-9897-48DF-A539-0D6DA8099BAA}" type="datetimeFigureOut">
              <a:rPr lang="en-US" smtClean="0"/>
              <a:pPr/>
              <a:t>10/14/2015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6F7C62-785B-4A6A-BA6E-4ECCE5259ECC}" type="slidenum">
              <a:rPr lang="en-US" smtClean="0"/>
              <a:pPr/>
              <a:t>‹#›</a:t>
            </a:fld>
            <a:endParaRPr lang="en-US"/>
          </a:p>
        </p:txBody>
      </p:sp>
    </p:spTree>
    <p:extLst>
      <p:ext uri="{BB962C8B-B14F-4D97-AF65-F5344CB8AC3E}">
        <p14:creationId xmlns:p14="http://schemas.microsoft.com/office/powerpoint/2010/main" val="3297139171"/>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C862BE6-9897-48DF-A539-0D6DA8099BAA}" type="datetimeFigureOut">
              <a:rPr lang="en-US" smtClean="0"/>
              <a:pPr/>
              <a:t>10/14/2015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6F7C62-785B-4A6A-BA6E-4ECCE5259ECC}" type="slidenum">
              <a:rPr lang="en-US" smtClean="0"/>
              <a:pPr/>
              <a:t>‹#›</a:t>
            </a:fld>
            <a:endParaRPr lang="en-US"/>
          </a:p>
        </p:txBody>
      </p:sp>
    </p:spTree>
    <p:extLst>
      <p:ext uri="{BB962C8B-B14F-4D97-AF65-F5344CB8AC3E}">
        <p14:creationId xmlns:p14="http://schemas.microsoft.com/office/powerpoint/2010/main" val="328710979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C862BE6-9897-48DF-A539-0D6DA8099BAA}" type="datetimeFigureOut">
              <a:rPr lang="en-US" smtClean="0"/>
              <a:pPr/>
              <a:t>10/14/2015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6F7C62-785B-4A6A-BA6E-4ECCE5259ECC}" type="slidenum">
              <a:rPr lang="en-US" smtClean="0"/>
              <a:pPr/>
              <a:t>‹#›</a:t>
            </a:fld>
            <a:endParaRPr lang="en-US"/>
          </a:p>
        </p:txBody>
      </p:sp>
    </p:spTree>
    <p:extLst>
      <p:ext uri="{BB962C8B-B14F-4D97-AF65-F5344CB8AC3E}">
        <p14:creationId xmlns:p14="http://schemas.microsoft.com/office/powerpoint/2010/main" val="899343602"/>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862BE6-9897-48DF-A539-0D6DA8099BAA}" type="datetimeFigureOut">
              <a:rPr lang="en-US" smtClean="0"/>
              <a:pPr/>
              <a:t>10/14/2015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6F7C62-785B-4A6A-BA6E-4ECCE5259ECC}" type="slidenum">
              <a:rPr lang="en-US" smtClean="0"/>
              <a:pPr/>
              <a:t>‹#›</a:t>
            </a:fld>
            <a:endParaRPr lang="en-US"/>
          </a:p>
        </p:txBody>
      </p:sp>
    </p:spTree>
    <p:extLst>
      <p:ext uri="{BB962C8B-B14F-4D97-AF65-F5344CB8AC3E}">
        <p14:creationId xmlns:p14="http://schemas.microsoft.com/office/powerpoint/2010/main" val="371325988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862BE6-9897-48DF-A539-0D6DA8099BAA}" type="datetimeFigureOut">
              <a:rPr lang="en-US" smtClean="0"/>
              <a:pPr/>
              <a:t>10/14/2015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6F7C62-785B-4A6A-BA6E-4ECCE5259ECC}" type="slidenum">
              <a:rPr lang="en-US" smtClean="0"/>
              <a:pPr/>
              <a:t>‹#›</a:t>
            </a:fld>
            <a:endParaRPr lang="en-US"/>
          </a:p>
        </p:txBody>
      </p:sp>
    </p:spTree>
    <p:extLst>
      <p:ext uri="{BB962C8B-B14F-4D97-AF65-F5344CB8AC3E}">
        <p14:creationId xmlns:p14="http://schemas.microsoft.com/office/powerpoint/2010/main" val="2979014669"/>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862BE6-9897-48DF-A539-0D6DA8099BAA}" type="datetimeFigureOut">
              <a:rPr lang="en-US" smtClean="0"/>
              <a:pPr/>
              <a:t>10/14/2015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6F7C62-785B-4A6A-BA6E-4ECCE5259ECC}" type="slidenum">
              <a:rPr lang="en-US" smtClean="0"/>
              <a:pPr/>
              <a:t>‹#›</a:t>
            </a:fld>
            <a:endParaRPr lang="en-US"/>
          </a:p>
        </p:txBody>
      </p:sp>
    </p:spTree>
    <p:extLst>
      <p:ext uri="{BB962C8B-B14F-4D97-AF65-F5344CB8AC3E}">
        <p14:creationId xmlns:p14="http://schemas.microsoft.com/office/powerpoint/2010/main" val="1258103088"/>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smtClean="0"/>
              <a:pPr/>
              <a:t>10/14/2015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F7C62-785B-4A6A-BA6E-4ECCE5259ECC}" type="slidenum">
              <a:rPr lang="en-US" smtClean="0"/>
              <a:pPr/>
              <a:t>‹#›</a:t>
            </a:fld>
            <a:endParaRPr lang="en-US"/>
          </a:p>
        </p:txBody>
      </p:sp>
    </p:spTree>
    <p:extLst>
      <p:ext uri="{BB962C8B-B14F-4D97-AF65-F5344CB8AC3E}">
        <p14:creationId xmlns:p14="http://schemas.microsoft.com/office/powerpoint/2010/main" val="27448313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smtClean="0"/>
              <a:pPr/>
              <a:t>10/14/2015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F7C62-785B-4A6A-BA6E-4ECCE5259ECC}" type="slidenum">
              <a:rPr lang="en-US" smtClean="0"/>
              <a:pPr/>
              <a:t>‹#›</a:t>
            </a:fld>
            <a:endParaRPr lang="en-US"/>
          </a:p>
        </p:txBody>
      </p:sp>
    </p:spTree>
    <p:extLst>
      <p:ext uri="{BB962C8B-B14F-4D97-AF65-F5344CB8AC3E}">
        <p14:creationId xmlns:p14="http://schemas.microsoft.com/office/powerpoint/2010/main" val="388481159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10/14/2015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3657434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10/14/2015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6298674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10/14/2015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9962977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C862BE6-9897-48DF-A539-0D6DA8099BAA}" type="datetimeFigureOut">
              <a:rPr lang="en-US">
                <a:solidFill>
                  <a:prstClr val="black">
                    <a:tint val="75000"/>
                  </a:prstClr>
                </a:solidFill>
              </a:rPr>
              <a:pPr/>
              <a:t>10/14/2015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96482769"/>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C862BE6-9897-48DF-A539-0D6DA8099BAA}" type="datetimeFigureOut">
              <a:rPr lang="en-US">
                <a:solidFill>
                  <a:prstClr val="black">
                    <a:tint val="75000"/>
                  </a:prstClr>
                </a:solidFill>
              </a:rPr>
              <a:pPr/>
              <a:t>10/14/2015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29262204"/>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C862BE6-9897-48DF-A539-0D6DA8099BAA}" type="datetimeFigureOut">
              <a:rPr lang="en-US">
                <a:solidFill>
                  <a:prstClr val="black">
                    <a:tint val="75000"/>
                  </a:prstClr>
                </a:solidFill>
              </a:rPr>
              <a:pPr/>
              <a:t>10/14/2015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60533708"/>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862BE6-9897-48DF-A539-0D6DA8099BAA}" type="datetimeFigureOut">
              <a:rPr lang="en-US">
                <a:solidFill>
                  <a:prstClr val="black">
                    <a:tint val="75000"/>
                  </a:prstClr>
                </a:solidFill>
              </a:rPr>
              <a:pPr/>
              <a:t>10/14/2015</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996486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862BE6-9897-48DF-A539-0D6DA8099BAA}" type="datetimeFigureOut">
              <a:rPr lang="en-US">
                <a:solidFill>
                  <a:prstClr val="black">
                    <a:tint val="75000"/>
                  </a:prstClr>
                </a:solidFill>
              </a:rPr>
              <a:pPr/>
              <a:t>10/14/2015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81715409"/>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862BE6-9897-48DF-A539-0D6DA8099BAA}" type="datetimeFigureOut">
              <a:rPr lang="en-US">
                <a:solidFill>
                  <a:prstClr val="black">
                    <a:tint val="75000"/>
                  </a:prstClr>
                </a:solidFill>
              </a:rPr>
              <a:pPr/>
              <a:t>10/14/2015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8186031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10/14/2015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1427789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10/14/2015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9915690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a:blipFill>
            <a:blip r:embed="rId14"/>
            <a:tile tx="0" ty="0" sx="100000" sy="100000" flip="none" algn="tl"/>
          </a:blipFill>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862BE6-9897-48DF-A539-0D6DA8099BAA}" type="datetimeFigureOut">
              <a:rPr lang="en-US" smtClean="0"/>
              <a:pPr/>
              <a:t>10/14/2015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6F7C62-785B-4A6A-BA6E-4ECCE5259ECC}" type="slidenum">
              <a:rPr lang="en-US" smtClean="0"/>
              <a:pPr/>
              <a:t>‹#›</a:t>
            </a:fld>
            <a:endParaRPr lang="en-US"/>
          </a:p>
        </p:txBody>
      </p:sp>
    </p:spTree>
    <p:extLst>
      <p:ext uri="{BB962C8B-B14F-4D97-AF65-F5344CB8AC3E}">
        <p14:creationId xmlns:p14="http://schemas.microsoft.com/office/powerpoint/2010/main" val="38517857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862BE6-9897-48DF-A539-0D6DA8099BAA}" type="datetimeFigureOut">
              <a:rPr lang="en-US">
                <a:solidFill>
                  <a:prstClr val="black">
                    <a:tint val="75000"/>
                  </a:prstClr>
                </a:solidFill>
              </a:rPr>
              <a:pPr/>
              <a:t>10/14/2015</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13904329"/>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hemeOverride" Target="../theme/themeOverride1.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hemeOverride" Target="../theme/themeOverride2.xml"/><Relationship Id="rId5" Type="http://schemas.openxmlformats.org/officeDocument/2006/relationships/hyperlink" Target="http://www.sqlite.org/datatypes.html" TargetMode="Externa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hemeOverride" Target="../theme/themeOverride3.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hemeOverride" Target="../theme/themeOverride4.xml"/><Relationship Id="rId5" Type="http://schemas.openxmlformats.org/officeDocument/2006/relationships/image" Target="../media/image6.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hemeOverride" Target="../theme/themeOverride5.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hemeOverride" Target="../theme/themeOverride6.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3.xml"/><Relationship Id="rId1" Type="http://schemas.openxmlformats.org/officeDocument/2006/relationships/themeOverride" Target="../theme/themeOverride7.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hemeOverride" Target="../theme/themeOverride8.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hemeOverride" Target="../theme/themeOverride9.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0000" y="1260000"/>
            <a:ext cx="6480000" cy="1800000"/>
          </a:xfrm>
        </p:spPr>
        <p:txBody>
          <a:bodyPr>
            <a:normAutofit/>
          </a:bodyPr>
          <a:lstStyle/>
          <a:p>
            <a:r>
              <a:rPr lang="en-IN" dirty="0" err="1">
                <a:solidFill>
                  <a:schemeClr val="bg1"/>
                </a:solidFill>
              </a:rPr>
              <a:t>DataBase</a:t>
            </a:r>
            <a:r>
              <a:rPr lang="en-IN" dirty="0">
                <a:solidFill>
                  <a:schemeClr val="bg1"/>
                </a:solidFill>
              </a:rPr>
              <a:t> Connectivity</a:t>
            </a:r>
            <a:endParaRPr lang="en-US" b="1" dirty="0">
              <a:solidFill>
                <a:schemeClr val="bg1"/>
              </a:solidFill>
              <a:latin typeface="Vrinda" pitchFamily="34" charset="0"/>
              <a:cs typeface="Vrinda" pitchFamily="34" charset="0"/>
            </a:endParaRPr>
          </a:p>
        </p:txBody>
      </p:sp>
    </p:spTree>
    <p:extLst>
      <p:ext uri="{BB962C8B-B14F-4D97-AF65-F5344CB8AC3E}">
        <p14:creationId xmlns:p14="http://schemas.microsoft.com/office/powerpoint/2010/main" val="34072379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000" y="540000"/>
            <a:ext cx="3960000" cy="900000"/>
          </a:xfrm>
        </p:spPr>
        <p:txBody>
          <a:bodyPr anchor="t" anchorCtr="0">
            <a:normAutofit/>
          </a:bodyPr>
          <a:lstStyle/>
          <a:p>
            <a:pPr algn="l"/>
            <a:r>
              <a:rPr lang="en-US" sz="2400" b="1" dirty="0">
                <a:solidFill>
                  <a:schemeClr val="bg1"/>
                </a:solidFill>
                <a:latin typeface="Vrinda" pitchFamily="34" charset="0"/>
                <a:cs typeface="Vrinda" pitchFamily="34" charset="0"/>
              </a:rPr>
              <a:t>Objectives</a:t>
            </a:r>
          </a:p>
        </p:txBody>
      </p:sp>
      <p:sp>
        <p:nvSpPr>
          <p:cNvPr id="5" name="Content Placeholder 2"/>
          <p:cNvSpPr txBox="1">
            <a:spLocks/>
          </p:cNvSpPr>
          <p:nvPr/>
        </p:nvSpPr>
        <p:spPr>
          <a:xfrm>
            <a:off x="381000" y="1600200"/>
            <a:ext cx="8382000" cy="46482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lvl="1" indent="-396875" defTabSz="914363">
              <a:lnSpc>
                <a:spcPct val="90000"/>
              </a:lnSpc>
              <a:buSzPct val="100000"/>
              <a:buBlip>
                <a:blip r:embed="rId3"/>
              </a:buBlip>
            </a:pPr>
            <a:endParaRPr lang="en-IN" sz="2000" dirty="0" smtClean="0">
              <a:solidFill>
                <a:srgbClr val="6600CC"/>
              </a:solidFill>
              <a:latin typeface="+mj-lt"/>
              <a:cs typeface="Vrinda" pitchFamily="34" charset="0"/>
            </a:endParaRPr>
          </a:p>
          <a:p>
            <a:pPr marL="514350" lvl="1" indent="-396875" defTabSz="914363">
              <a:lnSpc>
                <a:spcPct val="90000"/>
              </a:lnSpc>
              <a:buSzPct val="100000"/>
              <a:buBlip>
                <a:blip r:embed="rId3"/>
              </a:buBlip>
            </a:pPr>
            <a:r>
              <a:rPr lang="en-IN" sz="2400" dirty="0" smtClean="0">
                <a:solidFill>
                  <a:srgbClr val="6600CC"/>
                </a:solidFill>
                <a:latin typeface="+mj-lt"/>
                <a:cs typeface="Vrinda" pitchFamily="34" charset="0"/>
              </a:rPr>
              <a:t>In </a:t>
            </a:r>
            <a:r>
              <a:rPr lang="en-IN" sz="2400" dirty="0">
                <a:solidFill>
                  <a:srgbClr val="6600CC"/>
                </a:solidFill>
                <a:latin typeface="+mj-lt"/>
                <a:cs typeface="Vrinda" pitchFamily="34" charset="0"/>
              </a:rPr>
              <a:t>this </a:t>
            </a:r>
            <a:r>
              <a:rPr lang="en-IN" sz="2400" dirty="0" smtClean="0">
                <a:solidFill>
                  <a:srgbClr val="6600CC"/>
                </a:solidFill>
                <a:latin typeface="+mj-lt"/>
                <a:cs typeface="Vrinda" pitchFamily="34" charset="0"/>
              </a:rPr>
              <a:t>session, </a:t>
            </a:r>
            <a:r>
              <a:rPr lang="en-IN" sz="2400" dirty="0">
                <a:solidFill>
                  <a:srgbClr val="6600CC"/>
                </a:solidFill>
                <a:latin typeface="+mj-lt"/>
                <a:cs typeface="Vrinda" pitchFamily="34" charset="0"/>
              </a:rPr>
              <a:t>you will learn to</a:t>
            </a:r>
            <a:r>
              <a:rPr lang="en-IN" sz="2400" dirty="0" smtClean="0">
                <a:solidFill>
                  <a:srgbClr val="6600CC"/>
                </a:solidFill>
                <a:latin typeface="+mj-lt"/>
                <a:cs typeface="Vrinda" pitchFamily="34" charset="0"/>
              </a:rPr>
              <a:t>:</a:t>
            </a:r>
          </a:p>
          <a:p>
            <a:pPr marL="900000" lvl="1" indent="-396875" defTabSz="914363">
              <a:lnSpc>
                <a:spcPct val="90000"/>
              </a:lnSpc>
              <a:buSzPct val="120000"/>
              <a:buBlip>
                <a:blip r:embed="rId4"/>
              </a:buBlip>
            </a:pPr>
            <a:endParaRPr lang="en-US" sz="2000" dirty="0" smtClean="0">
              <a:solidFill>
                <a:srgbClr val="6600CC"/>
              </a:solidFill>
              <a:cs typeface="Vrinda" pitchFamily="34" charset="0"/>
            </a:endParaRPr>
          </a:p>
          <a:p>
            <a:pPr marL="900000" lvl="1" indent="-396875" defTabSz="914363">
              <a:lnSpc>
                <a:spcPct val="90000"/>
              </a:lnSpc>
              <a:buSzPct val="120000"/>
              <a:buBlip>
                <a:blip r:embed="rId4"/>
              </a:buBlip>
            </a:pPr>
            <a:r>
              <a:rPr lang="en-US" sz="2000" dirty="0" smtClean="0">
                <a:solidFill>
                  <a:srgbClr val="6600CC"/>
                </a:solidFill>
                <a:cs typeface="Vrinda" pitchFamily="34" charset="0"/>
              </a:rPr>
              <a:t>Understand SQLite Manager.</a:t>
            </a:r>
          </a:p>
          <a:p>
            <a:pPr marL="900000" lvl="1" indent="-396875" defTabSz="914363">
              <a:lnSpc>
                <a:spcPct val="90000"/>
              </a:lnSpc>
              <a:buSzPct val="120000"/>
              <a:buBlip>
                <a:blip r:embed="rId4"/>
              </a:buBlip>
            </a:pPr>
            <a:r>
              <a:rPr lang="en-US" sz="2000" dirty="0" smtClean="0">
                <a:solidFill>
                  <a:srgbClr val="6600CC"/>
                </a:solidFill>
                <a:cs typeface="Vrinda" pitchFamily="34" charset="0"/>
              </a:rPr>
              <a:t>Create a Database </a:t>
            </a:r>
            <a:r>
              <a:rPr lang="en-US" sz="2000" dirty="0">
                <a:solidFill>
                  <a:srgbClr val="6600CC"/>
                </a:solidFill>
                <a:cs typeface="Vrinda" pitchFamily="34" charset="0"/>
              </a:rPr>
              <a:t>T</a:t>
            </a:r>
            <a:r>
              <a:rPr lang="en-US" sz="2000" dirty="0" smtClean="0">
                <a:solidFill>
                  <a:srgbClr val="6600CC"/>
                </a:solidFill>
                <a:cs typeface="Vrinda" pitchFamily="34" charset="0"/>
              </a:rPr>
              <a:t>able.</a:t>
            </a:r>
          </a:p>
          <a:p>
            <a:pPr marL="900000" lvl="1" indent="-396875" defTabSz="914363">
              <a:lnSpc>
                <a:spcPct val="90000"/>
              </a:lnSpc>
              <a:buSzPct val="120000"/>
              <a:buBlip>
                <a:blip r:embed="rId4"/>
              </a:buBlip>
            </a:pPr>
            <a:r>
              <a:rPr lang="en-US" sz="2000" dirty="0" smtClean="0">
                <a:solidFill>
                  <a:srgbClr val="6600CC"/>
                </a:solidFill>
                <a:cs typeface="Vrinda" pitchFamily="34" charset="0"/>
              </a:rPr>
              <a:t>Implement Structured Query Language.</a:t>
            </a:r>
          </a:p>
          <a:p>
            <a:pPr marL="900000" lvl="1" indent="-396875" defTabSz="914363">
              <a:lnSpc>
                <a:spcPct val="90000"/>
              </a:lnSpc>
              <a:buSzPct val="120000"/>
              <a:buBlip>
                <a:blip r:embed="rId4"/>
              </a:buBlip>
            </a:pPr>
            <a:r>
              <a:rPr lang="en-US" sz="2000" dirty="0" smtClean="0">
                <a:solidFill>
                  <a:srgbClr val="6600CC"/>
                </a:solidFill>
                <a:cs typeface="Vrinda" pitchFamily="34" charset="0"/>
              </a:rPr>
              <a:t>Implement </a:t>
            </a:r>
            <a:r>
              <a:rPr lang="en-US" sz="2000" dirty="0" err="1" smtClean="0">
                <a:solidFill>
                  <a:srgbClr val="6600CC"/>
                </a:solidFill>
                <a:cs typeface="Vrinda" pitchFamily="34" charset="0"/>
              </a:rPr>
              <a:t>Spidering</a:t>
            </a:r>
            <a:r>
              <a:rPr lang="en-US" sz="2000" dirty="0">
                <a:solidFill>
                  <a:srgbClr val="6600CC"/>
                </a:solidFill>
                <a:cs typeface="Vrinda" pitchFamily="34" charset="0"/>
              </a:rPr>
              <a:t> U</a:t>
            </a:r>
            <a:r>
              <a:rPr lang="en-US" sz="2000" dirty="0" smtClean="0">
                <a:solidFill>
                  <a:srgbClr val="6600CC"/>
                </a:solidFill>
                <a:cs typeface="Vrinda" pitchFamily="34" charset="0"/>
              </a:rPr>
              <a:t>sing a Database.</a:t>
            </a:r>
          </a:p>
          <a:p>
            <a:pPr marL="900000" lvl="1" indent="-396875" defTabSz="914363">
              <a:lnSpc>
                <a:spcPct val="90000"/>
              </a:lnSpc>
              <a:buSzPct val="120000"/>
              <a:buBlip>
                <a:blip r:embed="rId4"/>
              </a:buBlip>
            </a:pPr>
            <a:r>
              <a:rPr lang="en-US" sz="2000" dirty="0" smtClean="0">
                <a:solidFill>
                  <a:srgbClr val="6600CC"/>
                </a:solidFill>
                <a:cs typeface="Vrinda" pitchFamily="34" charset="0"/>
              </a:rPr>
              <a:t>Understand Basic Models.</a:t>
            </a:r>
            <a:endParaRPr lang="en-IN" sz="2000" dirty="0" smtClean="0">
              <a:solidFill>
                <a:srgbClr val="6600CC"/>
              </a:solidFill>
              <a:cs typeface="Vrinda" pitchFamily="34" charset="0"/>
            </a:endParaRPr>
          </a:p>
          <a:p>
            <a:pPr marL="900000" lvl="1" indent="-396875" defTabSz="914363">
              <a:lnSpc>
                <a:spcPct val="90000"/>
              </a:lnSpc>
              <a:buSzPct val="120000"/>
              <a:buBlip>
                <a:blip r:embed="rId4"/>
              </a:buBlip>
            </a:pPr>
            <a:endParaRPr lang="en-IN" sz="1800" dirty="0" smtClean="0">
              <a:solidFill>
                <a:srgbClr val="6600CC"/>
              </a:solidFill>
              <a:latin typeface="Vrinda" pitchFamily="34" charset="0"/>
              <a:cs typeface="Vrinda" pitchFamily="34" charset="0"/>
            </a:endParaRPr>
          </a:p>
          <a:p>
            <a:pPr marL="503125" lvl="1" indent="0" defTabSz="914363">
              <a:lnSpc>
                <a:spcPct val="90000"/>
              </a:lnSpc>
              <a:buSzPct val="120000"/>
              <a:buNone/>
            </a:pPr>
            <a:endParaRPr lang="en-IN" sz="1800" dirty="0" smtClean="0">
              <a:solidFill>
                <a:srgbClr val="6600CC"/>
              </a:solidFill>
              <a:latin typeface="Vrinda" pitchFamily="34" charset="0"/>
              <a:cs typeface="Vrinda" pitchFamily="34" charset="0"/>
            </a:endParaRPr>
          </a:p>
        </p:txBody>
      </p:sp>
    </p:spTree>
    <p:extLst>
      <p:ext uri="{BB962C8B-B14F-4D97-AF65-F5344CB8AC3E}">
        <p14:creationId xmlns:p14="http://schemas.microsoft.com/office/powerpoint/2010/main" val="26424962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381000" y="1600200"/>
            <a:ext cx="8382000" cy="46482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2000" dirty="0" smtClean="0">
              <a:solidFill>
                <a:srgbClr val="9900FF"/>
              </a:solidFill>
            </a:endParaRPr>
          </a:p>
          <a:p>
            <a:pPr marL="514350" lvl="1" indent="-396875" defTabSz="914363">
              <a:lnSpc>
                <a:spcPct val="90000"/>
              </a:lnSpc>
              <a:buSzPct val="100000"/>
              <a:buBlip>
                <a:blip r:embed="rId4"/>
              </a:buBlip>
            </a:pPr>
            <a:r>
              <a:rPr lang="en-US" sz="2400" dirty="0" smtClean="0">
                <a:solidFill>
                  <a:srgbClr val="9900FF"/>
                </a:solidFill>
              </a:rPr>
              <a:t>Firefox </a:t>
            </a:r>
            <a:r>
              <a:rPr lang="en-US" sz="2400" dirty="0">
                <a:solidFill>
                  <a:srgbClr val="9900FF"/>
                </a:solidFill>
              </a:rPr>
              <a:t>Add-on call the </a:t>
            </a:r>
            <a:r>
              <a:rPr lang="en-US" sz="2400" b="1" i="1" dirty="0">
                <a:solidFill>
                  <a:srgbClr val="9900FF"/>
                </a:solidFill>
              </a:rPr>
              <a:t>SQLite Database Manager</a:t>
            </a:r>
            <a:r>
              <a:rPr lang="en-US" sz="2400" dirty="0">
                <a:solidFill>
                  <a:srgbClr val="9900FF"/>
                </a:solidFill>
              </a:rPr>
              <a:t> which is freely available, It can be downloaded using the following link.</a:t>
            </a:r>
          </a:p>
          <a:p>
            <a:endParaRPr lang="en-US" sz="2000" dirty="0" smtClean="0">
              <a:solidFill>
                <a:srgbClr val="9900FF"/>
              </a:solidFill>
            </a:endParaRPr>
          </a:p>
          <a:p>
            <a:pPr marL="0" indent="0">
              <a:buNone/>
            </a:pPr>
            <a:endParaRPr lang="en-US" sz="2000" dirty="0"/>
          </a:p>
          <a:p>
            <a:pPr marL="0" indent="0">
              <a:buNone/>
            </a:pPr>
            <a:endParaRPr lang="en-US" sz="2000" dirty="0" smtClean="0"/>
          </a:p>
          <a:p>
            <a:pPr marL="514350" lvl="1" indent="-396875" defTabSz="914363">
              <a:lnSpc>
                <a:spcPct val="90000"/>
              </a:lnSpc>
              <a:buSzPct val="100000"/>
              <a:buBlip>
                <a:blip r:embed="rId4"/>
              </a:buBlip>
            </a:pPr>
            <a:r>
              <a:rPr lang="en-US" sz="2400" dirty="0" smtClean="0">
                <a:solidFill>
                  <a:srgbClr val="9900FF"/>
                </a:solidFill>
              </a:rPr>
              <a:t>The </a:t>
            </a:r>
            <a:r>
              <a:rPr lang="en-US" sz="2400" dirty="0">
                <a:solidFill>
                  <a:srgbClr val="9900FF"/>
                </a:solidFill>
              </a:rPr>
              <a:t>Firefox </a:t>
            </a:r>
            <a:r>
              <a:rPr lang="en-US" sz="2400" b="1" i="1" dirty="0">
                <a:solidFill>
                  <a:srgbClr val="9900FF"/>
                </a:solidFill>
              </a:rPr>
              <a:t> Browser </a:t>
            </a:r>
            <a:r>
              <a:rPr lang="en-US" sz="2400" dirty="0">
                <a:solidFill>
                  <a:srgbClr val="9900FF"/>
                </a:solidFill>
              </a:rPr>
              <a:t>can be used  to  create tables, insert data, edit data or run simple SQL queries to retrieve the data from the database.</a:t>
            </a:r>
          </a:p>
          <a:p>
            <a:endParaRPr lang="en-US" sz="2000" dirty="0" smtClean="0">
              <a:solidFill>
                <a:srgbClr val="9900FF"/>
              </a:solidFill>
            </a:endParaRPr>
          </a:p>
          <a:p>
            <a:pPr marL="117475" lvl="1" indent="0" defTabSz="914363">
              <a:lnSpc>
                <a:spcPct val="90000"/>
              </a:lnSpc>
              <a:buSzPct val="100000"/>
              <a:buNone/>
            </a:pPr>
            <a:endParaRPr lang="en-IN" sz="2000" dirty="0">
              <a:solidFill>
                <a:srgbClr val="6600CC"/>
              </a:solidFill>
              <a:latin typeface="Vrinda" pitchFamily="34" charset="0"/>
              <a:cs typeface="Vrinda" pitchFamily="34" charset="0"/>
            </a:endParaRPr>
          </a:p>
          <a:p>
            <a:endParaRPr lang="en-US" sz="2000" dirty="0">
              <a:solidFill>
                <a:srgbClr val="9900FF"/>
              </a:solidFill>
            </a:endParaRPr>
          </a:p>
        </p:txBody>
      </p:sp>
      <p:sp>
        <p:nvSpPr>
          <p:cNvPr id="6" name="Title 1"/>
          <p:cNvSpPr>
            <a:spLocks noGrp="1"/>
          </p:cNvSpPr>
          <p:nvPr>
            <p:ph type="title"/>
          </p:nvPr>
        </p:nvSpPr>
        <p:spPr>
          <a:xfrm>
            <a:off x="540000" y="540000"/>
            <a:ext cx="3960000" cy="900000"/>
          </a:xfrm>
        </p:spPr>
        <p:txBody>
          <a:bodyPr anchor="t" anchorCtr="0">
            <a:normAutofit/>
          </a:bodyPr>
          <a:lstStyle/>
          <a:p>
            <a:pPr algn="l"/>
            <a:r>
              <a:rPr lang="en-US" sz="2400" b="1" dirty="0" smtClean="0">
                <a:solidFill>
                  <a:schemeClr val="bg1"/>
                </a:solidFill>
                <a:latin typeface="Vrinda" pitchFamily="34" charset="0"/>
                <a:cs typeface="Vrinda" pitchFamily="34" charset="0"/>
              </a:rPr>
              <a:t>SQLite Manager Firefox Add-on</a:t>
            </a:r>
            <a:endParaRPr lang="en-US" sz="2400" b="1" dirty="0">
              <a:solidFill>
                <a:schemeClr val="bg1"/>
              </a:solidFill>
              <a:latin typeface="Vrinda" pitchFamily="34" charset="0"/>
              <a:cs typeface="Vrinda" pitchFamily="34" charset="0"/>
            </a:endParaRPr>
          </a:p>
        </p:txBody>
      </p:sp>
      <p:sp>
        <p:nvSpPr>
          <p:cNvPr id="3" name="TextBox 2"/>
          <p:cNvSpPr txBox="1"/>
          <p:nvPr/>
        </p:nvSpPr>
        <p:spPr>
          <a:xfrm>
            <a:off x="1022400" y="2775466"/>
            <a:ext cx="7315200" cy="36933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dirty="0"/>
              <a:t>https://addons.mozilla.org/en-us/firefox/addon/sqlite-manager</a:t>
            </a:r>
          </a:p>
        </p:txBody>
      </p:sp>
    </p:spTree>
    <p:extLst>
      <p:ext uri="{BB962C8B-B14F-4D97-AF65-F5344CB8AC3E}">
        <p14:creationId xmlns:p14="http://schemas.microsoft.com/office/powerpoint/2010/main" val="28242177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381000" y="1600200"/>
            <a:ext cx="8382000" cy="46482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03225" lvl="1" defTabSz="914363">
              <a:lnSpc>
                <a:spcPct val="90000"/>
              </a:lnSpc>
              <a:buSzPct val="100000"/>
              <a:buFont typeface="Arial" panose="020B0604020202020204" pitchFamily="34" charset="0"/>
              <a:buChar char="•"/>
            </a:pPr>
            <a:endParaRPr lang="en-US" sz="1600" dirty="0" smtClean="0">
              <a:solidFill>
                <a:srgbClr val="6600CC"/>
              </a:solidFill>
            </a:endParaRPr>
          </a:p>
          <a:p>
            <a:pPr marL="403225" lvl="1" defTabSz="914363">
              <a:lnSpc>
                <a:spcPct val="90000"/>
              </a:lnSpc>
              <a:buSzPct val="100000"/>
              <a:buFont typeface="Arial" panose="020B0604020202020204" pitchFamily="34" charset="0"/>
              <a:buChar char="•"/>
            </a:pPr>
            <a:endParaRPr lang="en-US" sz="1800" dirty="0"/>
          </a:p>
          <a:p>
            <a:pPr marL="514350" lvl="1" indent="-396875" defTabSz="914363">
              <a:lnSpc>
                <a:spcPct val="90000"/>
              </a:lnSpc>
              <a:buSzPct val="100000"/>
              <a:buBlip>
                <a:blip r:embed="rId4"/>
              </a:buBlip>
            </a:pPr>
            <a:r>
              <a:rPr lang="en-US" sz="2400" dirty="0" smtClean="0">
                <a:solidFill>
                  <a:srgbClr val="9900FF"/>
                </a:solidFill>
              </a:rPr>
              <a:t>Databases </a:t>
            </a:r>
            <a:r>
              <a:rPr lang="en-US" sz="2400" dirty="0">
                <a:solidFill>
                  <a:srgbClr val="9900FF"/>
                </a:solidFill>
              </a:rPr>
              <a:t>require well-defined structure. </a:t>
            </a:r>
            <a:endParaRPr lang="en-US" sz="2400" dirty="0" smtClean="0">
              <a:solidFill>
                <a:srgbClr val="9900FF"/>
              </a:solidFill>
            </a:endParaRPr>
          </a:p>
          <a:p>
            <a:pPr marL="514350" lvl="1" indent="-396875" defTabSz="914363">
              <a:lnSpc>
                <a:spcPct val="90000"/>
              </a:lnSpc>
              <a:buSzPct val="100000"/>
              <a:buBlip>
                <a:blip r:embed="rId4"/>
              </a:buBlip>
            </a:pPr>
            <a:endParaRPr lang="en-US" sz="2400" dirty="0">
              <a:solidFill>
                <a:srgbClr val="9900FF"/>
              </a:solidFill>
            </a:endParaRPr>
          </a:p>
          <a:p>
            <a:pPr marL="514350" lvl="1" indent="-396875" defTabSz="914363">
              <a:lnSpc>
                <a:spcPct val="90000"/>
              </a:lnSpc>
              <a:buSzPct val="100000"/>
              <a:buBlip>
                <a:blip r:embed="rId4"/>
              </a:buBlip>
            </a:pPr>
            <a:r>
              <a:rPr lang="en-US" sz="2400" dirty="0">
                <a:solidFill>
                  <a:srgbClr val="9900FF"/>
                </a:solidFill>
              </a:rPr>
              <a:t>Create a database table  - the name of the table , columns and rows must be clearly specified</a:t>
            </a:r>
            <a:r>
              <a:rPr lang="en-US" sz="2400" dirty="0" smtClean="0">
                <a:solidFill>
                  <a:srgbClr val="9900FF"/>
                </a:solidFill>
              </a:rPr>
              <a:t>.</a:t>
            </a:r>
          </a:p>
          <a:p>
            <a:pPr marL="514350" lvl="1" indent="-396875" defTabSz="914363">
              <a:lnSpc>
                <a:spcPct val="90000"/>
              </a:lnSpc>
              <a:buSzPct val="100000"/>
              <a:buBlip>
                <a:blip r:embed="rId4"/>
              </a:buBlip>
            </a:pPr>
            <a:endParaRPr lang="en-US" sz="2400" dirty="0">
              <a:solidFill>
                <a:srgbClr val="9900FF"/>
              </a:solidFill>
            </a:endParaRPr>
          </a:p>
          <a:p>
            <a:pPr marL="514350" lvl="1" indent="-396875" defTabSz="914363">
              <a:lnSpc>
                <a:spcPct val="90000"/>
              </a:lnSpc>
              <a:buSzPct val="100000"/>
              <a:buBlip>
                <a:blip r:embed="rId4"/>
              </a:buBlip>
            </a:pPr>
            <a:r>
              <a:rPr lang="en-US" sz="2400" dirty="0">
                <a:solidFill>
                  <a:srgbClr val="9900FF"/>
                </a:solidFill>
              </a:rPr>
              <a:t>Various data types supported by SQLite are mentioned in the following url: </a:t>
            </a:r>
            <a:r>
              <a:rPr lang="en-US" sz="2400" dirty="0">
                <a:hlinkClick r:id="rId5"/>
              </a:rPr>
              <a:t>http://www.sqlite.org/datatypes.html</a:t>
            </a:r>
            <a:endParaRPr lang="en-US" sz="2400" dirty="0"/>
          </a:p>
          <a:p>
            <a:pPr marL="117475" lvl="1" indent="0" defTabSz="914363">
              <a:lnSpc>
                <a:spcPct val="90000"/>
              </a:lnSpc>
              <a:buSzPct val="100000"/>
              <a:buNone/>
            </a:pPr>
            <a:endParaRPr lang="en-US" sz="1600" dirty="0"/>
          </a:p>
          <a:p>
            <a:pPr marL="117475" lvl="1" indent="0" defTabSz="914363">
              <a:lnSpc>
                <a:spcPct val="90000"/>
              </a:lnSpc>
              <a:buSzPct val="100000"/>
              <a:buNone/>
            </a:pPr>
            <a:endParaRPr lang="en-US" sz="1600" dirty="0" smtClean="0">
              <a:solidFill>
                <a:srgbClr val="9900FF"/>
              </a:solidFill>
            </a:endParaRPr>
          </a:p>
          <a:p>
            <a:pPr marL="117475" lvl="1" indent="0" defTabSz="914363">
              <a:lnSpc>
                <a:spcPct val="90000"/>
              </a:lnSpc>
              <a:buSzPct val="100000"/>
              <a:buNone/>
            </a:pPr>
            <a:endParaRPr lang="en-US" sz="1600" dirty="0">
              <a:solidFill>
                <a:srgbClr val="9900FF"/>
              </a:solidFill>
            </a:endParaRPr>
          </a:p>
          <a:p>
            <a:pPr marL="117475" lvl="1" indent="0" defTabSz="914363">
              <a:lnSpc>
                <a:spcPct val="90000"/>
              </a:lnSpc>
              <a:buSzPct val="100000"/>
              <a:buNone/>
            </a:pPr>
            <a:endParaRPr lang="en-US" sz="1600" dirty="0">
              <a:solidFill>
                <a:srgbClr val="9900FF"/>
              </a:solidFill>
            </a:endParaRPr>
          </a:p>
          <a:p>
            <a:pPr marL="0" indent="0">
              <a:buNone/>
            </a:pPr>
            <a:endParaRPr lang="en-US" sz="4400" dirty="0"/>
          </a:p>
        </p:txBody>
      </p:sp>
      <p:sp>
        <p:nvSpPr>
          <p:cNvPr id="6" name="Title 1"/>
          <p:cNvSpPr>
            <a:spLocks noGrp="1"/>
          </p:cNvSpPr>
          <p:nvPr>
            <p:ph type="title"/>
          </p:nvPr>
        </p:nvSpPr>
        <p:spPr>
          <a:xfrm>
            <a:off x="540000" y="540000"/>
            <a:ext cx="3960000" cy="900000"/>
          </a:xfrm>
        </p:spPr>
        <p:txBody>
          <a:bodyPr anchor="t" anchorCtr="0">
            <a:normAutofit/>
          </a:bodyPr>
          <a:lstStyle/>
          <a:p>
            <a:pPr algn="l"/>
            <a:r>
              <a:rPr lang="en-US" sz="2400" b="1" dirty="0">
                <a:solidFill>
                  <a:schemeClr val="bg1"/>
                </a:solidFill>
                <a:latin typeface="Vrinda" pitchFamily="34" charset="0"/>
                <a:cs typeface="Vrinda" pitchFamily="34" charset="0"/>
              </a:rPr>
              <a:t>Creating a </a:t>
            </a:r>
            <a:r>
              <a:rPr lang="en-US" sz="2400" b="1" dirty="0" smtClean="0">
                <a:solidFill>
                  <a:schemeClr val="bg1"/>
                </a:solidFill>
                <a:latin typeface="Vrinda" pitchFamily="34" charset="0"/>
                <a:cs typeface="Vrinda" pitchFamily="34" charset="0"/>
              </a:rPr>
              <a:t>Database </a:t>
            </a:r>
            <a:r>
              <a:rPr lang="en-US" sz="2400" b="1" dirty="0">
                <a:solidFill>
                  <a:schemeClr val="bg1"/>
                </a:solidFill>
                <a:latin typeface="Vrinda" pitchFamily="34" charset="0"/>
                <a:cs typeface="Vrinda" pitchFamily="34" charset="0"/>
              </a:rPr>
              <a:t>T</a:t>
            </a:r>
            <a:r>
              <a:rPr lang="en-US" sz="2400" b="1" dirty="0" smtClean="0">
                <a:solidFill>
                  <a:schemeClr val="bg1"/>
                </a:solidFill>
                <a:latin typeface="Vrinda" pitchFamily="34" charset="0"/>
                <a:cs typeface="Vrinda" pitchFamily="34" charset="0"/>
              </a:rPr>
              <a:t>able</a:t>
            </a:r>
            <a:endParaRPr lang="en-US" sz="2400" b="1" dirty="0">
              <a:solidFill>
                <a:schemeClr val="bg1"/>
              </a:solidFill>
              <a:latin typeface="Vrinda" pitchFamily="34" charset="0"/>
              <a:cs typeface="Vrinda" pitchFamily="34" charset="0"/>
            </a:endParaRPr>
          </a:p>
        </p:txBody>
      </p:sp>
    </p:spTree>
    <p:extLst>
      <p:ext uri="{BB962C8B-B14F-4D97-AF65-F5344CB8AC3E}">
        <p14:creationId xmlns:p14="http://schemas.microsoft.com/office/powerpoint/2010/main" val="18593937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381000" y="1600200"/>
            <a:ext cx="8259000" cy="45198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lvl="1" indent="-396875" defTabSz="914363">
              <a:lnSpc>
                <a:spcPct val="90000"/>
              </a:lnSpc>
              <a:buSzPct val="100000"/>
              <a:buBlip>
                <a:blip r:embed="rId4"/>
              </a:buBlip>
            </a:pPr>
            <a:endParaRPr lang="en-US" sz="2400" dirty="0" smtClean="0">
              <a:solidFill>
                <a:srgbClr val="6600CC"/>
              </a:solidFill>
            </a:endParaRPr>
          </a:p>
          <a:p>
            <a:pPr marL="514350" lvl="1" indent="-396875" defTabSz="914363">
              <a:lnSpc>
                <a:spcPct val="90000"/>
              </a:lnSpc>
              <a:buSzPct val="100000"/>
              <a:buBlip>
                <a:blip r:embed="rId4"/>
              </a:buBlip>
            </a:pPr>
            <a:r>
              <a:rPr lang="en-US" sz="2400" dirty="0" smtClean="0">
                <a:solidFill>
                  <a:srgbClr val="6600CC"/>
                </a:solidFill>
              </a:rPr>
              <a:t>Below </a:t>
            </a:r>
            <a:r>
              <a:rPr lang="en-US" sz="2400" dirty="0">
                <a:solidFill>
                  <a:srgbClr val="6600CC"/>
                </a:solidFill>
              </a:rPr>
              <a:t>examples shows creation of a database file and a table named “Student” with two columns in the  database.</a:t>
            </a:r>
          </a:p>
          <a:p>
            <a:pPr marL="117475" lvl="1" indent="0" defTabSz="914363">
              <a:lnSpc>
                <a:spcPct val="90000"/>
              </a:lnSpc>
              <a:buSzPct val="100000"/>
              <a:buNone/>
            </a:pPr>
            <a:endParaRPr lang="en-IN" sz="2000" dirty="0">
              <a:solidFill>
                <a:srgbClr val="6600CC"/>
              </a:solidFill>
              <a:latin typeface="Vrinda" pitchFamily="34" charset="0"/>
              <a:cs typeface="Vrinda" pitchFamily="34" charset="0"/>
            </a:endParaRPr>
          </a:p>
          <a:p>
            <a:pPr marL="0" indent="0">
              <a:buNone/>
            </a:pPr>
            <a:endParaRPr lang="en-US" sz="1600" dirty="0">
              <a:solidFill>
                <a:srgbClr val="6600CC"/>
              </a:solidFill>
            </a:endParaRPr>
          </a:p>
        </p:txBody>
      </p:sp>
      <p:sp>
        <p:nvSpPr>
          <p:cNvPr id="6" name="Title 1"/>
          <p:cNvSpPr>
            <a:spLocks noGrp="1"/>
          </p:cNvSpPr>
          <p:nvPr>
            <p:ph type="title"/>
          </p:nvPr>
        </p:nvSpPr>
        <p:spPr>
          <a:xfrm>
            <a:off x="540000" y="540000"/>
            <a:ext cx="3960000" cy="900000"/>
          </a:xfrm>
        </p:spPr>
        <p:txBody>
          <a:bodyPr anchor="t" anchorCtr="0">
            <a:normAutofit/>
          </a:bodyPr>
          <a:lstStyle/>
          <a:p>
            <a:pPr algn="l"/>
            <a:r>
              <a:rPr lang="en-US" sz="2400" b="1" dirty="0">
                <a:solidFill>
                  <a:schemeClr val="bg1"/>
                </a:solidFill>
                <a:latin typeface="Vrinda" pitchFamily="34" charset="0"/>
                <a:cs typeface="Vrinda" pitchFamily="34" charset="0"/>
              </a:rPr>
              <a:t>Creating a </a:t>
            </a:r>
            <a:r>
              <a:rPr lang="en-US" sz="2400" b="1" dirty="0" smtClean="0">
                <a:solidFill>
                  <a:schemeClr val="bg1"/>
                </a:solidFill>
                <a:latin typeface="Vrinda" pitchFamily="34" charset="0"/>
                <a:cs typeface="Vrinda" pitchFamily="34" charset="0"/>
              </a:rPr>
              <a:t>Database </a:t>
            </a:r>
            <a:r>
              <a:rPr lang="en-US" sz="2400" b="1" dirty="0">
                <a:solidFill>
                  <a:schemeClr val="bg1"/>
                </a:solidFill>
                <a:latin typeface="Vrinda" pitchFamily="34" charset="0"/>
                <a:cs typeface="Vrinda" pitchFamily="34" charset="0"/>
              </a:rPr>
              <a:t>T</a:t>
            </a:r>
            <a:r>
              <a:rPr lang="en-US" sz="2400" b="1" dirty="0" smtClean="0">
                <a:solidFill>
                  <a:schemeClr val="bg1"/>
                </a:solidFill>
                <a:latin typeface="Vrinda" pitchFamily="34" charset="0"/>
                <a:cs typeface="Vrinda" pitchFamily="34" charset="0"/>
              </a:rPr>
              <a:t>able</a:t>
            </a:r>
            <a:br>
              <a:rPr lang="en-US" sz="2400" b="1" dirty="0" smtClean="0">
                <a:solidFill>
                  <a:schemeClr val="bg1"/>
                </a:solidFill>
                <a:latin typeface="Vrinda" pitchFamily="34" charset="0"/>
                <a:cs typeface="Vrinda" pitchFamily="34" charset="0"/>
              </a:rPr>
            </a:br>
            <a:r>
              <a:rPr lang="en-US" sz="2400" b="1" dirty="0" smtClean="0">
                <a:solidFill>
                  <a:schemeClr val="bg1"/>
                </a:solidFill>
                <a:latin typeface="Vrinda" pitchFamily="34" charset="0"/>
                <a:cs typeface="Vrinda" pitchFamily="34" charset="0"/>
              </a:rPr>
              <a:t>(Contd.)</a:t>
            </a:r>
            <a:endParaRPr lang="en-US" sz="2400" b="1" dirty="0">
              <a:solidFill>
                <a:schemeClr val="bg1"/>
              </a:solidFill>
              <a:latin typeface="Vrinda" pitchFamily="34" charset="0"/>
              <a:cs typeface="Vrinda" pitchFamily="34" charset="0"/>
            </a:endParaRPr>
          </a:p>
        </p:txBody>
      </p:sp>
      <p:sp>
        <p:nvSpPr>
          <p:cNvPr id="3" name="TextBox 2"/>
          <p:cNvSpPr txBox="1"/>
          <p:nvPr/>
        </p:nvSpPr>
        <p:spPr>
          <a:xfrm>
            <a:off x="1219200" y="3200400"/>
            <a:ext cx="6172200" cy="2308324"/>
          </a:xfrm>
          <a:prstGeom prst="rect">
            <a:avLst/>
          </a:prstGeom>
        </p:spPr>
        <p:style>
          <a:lnRef idx="1">
            <a:schemeClr val="dk1"/>
          </a:lnRef>
          <a:fillRef idx="3">
            <a:schemeClr val="dk1"/>
          </a:fillRef>
          <a:effectRef idx="2">
            <a:schemeClr val="dk1"/>
          </a:effectRef>
          <a:fontRef idx="minor">
            <a:schemeClr val="lt1"/>
          </a:fontRef>
        </p:style>
        <p:txBody>
          <a:bodyPr wrap="square" rtlCol="0">
            <a:spAutoFit/>
          </a:bodyPr>
          <a:lstStyle/>
          <a:p>
            <a:r>
              <a:rPr lang="en-US" b="1" dirty="0">
                <a:solidFill>
                  <a:schemeClr val="bg1"/>
                </a:solidFill>
              </a:rPr>
              <a:t>import sqlite3</a:t>
            </a:r>
          </a:p>
          <a:p>
            <a:r>
              <a:rPr lang="en-US" b="1" dirty="0">
                <a:solidFill>
                  <a:schemeClr val="bg1"/>
                </a:solidFill>
              </a:rPr>
              <a:t>conn = sqlite3.connect(‘College.sqlite3')</a:t>
            </a:r>
          </a:p>
          <a:p>
            <a:r>
              <a:rPr lang="en-US" b="1" dirty="0">
                <a:solidFill>
                  <a:schemeClr val="bg1"/>
                </a:solidFill>
              </a:rPr>
              <a:t>cur = conn.cursor()</a:t>
            </a:r>
          </a:p>
          <a:p>
            <a:r>
              <a:rPr lang="en-US" b="1" dirty="0">
                <a:solidFill>
                  <a:schemeClr val="bg1"/>
                </a:solidFill>
              </a:rPr>
              <a:t>cur.execute('DROP TABLE IF EXISTS Student')</a:t>
            </a:r>
          </a:p>
          <a:p>
            <a:r>
              <a:rPr lang="en-US" b="1" dirty="0">
                <a:solidFill>
                  <a:schemeClr val="bg1"/>
                </a:solidFill>
              </a:rPr>
              <a:t>cur.execute('CREATE TABLE Student (StudentID INTEGER, StudentName TEXT)')</a:t>
            </a:r>
          </a:p>
          <a:p>
            <a:r>
              <a:rPr lang="en-US" b="1" dirty="0">
                <a:solidFill>
                  <a:schemeClr val="bg1"/>
                </a:solidFill>
              </a:rPr>
              <a:t>conn.close()</a:t>
            </a:r>
          </a:p>
          <a:p>
            <a:endParaRPr lang="en-US" dirty="0"/>
          </a:p>
        </p:txBody>
      </p:sp>
    </p:spTree>
    <p:extLst>
      <p:ext uri="{BB962C8B-B14F-4D97-AF65-F5344CB8AC3E}">
        <p14:creationId xmlns:p14="http://schemas.microsoft.com/office/powerpoint/2010/main" val="16216689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381000" y="1600200"/>
            <a:ext cx="8458200" cy="4572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7475" lvl="1" indent="0" algn="just" defTabSz="914363">
              <a:lnSpc>
                <a:spcPct val="90000"/>
              </a:lnSpc>
              <a:buSzPct val="100000"/>
              <a:buNone/>
            </a:pPr>
            <a:endParaRPr lang="en-US" sz="2000" b="1" i="1" dirty="0" smtClean="0">
              <a:solidFill>
                <a:srgbClr val="6600CC"/>
              </a:solidFill>
            </a:endParaRPr>
          </a:p>
          <a:p>
            <a:pPr marL="403225" lvl="1" algn="just" defTabSz="914363">
              <a:lnSpc>
                <a:spcPct val="90000"/>
              </a:lnSpc>
              <a:buSzPct val="100000"/>
              <a:buFont typeface="Arial" panose="020B0604020202020204" pitchFamily="34" charset="0"/>
              <a:buChar char="•"/>
            </a:pPr>
            <a:endParaRPr lang="en-US" sz="1600" dirty="0" smtClean="0">
              <a:solidFill>
                <a:srgbClr val="6600CC"/>
              </a:solidFill>
            </a:endParaRPr>
          </a:p>
          <a:p>
            <a:pPr marL="514350" lvl="1" indent="-396875" defTabSz="914363">
              <a:lnSpc>
                <a:spcPct val="90000"/>
              </a:lnSpc>
              <a:buSzPct val="100000"/>
              <a:buBlip>
                <a:blip r:embed="rId4"/>
              </a:buBlip>
            </a:pPr>
            <a:r>
              <a:rPr lang="en-US" sz="2400" dirty="0" smtClean="0">
                <a:solidFill>
                  <a:srgbClr val="6600CC"/>
                </a:solidFill>
              </a:rPr>
              <a:t>Cursor </a:t>
            </a:r>
            <a:r>
              <a:rPr lang="en-US" sz="2400" dirty="0">
                <a:solidFill>
                  <a:srgbClr val="6600CC"/>
                </a:solidFill>
              </a:rPr>
              <a:t>is used to perform various operations on the data stored in the database programmatically.</a:t>
            </a:r>
          </a:p>
          <a:p>
            <a:pPr marL="514350" lvl="1" indent="-396875" defTabSz="914363">
              <a:lnSpc>
                <a:spcPct val="90000"/>
              </a:lnSpc>
              <a:buSzPct val="100000"/>
              <a:buBlip>
                <a:blip r:embed="rId4"/>
              </a:buBlip>
            </a:pPr>
            <a:r>
              <a:rPr lang="en-US" sz="2400" dirty="0">
                <a:solidFill>
                  <a:srgbClr val="6600CC"/>
                </a:solidFill>
              </a:rPr>
              <a:t>Cursor executes  commands on the contents of the database using execute() method.</a:t>
            </a:r>
          </a:p>
          <a:p>
            <a:pPr marL="403225" lvl="1" algn="just" defTabSz="914363">
              <a:lnSpc>
                <a:spcPct val="90000"/>
              </a:lnSpc>
              <a:buSzPct val="100000"/>
              <a:buFont typeface="Arial" panose="020B0604020202020204" pitchFamily="34" charset="0"/>
              <a:buChar char="•"/>
            </a:pPr>
            <a:endParaRPr lang="en-US" sz="1600" dirty="0" smtClean="0">
              <a:solidFill>
                <a:srgbClr val="6600CC"/>
              </a:solidFill>
            </a:endParaRPr>
          </a:p>
          <a:p>
            <a:pPr marL="403225" lvl="1" algn="just" defTabSz="914363">
              <a:lnSpc>
                <a:spcPct val="90000"/>
              </a:lnSpc>
              <a:buSzPct val="100000"/>
              <a:buFont typeface="Arial" panose="020B0604020202020204" pitchFamily="34" charset="0"/>
              <a:buChar char="•"/>
            </a:pPr>
            <a:endParaRPr lang="en-US" sz="1600" dirty="0" smtClean="0">
              <a:solidFill>
                <a:srgbClr val="6600CC"/>
              </a:solidFill>
            </a:endParaRPr>
          </a:p>
          <a:p>
            <a:pPr marL="403225" lvl="1" algn="just" defTabSz="914363">
              <a:lnSpc>
                <a:spcPct val="90000"/>
              </a:lnSpc>
              <a:buSzPct val="100000"/>
              <a:buFont typeface="Arial" panose="020B0604020202020204" pitchFamily="34" charset="0"/>
              <a:buChar char="•"/>
            </a:pPr>
            <a:endParaRPr lang="en-US" sz="1600" dirty="0" smtClean="0">
              <a:solidFill>
                <a:srgbClr val="6600CC"/>
              </a:solidFill>
            </a:endParaRPr>
          </a:p>
        </p:txBody>
      </p:sp>
      <p:sp>
        <p:nvSpPr>
          <p:cNvPr id="6" name="Title 1"/>
          <p:cNvSpPr>
            <a:spLocks noGrp="1"/>
          </p:cNvSpPr>
          <p:nvPr>
            <p:ph type="title"/>
          </p:nvPr>
        </p:nvSpPr>
        <p:spPr>
          <a:xfrm>
            <a:off x="540000" y="540000"/>
            <a:ext cx="3960000" cy="900000"/>
          </a:xfrm>
        </p:spPr>
        <p:txBody>
          <a:bodyPr anchor="t" anchorCtr="0">
            <a:normAutofit/>
          </a:bodyPr>
          <a:lstStyle/>
          <a:p>
            <a:pPr algn="l"/>
            <a:r>
              <a:rPr lang="en-US" sz="2400" b="1" dirty="0" smtClean="0">
                <a:solidFill>
                  <a:schemeClr val="bg1"/>
                </a:solidFill>
                <a:latin typeface="Vrinda" pitchFamily="34" charset="0"/>
                <a:cs typeface="Vrinda" pitchFamily="34" charset="0"/>
              </a:rPr>
              <a:t>Cursor</a:t>
            </a:r>
            <a:endParaRPr lang="en-US" sz="2400" b="1" dirty="0">
              <a:solidFill>
                <a:schemeClr val="bg1"/>
              </a:solidFill>
              <a:latin typeface="Vrinda" pitchFamily="34" charset="0"/>
              <a:cs typeface="Vrinda" pitchFamily="34" charset="0"/>
            </a:endParaRPr>
          </a:p>
        </p:txBody>
      </p:sp>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48345" y="3886200"/>
            <a:ext cx="4276725" cy="1762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5585260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720000" y="1800000"/>
            <a:ext cx="7920000" cy="4320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7475" lvl="1" indent="0" algn="just" defTabSz="914363">
              <a:lnSpc>
                <a:spcPct val="90000"/>
              </a:lnSpc>
              <a:buSzPct val="100000"/>
              <a:buNone/>
            </a:pPr>
            <a:endParaRPr lang="en-US" sz="1600" dirty="0" smtClean="0">
              <a:solidFill>
                <a:srgbClr val="6600CC"/>
              </a:solidFill>
            </a:endParaRPr>
          </a:p>
          <a:p>
            <a:pPr marL="403225" lvl="1" algn="just" defTabSz="914363">
              <a:lnSpc>
                <a:spcPct val="90000"/>
              </a:lnSpc>
              <a:buSzPct val="100000"/>
              <a:buFont typeface="Arial" panose="020B0604020202020204" pitchFamily="34" charset="0"/>
              <a:buChar char="•"/>
            </a:pPr>
            <a:endParaRPr lang="en-US" sz="1600" dirty="0" smtClean="0">
              <a:solidFill>
                <a:srgbClr val="6600CC"/>
              </a:solidFill>
            </a:endParaRPr>
          </a:p>
        </p:txBody>
      </p:sp>
      <p:sp>
        <p:nvSpPr>
          <p:cNvPr id="6" name="Title 1"/>
          <p:cNvSpPr>
            <a:spLocks noGrp="1"/>
          </p:cNvSpPr>
          <p:nvPr>
            <p:ph type="title"/>
          </p:nvPr>
        </p:nvSpPr>
        <p:spPr>
          <a:xfrm>
            <a:off x="540000" y="540000"/>
            <a:ext cx="3960000" cy="900000"/>
          </a:xfrm>
        </p:spPr>
        <p:txBody>
          <a:bodyPr anchor="t" anchorCtr="0">
            <a:normAutofit/>
          </a:bodyPr>
          <a:lstStyle/>
          <a:p>
            <a:pPr algn="l"/>
            <a:r>
              <a:rPr lang="en-US" sz="2400" b="1" dirty="0" smtClean="0">
                <a:solidFill>
                  <a:schemeClr val="bg1"/>
                </a:solidFill>
                <a:latin typeface="Vrinda" pitchFamily="34" charset="0"/>
                <a:cs typeface="Vrinda" pitchFamily="34" charset="0"/>
              </a:rPr>
              <a:t>Cursor (Contd.)</a:t>
            </a:r>
            <a:endParaRPr lang="en-US" sz="2400" b="1" dirty="0">
              <a:solidFill>
                <a:schemeClr val="bg1"/>
              </a:solidFill>
              <a:latin typeface="Vrinda" pitchFamily="34" charset="0"/>
              <a:cs typeface="Vrinda" pitchFamily="34" charset="0"/>
            </a:endParaRP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762189"/>
            <a:ext cx="7086600" cy="2749550"/>
          </a:xfrm>
          <a:prstGeom prst="rect">
            <a:avLst/>
          </a:prstGeom>
          <a:ln w="38100" cap="sq">
            <a:solidFill>
              <a:srgbClr val="000000"/>
            </a:solidFill>
            <a:prstDash val="solid"/>
            <a:miter lim="800000"/>
          </a:ln>
          <a:effectLst>
            <a:glow rad="63500">
              <a:schemeClr val="accent2">
                <a:satMod val="175000"/>
                <a:alpha val="40000"/>
              </a:schemeClr>
            </a:glow>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3" name="Left-Up Arrow 2"/>
          <p:cNvSpPr/>
          <p:nvPr/>
        </p:nvSpPr>
        <p:spPr>
          <a:xfrm rot="5400000">
            <a:off x="1740003" y="4197886"/>
            <a:ext cx="1349379" cy="2174372"/>
          </a:xfrm>
          <a:prstGeom prst="lef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p:cNvSpPr txBox="1"/>
          <p:nvPr/>
        </p:nvSpPr>
        <p:spPr>
          <a:xfrm>
            <a:off x="3501879" y="5189743"/>
            <a:ext cx="4651521"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b="1" dirty="0"/>
              <a:t>Tracks:</a:t>
            </a:r>
          </a:p>
          <a:p>
            <a:r>
              <a:rPr lang="en-US" b="1" dirty="0"/>
              <a:t>(u'Thunderstruck', 20)</a:t>
            </a:r>
          </a:p>
          <a:p>
            <a:r>
              <a:rPr lang="en-US" b="1" dirty="0"/>
              <a:t>(u'My Way', 15)</a:t>
            </a:r>
          </a:p>
        </p:txBody>
      </p:sp>
    </p:spTree>
    <p:extLst>
      <p:ext uri="{BB962C8B-B14F-4D97-AF65-F5344CB8AC3E}">
        <p14:creationId xmlns:p14="http://schemas.microsoft.com/office/powerpoint/2010/main" val="39060778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381000" y="1600200"/>
            <a:ext cx="8305800" cy="46482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7475" lvl="1" indent="0" algn="just" defTabSz="914363">
              <a:lnSpc>
                <a:spcPct val="90000"/>
              </a:lnSpc>
              <a:buSzPct val="100000"/>
              <a:buNone/>
            </a:pPr>
            <a:r>
              <a:rPr lang="en-US" sz="2400" b="1" i="1" dirty="0" smtClean="0"/>
              <a:t>Basic SQL Operations</a:t>
            </a:r>
          </a:p>
          <a:p>
            <a:pPr marL="460375" lvl="1" indent="-342900" algn="just" defTabSz="914363">
              <a:lnSpc>
                <a:spcPct val="90000"/>
              </a:lnSpc>
              <a:buSzPct val="100000"/>
            </a:pPr>
            <a:r>
              <a:rPr lang="en-US" sz="2000" b="1" i="1" dirty="0" smtClean="0">
                <a:solidFill>
                  <a:srgbClr val="6600CC"/>
                </a:solidFill>
              </a:rPr>
              <a:t>Create Table</a:t>
            </a:r>
          </a:p>
          <a:p>
            <a:pPr marL="117475" lvl="1" indent="0" algn="just" defTabSz="914363">
              <a:lnSpc>
                <a:spcPct val="90000"/>
              </a:lnSpc>
              <a:buSzPct val="100000"/>
              <a:buNone/>
            </a:pPr>
            <a:r>
              <a:rPr lang="en-US" sz="2000" b="1" dirty="0"/>
              <a:t>CREATE TABLE Tracks (title TEXT, plays INTEGER)</a:t>
            </a:r>
            <a:r>
              <a:rPr lang="en-US" sz="2000" b="1" i="1" dirty="0">
                <a:solidFill>
                  <a:srgbClr val="6600CC"/>
                </a:solidFill>
              </a:rPr>
              <a:t> </a:t>
            </a:r>
            <a:endParaRPr lang="en-US" sz="2000" b="1" i="1" dirty="0" smtClean="0">
              <a:solidFill>
                <a:srgbClr val="6600CC"/>
              </a:solidFill>
            </a:endParaRPr>
          </a:p>
          <a:p>
            <a:pPr marL="460375" lvl="1" indent="-342900" algn="just" defTabSz="914363">
              <a:lnSpc>
                <a:spcPct val="90000"/>
              </a:lnSpc>
              <a:buSzPct val="100000"/>
            </a:pPr>
            <a:r>
              <a:rPr lang="en-US" sz="2000" b="1" i="1" dirty="0" smtClean="0">
                <a:solidFill>
                  <a:srgbClr val="6600CC"/>
                </a:solidFill>
              </a:rPr>
              <a:t>Insert Records into a Table</a:t>
            </a:r>
          </a:p>
          <a:p>
            <a:pPr marL="117475" lvl="1" indent="0" algn="just" defTabSz="914363">
              <a:lnSpc>
                <a:spcPct val="90000"/>
              </a:lnSpc>
              <a:buSzPct val="100000"/>
              <a:buNone/>
            </a:pPr>
            <a:r>
              <a:rPr lang="en-US" sz="2000" b="1" dirty="0"/>
              <a:t>INSERT INTO Tracks (title, plays) VALUES ('My Way', 15</a:t>
            </a:r>
            <a:r>
              <a:rPr lang="en-US" sz="2000" b="1" dirty="0" smtClean="0"/>
              <a:t>)</a:t>
            </a:r>
            <a:endParaRPr lang="en-US" sz="2000" b="1" i="1" dirty="0" smtClean="0">
              <a:solidFill>
                <a:srgbClr val="6600CC"/>
              </a:solidFill>
            </a:endParaRPr>
          </a:p>
          <a:p>
            <a:pPr marL="460375" lvl="1" indent="-342900" algn="just" defTabSz="914363">
              <a:lnSpc>
                <a:spcPct val="90000"/>
              </a:lnSpc>
              <a:buSzPct val="100000"/>
            </a:pPr>
            <a:r>
              <a:rPr lang="en-US" sz="2000" b="1" i="1" dirty="0" smtClean="0">
                <a:solidFill>
                  <a:srgbClr val="6600CC"/>
                </a:solidFill>
              </a:rPr>
              <a:t>Filtering Records into a Table</a:t>
            </a:r>
          </a:p>
          <a:p>
            <a:pPr marL="117475" lvl="1" indent="0" algn="just" defTabSz="914363">
              <a:lnSpc>
                <a:spcPct val="90000"/>
              </a:lnSpc>
              <a:buSzPct val="100000"/>
              <a:buNone/>
            </a:pPr>
            <a:r>
              <a:rPr lang="en-US" sz="2000" b="1" dirty="0"/>
              <a:t>SELECT * FROM Tracks WHERE title = 'My Way'</a:t>
            </a:r>
            <a:endParaRPr lang="en-US" sz="2000" b="1" i="1" dirty="0" smtClean="0">
              <a:solidFill>
                <a:srgbClr val="6600CC"/>
              </a:solidFill>
            </a:endParaRPr>
          </a:p>
          <a:p>
            <a:pPr marL="460375" lvl="1" indent="-342900" algn="just" defTabSz="914363">
              <a:lnSpc>
                <a:spcPct val="90000"/>
              </a:lnSpc>
              <a:buSzPct val="100000"/>
            </a:pPr>
            <a:r>
              <a:rPr lang="en-US" sz="2000" b="1" i="1" dirty="0" smtClean="0">
                <a:solidFill>
                  <a:srgbClr val="6600CC"/>
                </a:solidFill>
              </a:rPr>
              <a:t>Ordering Records</a:t>
            </a:r>
          </a:p>
          <a:p>
            <a:pPr marL="117475" lvl="1" indent="0" algn="just" defTabSz="914363">
              <a:lnSpc>
                <a:spcPct val="90000"/>
              </a:lnSpc>
              <a:buSzPct val="100000"/>
              <a:buNone/>
            </a:pPr>
            <a:r>
              <a:rPr lang="en-US" sz="2000" b="1" dirty="0"/>
              <a:t>SELECT title,plays FROM Tracks ORDER BY title</a:t>
            </a:r>
            <a:endParaRPr lang="en-US" sz="2000" b="1" i="1" dirty="0" smtClean="0">
              <a:solidFill>
                <a:srgbClr val="6600CC"/>
              </a:solidFill>
            </a:endParaRPr>
          </a:p>
          <a:p>
            <a:pPr marL="460375" lvl="1" indent="-342900" algn="just" defTabSz="914363">
              <a:lnSpc>
                <a:spcPct val="90000"/>
              </a:lnSpc>
              <a:buSzPct val="100000"/>
            </a:pPr>
            <a:r>
              <a:rPr lang="en-US" sz="2000" b="1" i="1" dirty="0" smtClean="0">
                <a:solidFill>
                  <a:srgbClr val="6600CC"/>
                </a:solidFill>
              </a:rPr>
              <a:t>Deleting Records from a Table</a:t>
            </a:r>
          </a:p>
          <a:p>
            <a:pPr marL="117475" lvl="1" indent="0" algn="just" defTabSz="914363">
              <a:lnSpc>
                <a:spcPct val="90000"/>
              </a:lnSpc>
              <a:buSzPct val="100000"/>
              <a:buNone/>
            </a:pPr>
            <a:r>
              <a:rPr lang="en-US" sz="2000" b="1" dirty="0"/>
              <a:t>DELETE FROM Tracks WHERE title = 'My Way'</a:t>
            </a:r>
            <a:endParaRPr lang="en-US" sz="2000" b="1" i="1" dirty="0" smtClean="0">
              <a:solidFill>
                <a:srgbClr val="6600CC"/>
              </a:solidFill>
            </a:endParaRPr>
          </a:p>
          <a:p>
            <a:pPr marL="460375" lvl="1" indent="-342900" algn="just" defTabSz="914363">
              <a:lnSpc>
                <a:spcPct val="90000"/>
              </a:lnSpc>
              <a:buSzPct val="100000"/>
            </a:pPr>
            <a:r>
              <a:rPr lang="en-US" sz="2000" b="1" i="1" dirty="0" smtClean="0">
                <a:solidFill>
                  <a:srgbClr val="6600CC"/>
                </a:solidFill>
              </a:rPr>
              <a:t>Updating Records from a Table</a:t>
            </a:r>
          </a:p>
          <a:p>
            <a:pPr marL="117475" lvl="1" indent="0" algn="just" defTabSz="914363">
              <a:lnSpc>
                <a:spcPct val="90000"/>
              </a:lnSpc>
              <a:buSzPct val="100000"/>
              <a:buNone/>
            </a:pPr>
            <a:r>
              <a:rPr lang="en-US" sz="2000" b="1" dirty="0"/>
              <a:t>UPDATE Tracks SET plays = 16 WHERE title = 'My Way'</a:t>
            </a:r>
            <a:endParaRPr lang="en-US" sz="2000" b="1" i="1" dirty="0" smtClean="0">
              <a:solidFill>
                <a:srgbClr val="6600CC"/>
              </a:solidFill>
            </a:endParaRPr>
          </a:p>
        </p:txBody>
      </p:sp>
      <p:sp>
        <p:nvSpPr>
          <p:cNvPr id="6" name="Title 1"/>
          <p:cNvSpPr>
            <a:spLocks noGrp="1"/>
          </p:cNvSpPr>
          <p:nvPr>
            <p:ph type="title"/>
          </p:nvPr>
        </p:nvSpPr>
        <p:spPr>
          <a:xfrm>
            <a:off x="540000" y="540000"/>
            <a:ext cx="3960000" cy="900000"/>
          </a:xfrm>
        </p:spPr>
        <p:txBody>
          <a:bodyPr anchor="t" anchorCtr="0">
            <a:normAutofit/>
          </a:bodyPr>
          <a:lstStyle/>
          <a:p>
            <a:pPr algn="l"/>
            <a:r>
              <a:rPr lang="en-US" sz="2400" b="1" dirty="0">
                <a:solidFill>
                  <a:schemeClr val="bg1"/>
                </a:solidFill>
                <a:latin typeface="Vrinda" panose="020B0502040204020203" pitchFamily="34" charset="0"/>
                <a:cs typeface="Vrinda" panose="020B0502040204020203" pitchFamily="34" charset="0"/>
              </a:rPr>
              <a:t>Structured Query Language (SQL) S</a:t>
            </a:r>
            <a:r>
              <a:rPr lang="en-US" sz="2400" b="1" dirty="0" smtClean="0">
                <a:solidFill>
                  <a:schemeClr val="bg1"/>
                </a:solidFill>
                <a:latin typeface="Vrinda" panose="020B0502040204020203" pitchFamily="34" charset="0"/>
                <a:cs typeface="Vrinda" panose="020B0502040204020203" pitchFamily="34" charset="0"/>
              </a:rPr>
              <a:t>ummary</a:t>
            </a:r>
            <a:endParaRPr lang="en-US" sz="2400" b="1" dirty="0">
              <a:solidFill>
                <a:schemeClr val="bg1"/>
              </a:solidFill>
              <a:latin typeface="Vrinda" pitchFamily="34" charset="0"/>
              <a:cs typeface="Vrinda" pitchFamily="34" charset="0"/>
            </a:endParaRPr>
          </a:p>
        </p:txBody>
      </p:sp>
    </p:spTree>
    <p:extLst>
      <p:ext uri="{BB962C8B-B14F-4D97-AF65-F5344CB8AC3E}">
        <p14:creationId xmlns:p14="http://schemas.microsoft.com/office/powerpoint/2010/main" val="36027602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381000" y="1600200"/>
            <a:ext cx="8382000" cy="46482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03225" lvl="1" algn="just" defTabSz="914363">
              <a:lnSpc>
                <a:spcPct val="90000"/>
              </a:lnSpc>
              <a:buSzPct val="100000"/>
              <a:buFont typeface="Wingdings" panose="05000000000000000000" pitchFamily="2" charset="2"/>
              <a:buChar char="§"/>
            </a:pPr>
            <a:endParaRPr lang="en-US" sz="1600" dirty="0" smtClean="0">
              <a:solidFill>
                <a:srgbClr val="9900FF"/>
              </a:solidFill>
            </a:endParaRPr>
          </a:p>
          <a:p>
            <a:pPr marL="514350" lvl="1" indent="-396875" defTabSz="914363">
              <a:lnSpc>
                <a:spcPct val="90000"/>
              </a:lnSpc>
              <a:buSzPct val="100000"/>
              <a:buBlip>
                <a:blip r:embed="rId3"/>
              </a:buBlip>
            </a:pPr>
            <a:r>
              <a:rPr lang="en-US" sz="2400" dirty="0" smtClean="0">
                <a:solidFill>
                  <a:srgbClr val="9900FF"/>
                </a:solidFill>
              </a:rPr>
              <a:t>A </a:t>
            </a:r>
            <a:r>
              <a:rPr lang="en-US" sz="2400" dirty="0">
                <a:solidFill>
                  <a:srgbClr val="9900FF"/>
                </a:solidFill>
              </a:rPr>
              <a:t>program which automatically fetch the content from Web pages.  Spiders are used to feed pages to Search Engines. </a:t>
            </a:r>
          </a:p>
          <a:p>
            <a:pPr marL="514350" lvl="1" indent="-396875" defTabSz="914363">
              <a:lnSpc>
                <a:spcPct val="90000"/>
              </a:lnSpc>
              <a:buSzPct val="100000"/>
              <a:buBlip>
                <a:blip r:embed="rId3"/>
              </a:buBlip>
            </a:pPr>
            <a:r>
              <a:rPr lang="en-US" sz="2400" dirty="0">
                <a:solidFill>
                  <a:srgbClr val="9900FF"/>
                </a:solidFill>
              </a:rPr>
              <a:t>It's called a Spider because it crawls over the Web. It is also called as Web Crawler.</a:t>
            </a:r>
          </a:p>
          <a:p>
            <a:pPr marL="514350" lvl="1" indent="-396875" defTabSz="914363">
              <a:lnSpc>
                <a:spcPct val="90000"/>
              </a:lnSpc>
              <a:buSzPct val="100000"/>
              <a:buBlip>
                <a:blip r:embed="rId3"/>
              </a:buBlip>
            </a:pPr>
            <a:r>
              <a:rPr lang="en-US" sz="2400" dirty="0">
                <a:solidFill>
                  <a:srgbClr val="9900FF"/>
                </a:solidFill>
              </a:rPr>
              <a:t>Because most web pages contain links to other pages a Spider can start from anywhere. As soon as it finds a link to another page it goes off and fetches it.</a:t>
            </a:r>
          </a:p>
          <a:p>
            <a:pPr marL="514350" lvl="1" indent="-396875" defTabSz="914363">
              <a:lnSpc>
                <a:spcPct val="90000"/>
              </a:lnSpc>
              <a:buSzPct val="100000"/>
              <a:buBlip>
                <a:blip r:embed="rId3"/>
              </a:buBlip>
            </a:pPr>
            <a:r>
              <a:rPr lang="en-US" sz="2400" dirty="0">
                <a:solidFill>
                  <a:srgbClr val="9900FF"/>
                </a:solidFill>
              </a:rPr>
              <a:t>A large web Search Engine will have many Spiders.</a:t>
            </a:r>
          </a:p>
          <a:p>
            <a:pPr marL="403225" lvl="1" algn="just" defTabSz="914363">
              <a:lnSpc>
                <a:spcPct val="90000"/>
              </a:lnSpc>
              <a:buSzPct val="100000"/>
              <a:buFont typeface="Wingdings" panose="05000000000000000000" pitchFamily="2" charset="2"/>
              <a:buChar char="§"/>
            </a:pPr>
            <a:endParaRPr lang="en-US" sz="1600" dirty="0">
              <a:solidFill>
                <a:srgbClr val="9900FF"/>
              </a:solidFill>
            </a:endParaRPr>
          </a:p>
        </p:txBody>
      </p:sp>
      <p:sp>
        <p:nvSpPr>
          <p:cNvPr id="6" name="Title 1"/>
          <p:cNvSpPr>
            <a:spLocks noGrp="1"/>
          </p:cNvSpPr>
          <p:nvPr>
            <p:ph type="title"/>
          </p:nvPr>
        </p:nvSpPr>
        <p:spPr>
          <a:xfrm>
            <a:off x="540000" y="540000"/>
            <a:ext cx="3960000" cy="900000"/>
          </a:xfrm>
        </p:spPr>
        <p:txBody>
          <a:bodyPr anchor="t" anchorCtr="0">
            <a:normAutofit/>
          </a:bodyPr>
          <a:lstStyle/>
          <a:p>
            <a:pPr algn="l"/>
            <a:r>
              <a:rPr lang="en-US" sz="2400" b="1" dirty="0" err="1">
                <a:solidFill>
                  <a:schemeClr val="bg1"/>
                </a:solidFill>
                <a:latin typeface="Vrinda" panose="020B0502040204020203" pitchFamily="34" charset="0"/>
                <a:cs typeface="Vrinda" panose="020B0502040204020203" pitchFamily="34" charset="0"/>
              </a:rPr>
              <a:t>Spidering</a:t>
            </a:r>
            <a:r>
              <a:rPr lang="en-US" sz="2400" b="1" dirty="0">
                <a:solidFill>
                  <a:schemeClr val="bg1"/>
                </a:solidFill>
                <a:latin typeface="Vrinda" panose="020B0502040204020203" pitchFamily="34" charset="0"/>
                <a:cs typeface="Vrinda" panose="020B0502040204020203" pitchFamily="34" charset="0"/>
              </a:rPr>
              <a:t> </a:t>
            </a:r>
            <a:r>
              <a:rPr lang="en-US" sz="2400" b="1" dirty="0" smtClean="0">
                <a:solidFill>
                  <a:schemeClr val="bg1"/>
                </a:solidFill>
                <a:latin typeface="Vrinda" panose="020B0502040204020203" pitchFamily="34" charset="0"/>
                <a:cs typeface="Vrinda" panose="020B0502040204020203" pitchFamily="34" charset="0"/>
              </a:rPr>
              <a:t> </a:t>
            </a:r>
            <a:r>
              <a:rPr lang="en-US" sz="2400" b="1" dirty="0">
                <a:solidFill>
                  <a:schemeClr val="bg1"/>
                </a:solidFill>
                <a:latin typeface="Vrinda" panose="020B0502040204020203" pitchFamily="34" charset="0"/>
                <a:cs typeface="Vrinda" panose="020B0502040204020203" pitchFamily="34" charset="0"/>
              </a:rPr>
              <a:t>U</a:t>
            </a:r>
            <a:r>
              <a:rPr lang="en-US" sz="2400" b="1" dirty="0" smtClean="0">
                <a:solidFill>
                  <a:schemeClr val="bg1"/>
                </a:solidFill>
                <a:latin typeface="Vrinda" panose="020B0502040204020203" pitchFamily="34" charset="0"/>
                <a:cs typeface="Vrinda" panose="020B0502040204020203" pitchFamily="34" charset="0"/>
              </a:rPr>
              <a:t>sing </a:t>
            </a:r>
            <a:r>
              <a:rPr lang="en-US" sz="2400" b="1" dirty="0">
                <a:solidFill>
                  <a:schemeClr val="bg1"/>
                </a:solidFill>
                <a:latin typeface="Vrinda" panose="020B0502040204020203" pitchFamily="34" charset="0"/>
                <a:cs typeface="Vrinda" panose="020B0502040204020203" pitchFamily="34" charset="0"/>
              </a:rPr>
              <a:t>a </a:t>
            </a:r>
            <a:r>
              <a:rPr lang="en-US" sz="2400" b="1" dirty="0" smtClean="0">
                <a:solidFill>
                  <a:schemeClr val="bg1"/>
                </a:solidFill>
                <a:latin typeface="Vrinda" panose="020B0502040204020203" pitchFamily="34" charset="0"/>
                <a:cs typeface="Vrinda" panose="020B0502040204020203" pitchFamily="34" charset="0"/>
              </a:rPr>
              <a:t>Database</a:t>
            </a:r>
            <a:endParaRPr lang="en-US" sz="2400" b="1" dirty="0">
              <a:solidFill>
                <a:schemeClr val="bg1"/>
              </a:solidFill>
              <a:latin typeface="Vrinda" pitchFamily="34" charset="0"/>
              <a:cs typeface="Vrinda" pitchFamily="34" charset="0"/>
            </a:endParaRPr>
          </a:p>
        </p:txBody>
      </p:sp>
    </p:spTree>
    <p:extLst>
      <p:ext uri="{BB962C8B-B14F-4D97-AF65-F5344CB8AC3E}">
        <p14:creationId xmlns:p14="http://schemas.microsoft.com/office/powerpoint/2010/main" val="270891992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381000" y="1582948"/>
            <a:ext cx="8382000" cy="466545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b="1" i="1" dirty="0" smtClean="0">
                <a:solidFill>
                  <a:srgbClr val="9900FF"/>
                </a:solidFill>
              </a:rPr>
              <a:t>Data Modeling</a:t>
            </a:r>
          </a:p>
          <a:p>
            <a:pPr marL="514350" lvl="1" indent="-396875" defTabSz="914363">
              <a:lnSpc>
                <a:spcPct val="90000"/>
              </a:lnSpc>
              <a:buSzPct val="100000"/>
              <a:buBlip>
                <a:blip r:embed="rId4"/>
              </a:buBlip>
            </a:pPr>
            <a:endParaRPr lang="en-US" sz="2000" dirty="0" smtClean="0">
              <a:solidFill>
                <a:srgbClr val="9900FF"/>
              </a:solidFill>
            </a:endParaRPr>
          </a:p>
          <a:p>
            <a:pPr marL="514350" lvl="1" indent="-396875" defTabSz="914363">
              <a:lnSpc>
                <a:spcPct val="90000"/>
              </a:lnSpc>
              <a:buSzPct val="100000"/>
              <a:buBlip>
                <a:blip r:embed="rId4"/>
              </a:buBlip>
            </a:pPr>
            <a:r>
              <a:rPr lang="en-US" sz="2400" dirty="0" smtClean="0">
                <a:solidFill>
                  <a:srgbClr val="9900FF"/>
                </a:solidFill>
              </a:rPr>
              <a:t>Data </a:t>
            </a:r>
            <a:r>
              <a:rPr lang="en-US" sz="2400" dirty="0">
                <a:solidFill>
                  <a:srgbClr val="9900FF"/>
                </a:solidFill>
              </a:rPr>
              <a:t>Modeling is a process of breaking  the application data into multiple Tables and creating the relationship among the Tables.</a:t>
            </a:r>
          </a:p>
          <a:p>
            <a:pPr marL="514350" lvl="1" indent="-396875" defTabSz="914363">
              <a:lnSpc>
                <a:spcPct val="90000"/>
              </a:lnSpc>
              <a:buSzPct val="100000"/>
              <a:buBlip>
                <a:blip r:embed="rId4"/>
              </a:buBlip>
            </a:pPr>
            <a:r>
              <a:rPr lang="en-US" sz="2400" dirty="0">
                <a:solidFill>
                  <a:srgbClr val="9900FF"/>
                </a:solidFill>
              </a:rPr>
              <a:t>Data Modeling Provides Design document that represents the Tables and their relationships. </a:t>
            </a:r>
          </a:p>
          <a:p>
            <a:pPr marL="514350" lvl="1" indent="-396875" defTabSz="914363">
              <a:lnSpc>
                <a:spcPct val="90000"/>
              </a:lnSpc>
              <a:buSzPct val="100000"/>
              <a:buBlip>
                <a:blip r:embed="rId4"/>
              </a:buBlip>
            </a:pPr>
            <a:r>
              <a:rPr lang="en-US" sz="2400" dirty="0">
                <a:solidFill>
                  <a:srgbClr val="9900FF"/>
                </a:solidFill>
              </a:rPr>
              <a:t>In Data Modeling Redundancy of data can be identified and data can be Normalized.</a:t>
            </a:r>
          </a:p>
          <a:p>
            <a:pPr marL="514350" lvl="1" indent="-396875" defTabSz="914363">
              <a:lnSpc>
                <a:spcPct val="90000"/>
              </a:lnSpc>
              <a:buSzPct val="100000"/>
              <a:buBlip>
                <a:blip r:embed="rId4"/>
              </a:buBlip>
            </a:pPr>
            <a:r>
              <a:rPr lang="en-US" sz="2400" dirty="0">
                <a:solidFill>
                  <a:srgbClr val="9900FF"/>
                </a:solidFill>
              </a:rPr>
              <a:t>Multiple Tables are linked by using Primary Key and Foreign Key</a:t>
            </a:r>
            <a:r>
              <a:rPr lang="en-US" sz="2400" dirty="0" smtClean="0">
                <a:solidFill>
                  <a:srgbClr val="9900FF"/>
                </a:solidFill>
              </a:rPr>
              <a:t>.</a:t>
            </a:r>
            <a:endParaRPr lang="en-US" sz="2400" dirty="0">
              <a:solidFill>
                <a:srgbClr val="9900FF"/>
              </a:solidFill>
            </a:endParaRPr>
          </a:p>
        </p:txBody>
      </p:sp>
      <p:sp>
        <p:nvSpPr>
          <p:cNvPr id="6" name="Title 1"/>
          <p:cNvSpPr>
            <a:spLocks noGrp="1"/>
          </p:cNvSpPr>
          <p:nvPr>
            <p:ph type="title"/>
          </p:nvPr>
        </p:nvSpPr>
        <p:spPr>
          <a:xfrm>
            <a:off x="540000" y="540000"/>
            <a:ext cx="3960000" cy="900000"/>
          </a:xfrm>
        </p:spPr>
        <p:txBody>
          <a:bodyPr anchor="t" anchorCtr="0">
            <a:normAutofit/>
          </a:bodyPr>
          <a:lstStyle/>
          <a:p>
            <a:pPr algn="l"/>
            <a:r>
              <a:rPr lang="en-US" sz="2000" b="1" dirty="0">
                <a:solidFill>
                  <a:schemeClr val="bg1"/>
                </a:solidFill>
              </a:rPr>
              <a:t>Basic </a:t>
            </a:r>
            <a:r>
              <a:rPr lang="en-US" sz="2000" b="1" dirty="0" smtClean="0">
                <a:solidFill>
                  <a:schemeClr val="bg1"/>
                </a:solidFill>
              </a:rPr>
              <a:t>Data </a:t>
            </a:r>
            <a:r>
              <a:rPr lang="en-US" sz="2000" b="1" dirty="0">
                <a:solidFill>
                  <a:schemeClr val="bg1"/>
                </a:solidFill>
              </a:rPr>
              <a:t>M</a:t>
            </a:r>
            <a:r>
              <a:rPr lang="en-US" sz="2000" b="1" dirty="0" smtClean="0">
                <a:solidFill>
                  <a:schemeClr val="bg1"/>
                </a:solidFill>
              </a:rPr>
              <a:t>odeling</a:t>
            </a:r>
            <a:endParaRPr lang="en-US" sz="2000" b="1" dirty="0">
              <a:solidFill>
                <a:schemeClr val="bg1"/>
              </a:solidFill>
              <a:latin typeface="Vrinda" pitchFamily="34" charset="0"/>
              <a:cs typeface="Vrinda" pitchFamily="34" charset="0"/>
            </a:endParaRPr>
          </a:p>
        </p:txBody>
      </p:sp>
      <p:sp>
        <p:nvSpPr>
          <p:cNvPr id="2" name="TextBox 1"/>
          <p:cNvSpPr txBox="1"/>
          <p:nvPr/>
        </p:nvSpPr>
        <p:spPr>
          <a:xfrm>
            <a:off x="2520000" y="5325070"/>
            <a:ext cx="5943600" cy="923330"/>
          </a:xfrm>
          <a:prstGeom prst="rect">
            <a:avLst/>
          </a:prstGeom>
        </p:spPr>
        <p:style>
          <a:lnRef idx="1">
            <a:schemeClr val="dk1"/>
          </a:lnRef>
          <a:fillRef idx="3">
            <a:schemeClr val="dk1"/>
          </a:fillRef>
          <a:effectRef idx="2">
            <a:schemeClr val="dk1"/>
          </a:effectRef>
          <a:fontRef idx="minor">
            <a:schemeClr val="lt1"/>
          </a:fontRef>
        </p:style>
        <p:txBody>
          <a:bodyPr wrap="square" rtlCol="0">
            <a:spAutoFit/>
          </a:bodyPr>
          <a:lstStyle/>
          <a:p>
            <a:r>
              <a:rPr lang="en-US" b="1" i="1" dirty="0">
                <a:solidFill>
                  <a:schemeClr val="bg1"/>
                </a:solidFill>
              </a:rPr>
              <a:t>CREATE TABLE People (id INTEGER PRIMARY KEY, name TEXT UNIQUE, retrieved INTEGER)</a:t>
            </a:r>
          </a:p>
          <a:p>
            <a:endParaRPr lang="en-US" dirty="0"/>
          </a:p>
        </p:txBody>
      </p:sp>
    </p:spTree>
    <p:extLst>
      <p:ext uri="{BB962C8B-B14F-4D97-AF65-F5344CB8AC3E}">
        <p14:creationId xmlns:p14="http://schemas.microsoft.com/office/powerpoint/2010/main" val="62589738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Just a Minute</a:t>
            </a:r>
            <a:endParaRPr lang="en-US" sz="2400" b="1" dirty="0">
              <a:solidFill>
                <a:schemeClr val="bg1"/>
              </a:solidFill>
              <a:latin typeface="Vrinda" pitchFamily="34" charset="0"/>
              <a:cs typeface="Vrinda" pitchFamily="34" charset="0"/>
            </a:endParaRPr>
          </a:p>
        </p:txBody>
      </p:sp>
      <p:pic>
        <p:nvPicPr>
          <p:cNvPr id="7"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8700" t="8754" r="4699" b="9314"/>
          <a:stretch/>
        </p:blipFill>
        <p:spPr>
          <a:xfrm>
            <a:off x="683568" y="1772816"/>
            <a:ext cx="7918704" cy="4343400"/>
          </a:xfrm>
        </p:spPr>
      </p:pic>
      <p:sp>
        <p:nvSpPr>
          <p:cNvPr id="8" name="Oval Callout 7"/>
          <p:cNvSpPr/>
          <p:nvPr/>
        </p:nvSpPr>
        <p:spPr>
          <a:xfrm flipH="1">
            <a:off x="1219200" y="2667000"/>
            <a:ext cx="5069160" cy="1600200"/>
          </a:xfrm>
          <a:prstGeom prst="wedgeEllipseCallout">
            <a:avLst>
              <a:gd name="adj1" fmla="val -63521"/>
              <a:gd name="adj2" fmla="val 32901"/>
            </a:avLst>
          </a:prstGeom>
          <a:ln/>
        </p:spPr>
        <p:style>
          <a:lnRef idx="1">
            <a:schemeClr val="accent6"/>
          </a:lnRef>
          <a:fillRef idx="3">
            <a:schemeClr val="accent6"/>
          </a:fillRef>
          <a:effectRef idx="2">
            <a:schemeClr val="accent6"/>
          </a:effectRef>
          <a:fontRef idx="minor">
            <a:schemeClr val="lt1"/>
          </a:fontRef>
        </p:style>
        <p:txBody>
          <a:bodyPr rtlCol="0" anchor="ctr"/>
          <a:lstStyle/>
          <a:p>
            <a:endParaRPr lang="en-IN" sz="1600" dirty="0" smtClean="0"/>
          </a:p>
          <a:p>
            <a:endParaRPr lang="en-IN" sz="1600" dirty="0"/>
          </a:p>
          <a:p>
            <a:r>
              <a:rPr lang="en-IN" dirty="0"/>
              <a:t>__________command is used to view records in a </a:t>
            </a:r>
            <a:r>
              <a:rPr lang="en-IN" dirty="0" smtClean="0"/>
              <a:t>table.</a:t>
            </a:r>
            <a:endParaRPr lang="en-IN" dirty="0"/>
          </a:p>
          <a:p>
            <a:endParaRPr lang="en-US" sz="1600" dirty="0"/>
          </a:p>
          <a:p>
            <a:pPr algn="ctr"/>
            <a:endParaRPr lang="en-IN" sz="1600" dirty="0" smtClean="0"/>
          </a:p>
          <a:p>
            <a:pPr algn="ctr"/>
            <a:endParaRPr lang="en-US" sz="1600" dirty="0"/>
          </a:p>
        </p:txBody>
      </p:sp>
    </p:spTree>
    <p:extLst>
      <p:ext uri="{BB962C8B-B14F-4D97-AF65-F5344CB8AC3E}">
        <p14:creationId xmlns:p14="http://schemas.microsoft.com/office/powerpoint/2010/main" val="29468562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Just a Minute</a:t>
            </a:r>
            <a:br>
              <a:rPr lang="en-IN" sz="2400" b="1" dirty="0" smtClean="0">
                <a:solidFill>
                  <a:schemeClr val="bg1"/>
                </a:solidFill>
                <a:latin typeface="Vrinda" pitchFamily="34" charset="0"/>
                <a:cs typeface="Vrinda" pitchFamily="34" charset="0"/>
              </a:rPr>
            </a:br>
            <a:endParaRPr lang="en-US" sz="2400" b="1" dirty="0">
              <a:solidFill>
                <a:schemeClr val="bg1"/>
              </a:solidFill>
              <a:latin typeface="Vrinda" pitchFamily="34" charset="0"/>
              <a:cs typeface="Vrinda" pitchFamily="34" charset="0"/>
            </a:endParaRPr>
          </a:p>
        </p:txBody>
      </p:sp>
      <p:pic>
        <p:nvPicPr>
          <p:cNvPr id="7"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8700" t="8754" r="4699" b="9314"/>
          <a:stretch/>
        </p:blipFill>
        <p:spPr>
          <a:xfrm>
            <a:off x="683568" y="1772816"/>
            <a:ext cx="7918704" cy="4343400"/>
          </a:xfrm>
        </p:spPr>
      </p:pic>
      <p:grpSp>
        <p:nvGrpSpPr>
          <p:cNvPr id="5" name="Group 4"/>
          <p:cNvGrpSpPr/>
          <p:nvPr/>
        </p:nvGrpSpPr>
        <p:grpSpPr>
          <a:xfrm>
            <a:off x="2733802" y="4974021"/>
            <a:ext cx="3946773" cy="977946"/>
            <a:chOff x="304808" y="5638800"/>
            <a:chExt cx="2488567" cy="914400"/>
          </a:xfrm>
        </p:grpSpPr>
        <p:grpSp>
          <p:nvGrpSpPr>
            <p:cNvPr id="9" name="Group 8"/>
            <p:cNvGrpSpPr/>
            <p:nvPr/>
          </p:nvGrpSpPr>
          <p:grpSpPr>
            <a:xfrm>
              <a:off x="304808" y="5638800"/>
              <a:ext cx="2488567" cy="914400"/>
              <a:chOff x="6019800" y="1143000"/>
              <a:chExt cx="585545" cy="533400"/>
            </a:xfrm>
          </p:grpSpPr>
          <p:sp>
            <p:nvSpPr>
              <p:cNvPr id="12" name="Oval 11"/>
              <p:cNvSpPr/>
              <p:nvPr/>
            </p:nvSpPr>
            <p:spPr>
              <a:xfrm>
                <a:off x="6019800" y="1143000"/>
                <a:ext cx="457200" cy="533400"/>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dirty="0">
                  <a:solidFill>
                    <a:schemeClr val="bg1"/>
                  </a:solidFill>
                </a:endParaRPr>
              </a:p>
            </p:txBody>
          </p:sp>
          <p:sp>
            <p:nvSpPr>
              <p:cNvPr id="13" name="Oval 12"/>
              <p:cNvSpPr/>
              <p:nvPr/>
            </p:nvSpPr>
            <p:spPr>
              <a:xfrm>
                <a:off x="6220973" y="1267686"/>
                <a:ext cx="384372" cy="408714"/>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dirty="0">
                  <a:solidFill>
                    <a:schemeClr val="bg1"/>
                  </a:solidFill>
                </a:endParaRPr>
              </a:p>
            </p:txBody>
          </p:sp>
        </p:grpSp>
        <p:sp>
          <p:nvSpPr>
            <p:cNvPr id="10" name="Rectangle 9"/>
            <p:cNvSpPr/>
            <p:nvPr/>
          </p:nvSpPr>
          <p:spPr>
            <a:xfrm>
              <a:off x="1372689" y="5963799"/>
              <a:ext cx="1420681" cy="299289"/>
            </a:xfrm>
            <a:prstGeom prst="rect">
              <a:avLst/>
            </a:prstGeom>
            <a:ln>
              <a:noFill/>
            </a:ln>
            <a:effectLst>
              <a:glow rad="63500">
                <a:schemeClr val="accent3">
                  <a:satMod val="175000"/>
                  <a:alpha val="40000"/>
                </a:schemeClr>
              </a:glow>
            </a:effectLst>
          </p:spPr>
          <p:txBody>
            <a:bodyPr wrap="square">
              <a:spAutoFit/>
            </a:bodyPr>
            <a:lstStyle/>
            <a:p>
              <a:pPr marL="117475" indent="0" defTabSz="914363">
                <a:lnSpc>
                  <a:spcPct val="90000"/>
                </a:lnSpc>
                <a:spcBef>
                  <a:spcPct val="20000"/>
                </a:spcBef>
                <a:buSzPct val="100000"/>
                <a:buFont typeface="Arial" pitchFamily="34" charset="0"/>
                <a:buNone/>
              </a:pPr>
              <a:r>
                <a:rPr lang="en-IN" sz="1600" dirty="0" smtClean="0">
                  <a:solidFill>
                    <a:schemeClr val="bg1"/>
                  </a:solidFill>
                  <a:latin typeface="Vrinda" pitchFamily="34" charset="0"/>
                  <a:cs typeface="Vrinda" pitchFamily="34" charset="0"/>
                </a:rPr>
                <a:t>Select</a:t>
              </a:r>
              <a:endParaRPr lang="en-IN" sz="1600" dirty="0">
                <a:solidFill>
                  <a:schemeClr val="bg1"/>
                </a:solidFill>
                <a:latin typeface="Vrinda" pitchFamily="34" charset="0"/>
                <a:cs typeface="Vrinda" pitchFamily="34" charset="0"/>
              </a:endParaRPr>
            </a:p>
          </p:txBody>
        </p:sp>
        <p:sp>
          <p:nvSpPr>
            <p:cNvPr id="11" name="Rectangle 10"/>
            <p:cNvSpPr/>
            <p:nvPr/>
          </p:nvSpPr>
          <p:spPr>
            <a:xfrm>
              <a:off x="588818" y="5963799"/>
              <a:ext cx="1287878" cy="316555"/>
            </a:xfrm>
            <a:prstGeom prst="rect">
              <a:avLst/>
            </a:prstGeom>
            <a:ln>
              <a:noFill/>
            </a:ln>
            <a:effectLst>
              <a:glow rad="63500">
                <a:schemeClr val="accent3">
                  <a:satMod val="175000"/>
                  <a:alpha val="40000"/>
                </a:schemeClr>
              </a:glow>
            </a:effectLst>
          </p:spPr>
          <p:txBody>
            <a:bodyPr wrap="square">
              <a:spAutoFit/>
            </a:bodyPr>
            <a:lstStyle/>
            <a:p>
              <a:pPr>
                <a:defRPr/>
              </a:pPr>
              <a:r>
                <a:rPr lang="en-US" sz="1600" dirty="0" smtClean="0">
                  <a:solidFill>
                    <a:schemeClr val="bg1"/>
                  </a:solidFill>
                  <a:latin typeface="+mn-lt"/>
                  <a:cs typeface="Arial" charset="0"/>
                </a:rPr>
                <a:t>Answer:</a:t>
              </a:r>
              <a:endParaRPr lang="en-US" sz="1600" dirty="0">
                <a:solidFill>
                  <a:schemeClr val="bg1"/>
                </a:solidFill>
                <a:latin typeface="+mn-lt"/>
              </a:endParaRPr>
            </a:p>
          </p:txBody>
        </p:sp>
      </p:grpSp>
      <p:sp>
        <p:nvSpPr>
          <p:cNvPr id="14" name="Oval Callout 13"/>
          <p:cNvSpPr/>
          <p:nvPr/>
        </p:nvSpPr>
        <p:spPr>
          <a:xfrm flipH="1">
            <a:off x="1219200" y="2667000"/>
            <a:ext cx="5069160" cy="1600200"/>
          </a:xfrm>
          <a:prstGeom prst="wedgeEllipseCallout">
            <a:avLst>
              <a:gd name="adj1" fmla="val -63521"/>
              <a:gd name="adj2" fmla="val 32901"/>
            </a:avLst>
          </a:prstGeom>
          <a:ln/>
        </p:spPr>
        <p:style>
          <a:lnRef idx="1">
            <a:schemeClr val="accent6"/>
          </a:lnRef>
          <a:fillRef idx="3">
            <a:schemeClr val="accent6"/>
          </a:fillRef>
          <a:effectRef idx="2">
            <a:schemeClr val="accent6"/>
          </a:effectRef>
          <a:fontRef idx="minor">
            <a:schemeClr val="lt1"/>
          </a:fontRef>
        </p:style>
        <p:txBody>
          <a:bodyPr rtlCol="0" anchor="ctr"/>
          <a:lstStyle/>
          <a:p>
            <a:endParaRPr lang="en-IN" sz="1600" dirty="0" smtClean="0"/>
          </a:p>
          <a:p>
            <a:endParaRPr lang="en-IN" dirty="0"/>
          </a:p>
          <a:p>
            <a:r>
              <a:rPr lang="en-IN" dirty="0"/>
              <a:t>__________command is used to view records in a </a:t>
            </a:r>
            <a:r>
              <a:rPr lang="en-IN" dirty="0" smtClean="0"/>
              <a:t>table.</a:t>
            </a:r>
            <a:endParaRPr lang="en-IN" dirty="0"/>
          </a:p>
          <a:p>
            <a:endParaRPr lang="en-US" sz="1600" dirty="0"/>
          </a:p>
          <a:p>
            <a:pPr algn="ctr"/>
            <a:endParaRPr lang="en-IN" sz="1600" dirty="0" smtClean="0"/>
          </a:p>
          <a:p>
            <a:pPr algn="ctr"/>
            <a:endParaRPr lang="en-US" sz="1600" dirty="0"/>
          </a:p>
        </p:txBody>
      </p:sp>
    </p:spTree>
    <p:extLst>
      <p:ext uri="{BB962C8B-B14F-4D97-AF65-F5344CB8AC3E}">
        <p14:creationId xmlns:p14="http://schemas.microsoft.com/office/powerpoint/2010/main" val="19234412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Just a Minute</a:t>
            </a:r>
            <a:endParaRPr lang="en-US" sz="2400" b="1" dirty="0">
              <a:solidFill>
                <a:schemeClr val="bg1"/>
              </a:solidFill>
              <a:latin typeface="Vrinda" pitchFamily="34" charset="0"/>
              <a:cs typeface="Vrinda" pitchFamily="34" charset="0"/>
            </a:endParaRPr>
          </a:p>
        </p:txBody>
      </p:sp>
      <p:pic>
        <p:nvPicPr>
          <p:cNvPr id="7"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8700" t="8754" r="4699" b="9314"/>
          <a:stretch/>
        </p:blipFill>
        <p:spPr>
          <a:xfrm>
            <a:off x="683568" y="1772816"/>
            <a:ext cx="7918704" cy="4343400"/>
          </a:xfrm>
        </p:spPr>
      </p:pic>
      <p:sp>
        <p:nvSpPr>
          <p:cNvPr id="8" name="Oval Callout 7"/>
          <p:cNvSpPr/>
          <p:nvPr/>
        </p:nvSpPr>
        <p:spPr>
          <a:xfrm flipH="1">
            <a:off x="1219200" y="2667000"/>
            <a:ext cx="5069160" cy="1600200"/>
          </a:xfrm>
          <a:prstGeom prst="wedgeEllipseCallout">
            <a:avLst>
              <a:gd name="adj1" fmla="val -63521"/>
              <a:gd name="adj2" fmla="val 32901"/>
            </a:avLst>
          </a:prstGeom>
          <a:ln/>
        </p:spPr>
        <p:style>
          <a:lnRef idx="1">
            <a:schemeClr val="accent6"/>
          </a:lnRef>
          <a:fillRef idx="3">
            <a:schemeClr val="accent6"/>
          </a:fillRef>
          <a:effectRef idx="2">
            <a:schemeClr val="accent6"/>
          </a:effectRef>
          <a:fontRef idx="minor">
            <a:schemeClr val="lt1"/>
          </a:fontRef>
        </p:style>
        <p:txBody>
          <a:bodyPr rtlCol="0" anchor="ctr"/>
          <a:lstStyle/>
          <a:p>
            <a:endParaRPr lang="en-IN" sz="1600" dirty="0" smtClean="0"/>
          </a:p>
          <a:p>
            <a:endParaRPr lang="en-IN" sz="1600" dirty="0"/>
          </a:p>
          <a:p>
            <a:endParaRPr lang="en-US" sz="1600" dirty="0"/>
          </a:p>
          <a:p>
            <a:pPr algn="ctr"/>
            <a:r>
              <a:rPr lang="en-IN" dirty="0"/>
              <a:t>________ object is used to fetch records from a database </a:t>
            </a:r>
            <a:r>
              <a:rPr lang="en-IN" dirty="0" smtClean="0"/>
              <a:t>table.</a:t>
            </a:r>
            <a:endParaRPr lang="en-IN" dirty="0"/>
          </a:p>
          <a:p>
            <a:pPr algn="ctr"/>
            <a:endParaRPr lang="en-IN" sz="1600" dirty="0" smtClean="0"/>
          </a:p>
          <a:p>
            <a:pPr algn="ctr"/>
            <a:endParaRPr lang="en-US" sz="1600" dirty="0"/>
          </a:p>
        </p:txBody>
      </p:sp>
    </p:spTree>
    <p:extLst>
      <p:ext uri="{BB962C8B-B14F-4D97-AF65-F5344CB8AC3E}">
        <p14:creationId xmlns:p14="http://schemas.microsoft.com/office/powerpoint/2010/main" val="29468562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Just a Minute</a:t>
            </a:r>
            <a:endParaRPr lang="en-US" sz="2400" b="1" dirty="0">
              <a:solidFill>
                <a:schemeClr val="bg1"/>
              </a:solidFill>
              <a:latin typeface="Vrinda" pitchFamily="34" charset="0"/>
              <a:cs typeface="Vrinda" pitchFamily="34" charset="0"/>
            </a:endParaRPr>
          </a:p>
        </p:txBody>
      </p:sp>
      <p:pic>
        <p:nvPicPr>
          <p:cNvPr id="7"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8700" t="8754" r="4699" b="9314"/>
          <a:stretch/>
        </p:blipFill>
        <p:spPr>
          <a:xfrm>
            <a:off x="683568" y="1772816"/>
            <a:ext cx="7918704" cy="4343400"/>
          </a:xfrm>
        </p:spPr>
      </p:pic>
      <p:grpSp>
        <p:nvGrpSpPr>
          <p:cNvPr id="5" name="Group 4"/>
          <p:cNvGrpSpPr/>
          <p:nvPr/>
        </p:nvGrpSpPr>
        <p:grpSpPr>
          <a:xfrm>
            <a:off x="2733802" y="4974021"/>
            <a:ext cx="3946773" cy="977946"/>
            <a:chOff x="304808" y="5638800"/>
            <a:chExt cx="2488567" cy="914400"/>
          </a:xfrm>
        </p:grpSpPr>
        <p:grpSp>
          <p:nvGrpSpPr>
            <p:cNvPr id="9" name="Group 8"/>
            <p:cNvGrpSpPr/>
            <p:nvPr/>
          </p:nvGrpSpPr>
          <p:grpSpPr>
            <a:xfrm>
              <a:off x="304808" y="5638800"/>
              <a:ext cx="2488567" cy="914400"/>
              <a:chOff x="6019800" y="1143000"/>
              <a:chExt cx="585545" cy="533400"/>
            </a:xfrm>
          </p:grpSpPr>
          <p:sp>
            <p:nvSpPr>
              <p:cNvPr id="12" name="Oval 11"/>
              <p:cNvSpPr/>
              <p:nvPr/>
            </p:nvSpPr>
            <p:spPr>
              <a:xfrm>
                <a:off x="6019800" y="1143000"/>
                <a:ext cx="457200" cy="533400"/>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dirty="0">
                  <a:solidFill>
                    <a:schemeClr val="bg1"/>
                  </a:solidFill>
                </a:endParaRPr>
              </a:p>
            </p:txBody>
          </p:sp>
          <p:sp>
            <p:nvSpPr>
              <p:cNvPr id="13" name="Oval 12"/>
              <p:cNvSpPr/>
              <p:nvPr/>
            </p:nvSpPr>
            <p:spPr>
              <a:xfrm>
                <a:off x="6220973" y="1267686"/>
                <a:ext cx="384372" cy="408714"/>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dirty="0">
                  <a:solidFill>
                    <a:schemeClr val="bg1"/>
                  </a:solidFill>
                </a:endParaRPr>
              </a:p>
            </p:txBody>
          </p:sp>
        </p:grpSp>
        <p:sp>
          <p:nvSpPr>
            <p:cNvPr id="10" name="Rectangle 9"/>
            <p:cNvSpPr/>
            <p:nvPr/>
          </p:nvSpPr>
          <p:spPr>
            <a:xfrm>
              <a:off x="1372689" y="5963799"/>
              <a:ext cx="1420681" cy="299289"/>
            </a:xfrm>
            <a:prstGeom prst="rect">
              <a:avLst/>
            </a:prstGeom>
            <a:ln>
              <a:noFill/>
            </a:ln>
            <a:effectLst>
              <a:glow rad="63500">
                <a:schemeClr val="accent3">
                  <a:satMod val="175000"/>
                  <a:alpha val="40000"/>
                </a:schemeClr>
              </a:glow>
            </a:effectLst>
          </p:spPr>
          <p:txBody>
            <a:bodyPr wrap="square">
              <a:spAutoFit/>
            </a:bodyPr>
            <a:lstStyle/>
            <a:p>
              <a:pPr marL="117475" indent="0" defTabSz="914363">
                <a:lnSpc>
                  <a:spcPct val="90000"/>
                </a:lnSpc>
                <a:spcBef>
                  <a:spcPct val="20000"/>
                </a:spcBef>
                <a:buSzPct val="100000"/>
                <a:buFont typeface="Arial" pitchFamily="34" charset="0"/>
                <a:buNone/>
              </a:pPr>
              <a:r>
                <a:rPr lang="en-IN" sz="1600" dirty="0" smtClean="0">
                  <a:solidFill>
                    <a:schemeClr val="bg1"/>
                  </a:solidFill>
                  <a:latin typeface="Vrinda" pitchFamily="34" charset="0"/>
                  <a:cs typeface="Vrinda" pitchFamily="34" charset="0"/>
                </a:rPr>
                <a:t>Cursor</a:t>
              </a:r>
              <a:endParaRPr lang="en-IN" sz="1600" dirty="0">
                <a:solidFill>
                  <a:schemeClr val="bg1"/>
                </a:solidFill>
                <a:latin typeface="Vrinda" pitchFamily="34" charset="0"/>
                <a:cs typeface="Vrinda" pitchFamily="34" charset="0"/>
              </a:endParaRPr>
            </a:p>
          </p:txBody>
        </p:sp>
        <p:sp>
          <p:nvSpPr>
            <p:cNvPr id="11" name="Rectangle 10"/>
            <p:cNvSpPr/>
            <p:nvPr/>
          </p:nvSpPr>
          <p:spPr>
            <a:xfrm>
              <a:off x="588818" y="5963799"/>
              <a:ext cx="1287878" cy="316555"/>
            </a:xfrm>
            <a:prstGeom prst="rect">
              <a:avLst/>
            </a:prstGeom>
            <a:ln>
              <a:noFill/>
            </a:ln>
            <a:effectLst>
              <a:glow rad="63500">
                <a:schemeClr val="accent3">
                  <a:satMod val="175000"/>
                  <a:alpha val="40000"/>
                </a:schemeClr>
              </a:glow>
            </a:effectLst>
          </p:spPr>
          <p:txBody>
            <a:bodyPr wrap="square">
              <a:spAutoFit/>
            </a:bodyPr>
            <a:lstStyle/>
            <a:p>
              <a:pPr>
                <a:defRPr/>
              </a:pPr>
              <a:r>
                <a:rPr lang="en-US" sz="1600" dirty="0" smtClean="0">
                  <a:solidFill>
                    <a:schemeClr val="bg1"/>
                  </a:solidFill>
                  <a:latin typeface="+mn-lt"/>
                  <a:cs typeface="Arial" charset="0"/>
                </a:rPr>
                <a:t>Answer:</a:t>
              </a:r>
              <a:endParaRPr lang="en-US" sz="1600" dirty="0">
                <a:solidFill>
                  <a:schemeClr val="bg1"/>
                </a:solidFill>
                <a:latin typeface="+mn-lt"/>
              </a:endParaRPr>
            </a:p>
          </p:txBody>
        </p:sp>
      </p:grpSp>
      <p:sp>
        <p:nvSpPr>
          <p:cNvPr id="14" name="Oval Callout 13"/>
          <p:cNvSpPr/>
          <p:nvPr/>
        </p:nvSpPr>
        <p:spPr>
          <a:xfrm flipH="1">
            <a:off x="1219200" y="2667000"/>
            <a:ext cx="5069160" cy="1600200"/>
          </a:xfrm>
          <a:prstGeom prst="wedgeEllipseCallout">
            <a:avLst>
              <a:gd name="adj1" fmla="val -63521"/>
              <a:gd name="adj2" fmla="val 32901"/>
            </a:avLst>
          </a:prstGeom>
          <a:ln/>
        </p:spPr>
        <p:style>
          <a:lnRef idx="1">
            <a:schemeClr val="accent6"/>
          </a:lnRef>
          <a:fillRef idx="3">
            <a:schemeClr val="accent6"/>
          </a:fillRef>
          <a:effectRef idx="2">
            <a:schemeClr val="accent6"/>
          </a:effectRef>
          <a:fontRef idx="minor">
            <a:schemeClr val="lt1"/>
          </a:fontRef>
        </p:style>
        <p:txBody>
          <a:bodyPr rtlCol="0" anchor="ctr"/>
          <a:lstStyle/>
          <a:p>
            <a:endParaRPr lang="en-IN" sz="1600" dirty="0" smtClean="0"/>
          </a:p>
          <a:p>
            <a:endParaRPr lang="en-IN" sz="1600" dirty="0"/>
          </a:p>
          <a:p>
            <a:endParaRPr lang="en-US" sz="1600" dirty="0"/>
          </a:p>
          <a:p>
            <a:pPr algn="ctr"/>
            <a:r>
              <a:rPr lang="en-IN" dirty="0"/>
              <a:t>________ object is used to fetch records from a database table</a:t>
            </a:r>
          </a:p>
          <a:p>
            <a:pPr algn="ctr"/>
            <a:endParaRPr lang="en-IN" sz="1600" dirty="0" smtClean="0"/>
          </a:p>
          <a:p>
            <a:pPr algn="ctr"/>
            <a:endParaRPr lang="en-US" sz="1600" dirty="0"/>
          </a:p>
        </p:txBody>
      </p:sp>
    </p:spTree>
    <p:extLst>
      <p:ext uri="{BB962C8B-B14F-4D97-AF65-F5344CB8AC3E}">
        <p14:creationId xmlns:p14="http://schemas.microsoft.com/office/powerpoint/2010/main" val="41179999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Just a Minute</a:t>
            </a:r>
            <a:endParaRPr lang="en-US" sz="2400" b="1" dirty="0">
              <a:solidFill>
                <a:schemeClr val="bg1"/>
              </a:solidFill>
              <a:latin typeface="Vrinda" pitchFamily="34" charset="0"/>
              <a:cs typeface="Vrinda" pitchFamily="34" charset="0"/>
            </a:endParaRPr>
          </a:p>
        </p:txBody>
      </p:sp>
      <p:pic>
        <p:nvPicPr>
          <p:cNvPr id="7"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8700" t="8754" r="4699" b="9314"/>
          <a:stretch/>
        </p:blipFill>
        <p:spPr>
          <a:xfrm>
            <a:off x="683568" y="1772816"/>
            <a:ext cx="7918704" cy="4343400"/>
          </a:xfrm>
        </p:spPr>
      </p:pic>
      <p:sp>
        <p:nvSpPr>
          <p:cNvPr id="8" name="Oval Callout 7"/>
          <p:cNvSpPr/>
          <p:nvPr/>
        </p:nvSpPr>
        <p:spPr>
          <a:xfrm flipH="1">
            <a:off x="1219200" y="2514600"/>
            <a:ext cx="5069160" cy="2133600"/>
          </a:xfrm>
          <a:prstGeom prst="wedgeEllipseCallout">
            <a:avLst>
              <a:gd name="adj1" fmla="val -63521"/>
              <a:gd name="adj2" fmla="val 32901"/>
            </a:avLst>
          </a:prstGeom>
          <a:ln/>
        </p:spPr>
        <p:style>
          <a:lnRef idx="1">
            <a:schemeClr val="accent6"/>
          </a:lnRef>
          <a:fillRef idx="3">
            <a:schemeClr val="accent6"/>
          </a:fillRef>
          <a:effectRef idx="2">
            <a:schemeClr val="accent6"/>
          </a:effectRef>
          <a:fontRef idx="minor">
            <a:schemeClr val="lt1"/>
          </a:fontRef>
        </p:style>
        <p:txBody>
          <a:bodyPr rtlCol="0" anchor="ctr"/>
          <a:lstStyle/>
          <a:p>
            <a:endParaRPr lang="en-IN" sz="1600" dirty="0" smtClean="0"/>
          </a:p>
          <a:p>
            <a:endParaRPr lang="en-IN" sz="1600" dirty="0"/>
          </a:p>
          <a:p>
            <a:r>
              <a:rPr lang="en-IN" dirty="0"/>
              <a:t>The act of deciding how to break up your application</a:t>
            </a:r>
          </a:p>
          <a:p>
            <a:r>
              <a:rPr lang="en-IN" dirty="0"/>
              <a:t>data into multiple tables and establishing the relationships between the two tables is called _____</a:t>
            </a:r>
          </a:p>
          <a:p>
            <a:endParaRPr lang="en-US" sz="1600" dirty="0"/>
          </a:p>
          <a:p>
            <a:pPr algn="ctr"/>
            <a:endParaRPr lang="en-IN" sz="1600" dirty="0" smtClean="0"/>
          </a:p>
          <a:p>
            <a:pPr algn="ctr"/>
            <a:endParaRPr lang="en-US" sz="1600" dirty="0"/>
          </a:p>
        </p:txBody>
      </p:sp>
    </p:spTree>
    <p:extLst>
      <p:ext uri="{BB962C8B-B14F-4D97-AF65-F5344CB8AC3E}">
        <p14:creationId xmlns:p14="http://schemas.microsoft.com/office/powerpoint/2010/main" val="39250113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Just a Minute</a:t>
            </a:r>
            <a:br>
              <a:rPr lang="en-IN" sz="2400" b="1" dirty="0" smtClean="0">
                <a:solidFill>
                  <a:schemeClr val="bg1"/>
                </a:solidFill>
                <a:latin typeface="Vrinda" pitchFamily="34" charset="0"/>
                <a:cs typeface="Vrinda" pitchFamily="34" charset="0"/>
              </a:rPr>
            </a:br>
            <a:endParaRPr lang="en-US" sz="2400" b="1" dirty="0">
              <a:solidFill>
                <a:schemeClr val="bg1"/>
              </a:solidFill>
              <a:latin typeface="Vrinda" pitchFamily="34" charset="0"/>
              <a:cs typeface="Vrinda" pitchFamily="34" charset="0"/>
            </a:endParaRPr>
          </a:p>
        </p:txBody>
      </p:sp>
      <p:pic>
        <p:nvPicPr>
          <p:cNvPr id="7"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8700" t="8754" r="4699" b="9314"/>
          <a:stretch/>
        </p:blipFill>
        <p:spPr>
          <a:xfrm>
            <a:off x="683568" y="1772816"/>
            <a:ext cx="7918704" cy="4343400"/>
          </a:xfrm>
        </p:spPr>
      </p:pic>
      <p:grpSp>
        <p:nvGrpSpPr>
          <p:cNvPr id="5" name="Group 4"/>
          <p:cNvGrpSpPr/>
          <p:nvPr/>
        </p:nvGrpSpPr>
        <p:grpSpPr>
          <a:xfrm>
            <a:off x="2733802" y="4974021"/>
            <a:ext cx="3946773" cy="977946"/>
            <a:chOff x="304808" y="5638800"/>
            <a:chExt cx="2488567" cy="914400"/>
          </a:xfrm>
        </p:grpSpPr>
        <p:grpSp>
          <p:nvGrpSpPr>
            <p:cNvPr id="9" name="Group 8"/>
            <p:cNvGrpSpPr/>
            <p:nvPr/>
          </p:nvGrpSpPr>
          <p:grpSpPr>
            <a:xfrm>
              <a:off x="304808" y="5638800"/>
              <a:ext cx="2488567" cy="914400"/>
              <a:chOff x="6019800" y="1143000"/>
              <a:chExt cx="585545" cy="533400"/>
            </a:xfrm>
          </p:grpSpPr>
          <p:sp>
            <p:nvSpPr>
              <p:cNvPr id="12" name="Oval 11"/>
              <p:cNvSpPr/>
              <p:nvPr/>
            </p:nvSpPr>
            <p:spPr>
              <a:xfrm>
                <a:off x="6019800" y="1143000"/>
                <a:ext cx="457200" cy="533400"/>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dirty="0">
                  <a:solidFill>
                    <a:schemeClr val="bg1"/>
                  </a:solidFill>
                </a:endParaRPr>
              </a:p>
            </p:txBody>
          </p:sp>
          <p:sp>
            <p:nvSpPr>
              <p:cNvPr id="13" name="Oval 12"/>
              <p:cNvSpPr/>
              <p:nvPr/>
            </p:nvSpPr>
            <p:spPr>
              <a:xfrm>
                <a:off x="6220973" y="1267686"/>
                <a:ext cx="384372" cy="408714"/>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dirty="0">
                  <a:solidFill>
                    <a:schemeClr val="bg1"/>
                  </a:solidFill>
                </a:endParaRPr>
              </a:p>
            </p:txBody>
          </p:sp>
        </p:grpSp>
        <p:sp>
          <p:nvSpPr>
            <p:cNvPr id="10" name="Rectangle 9"/>
            <p:cNvSpPr/>
            <p:nvPr/>
          </p:nvSpPr>
          <p:spPr>
            <a:xfrm>
              <a:off x="1372689" y="5963799"/>
              <a:ext cx="1420681" cy="299289"/>
            </a:xfrm>
            <a:prstGeom prst="rect">
              <a:avLst/>
            </a:prstGeom>
            <a:ln>
              <a:noFill/>
            </a:ln>
            <a:effectLst>
              <a:glow rad="63500">
                <a:schemeClr val="accent3">
                  <a:satMod val="175000"/>
                  <a:alpha val="40000"/>
                </a:schemeClr>
              </a:glow>
            </a:effectLst>
          </p:spPr>
          <p:txBody>
            <a:bodyPr wrap="square">
              <a:spAutoFit/>
            </a:bodyPr>
            <a:lstStyle/>
            <a:p>
              <a:pPr marL="117475" indent="0" defTabSz="914363">
                <a:lnSpc>
                  <a:spcPct val="90000"/>
                </a:lnSpc>
                <a:spcBef>
                  <a:spcPct val="20000"/>
                </a:spcBef>
                <a:buSzPct val="100000"/>
                <a:buFont typeface="Arial" pitchFamily="34" charset="0"/>
                <a:buNone/>
              </a:pPr>
              <a:r>
                <a:rPr lang="en-IN" sz="1600" dirty="0" smtClean="0">
                  <a:solidFill>
                    <a:schemeClr val="bg1"/>
                  </a:solidFill>
                  <a:latin typeface="Vrinda" pitchFamily="34" charset="0"/>
                  <a:cs typeface="Vrinda" pitchFamily="34" charset="0"/>
                </a:rPr>
                <a:t>Data Modelling</a:t>
              </a:r>
              <a:endParaRPr lang="en-IN" sz="1600" dirty="0">
                <a:solidFill>
                  <a:schemeClr val="bg1"/>
                </a:solidFill>
                <a:latin typeface="Vrinda" pitchFamily="34" charset="0"/>
                <a:cs typeface="Vrinda" pitchFamily="34" charset="0"/>
              </a:endParaRPr>
            </a:p>
          </p:txBody>
        </p:sp>
        <p:sp>
          <p:nvSpPr>
            <p:cNvPr id="11" name="Rectangle 10"/>
            <p:cNvSpPr/>
            <p:nvPr/>
          </p:nvSpPr>
          <p:spPr>
            <a:xfrm>
              <a:off x="588818" y="5963799"/>
              <a:ext cx="1287878" cy="316555"/>
            </a:xfrm>
            <a:prstGeom prst="rect">
              <a:avLst/>
            </a:prstGeom>
            <a:ln>
              <a:noFill/>
            </a:ln>
            <a:effectLst>
              <a:glow rad="63500">
                <a:schemeClr val="accent3">
                  <a:satMod val="175000"/>
                  <a:alpha val="40000"/>
                </a:schemeClr>
              </a:glow>
            </a:effectLst>
          </p:spPr>
          <p:txBody>
            <a:bodyPr wrap="square">
              <a:spAutoFit/>
            </a:bodyPr>
            <a:lstStyle/>
            <a:p>
              <a:pPr>
                <a:defRPr/>
              </a:pPr>
              <a:r>
                <a:rPr lang="en-US" sz="1600" dirty="0" smtClean="0">
                  <a:solidFill>
                    <a:schemeClr val="bg1"/>
                  </a:solidFill>
                  <a:latin typeface="+mn-lt"/>
                  <a:cs typeface="Arial" charset="0"/>
                </a:rPr>
                <a:t>Answer:</a:t>
              </a:r>
              <a:endParaRPr lang="en-US" sz="1600" dirty="0">
                <a:solidFill>
                  <a:schemeClr val="bg1"/>
                </a:solidFill>
                <a:latin typeface="+mn-lt"/>
              </a:endParaRPr>
            </a:p>
          </p:txBody>
        </p:sp>
      </p:grpSp>
      <p:sp>
        <p:nvSpPr>
          <p:cNvPr id="20" name="Oval Callout 19"/>
          <p:cNvSpPr/>
          <p:nvPr/>
        </p:nvSpPr>
        <p:spPr>
          <a:xfrm flipH="1">
            <a:off x="990600" y="2471720"/>
            <a:ext cx="5461367" cy="1981200"/>
          </a:xfrm>
          <a:prstGeom prst="wedgeEllipseCallout">
            <a:avLst>
              <a:gd name="adj1" fmla="val -63521"/>
              <a:gd name="adj2" fmla="val 32901"/>
            </a:avLst>
          </a:prstGeom>
          <a:ln/>
        </p:spPr>
        <p:style>
          <a:lnRef idx="1">
            <a:schemeClr val="accent6"/>
          </a:lnRef>
          <a:fillRef idx="3">
            <a:schemeClr val="accent6"/>
          </a:fillRef>
          <a:effectRef idx="2">
            <a:schemeClr val="accent6"/>
          </a:effectRef>
          <a:fontRef idx="minor">
            <a:schemeClr val="lt1"/>
          </a:fontRef>
        </p:style>
        <p:txBody>
          <a:bodyPr rtlCol="0" anchor="ctr"/>
          <a:lstStyle/>
          <a:p>
            <a:endParaRPr lang="en-IN" sz="1600" dirty="0" smtClean="0"/>
          </a:p>
          <a:p>
            <a:endParaRPr lang="en-IN" sz="1600" dirty="0"/>
          </a:p>
          <a:p>
            <a:r>
              <a:rPr lang="en-IN" dirty="0"/>
              <a:t>The act of deciding how to break up your application</a:t>
            </a:r>
          </a:p>
          <a:p>
            <a:r>
              <a:rPr lang="en-IN" dirty="0"/>
              <a:t>data into multiple tables and establishing the relationships between the two tables is called _____</a:t>
            </a:r>
          </a:p>
          <a:p>
            <a:endParaRPr lang="en-US" sz="1600" dirty="0"/>
          </a:p>
          <a:p>
            <a:pPr algn="ctr"/>
            <a:endParaRPr lang="en-IN" sz="1600" dirty="0" smtClean="0"/>
          </a:p>
          <a:p>
            <a:pPr algn="ctr"/>
            <a:endParaRPr lang="en-US" sz="1600" dirty="0"/>
          </a:p>
        </p:txBody>
      </p:sp>
    </p:spTree>
    <p:extLst>
      <p:ext uri="{BB962C8B-B14F-4D97-AF65-F5344CB8AC3E}">
        <p14:creationId xmlns:p14="http://schemas.microsoft.com/office/powerpoint/2010/main" val="1011750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381000" y="1440000"/>
            <a:ext cx="8259000" cy="4680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en-IN" sz="1600" dirty="0" smtClean="0">
              <a:solidFill>
                <a:srgbClr val="6600CC"/>
              </a:solidFill>
              <a:latin typeface="Vrinda" pitchFamily="34" charset="0"/>
              <a:cs typeface="Vrinda" pitchFamily="34" charset="0"/>
            </a:endParaRPr>
          </a:p>
        </p:txBody>
      </p:sp>
      <p:sp>
        <p:nvSpPr>
          <p:cNvPr id="6" name="Title 1"/>
          <p:cNvSpPr>
            <a:spLocks noGrp="1"/>
          </p:cNvSpPr>
          <p:nvPr>
            <p:ph type="title"/>
          </p:nvPr>
        </p:nvSpPr>
        <p:spPr>
          <a:xfrm>
            <a:off x="540000" y="540000"/>
            <a:ext cx="4140000" cy="900000"/>
          </a:xfrm>
        </p:spPr>
        <p:txBody>
          <a:bodyPr anchor="t" anchorCtr="0">
            <a:normAutofit/>
          </a:bodyPr>
          <a:lstStyle/>
          <a:p>
            <a:pPr algn="l"/>
            <a:r>
              <a:rPr lang="en-US" sz="2400" b="1" dirty="0" smtClean="0">
                <a:solidFill>
                  <a:schemeClr val="bg1"/>
                </a:solidFill>
                <a:latin typeface="Vrinda" pitchFamily="34" charset="0"/>
                <a:cs typeface="Vrinda" pitchFamily="34" charset="0"/>
              </a:rPr>
              <a:t>Activity</a:t>
            </a:r>
            <a:endParaRPr lang="en-US" sz="2400" b="1" dirty="0">
              <a:solidFill>
                <a:schemeClr val="bg1"/>
              </a:solidFill>
              <a:latin typeface="Vrinda" pitchFamily="34" charset="0"/>
              <a:cs typeface="Vrinda" pitchFamily="34" charset="0"/>
            </a:endParaRPr>
          </a:p>
        </p:txBody>
      </p:sp>
      <p:sp>
        <p:nvSpPr>
          <p:cNvPr id="2" name="Rectangle 1"/>
          <p:cNvSpPr/>
          <p:nvPr/>
        </p:nvSpPr>
        <p:spPr>
          <a:xfrm>
            <a:off x="381000" y="1564437"/>
            <a:ext cx="7848872" cy="487506"/>
          </a:xfrm>
          <a:prstGeom prst="rect">
            <a:avLst/>
          </a:prstGeom>
        </p:spPr>
        <p:txBody>
          <a:bodyPr wrap="square">
            <a:spAutoFit/>
          </a:bodyPr>
          <a:lstStyle/>
          <a:p>
            <a:pPr>
              <a:lnSpc>
                <a:spcPct val="107000"/>
              </a:lnSpc>
              <a:spcAft>
                <a:spcPts val="800"/>
              </a:spcAft>
            </a:pPr>
            <a:r>
              <a:rPr lang="en-US" sz="2400" b="1" dirty="0" smtClean="0">
                <a:solidFill>
                  <a:srgbClr val="6600CC"/>
                </a:solidFill>
                <a:latin typeface="Calibri" panose="020F0502020204030204" pitchFamily="34" charset="0"/>
                <a:ea typeface="Calibri" panose="020F0502020204030204" pitchFamily="34" charset="0"/>
                <a:cs typeface="Times New Roman" panose="02020603050405020304" pitchFamily="18" charset="0"/>
              </a:rPr>
              <a:t>Activity :   Implementing Database Operation</a:t>
            </a:r>
            <a:endParaRPr lang="en-US" sz="2400" dirty="0">
              <a:solidFill>
                <a:srgbClr val="6600CC"/>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1"/>
          <p:cNvSpPr>
            <a:spLocks noChangeArrowheads="1"/>
          </p:cNvSpPr>
          <p:nvPr/>
        </p:nvSpPr>
        <p:spPr bwMode="auto">
          <a:xfrm>
            <a:off x="381000" y="1636446"/>
            <a:ext cx="8382000" cy="480131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smtClean="0">
                <a:ln>
                  <a:noFill/>
                </a:ln>
                <a:solidFill>
                  <a:srgbClr val="6600CC"/>
                </a:solidFill>
                <a:effectLst/>
                <a:ea typeface="Calibri" panose="020F0502020204030204" pitchFamily="34" charset="0"/>
                <a:cs typeface="Times New Roman" panose="02020603050405020304" pitchFamily="18" charset="0"/>
              </a:rPr>
              <a:t>Problem Statement: </a:t>
            </a:r>
          </a:p>
          <a:p>
            <a:r>
              <a:rPr lang="en-US" dirty="0" smtClean="0">
                <a:solidFill>
                  <a:srgbClr val="6600CC"/>
                </a:solidFill>
              </a:rPr>
              <a:t>Write </a:t>
            </a:r>
            <a:r>
              <a:rPr lang="en-US" dirty="0">
                <a:solidFill>
                  <a:srgbClr val="6600CC"/>
                </a:solidFill>
              </a:rPr>
              <a:t>a </a:t>
            </a:r>
            <a:r>
              <a:rPr lang="en-US" dirty="0" smtClean="0">
                <a:solidFill>
                  <a:srgbClr val="6600CC"/>
                </a:solidFill>
              </a:rPr>
              <a:t>program </a:t>
            </a:r>
            <a:r>
              <a:rPr lang="en-US" dirty="0">
                <a:solidFill>
                  <a:srgbClr val="6600CC"/>
                </a:solidFill>
              </a:rPr>
              <a:t>to connect </a:t>
            </a:r>
            <a:r>
              <a:rPr lang="en-US" dirty="0" smtClean="0">
                <a:solidFill>
                  <a:srgbClr val="6600CC"/>
                </a:solidFill>
              </a:rPr>
              <a:t>to Database stored </a:t>
            </a:r>
            <a:r>
              <a:rPr lang="en-US" dirty="0">
                <a:solidFill>
                  <a:srgbClr val="6600CC"/>
                </a:solidFill>
              </a:rPr>
              <a:t>in </a:t>
            </a:r>
            <a:r>
              <a:rPr lang="en-US" dirty="0" smtClean="0">
                <a:solidFill>
                  <a:srgbClr val="6600CC"/>
                </a:solidFill>
              </a:rPr>
              <a:t>file </a:t>
            </a:r>
            <a:r>
              <a:rPr lang="en-US" dirty="0">
                <a:solidFill>
                  <a:srgbClr val="6600CC"/>
                </a:solidFill>
              </a:rPr>
              <a:t>music.sqlite3 </a:t>
            </a:r>
            <a:r>
              <a:rPr lang="en-US" dirty="0" smtClean="0">
                <a:solidFill>
                  <a:srgbClr val="6600CC"/>
                </a:solidFill>
              </a:rPr>
              <a:t>of </a:t>
            </a:r>
            <a:r>
              <a:rPr lang="en-US" dirty="0">
                <a:solidFill>
                  <a:srgbClr val="6600CC"/>
                </a:solidFill>
              </a:rPr>
              <a:t>the current directory. If the file does not exist, it </a:t>
            </a:r>
            <a:r>
              <a:rPr lang="en-US" dirty="0" smtClean="0">
                <a:solidFill>
                  <a:srgbClr val="6600CC"/>
                </a:solidFill>
              </a:rPr>
              <a:t>should be </a:t>
            </a:r>
            <a:r>
              <a:rPr lang="en-US" dirty="0">
                <a:solidFill>
                  <a:srgbClr val="6600CC"/>
                </a:solidFill>
              </a:rPr>
              <a:t>created. </a:t>
            </a:r>
            <a:r>
              <a:rPr lang="en-US" dirty="0" smtClean="0">
                <a:solidFill>
                  <a:srgbClr val="6600CC"/>
                </a:solidFill>
              </a:rPr>
              <a:t> Create </a:t>
            </a:r>
            <a:r>
              <a:rPr lang="en-US" dirty="0">
                <a:solidFill>
                  <a:srgbClr val="6600CC"/>
                </a:solidFill>
              </a:rPr>
              <a:t>a table called writers with following structure</a:t>
            </a:r>
            <a:r>
              <a:rPr lang="en-US" dirty="0" smtClean="0">
                <a:solidFill>
                  <a:srgbClr val="6600CC"/>
                </a:solidFill>
              </a:rPr>
              <a:t>:</a:t>
            </a:r>
          </a:p>
          <a:p>
            <a:r>
              <a:rPr lang="en-US" dirty="0" smtClean="0"/>
              <a:t>1</a:t>
            </a:r>
            <a:r>
              <a:rPr lang="en-US" dirty="0"/>
              <a:t>. </a:t>
            </a:r>
            <a:r>
              <a:rPr lang="en-US" dirty="0">
                <a:solidFill>
                  <a:srgbClr val="6600CC"/>
                </a:solidFill>
              </a:rPr>
              <a:t>Create a table called writers with following structure:</a:t>
            </a:r>
          </a:p>
          <a:p>
            <a:endParaRPr lang="en-US" dirty="0" smtClean="0">
              <a:solidFill>
                <a:srgbClr val="6600CC"/>
              </a:solidFill>
            </a:endParaRPr>
          </a:p>
          <a:p>
            <a:endParaRPr lang="en-US" dirty="0" smtClean="0">
              <a:solidFill>
                <a:srgbClr val="6600CC"/>
              </a:solidFill>
            </a:endParaRPr>
          </a:p>
          <a:p>
            <a:endParaRPr lang="en-US" dirty="0" smtClean="0">
              <a:solidFill>
                <a:srgbClr val="6600CC"/>
              </a:solidFill>
            </a:endParaRPr>
          </a:p>
          <a:p>
            <a:endParaRPr lang="en-US" dirty="0">
              <a:solidFill>
                <a:srgbClr val="6600CC"/>
              </a:solidFill>
            </a:endParaRPr>
          </a:p>
          <a:p>
            <a:r>
              <a:rPr lang="en-US" dirty="0" smtClean="0">
                <a:solidFill>
                  <a:srgbClr val="6600CC"/>
                </a:solidFill>
              </a:rPr>
              <a:t>2. Insert </a:t>
            </a:r>
            <a:r>
              <a:rPr lang="en-US" dirty="0">
                <a:solidFill>
                  <a:srgbClr val="6600CC"/>
                </a:solidFill>
              </a:rPr>
              <a:t>following records:</a:t>
            </a:r>
          </a:p>
          <a:p>
            <a:r>
              <a:rPr lang="en-US" dirty="0" smtClean="0">
                <a:solidFill>
                  <a:srgbClr val="6600CC"/>
                </a:solidFill>
              </a:rPr>
              <a:t>     1</a:t>
            </a:r>
            <a:r>
              <a:rPr lang="en-US" dirty="0">
                <a:solidFill>
                  <a:srgbClr val="6600CC"/>
                </a:solidFill>
              </a:rPr>
              <a:t>,'Jack London'</a:t>
            </a:r>
          </a:p>
          <a:p>
            <a:r>
              <a:rPr lang="en-US" dirty="0" smtClean="0">
                <a:solidFill>
                  <a:srgbClr val="6600CC"/>
                </a:solidFill>
              </a:rPr>
              <a:t>     2</a:t>
            </a:r>
            <a:r>
              <a:rPr lang="en-US" dirty="0">
                <a:solidFill>
                  <a:srgbClr val="6600CC"/>
                </a:solidFill>
              </a:rPr>
              <a:t>,'Honore de Balzac'</a:t>
            </a:r>
          </a:p>
          <a:p>
            <a:r>
              <a:rPr lang="en-US" dirty="0" smtClean="0">
                <a:solidFill>
                  <a:srgbClr val="6600CC"/>
                </a:solidFill>
              </a:rPr>
              <a:t>     3</a:t>
            </a:r>
            <a:r>
              <a:rPr lang="en-US" dirty="0">
                <a:solidFill>
                  <a:srgbClr val="6600CC"/>
                </a:solidFill>
              </a:rPr>
              <a:t>,'Lion Feuchtwanger'</a:t>
            </a:r>
          </a:p>
          <a:p>
            <a:r>
              <a:rPr lang="en-US" dirty="0" smtClean="0">
                <a:solidFill>
                  <a:srgbClr val="6600CC"/>
                </a:solidFill>
              </a:rPr>
              <a:t>     4</a:t>
            </a:r>
            <a:r>
              <a:rPr lang="en-US" dirty="0">
                <a:solidFill>
                  <a:srgbClr val="6600CC"/>
                </a:solidFill>
              </a:rPr>
              <a:t>,'Emile Zola'</a:t>
            </a:r>
          </a:p>
          <a:p>
            <a:r>
              <a:rPr lang="en-US" dirty="0" smtClean="0">
                <a:solidFill>
                  <a:srgbClr val="6600CC"/>
                </a:solidFill>
              </a:rPr>
              <a:t>     5</a:t>
            </a:r>
            <a:r>
              <a:rPr lang="en-US" dirty="0">
                <a:solidFill>
                  <a:srgbClr val="6600CC"/>
                </a:solidFill>
              </a:rPr>
              <a:t>,'Truman Capote' </a:t>
            </a:r>
            <a:endParaRPr lang="en-US" dirty="0" smtClean="0">
              <a:solidFill>
                <a:srgbClr val="6600CC"/>
              </a:solidFill>
            </a:endParaRPr>
          </a:p>
          <a:p>
            <a:r>
              <a:rPr lang="en-US" dirty="0" smtClean="0">
                <a:solidFill>
                  <a:srgbClr val="6600CC"/>
                </a:solidFill>
              </a:rPr>
              <a:t>3. Then </a:t>
            </a:r>
            <a:r>
              <a:rPr lang="en-US" dirty="0">
                <a:solidFill>
                  <a:srgbClr val="6600CC"/>
                </a:solidFill>
              </a:rPr>
              <a:t>retrieve first 4 records from </a:t>
            </a:r>
            <a:r>
              <a:rPr lang="en-US" dirty="0" smtClean="0">
                <a:solidFill>
                  <a:srgbClr val="6600CC"/>
                </a:solidFill>
              </a:rPr>
              <a:t>Table. </a:t>
            </a:r>
            <a:endParaRPr lang="en-US" dirty="0">
              <a:solidFill>
                <a:srgbClr val="6600CC"/>
              </a:solidFill>
            </a:endParaRPr>
          </a:p>
          <a:p>
            <a:r>
              <a:rPr lang="en-US" dirty="0" smtClean="0">
                <a:solidFill>
                  <a:srgbClr val="6600CC"/>
                </a:solidFill>
              </a:rPr>
              <a:t>4. Update </a:t>
            </a:r>
            <a:r>
              <a:rPr lang="en-US" dirty="0">
                <a:solidFill>
                  <a:srgbClr val="6600CC"/>
                </a:solidFill>
              </a:rPr>
              <a:t>the record whose id is 4</a:t>
            </a:r>
            <a:r>
              <a:rPr lang="en-US" dirty="0" smtClean="0">
                <a:solidFill>
                  <a:srgbClr val="6600CC"/>
                </a:solidFill>
              </a:rPr>
              <a:t>.</a:t>
            </a:r>
            <a:endParaRPr lang="en-US" dirty="0">
              <a:solidFill>
                <a:srgbClr val="6600CC"/>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3875933443"/>
              </p:ext>
            </p:extLst>
          </p:nvPr>
        </p:nvGraphicFramePr>
        <p:xfrm>
          <a:off x="1968636" y="3290342"/>
          <a:ext cx="2336800" cy="746760"/>
        </p:xfrm>
        <a:graphic>
          <a:graphicData uri="http://schemas.openxmlformats.org/drawingml/2006/table">
            <a:tbl>
              <a:tblPr>
                <a:tableStyleId>{5C22544A-7EE6-4342-B048-85BDC9FD1C3A}</a:tableStyleId>
              </a:tblPr>
              <a:tblGrid>
                <a:gridCol w="861934"/>
                <a:gridCol w="747010"/>
                <a:gridCol w="727856"/>
              </a:tblGrid>
              <a:tr h="190500">
                <a:tc gridSpan="3">
                  <a:txBody>
                    <a:bodyPr/>
                    <a:lstStyle/>
                    <a:p>
                      <a:pPr algn="ctr" fontAlgn="b"/>
                      <a:r>
                        <a:rPr lang="en-IN" sz="1100" u="none" strike="noStrike" dirty="0">
                          <a:effectLst/>
                        </a:rPr>
                        <a:t>Writers</a:t>
                      </a:r>
                      <a:endParaRPr lang="en-IN" sz="1100" b="1" i="0" u="none" strike="noStrike" dirty="0">
                        <a:solidFill>
                          <a:srgbClr val="000000"/>
                        </a:solidFill>
                        <a:effectLst/>
                        <a:latin typeface="Calibri"/>
                      </a:endParaRPr>
                    </a:p>
                  </a:txBody>
                  <a:tcPr marL="7620" marR="7620" marT="7620" marB="0" anchor="b"/>
                </a:tc>
                <a:tc hMerge="1">
                  <a:txBody>
                    <a:bodyPr/>
                    <a:lstStyle/>
                    <a:p>
                      <a:endParaRPr lang="en-IN"/>
                    </a:p>
                  </a:txBody>
                  <a:tcPr/>
                </a:tc>
                <a:tc hMerge="1">
                  <a:txBody>
                    <a:bodyPr/>
                    <a:lstStyle/>
                    <a:p>
                      <a:endParaRPr lang="en-IN"/>
                    </a:p>
                  </a:txBody>
                  <a:tcPr/>
                </a:tc>
              </a:tr>
              <a:tr h="182880">
                <a:tc>
                  <a:txBody>
                    <a:bodyPr/>
                    <a:lstStyle/>
                    <a:p>
                      <a:pPr algn="l" fontAlgn="b"/>
                      <a:r>
                        <a:rPr lang="en-IN" sz="1100" u="none" strike="noStrike">
                          <a:effectLst/>
                        </a:rPr>
                        <a:t>Column Name</a:t>
                      </a:r>
                      <a:endParaRPr lang="en-IN" sz="1100" b="0" i="0" u="none" strike="noStrike">
                        <a:solidFill>
                          <a:srgbClr val="000000"/>
                        </a:solidFill>
                        <a:effectLst/>
                        <a:latin typeface="Calibri"/>
                      </a:endParaRPr>
                    </a:p>
                  </a:txBody>
                  <a:tcPr marL="7620" marR="7620" marT="7620" marB="0" anchor="b"/>
                </a:tc>
                <a:tc>
                  <a:txBody>
                    <a:bodyPr/>
                    <a:lstStyle/>
                    <a:p>
                      <a:pPr algn="l" fontAlgn="b"/>
                      <a:r>
                        <a:rPr lang="en-IN" sz="1100" u="none" strike="noStrike">
                          <a:effectLst/>
                        </a:rPr>
                        <a:t>Data Type</a:t>
                      </a:r>
                      <a:endParaRPr lang="en-IN" sz="1100" b="0" i="0" u="none" strike="noStrike">
                        <a:solidFill>
                          <a:srgbClr val="000000"/>
                        </a:solidFill>
                        <a:effectLst/>
                        <a:latin typeface="Calibri"/>
                      </a:endParaRPr>
                    </a:p>
                  </a:txBody>
                  <a:tcPr marL="7620" marR="7620" marT="7620" marB="0" anchor="b"/>
                </a:tc>
                <a:tc>
                  <a:txBody>
                    <a:bodyPr/>
                    <a:lstStyle/>
                    <a:p>
                      <a:pPr algn="l" fontAlgn="b"/>
                      <a:r>
                        <a:rPr lang="en-IN" sz="1100" u="none" strike="noStrike">
                          <a:effectLst/>
                        </a:rPr>
                        <a:t>Constraints</a:t>
                      </a:r>
                      <a:endParaRPr lang="en-IN" sz="1100" b="0" i="0" u="none" strike="noStrike">
                        <a:solidFill>
                          <a:srgbClr val="000000"/>
                        </a:solidFill>
                        <a:effectLst/>
                        <a:latin typeface="Calibri"/>
                      </a:endParaRPr>
                    </a:p>
                  </a:txBody>
                  <a:tcPr marL="7620" marR="7620" marT="7620" marB="0" anchor="b"/>
                </a:tc>
              </a:tr>
              <a:tr h="182880">
                <a:tc>
                  <a:txBody>
                    <a:bodyPr/>
                    <a:lstStyle/>
                    <a:p>
                      <a:pPr algn="l" fontAlgn="b"/>
                      <a:r>
                        <a:rPr lang="en-IN" sz="1100" u="none" strike="noStrike">
                          <a:effectLst/>
                        </a:rPr>
                        <a:t>Id</a:t>
                      </a:r>
                      <a:endParaRPr lang="en-IN" sz="1100" b="0" i="0" u="none" strike="noStrike">
                        <a:solidFill>
                          <a:srgbClr val="000000"/>
                        </a:solidFill>
                        <a:effectLst/>
                        <a:latin typeface="Calibri"/>
                      </a:endParaRPr>
                    </a:p>
                  </a:txBody>
                  <a:tcPr marL="7620" marR="7620" marT="7620" marB="0" anchor="b"/>
                </a:tc>
                <a:tc>
                  <a:txBody>
                    <a:bodyPr/>
                    <a:lstStyle/>
                    <a:p>
                      <a:pPr algn="l" fontAlgn="b"/>
                      <a:r>
                        <a:rPr lang="en-IN" sz="1100" u="none" strike="noStrike">
                          <a:effectLst/>
                        </a:rPr>
                        <a:t>Number</a:t>
                      </a:r>
                      <a:endParaRPr lang="en-IN" sz="1100" b="0" i="0" u="none" strike="noStrike">
                        <a:solidFill>
                          <a:srgbClr val="000000"/>
                        </a:solidFill>
                        <a:effectLst/>
                        <a:latin typeface="Calibri"/>
                      </a:endParaRPr>
                    </a:p>
                  </a:txBody>
                  <a:tcPr marL="7620" marR="7620" marT="7620" marB="0" anchor="b"/>
                </a:tc>
                <a:tc>
                  <a:txBody>
                    <a:bodyPr/>
                    <a:lstStyle/>
                    <a:p>
                      <a:pPr algn="l" fontAlgn="b"/>
                      <a:r>
                        <a:rPr lang="en-IN" sz="1100" u="none" strike="noStrike">
                          <a:effectLst/>
                        </a:rPr>
                        <a:t>Primary Key</a:t>
                      </a:r>
                      <a:endParaRPr lang="en-IN" sz="1100" b="0" i="0" u="none" strike="noStrike">
                        <a:solidFill>
                          <a:srgbClr val="000000"/>
                        </a:solidFill>
                        <a:effectLst/>
                        <a:latin typeface="Calibri"/>
                      </a:endParaRPr>
                    </a:p>
                  </a:txBody>
                  <a:tcPr marL="7620" marR="7620" marT="7620" marB="0" anchor="b"/>
                </a:tc>
              </a:tr>
              <a:tr h="190500">
                <a:tc>
                  <a:txBody>
                    <a:bodyPr/>
                    <a:lstStyle/>
                    <a:p>
                      <a:pPr algn="l" fontAlgn="b"/>
                      <a:r>
                        <a:rPr lang="en-IN" sz="1100" u="none" strike="noStrike">
                          <a:effectLst/>
                        </a:rPr>
                        <a:t>Name</a:t>
                      </a:r>
                      <a:endParaRPr lang="en-IN" sz="1100" b="0" i="0" u="none" strike="noStrike">
                        <a:solidFill>
                          <a:srgbClr val="000000"/>
                        </a:solidFill>
                        <a:effectLst/>
                        <a:latin typeface="Calibri"/>
                      </a:endParaRPr>
                    </a:p>
                  </a:txBody>
                  <a:tcPr marL="7620" marR="7620" marT="7620" marB="0" anchor="b"/>
                </a:tc>
                <a:tc>
                  <a:txBody>
                    <a:bodyPr/>
                    <a:lstStyle/>
                    <a:p>
                      <a:pPr algn="l" fontAlgn="b"/>
                      <a:r>
                        <a:rPr lang="en-IN" sz="1100" u="none" strike="noStrike">
                          <a:effectLst/>
                        </a:rPr>
                        <a:t>Varchar (25)</a:t>
                      </a:r>
                      <a:endParaRPr lang="en-IN" sz="1100" b="0" i="0" u="none" strike="noStrike">
                        <a:solidFill>
                          <a:srgbClr val="000000"/>
                        </a:solidFill>
                        <a:effectLst/>
                        <a:latin typeface="Calibri"/>
                      </a:endParaRPr>
                    </a:p>
                  </a:txBody>
                  <a:tcPr marL="7620" marR="7620" marT="7620" marB="0" anchor="b"/>
                </a:tc>
                <a:tc>
                  <a:txBody>
                    <a:bodyPr/>
                    <a:lstStyle/>
                    <a:p>
                      <a:pPr algn="l" fontAlgn="b"/>
                      <a:r>
                        <a:rPr lang="en-IN" sz="1100" u="none" strike="noStrike" dirty="0">
                          <a:effectLst/>
                        </a:rPr>
                        <a:t> </a:t>
                      </a:r>
                      <a:endParaRPr lang="en-IN" sz="1100" b="0" i="0" u="none" strike="noStrike" dirty="0">
                        <a:solidFill>
                          <a:srgbClr val="000000"/>
                        </a:solidFill>
                        <a:effectLst/>
                        <a:latin typeface="Calibri"/>
                      </a:endParaRPr>
                    </a:p>
                  </a:txBody>
                  <a:tcPr marL="7620" marR="7620" marT="7620" marB="0" anchor="b"/>
                </a:tc>
              </a:tr>
            </a:tbl>
          </a:graphicData>
        </a:graphic>
      </p:graphicFrame>
    </p:spTree>
    <p:extLst>
      <p:ext uri="{BB962C8B-B14F-4D97-AF65-F5344CB8AC3E}">
        <p14:creationId xmlns:p14="http://schemas.microsoft.com/office/powerpoint/2010/main" val="903318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457200" y="1800000"/>
            <a:ext cx="8182800" cy="4320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q"/>
            </a:pPr>
            <a:r>
              <a:rPr lang="en-IN" sz="2400" dirty="0">
                <a:solidFill>
                  <a:srgbClr val="9900FF"/>
                </a:solidFill>
              </a:rPr>
              <a:t>In this </a:t>
            </a:r>
            <a:r>
              <a:rPr lang="en-IN" sz="2400" dirty="0" smtClean="0">
                <a:solidFill>
                  <a:srgbClr val="9900FF"/>
                </a:solidFill>
              </a:rPr>
              <a:t>session, you learned:</a:t>
            </a:r>
          </a:p>
          <a:p>
            <a:pPr>
              <a:buFont typeface="Wingdings" panose="05000000000000000000" pitchFamily="2" charset="2"/>
              <a:buChar char="q"/>
            </a:pPr>
            <a:endParaRPr lang="en-IN" sz="2400" dirty="0" smtClean="0">
              <a:solidFill>
                <a:srgbClr val="9900FF"/>
              </a:solidFill>
            </a:endParaRPr>
          </a:p>
          <a:p>
            <a:pPr lvl="1">
              <a:buFont typeface="Wingdings" panose="05000000000000000000" pitchFamily="2" charset="2"/>
              <a:buChar char="q"/>
            </a:pPr>
            <a:r>
              <a:rPr lang="en-US" sz="2000" dirty="0" smtClean="0">
                <a:solidFill>
                  <a:srgbClr val="9900FF"/>
                </a:solidFill>
              </a:rPr>
              <a:t>A </a:t>
            </a:r>
            <a:r>
              <a:rPr lang="en-US" sz="2000" dirty="0">
                <a:solidFill>
                  <a:srgbClr val="9900FF"/>
                </a:solidFill>
              </a:rPr>
              <a:t>C</a:t>
            </a:r>
            <a:r>
              <a:rPr lang="en-US" sz="2000" dirty="0" smtClean="0">
                <a:solidFill>
                  <a:srgbClr val="9900FF"/>
                </a:solidFill>
              </a:rPr>
              <a:t>ursor </a:t>
            </a:r>
            <a:r>
              <a:rPr lang="en-US" sz="2000" dirty="0">
                <a:solidFill>
                  <a:srgbClr val="9900FF"/>
                </a:solidFill>
              </a:rPr>
              <a:t>is like a </a:t>
            </a:r>
            <a:r>
              <a:rPr lang="en-US" sz="2000" dirty="0" smtClean="0">
                <a:solidFill>
                  <a:srgbClr val="9900FF"/>
                </a:solidFill>
              </a:rPr>
              <a:t>File </a:t>
            </a:r>
            <a:r>
              <a:rPr lang="en-US" sz="2000" dirty="0">
                <a:solidFill>
                  <a:srgbClr val="9900FF"/>
                </a:solidFill>
              </a:rPr>
              <a:t>H</a:t>
            </a:r>
            <a:r>
              <a:rPr lang="en-US" sz="2000" dirty="0" smtClean="0">
                <a:solidFill>
                  <a:srgbClr val="9900FF"/>
                </a:solidFill>
              </a:rPr>
              <a:t>andle </a:t>
            </a:r>
            <a:r>
              <a:rPr lang="en-US" sz="2000" dirty="0">
                <a:solidFill>
                  <a:srgbClr val="9900FF"/>
                </a:solidFill>
              </a:rPr>
              <a:t>that </a:t>
            </a:r>
            <a:r>
              <a:rPr lang="en-US" sz="2000" dirty="0" smtClean="0">
                <a:solidFill>
                  <a:srgbClr val="9900FF"/>
                </a:solidFill>
              </a:rPr>
              <a:t>can be used </a:t>
            </a:r>
            <a:r>
              <a:rPr lang="en-US" sz="2000" dirty="0">
                <a:solidFill>
                  <a:srgbClr val="9900FF"/>
                </a:solidFill>
              </a:rPr>
              <a:t>to perform operations on the data stored in the </a:t>
            </a:r>
            <a:r>
              <a:rPr lang="en-US" sz="2000" dirty="0" smtClean="0">
                <a:solidFill>
                  <a:srgbClr val="9900FF"/>
                </a:solidFill>
              </a:rPr>
              <a:t>database.</a:t>
            </a:r>
          </a:p>
          <a:p>
            <a:pPr lvl="1">
              <a:buFont typeface="Wingdings" panose="05000000000000000000" pitchFamily="2" charset="2"/>
              <a:buChar char="q"/>
            </a:pPr>
            <a:r>
              <a:rPr lang="en-US" sz="2000" dirty="0" smtClean="0">
                <a:solidFill>
                  <a:srgbClr val="9900FF"/>
                </a:solidFill>
              </a:rPr>
              <a:t>The </a:t>
            </a:r>
            <a:r>
              <a:rPr lang="en-US" sz="2000" dirty="0">
                <a:solidFill>
                  <a:srgbClr val="9900FF"/>
                </a:solidFill>
              </a:rPr>
              <a:t>D</a:t>
            </a:r>
            <a:r>
              <a:rPr lang="en-US" sz="2000" dirty="0" smtClean="0">
                <a:solidFill>
                  <a:srgbClr val="9900FF"/>
                </a:solidFill>
              </a:rPr>
              <a:t>atabase </a:t>
            </a:r>
            <a:r>
              <a:rPr lang="en-US" sz="2000" dirty="0">
                <a:solidFill>
                  <a:srgbClr val="9900FF"/>
                </a:solidFill>
              </a:rPr>
              <a:t>M</a:t>
            </a:r>
            <a:r>
              <a:rPr lang="en-US" sz="2000" dirty="0" smtClean="0">
                <a:solidFill>
                  <a:srgbClr val="9900FF"/>
                </a:solidFill>
              </a:rPr>
              <a:t>anager </a:t>
            </a:r>
            <a:r>
              <a:rPr lang="en-US" sz="2000" dirty="0">
                <a:solidFill>
                  <a:srgbClr val="9900FF"/>
                </a:solidFill>
              </a:rPr>
              <a:t>is similar to a text editor when working with text </a:t>
            </a:r>
            <a:r>
              <a:rPr lang="en-US" sz="2000" dirty="0" smtClean="0">
                <a:solidFill>
                  <a:srgbClr val="9900FF"/>
                </a:solidFill>
              </a:rPr>
              <a:t>files.</a:t>
            </a:r>
            <a:endParaRPr lang="en-US" sz="2000" dirty="0">
              <a:solidFill>
                <a:srgbClr val="9900FF"/>
              </a:solidFill>
            </a:endParaRPr>
          </a:p>
          <a:p>
            <a:pPr lvl="1">
              <a:buFont typeface="Wingdings" panose="05000000000000000000" pitchFamily="2" charset="2"/>
              <a:buChar char="q"/>
            </a:pPr>
            <a:r>
              <a:rPr lang="en-US" sz="2000" dirty="0">
                <a:solidFill>
                  <a:srgbClr val="9900FF"/>
                </a:solidFill>
              </a:rPr>
              <a:t>A </a:t>
            </a:r>
            <a:r>
              <a:rPr lang="en-US" sz="2000" dirty="0" smtClean="0">
                <a:solidFill>
                  <a:srgbClr val="9900FF"/>
                </a:solidFill>
              </a:rPr>
              <a:t>Relational </a:t>
            </a:r>
            <a:r>
              <a:rPr lang="en-US" sz="2000" dirty="0">
                <a:solidFill>
                  <a:srgbClr val="9900FF"/>
                </a:solidFill>
              </a:rPr>
              <a:t>D</a:t>
            </a:r>
            <a:r>
              <a:rPr lang="en-US" sz="2000" dirty="0" smtClean="0">
                <a:solidFill>
                  <a:srgbClr val="9900FF"/>
                </a:solidFill>
              </a:rPr>
              <a:t>atabase </a:t>
            </a:r>
            <a:r>
              <a:rPr lang="en-US" sz="2000" dirty="0">
                <a:solidFill>
                  <a:srgbClr val="9900FF"/>
                </a:solidFill>
              </a:rPr>
              <a:t>is made up of tables, </a:t>
            </a:r>
            <a:r>
              <a:rPr lang="en-US" sz="2000" dirty="0" smtClean="0">
                <a:solidFill>
                  <a:srgbClr val="9900FF"/>
                </a:solidFill>
              </a:rPr>
              <a:t>rows and </a:t>
            </a:r>
            <a:r>
              <a:rPr lang="en-US" sz="2000" dirty="0">
                <a:solidFill>
                  <a:srgbClr val="9900FF"/>
                </a:solidFill>
              </a:rPr>
              <a:t>columns. The columns generally have a type such as text, </a:t>
            </a:r>
            <a:r>
              <a:rPr lang="en-US" sz="2000" dirty="0" smtClean="0">
                <a:solidFill>
                  <a:srgbClr val="9900FF"/>
                </a:solidFill>
              </a:rPr>
              <a:t>numeric or date.</a:t>
            </a:r>
            <a:endParaRPr lang="en-US" sz="2000" dirty="0">
              <a:solidFill>
                <a:srgbClr val="9900FF"/>
              </a:solidFill>
            </a:endParaRPr>
          </a:p>
          <a:p>
            <a:pPr lvl="1">
              <a:buFont typeface="Wingdings" panose="05000000000000000000" pitchFamily="2" charset="2"/>
              <a:buChar char="q"/>
            </a:pPr>
            <a:r>
              <a:rPr lang="en-US" sz="2000" dirty="0">
                <a:solidFill>
                  <a:srgbClr val="9900FF"/>
                </a:solidFill>
              </a:rPr>
              <a:t>The act of deciding how to break up your </a:t>
            </a:r>
            <a:r>
              <a:rPr lang="en-US" sz="2000" dirty="0" smtClean="0">
                <a:solidFill>
                  <a:srgbClr val="9900FF"/>
                </a:solidFill>
              </a:rPr>
              <a:t>application data </a:t>
            </a:r>
            <a:r>
              <a:rPr lang="en-US" sz="2000" dirty="0">
                <a:solidFill>
                  <a:srgbClr val="9900FF"/>
                </a:solidFill>
              </a:rPr>
              <a:t>into multiple tables and establishing the relationships between the two tables is called D</a:t>
            </a:r>
            <a:r>
              <a:rPr lang="en-US" sz="2000" dirty="0" smtClean="0">
                <a:solidFill>
                  <a:srgbClr val="9900FF"/>
                </a:solidFill>
              </a:rPr>
              <a:t>ata </a:t>
            </a:r>
            <a:r>
              <a:rPr lang="en-US" sz="2000" dirty="0">
                <a:solidFill>
                  <a:srgbClr val="9900FF"/>
                </a:solidFill>
              </a:rPr>
              <a:t>M</a:t>
            </a:r>
            <a:r>
              <a:rPr lang="en-US" sz="2000" dirty="0" smtClean="0">
                <a:solidFill>
                  <a:srgbClr val="9900FF"/>
                </a:solidFill>
              </a:rPr>
              <a:t>odeling.</a:t>
            </a:r>
            <a:endParaRPr lang="en-IN" sz="2000" dirty="0">
              <a:solidFill>
                <a:srgbClr val="9900FF"/>
              </a:solidFill>
            </a:endParaRPr>
          </a:p>
        </p:txBody>
      </p:sp>
      <p:sp>
        <p:nvSpPr>
          <p:cNvPr id="6" name="Title 1"/>
          <p:cNvSpPr>
            <a:spLocks noGrp="1"/>
          </p:cNvSpPr>
          <p:nvPr>
            <p:ph type="title"/>
          </p:nvPr>
        </p:nvSpPr>
        <p:spPr>
          <a:xfrm>
            <a:off x="540000" y="540000"/>
            <a:ext cx="3960000" cy="900000"/>
          </a:xfrm>
        </p:spPr>
        <p:txBody>
          <a:bodyPr anchor="t" anchorCtr="0">
            <a:normAutofit/>
          </a:bodyPr>
          <a:lstStyle/>
          <a:p>
            <a:pPr algn="l"/>
            <a:r>
              <a:rPr lang="en-US" sz="2400" b="1" dirty="0" smtClean="0">
                <a:solidFill>
                  <a:schemeClr val="bg1"/>
                </a:solidFill>
                <a:latin typeface="Vrinda" panose="020B0502040204020203" pitchFamily="34" charset="0"/>
                <a:cs typeface="Vrinda" panose="020B0502040204020203" pitchFamily="34" charset="0"/>
              </a:rPr>
              <a:t>Summary</a:t>
            </a:r>
            <a:endParaRPr lang="en-US" sz="2400" b="1" dirty="0">
              <a:solidFill>
                <a:schemeClr val="bg1"/>
              </a:solidFill>
              <a:latin typeface="Vrinda" pitchFamily="34" charset="0"/>
              <a:cs typeface="Vrinda" pitchFamily="34" charset="0"/>
            </a:endParaRPr>
          </a:p>
        </p:txBody>
      </p:sp>
    </p:spTree>
    <p:extLst>
      <p:ext uri="{BB962C8B-B14F-4D97-AF65-F5344CB8AC3E}">
        <p14:creationId xmlns:p14="http://schemas.microsoft.com/office/powerpoint/2010/main" val="295274967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ARTICULATE_PROJECT_OPEN" val="0"/>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Logic Building and Effective Problem Solving&amp;quot;&quot;/&gt;&lt;property id=&quot;20307&quot; value=&quot;256&quot;/&gt;&lt;/object&gt;&lt;object type=&quot;3&quot; unique_id=&quot;10005&quot;&gt;&lt;property id=&quot;20148&quot; value=&quot;5&quot;/&gt;&lt;property id=&quot;20300&quot; value=&quot;Slide 2 - &amp;quot;Objectives&amp;quot;&quot;/&gt;&lt;property id=&quot;20307&quot; value=&quot;257&quot;/&gt;&lt;/object&gt;&lt;object type=&quot;3&quot; unique_id=&quot;10006&quot;&gt;&lt;property id=&quot;20148&quot; value=&quot;5&quot;/&gt;&lt;property id=&quot;20300&quot; value=&quot;Slide 3 - &amp;quot;Input, Process, and Output&amp;quot;&quot;/&gt;&lt;property id=&quot;20307&quot; value=&quot;269&quot;/&gt;&lt;/object&gt;&lt;object type=&quot;3&quot; unique_id=&quot;10007&quot;&gt;&lt;property id=&quot;20148&quot; value=&quot;5&quot;/&gt;&lt;property id=&quot;20300&quot; value=&quot;Slide 4 - &amp;quot;Phases&amp;quot;&quot;/&gt;&lt;property id=&quot;20307&quot; value=&quot;270&quot;/&gt;&lt;/object&gt;&lt;object type=&quot;3&quot; unique_id=&quot;10008&quot;&gt;&lt;property id=&quot;20148&quot; value=&quot;5&quot;/&gt;&lt;property id=&quot;20300&quot; value=&quot;Slide 5 - &amp;quot;I-P-O Cycle&amp;quot;&quot;/&gt;&lt;property id=&quot;20307&quot; value=&quot;334&quot;/&gt;&lt;/object&gt;&lt;object type=&quot;3&quot; unique_id=&quot;10009&quot;&gt;&lt;property id=&quot;20148&quot; value=&quot;5&quot;/&gt;&lt;property id=&quot;20300&quot; value=&quot;Slide 6 - &amp;quot;1.1 Let’s Practice &amp;quot;&quot;/&gt;&lt;property id=&quot;20307&quot; value=&quot;271&quot;/&gt;&lt;/object&gt;&lt;object type=&quot;3&quot; unique_id=&quot;10011&quot;&gt;&lt;property id=&quot;20148&quot; value=&quot;5&quot;/&gt;&lt;property id=&quot;20300&quot; value=&quot;Slide 9 - &amp;quot;Programs and Programming Languages&amp;quot;&quot;/&gt;&lt;property id=&quot;20307&quot; value=&quot;335&quot;/&gt;&lt;/object&gt;&lt;object type=&quot;3&quot; unique_id=&quot;10012&quot;&gt;&lt;property id=&quot;20148&quot; value=&quot;5&quot;/&gt;&lt;property id=&quot;20300&quot; value=&quot;Slide 10 - &amp;quot;Programs&amp;quot;&quot;/&gt;&lt;property id=&quot;20307&quot; value=&quot;272&quot;/&gt;&lt;/object&gt;&lt;object type=&quot;3&quot; unique_id=&quot;10013&quot;&gt;&lt;property id=&quot;20148&quot; value=&quot;5&quot;/&gt;&lt;property id=&quot;20300&quot; value=&quot;Slide 11 - &amp;quot;Programs (Contd.)&amp;quot;&quot;/&gt;&lt;property id=&quot;20307&quot; value=&quot;348&quot;/&gt;&lt;/object&gt;&lt;object type=&quot;3&quot; unique_id=&quot;10014&quot;&gt;&lt;property id=&quot;20148&quot; value=&quot;5&quot;/&gt;&lt;property id=&quot;20300&quot; value=&quot;Slide 12 - &amp;quot;Programming Languages&amp;quot;&quot;/&gt;&lt;property id=&quot;20307&quot; value=&quot;273&quot;/&gt;&lt;/object&gt;&lt;object type=&quot;3&quot; unique_id=&quot;10015&quot;&gt;&lt;property id=&quot;20148&quot; value=&quot;5&quot;/&gt;&lt;property id=&quot;20300&quot; value=&quot;Slide 13 - &amp;quot;Programming Languages (Contd.)&amp;quot;&quot;/&gt;&lt;property id=&quot;20307&quot; value=&quot;349&quot;/&gt;&lt;/object&gt;&lt;object type=&quot;3&quot; unique_id=&quot;10016&quot;&gt;&lt;property id=&quot;20148&quot; value=&quot;5&quot;/&gt;&lt;property id=&quot;20300&quot; value=&quot;Slide 15 - &amp;quot;Compilers&amp;quot;&quot;/&gt;&lt;property id=&quot;20307&quot; value=&quot;351&quot;/&gt;&lt;/object&gt;&lt;object type=&quot;3&quot; unique_id=&quot;10017&quot;&gt;&lt;property id=&quot;20148&quot; value=&quot;5&quot;/&gt;&lt;property id=&quot;20300&quot; value=&quot;Slide 17 - &amp;quot;Compilers (Contd.)&amp;quot;&quot;/&gt;&lt;property id=&quot;20307&quot; value=&quot;336&quot;/&gt;&lt;/object&gt;&lt;object type=&quot;3&quot; unique_id=&quot;10018&quot;&gt;&lt;property id=&quot;20148&quot; value=&quot;5&quot;/&gt;&lt;property id=&quot;20300&quot; value=&quot;Slide 18 - &amp;quot;Just a Minute &amp;quot;&quot;/&gt;&lt;property id=&quot;20307&quot; value=&quot;352&quot;/&gt;&lt;/object&gt;&lt;object type=&quot;3&quot; unique_id=&quot;10031&quot;&gt;&lt;property id=&quot;20148&quot; value=&quot;5&quot;/&gt;&lt;property id=&quot;20300&quot; value=&quot;Slide 19 - &amp;quot;Summary&amp;quot;&quot;/&gt;&lt;property id=&quot;20307&quot; value=&quot;362&quot;/&gt;&lt;/object&gt;&lt;object type=&quot;3&quot; unique_id=&quot;10033&quot;&gt;&lt;property id=&quot;20148&quot; value=&quot;5&quot;/&gt;&lt;property id=&quot;20300&quot; value=&quot;Slide 7 - &amp;quot;1.1 Let’s Practice (Contd.) &amp;quot;&quot;/&gt;&lt;property id=&quot;20307&quot; value=&quot;365&quot;/&gt;&lt;/object&gt;&lt;object type=&quot;3&quot; unique_id=&quot;10034&quot;&gt;&lt;property id=&quot;20148&quot; value=&quot;5&quot;/&gt;&lt;property id=&quot;20300&quot; value=&quot;Slide 8 - &amp;quot;1.1 Let’s Practice (Contd.) &amp;quot;&quot;/&gt;&lt;property id=&quot;20307&quot; value=&quot;366&quot;/&gt;&lt;/object&gt;&lt;object type=&quot;3&quot; unique_id=&quot;10037&quot;&gt;&lt;property id=&quot;20148&quot; value=&quot;5&quot;/&gt;&lt;property id=&quot;20300&quot; value=&quot;Slide 14 - &amp;quot;Programming Languages (Contd.)&amp;quot;&quot;/&gt;&lt;property id=&quot;20307&quot; value=&quot;370&quot;/&gt;&lt;/object&gt;&lt;object type=&quot;3&quot; unique_id=&quot;10038&quot;&gt;&lt;property id=&quot;20148&quot; value=&quot;5&quot;/&gt;&lt;property id=&quot;20300&quot; value=&quot;Slide 16 - &amp;quot;Compilers (Contd.)&amp;quot;&quot;/&gt;&lt;property id=&quot;20307&quot; value=&quot;371&quot;/&gt;&lt;/object&gt;&lt;object type=&quot;3&quot; unique_id=&quot;10039&quot;&gt;&lt;property id=&quot;20148&quot; value=&quot;5&quot;/&gt;&lt;property id=&quot;20300&quot; value=&quot;Slide 20 - &amp;quot;What’s Next?&amp;quot;&quot;/&gt;&lt;property id=&quot;20307&quot; value=&quot;369&quot;/&gt;&lt;/object&gt;&lt;/object&gt;&lt;/object&gt;&lt;/database&gt;"/>
  <p:tag name="SECTOMILLISECCONVERTED" val="1"/>
</p:tagLst>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square">
        <a:spAutoFit/>
      </a:bodyPr>
      <a:lstStyle>
        <a:defPPr marL="514350" indent="-396875" defTabSz="914363">
          <a:lnSpc>
            <a:spcPct val="90000"/>
          </a:lnSpc>
          <a:spcBef>
            <a:spcPct val="20000"/>
          </a:spcBef>
          <a:buSzPct val="100000"/>
          <a:buBlip>
            <a:blip xmlns:r="http://schemas.openxmlformats.org/officeDocument/2006/relationships" r:embed="rId1"/>
          </a:buBlip>
          <a:defRPr sz="2000" dirty="0">
            <a:solidFill>
              <a:srgbClr val="6600CC"/>
            </a:solidFill>
            <a:latin typeface="Vrinda" pitchFamily="34" charset="0"/>
            <a:cs typeface="Vrinda" pitchFamily="34" charset="0"/>
          </a:defRPr>
        </a:defPPr>
      </a:lstStyle>
    </a:spDef>
  </a:objectDefaults>
  <a:extraClrSchemeLst/>
</a:theme>
</file>

<file path=ppt/theme/theme2.xml><?xml version="1.0" encoding="utf-8"?>
<a:theme xmlns:a="http://schemas.openxmlformats.org/drawingml/2006/main" name="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9663</TotalTime>
  <Words>1638</Words>
  <Application>Microsoft Office PowerPoint</Application>
  <PresentationFormat>On-screen Show (4:3)</PresentationFormat>
  <Paragraphs>254</Paragraphs>
  <Slides>18</Slides>
  <Notes>15</Notes>
  <HiddenSlides>0</HiddenSlides>
  <MMClips>0</MMClips>
  <ScaleCrop>false</ScaleCrop>
  <HeadingPairs>
    <vt:vector size="4" baseType="variant">
      <vt:variant>
        <vt:lpstr>Theme</vt:lpstr>
      </vt:variant>
      <vt:variant>
        <vt:i4>2</vt:i4>
      </vt:variant>
      <vt:variant>
        <vt:lpstr>Slide Titles</vt:lpstr>
      </vt:variant>
      <vt:variant>
        <vt:i4>18</vt:i4>
      </vt:variant>
    </vt:vector>
  </HeadingPairs>
  <TitlesOfParts>
    <vt:vector size="20" baseType="lpstr">
      <vt:lpstr>Office Theme</vt:lpstr>
      <vt:lpstr>6_Office Theme</vt:lpstr>
      <vt:lpstr>DataBase Connectivity</vt:lpstr>
      <vt:lpstr>Objectives</vt:lpstr>
      <vt:lpstr>SQLite Manager Firefox Add-on</vt:lpstr>
      <vt:lpstr>Creating a Database Table</vt:lpstr>
      <vt:lpstr>Creating a Database Table (Contd.)</vt:lpstr>
      <vt:lpstr>Cursor</vt:lpstr>
      <vt:lpstr>Cursor (Contd.)</vt:lpstr>
      <vt:lpstr>Structured Query Language (SQL) Summary</vt:lpstr>
      <vt:lpstr>Spidering  Using a Database</vt:lpstr>
      <vt:lpstr>Basic Data Modeling</vt:lpstr>
      <vt:lpstr>Just a Minute</vt:lpstr>
      <vt:lpstr>Just a Minute </vt:lpstr>
      <vt:lpstr>Just a Minute</vt:lpstr>
      <vt:lpstr>Just a Minute</vt:lpstr>
      <vt:lpstr>Just a Minute</vt:lpstr>
      <vt:lpstr>Just a Minute </vt:lpstr>
      <vt:lpstr>Activity</vt:lpstr>
      <vt:lpstr>Summary</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Jasneet Kaur</dc:creator>
  <cp:lastModifiedBy>AnnuS</cp:lastModifiedBy>
  <cp:revision>661</cp:revision>
  <dcterms:created xsi:type="dcterms:W3CDTF">2012-02-06T03:44:02Z</dcterms:created>
  <dcterms:modified xsi:type="dcterms:W3CDTF">2015-10-14T06:09:12Z</dcterms:modified>
</cp:coreProperties>
</file>