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421" r:id="rId4"/>
    <p:sldId id="422" r:id="rId5"/>
    <p:sldId id="423" r:id="rId6"/>
    <p:sldId id="424" r:id="rId7"/>
    <p:sldId id="425" r:id="rId8"/>
    <p:sldId id="426" r:id="rId9"/>
    <p:sldId id="427" r:id="rId10"/>
    <p:sldId id="413" r:id="rId11"/>
    <p:sldId id="434" r:id="rId12"/>
    <p:sldId id="414" r:id="rId13"/>
    <p:sldId id="416" r:id="rId14"/>
    <p:sldId id="418" r:id="rId15"/>
    <p:sldId id="420" r:id="rId16"/>
    <p:sldId id="432" r:id="rId17"/>
    <p:sldId id="429" r:id="rId18"/>
    <p:sldId id="370" r:id="rId19"/>
    <p:sldId id="387" r:id="rId20"/>
    <p:sldId id="397" r:id="rId21"/>
    <p:sldId id="373" r:id="rId22"/>
    <p:sldId id="400" r:id="rId23"/>
    <p:sldId id="378" r:id="rId24"/>
    <p:sldId id="404" r:id="rId25"/>
    <p:sldId id="405" r:id="rId26"/>
    <p:sldId id="406" r:id="rId27"/>
    <p:sldId id="399" r:id="rId28"/>
    <p:sldId id="407" r:id="rId29"/>
    <p:sldId id="393" r:id="rId30"/>
    <p:sldId id="395" r:id="rId31"/>
    <p:sldId id="398" r:id="rId32"/>
    <p:sldId id="401" r:id="rId33"/>
    <p:sldId id="433" r:id="rId34"/>
    <p:sldId id="431" r:id="rId35"/>
    <p:sldId id="435" r:id="rId36"/>
    <p:sldId id="403" r:id="rId37"/>
  </p:sldIdLst>
  <p:sldSz cx="9144000" cy="6858000" type="screen4x3"/>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575BFF"/>
    <a:srgbClr val="0005CA"/>
    <a:srgbClr val="9900FF"/>
    <a:srgbClr val="1D6D6B"/>
    <a:srgbClr val="000099"/>
    <a:srgbClr val="C60477"/>
    <a:srgbClr val="C60269"/>
    <a:srgbClr val="88064A"/>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67" autoAdjust="0"/>
    <p:restoredTop sz="76719" autoAdjust="0"/>
  </p:normalViewPr>
  <p:slideViewPr>
    <p:cSldViewPr>
      <p:cViewPr varScale="1">
        <p:scale>
          <a:sx n="120" d="100"/>
          <a:sy n="120" d="100"/>
        </p:scale>
        <p:origin x="942" y="96"/>
      </p:cViewPr>
      <p:guideLst>
        <p:guide orient="horz" pos="2160"/>
        <p:guide pos="2880"/>
      </p:guideLst>
    </p:cSldViewPr>
  </p:slideViewPr>
  <p:notesTextViewPr>
    <p:cViewPr>
      <p:scale>
        <a:sx n="1" d="1"/>
        <a:sy n="1" d="1"/>
      </p:scale>
      <p:origin x="0" y="0"/>
    </p:cViewPr>
  </p:notesTextViewPr>
  <p:sorterViewPr>
    <p:cViewPr>
      <p:scale>
        <a:sx n="100" d="100"/>
        <a:sy n="100" d="100"/>
      </p:scale>
      <p:origin x="0" y="2506"/>
    </p:cViewPr>
  </p:sorterViewPr>
  <p:notesViewPr>
    <p:cSldViewPr>
      <p:cViewPr>
        <p:scale>
          <a:sx n="86" d="100"/>
          <a:sy n="86" d="100"/>
        </p:scale>
        <p:origin x="-2707" y="99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t>11/14/2023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a:t>
            </a:fld>
            <a:endParaRPr lang="en-US" dirty="0"/>
          </a:p>
        </p:txBody>
      </p:sp>
    </p:spTree>
    <p:extLst>
      <p:ext uri="{BB962C8B-B14F-4D97-AF65-F5344CB8AC3E}">
        <p14:creationId xmlns:p14="http://schemas.microsoft.com/office/powerpoint/2010/main" val="2785625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In this session you will learn to introduction to list , understand the list operation and methods of list , parsing of the lines , object and values and list of arguments. You will also learn to use dictionary , function and methods of dictionary and also difference between lists and dictionaries.</a:t>
            </a:r>
          </a:p>
        </p:txBody>
      </p:sp>
      <p:sp>
        <p:nvSpPr>
          <p:cNvPr id="4" name="Slide Number Placeholder 3"/>
          <p:cNvSpPr>
            <a:spLocks noGrp="1"/>
          </p:cNvSpPr>
          <p:nvPr>
            <p:ph type="sldNum" sz="quarter" idx="10"/>
          </p:nvPr>
        </p:nvSpPr>
        <p:spPr/>
        <p:txBody>
          <a:bodyPr/>
          <a:lstStyle/>
          <a:p>
            <a:fld id="{35091714-3304-44AF-AABA-9711959465C3}" type="slidenum">
              <a:rPr lang="en-US" smtClean="0"/>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List is a most versatile datatype available in python. It</a:t>
            </a:r>
            <a:r>
              <a:rPr lang="en-US" baseline="0" dirty="0">
                <a:solidFill>
                  <a:srgbClr val="9900FF"/>
                </a:solidFill>
              </a:rPr>
              <a:t> is defined</a:t>
            </a:r>
            <a:r>
              <a:rPr lang="en-US" dirty="0">
                <a:solidFill>
                  <a:srgbClr val="9900FF"/>
                </a:solidFill>
              </a:rPr>
              <a:t> as</a:t>
            </a:r>
            <a:r>
              <a:rPr lang="en-US" baseline="0" dirty="0">
                <a:solidFill>
                  <a:srgbClr val="9900FF"/>
                </a:solidFill>
              </a:rPr>
              <a:t> </a:t>
            </a:r>
            <a:r>
              <a:rPr lang="en-US" dirty="0">
                <a:solidFill>
                  <a:srgbClr val="9900FF"/>
                </a:solidFill>
              </a:rPr>
              <a:t>a sequence of values. </a:t>
            </a:r>
          </a:p>
          <a:p>
            <a:pPr algn="just"/>
            <a:r>
              <a:rPr lang="en-US" dirty="0">
                <a:solidFill>
                  <a:srgbClr val="9900FF"/>
                </a:solidFill>
              </a:rPr>
              <a:t>List contain values with comma separated between two square brackets. All the items of the list should be of the same type. List indices start at 0.</a:t>
            </a:r>
          </a:p>
          <a:p>
            <a:pPr algn="just"/>
            <a:endParaRPr lang="en-US" dirty="0">
              <a:solidFill>
                <a:srgbClr val="9900FF"/>
              </a:solidFill>
            </a:endParaRPr>
          </a:p>
          <a:p>
            <a:pPr algn="just"/>
            <a:r>
              <a:rPr lang="en-US" dirty="0">
                <a:solidFill>
                  <a:srgbClr val="9900FF"/>
                </a:solidFill>
              </a:rPr>
              <a:t>There are several ways to create a new list. The simplest is to enclose the elements in square brackets.</a:t>
            </a:r>
          </a:p>
          <a:p>
            <a:pPr algn="just"/>
            <a:endParaRPr lang="en-US" b="1" dirty="0">
              <a:solidFill>
                <a:srgbClr val="9900FF"/>
              </a:solidFill>
            </a:endParaRPr>
          </a:p>
          <a:p>
            <a:pPr algn="just"/>
            <a:r>
              <a:rPr lang="en-US" b="1" dirty="0">
                <a:solidFill>
                  <a:srgbClr val="9900FF"/>
                </a:solidFill>
              </a:rPr>
              <a:t>Example</a:t>
            </a:r>
          </a:p>
          <a:p>
            <a:pPr algn="just"/>
            <a:r>
              <a:rPr lang="en-US" dirty="0">
                <a:solidFill>
                  <a:srgbClr val="9900FF"/>
                </a:solidFill>
              </a:rPr>
              <a:t>&gt;&gt;&gt;list1=[10,20,30,40]</a:t>
            </a:r>
          </a:p>
          <a:p>
            <a:pPr algn="just"/>
            <a:r>
              <a:rPr lang="en-US" dirty="0">
                <a:solidFill>
                  <a:srgbClr val="9900FF"/>
                </a:solidFill>
              </a:rPr>
              <a:t>&gt;&gt;&gt;list2=['Harish','Suresh','Kunal','Girish]</a:t>
            </a:r>
          </a:p>
          <a:p>
            <a:pPr algn="just"/>
            <a:r>
              <a:rPr lang="en-US" dirty="0">
                <a:solidFill>
                  <a:srgbClr val="9900FF"/>
                </a:solidFill>
              </a:rPr>
              <a:t>List that contains no elements is called an empty list. We can create an empty list using empty brackets [].</a:t>
            </a:r>
          </a:p>
          <a:p>
            <a:pPr algn="just"/>
            <a:r>
              <a:rPr lang="en-US" b="1" dirty="0">
                <a:solidFill>
                  <a:srgbClr val="9900FF"/>
                </a:solidFill>
              </a:rPr>
              <a:t>Example</a:t>
            </a:r>
          </a:p>
          <a:p>
            <a:pPr algn="just"/>
            <a:r>
              <a:rPr lang="en-US" dirty="0">
                <a:solidFill>
                  <a:srgbClr val="9900FF"/>
                </a:solidFill>
              </a:rPr>
              <a:t>&gt;&gt;&gt;empty1=[]</a:t>
            </a:r>
          </a:p>
          <a:p>
            <a:pPr algn="just"/>
            <a:r>
              <a:rPr lang="en-US" dirty="0">
                <a:solidFill>
                  <a:srgbClr val="9900FF"/>
                </a:solidFill>
              </a:rPr>
              <a:t>Here empty1 is the empty list which does not contain any elements.</a:t>
            </a:r>
            <a:r>
              <a:rPr lang="en-US" baseline="0" dirty="0">
                <a:solidFill>
                  <a:srgbClr val="9900FF"/>
                </a:solidFill>
              </a:rPr>
              <a:t> </a:t>
            </a:r>
            <a:r>
              <a:rPr lang="en-US" dirty="0">
                <a:solidFill>
                  <a:srgbClr val="9900FF"/>
                </a:solidFill>
              </a:rPr>
              <a:t>List are mutable because we can change the order of the items. We can reassign an element in a list. </a:t>
            </a: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3</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 common way to traverse the elements of a list with for loop.</a:t>
            </a:r>
          </a:p>
        </p:txBody>
      </p:sp>
      <p:sp>
        <p:nvSpPr>
          <p:cNvPr id="4" name="Slide Number Placeholder 3"/>
          <p:cNvSpPr>
            <a:spLocks noGrp="1"/>
          </p:cNvSpPr>
          <p:nvPr>
            <p:ph type="sldNum" sz="quarter" idx="10"/>
          </p:nvPr>
        </p:nvSpPr>
        <p:spPr/>
        <p:txBody>
          <a:bodyPr/>
          <a:lstStyle/>
          <a:p>
            <a:fld id="{35091714-3304-44AF-AABA-9711959465C3}" type="slidenum">
              <a:rPr lang="en-US" smtClean="0"/>
              <a:t>4</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List respond to the "+" operator much like strings they mean concatenation.</a:t>
            </a:r>
          </a:p>
          <a:p>
            <a:pPr algn="just"/>
            <a:r>
              <a:rPr lang="en-US" b="1" dirty="0">
                <a:solidFill>
                  <a:srgbClr val="9900FF"/>
                </a:solidFill>
              </a:rPr>
              <a:t>Example</a:t>
            </a:r>
          </a:p>
          <a:p>
            <a:pPr algn="just"/>
            <a:endParaRPr lang="en-US" dirty="0">
              <a:solidFill>
                <a:srgbClr val="9900FF"/>
              </a:solidFill>
            </a:endParaRPr>
          </a:p>
          <a:p>
            <a:pPr algn="just"/>
            <a:r>
              <a:rPr lang="en-US" dirty="0">
                <a:solidFill>
                  <a:srgbClr val="9900FF"/>
                </a:solidFill>
              </a:rPr>
              <a:t>&gt;&gt;&gt;a=[1,2,3]</a:t>
            </a:r>
          </a:p>
          <a:p>
            <a:pPr algn="just"/>
            <a:r>
              <a:rPr lang="en-US" dirty="0">
                <a:solidFill>
                  <a:srgbClr val="9900FF"/>
                </a:solidFill>
              </a:rPr>
              <a:t>&gt;&gt;&gt;b=[4,5,6]</a:t>
            </a:r>
          </a:p>
          <a:p>
            <a:pPr algn="just"/>
            <a:r>
              <a:rPr lang="en-US" dirty="0">
                <a:solidFill>
                  <a:srgbClr val="9900FF"/>
                </a:solidFill>
              </a:rPr>
              <a:t>&gt;&gt;&gt;c=</a:t>
            </a:r>
            <a:r>
              <a:rPr lang="en-US" dirty="0" err="1">
                <a:solidFill>
                  <a:srgbClr val="9900FF"/>
                </a:solidFill>
              </a:rPr>
              <a:t>a+b</a:t>
            </a:r>
            <a:endParaRPr lang="en-US" dirty="0">
              <a:solidFill>
                <a:srgbClr val="9900FF"/>
              </a:solidFill>
            </a:endParaRPr>
          </a:p>
          <a:p>
            <a:pPr algn="just"/>
            <a:r>
              <a:rPr lang="en-US" dirty="0">
                <a:solidFill>
                  <a:srgbClr val="9900FF"/>
                </a:solidFill>
              </a:rPr>
              <a:t>&gt;&gt;&gt;print(c)</a:t>
            </a:r>
          </a:p>
          <a:p>
            <a:pPr algn="just"/>
            <a:r>
              <a:rPr lang="en-US" dirty="0">
                <a:solidFill>
                  <a:srgbClr val="9900FF"/>
                </a:solidFill>
              </a:rPr>
              <a:t>[1,2,3,4,5,6]</a:t>
            </a:r>
          </a:p>
          <a:p>
            <a:pPr algn="just"/>
            <a:endParaRPr lang="en-US" dirty="0">
              <a:solidFill>
                <a:srgbClr val="9900FF"/>
              </a:solidFill>
            </a:endParaRPr>
          </a:p>
          <a:p>
            <a:pPr algn="just"/>
            <a:r>
              <a:rPr lang="en-US" dirty="0">
                <a:solidFill>
                  <a:srgbClr val="9900FF"/>
                </a:solidFill>
              </a:rPr>
              <a:t>In the above example when list a and b has been added and stored in c. Then c has displayed the elements of a and b by concatenating.</a:t>
            </a:r>
          </a:p>
          <a:p>
            <a:pPr algn="just"/>
            <a:endParaRPr lang="en-US" dirty="0">
              <a:solidFill>
                <a:srgbClr val="9900FF"/>
              </a:solidFill>
            </a:endParaRPr>
          </a:p>
          <a:p>
            <a:pPr algn="just"/>
            <a:r>
              <a:rPr lang="en-US" dirty="0">
                <a:solidFill>
                  <a:srgbClr val="9900FF"/>
                </a:solidFill>
              </a:rPr>
              <a:t>List respond to the "*" operator for repeats a list a given number of times.</a:t>
            </a:r>
          </a:p>
          <a:p>
            <a:pPr algn="just"/>
            <a:r>
              <a:rPr lang="en-US" b="1" dirty="0">
                <a:solidFill>
                  <a:srgbClr val="9900FF"/>
                </a:solidFill>
              </a:rPr>
              <a:t>Example</a:t>
            </a:r>
          </a:p>
          <a:p>
            <a:pPr algn="just"/>
            <a:endParaRPr lang="en-US" dirty="0">
              <a:solidFill>
                <a:srgbClr val="9900FF"/>
              </a:solidFill>
            </a:endParaRPr>
          </a:p>
          <a:p>
            <a:pPr algn="just"/>
            <a:r>
              <a:rPr lang="en-US" dirty="0">
                <a:solidFill>
                  <a:srgbClr val="9900FF"/>
                </a:solidFill>
              </a:rPr>
              <a:t>&gt;&gt;&gt;a=[10,20,30]</a:t>
            </a:r>
          </a:p>
          <a:p>
            <a:pPr algn="just"/>
            <a:r>
              <a:rPr lang="en-US" dirty="0">
                <a:solidFill>
                  <a:srgbClr val="9900FF"/>
                </a:solidFill>
              </a:rPr>
              <a:t>&gt;&gt;&gt;a*4</a:t>
            </a:r>
          </a:p>
          <a:p>
            <a:pPr algn="just"/>
            <a:r>
              <a:rPr lang="en-US" dirty="0">
                <a:solidFill>
                  <a:srgbClr val="9900FF"/>
                </a:solidFill>
              </a:rPr>
              <a:t>[10,20,30,10,20,30,10,20,30,10,20,30]</a:t>
            </a:r>
          </a:p>
          <a:p>
            <a:pPr algn="just"/>
            <a:endParaRPr lang="en-US" dirty="0">
              <a:solidFill>
                <a:srgbClr val="9900FF"/>
              </a:solidFill>
            </a:endParaRPr>
          </a:p>
          <a:p>
            <a:pPr algn="just"/>
            <a:r>
              <a:rPr lang="en-US" dirty="0">
                <a:solidFill>
                  <a:srgbClr val="9900FF"/>
                </a:solidFill>
              </a:rPr>
              <a:t>In the above example when list a is multiplied by 4 then the elements of list a is printed for four times.</a:t>
            </a:r>
          </a:p>
          <a:p>
            <a:pPr algn="just"/>
            <a:endParaRPr lang="en-US" dirty="0">
              <a:solidFill>
                <a:srgbClr val="9900FF"/>
              </a:solidFill>
            </a:endParaRPr>
          </a:p>
          <a:p>
            <a:pPr algn="just"/>
            <a:r>
              <a:rPr lang="en-US" dirty="0">
                <a:solidFill>
                  <a:srgbClr val="9900FF"/>
                </a:solidFill>
              </a:rPr>
              <a:t>Slice operator also work on lists. Using this operator we can see certain range of characters also.</a:t>
            </a:r>
          </a:p>
          <a:p>
            <a:pPr algn="just"/>
            <a:endParaRPr lang="en-US" dirty="0">
              <a:solidFill>
                <a:srgbClr val="9900FF"/>
              </a:solidFill>
            </a:endParaRPr>
          </a:p>
          <a:p>
            <a:pPr algn="just"/>
            <a:r>
              <a:rPr lang="en-US" dirty="0">
                <a:solidFill>
                  <a:srgbClr val="9900FF"/>
                </a:solidFill>
              </a:rPr>
              <a:t>&gt;&gt;&gt; alpha=['</a:t>
            </a:r>
            <a:r>
              <a:rPr lang="en-US" dirty="0" err="1">
                <a:solidFill>
                  <a:srgbClr val="9900FF"/>
                </a:solidFill>
              </a:rPr>
              <a:t>a','b','c','d','e','f</a:t>
            </a:r>
            <a:r>
              <a:rPr lang="en-US" dirty="0">
                <a:solidFill>
                  <a:srgbClr val="9900FF"/>
                </a:solidFill>
              </a:rPr>
              <a:t>']</a:t>
            </a:r>
          </a:p>
          <a:p>
            <a:pPr algn="just"/>
            <a:r>
              <a:rPr lang="en-US" dirty="0">
                <a:solidFill>
                  <a:srgbClr val="9900FF"/>
                </a:solidFill>
              </a:rPr>
              <a:t>&gt;&gt;&gt; alpha[1:3]</a:t>
            </a:r>
          </a:p>
          <a:p>
            <a:pPr algn="just"/>
            <a:r>
              <a:rPr lang="en-US" dirty="0">
                <a:solidFill>
                  <a:srgbClr val="9900FF"/>
                </a:solidFill>
              </a:rPr>
              <a:t>['b', 'c']</a:t>
            </a:r>
          </a:p>
          <a:p>
            <a:pPr algn="just"/>
            <a:r>
              <a:rPr lang="en-US" dirty="0">
                <a:solidFill>
                  <a:srgbClr val="9900FF"/>
                </a:solidFill>
              </a:rPr>
              <a:t>&gt;&gt;&gt; alpha[:4]</a:t>
            </a:r>
          </a:p>
          <a:p>
            <a:pPr algn="just"/>
            <a:r>
              <a:rPr lang="en-US" dirty="0">
                <a:solidFill>
                  <a:srgbClr val="9900FF"/>
                </a:solidFill>
              </a:rPr>
              <a:t>['a', 'b', 'c', 'd']</a:t>
            </a:r>
          </a:p>
          <a:p>
            <a:pPr algn="just"/>
            <a:r>
              <a:rPr lang="en-US" dirty="0">
                <a:solidFill>
                  <a:srgbClr val="9900FF"/>
                </a:solidFill>
              </a:rPr>
              <a:t>&gt;&gt;&gt; alpha[3:]</a:t>
            </a:r>
          </a:p>
          <a:p>
            <a:pPr algn="just"/>
            <a:r>
              <a:rPr lang="en-US" dirty="0">
                <a:solidFill>
                  <a:srgbClr val="9900FF"/>
                </a:solidFill>
              </a:rPr>
              <a:t>['d', 'e', 'f']</a:t>
            </a:r>
          </a:p>
          <a:p>
            <a:pPr algn="just"/>
            <a:r>
              <a:rPr lang="en-US" dirty="0">
                <a:solidFill>
                  <a:srgbClr val="9900FF"/>
                </a:solidFill>
              </a:rPr>
              <a:t>&gt;&gt;&gt; alpha[:]</a:t>
            </a:r>
          </a:p>
          <a:p>
            <a:pPr algn="just"/>
            <a:r>
              <a:rPr lang="en-US" dirty="0">
                <a:solidFill>
                  <a:srgbClr val="9900FF"/>
                </a:solidFill>
              </a:rPr>
              <a:t>['a', 'b', 'c', 'd', 'e', 'f']</a:t>
            </a:r>
          </a:p>
          <a:p>
            <a:pPr algn="just"/>
            <a:endParaRPr lang="en-US" dirty="0">
              <a:solidFill>
                <a:srgbClr val="9900FF"/>
              </a:solidFill>
            </a:endParaRPr>
          </a:p>
          <a:p>
            <a:pPr algn="just"/>
            <a:r>
              <a:rPr lang="en-US" dirty="0">
                <a:solidFill>
                  <a:srgbClr val="9900FF"/>
                </a:solidFill>
              </a:rPr>
              <a:t>In the above example first alpha[1:3] will displayed the 1st index to until 3rd index. Then in the next alpha[:4] will show the elements from 0th index to until 4th index. Then in the next alpha[3:] will displayed last three elements of the list. And in alpha[:] will display whole list.</a:t>
            </a:r>
          </a:p>
        </p:txBody>
      </p:sp>
      <p:sp>
        <p:nvSpPr>
          <p:cNvPr id="4" name="Slide Number Placeholder 3"/>
          <p:cNvSpPr>
            <a:spLocks noGrp="1"/>
          </p:cNvSpPr>
          <p:nvPr>
            <p:ph type="sldNum" sz="quarter" idx="10"/>
          </p:nvPr>
        </p:nvSpPr>
        <p:spPr/>
        <p:txBody>
          <a:bodyPr/>
          <a:lstStyle/>
          <a:p>
            <a:fld id="{35091714-3304-44AF-AABA-9711959465C3}" type="slidenum">
              <a:rPr lang="en-US" smtClean="0"/>
              <a:t>5</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Python provides methods that operate on lists.</a:t>
            </a:r>
          </a:p>
          <a:p>
            <a:pPr algn="just"/>
            <a:r>
              <a:rPr lang="en-US" dirty="0">
                <a:solidFill>
                  <a:srgbClr val="9900FF"/>
                </a:solidFill>
              </a:rPr>
              <a:t>The following are some of the methods which are used for manipulating the list.</a:t>
            </a:r>
          </a:p>
          <a:p>
            <a:pPr algn="just"/>
            <a:endParaRPr lang="en-US" dirty="0">
              <a:solidFill>
                <a:srgbClr val="9900FF"/>
              </a:solidFill>
            </a:endParaRPr>
          </a:p>
          <a:p>
            <a:pPr algn="just"/>
            <a:r>
              <a:rPr lang="en-US" dirty="0">
                <a:solidFill>
                  <a:srgbClr val="9900FF"/>
                </a:solidFill>
              </a:rPr>
              <a:t>append()- This method is used to add a new element to the end of a list.</a:t>
            </a:r>
          </a:p>
          <a:p>
            <a:pPr algn="just"/>
            <a:endParaRPr lang="en-US" dirty="0">
              <a:solidFill>
                <a:srgbClr val="9900FF"/>
              </a:solidFill>
            </a:endParaRPr>
          </a:p>
          <a:p>
            <a:pPr algn="just"/>
            <a:r>
              <a:rPr lang="en-US" b="1" dirty="0">
                <a:solidFill>
                  <a:srgbClr val="9900FF"/>
                </a:solidFill>
              </a:rPr>
              <a:t>Example</a:t>
            </a:r>
            <a:endParaRPr lang="en-US" dirty="0">
              <a:solidFill>
                <a:srgbClr val="9900FF"/>
              </a:solidFill>
            </a:endParaRPr>
          </a:p>
          <a:p>
            <a:pPr algn="just"/>
            <a:r>
              <a:rPr lang="en-US" dirty="0">
                <a:solidFill>
                  <a:srgbClr val="9900FF"/>
                </a:solidFill>
              </a:rPr>
              <a:t>&gt;&gt;&gt; </a:t>
            </a:r>
            <a:r>
              <a:rPr lang="en-US" dirty="0" err="1">
                <a:solidFill>
                  <a:srgbClr val="9900FF"/>
                </a:solidFill>
              </a:rPr>
              <a:t>mylist</a:t>
            </a:r>
            <a:r>
              <a:rPr lang="en-US" dirty="0">
                <a:solidFill>
                  <a:srgbClr val="9900FF"/>
                </a:solidFill>
              </a:rPr>
              <a:t>=['A','B','C']</a:t>
            </a:r>
          </a:p>
          <a:p>
            <a:pPr algn="just"/>
            <a:r>
              <a:rPr lang="en-US" dirty="0">
                <a:solidFill>
                  <a:srgbClr val="9900FF"/>
                </a:solidFill>
              </a:rPr>
              <a:t>&gt;&gt;&gt; </a:t>
            </a:r>
            <a:r>
              <a:rPr lang="en-US" dirty="0" err="1">
                <a:solidFill>
                  <a:srgbClr val="9900FF"/>
                </a:solidFill>
              </a:rPr>
              <a:t>mylist.append</a:t>
            </a:r>
            <a:r>
              <a:rPr lang="en-US" dirty="0">
                <a:solidFill>
                  <a:srgbClr val="9900FF"/>
                </a:solidFill>
              </a:rPr>
              <a:t>('D')</a:t>
            </a:r>
          </a:p>
          <a:p>
            <a:pPr algn="just"/>
            <a:r>
              <a:rPr lang="en-US" dirty="0">
                <a:solidFill>
                  <a:srgbClr val="9900FF"/>
                </a:solidFill>
              </a:rPr>
              <a:t>&gt;&gt;&gt; print (</a:t>
            </a:r>
            <a:r>
              <a:rPr lang="en-US" dirty="0" err="1">
                <a:solidFill>
                  <a:srgbClr val="9900FF"/>
                </a:solidFill>
              </a:rPr>
              <a:t>mylist</a:t>
            </a:r>
            <a:r>
              <a:rPr lang="en-US" dirty="0">
                <a:solidFill>
                  <a:srgbClr val="9900FF"/>
                </a:solidFill>
              </a:rPr>
              <a:t>)</a:t>
            </a:r>
          </a:p>
          <a:p>
            <a:pPr algn="just"/>
            <a:r>
              <a:rPr lang="en-US" dirty="0">
                <a:solidFill>
                  <a:srgbClr val="9900FF"/>
                </a:solidFill>
              </a:rPr>
              <a:t>['A', 'B', 'C', 'D']</a:t>
            </a:r>
          </a:p>
          <a:p>
            <a:pPr algn="just"/>
            <a:r>
              <a:rPr lang="en-US" dirty="0">
                <a:solidFill>
                  <a:srgbClr val="9900FF"/>
                </a:solidFill>
              </a:rPr>
              <a:t>&gt;&gt;&gt; </a:t>
            </a:r>
          </a:p>
          <a:p>
            <a:pPr algn="just"/>
            <a:endParaRPr lang="en-US" dirty="0">
              <a:solidFill>
                <a:srgbClr val="9900FF"/>
              </a:solidFill>
            </a:endParaRPr>
          </a:p>
          <a:p>
            <a:pPr algn="just"/>
            <a:r>
              <a:rPr lang="en-US" dirty="0">
                <a:solidFill>
                  <a:srgbClr val="9900FF"/>
                </a:solidFill>
              </a:rPr>
              <a:t>extend() Method</a:t>
            </a:r>
            <a:r>
              <a:rPr lang="en-US" baseline="0" dirty="0">
                <a:solidFill>
                  <a:srgbClr val="9900FF"/>
                </a:solidFill>
              </a:rPr>
              <a:t> </a:t>
            </a:r>
            <a:r>
              <a:rPr lang="en-US" dirty="0">
                <a:solidFill>
                  <a:srgbClr val="9900FF"/>
                </a:solidFill>
              </a:rPr>
              <a:t>- This method is used to take a list as an argument and appends all the elements.</a:t>
            </a:r>
          </a:p>
          <a:p>
            <a:pPr algn="just"/>
            <a:r>
              <a:rPr lang="en-US" b="1" dirty="0">
                <a:solidFill>
                  <a:srgbClr val="9900FF"/>
                </a:solidFill>
              </a:rPr>
              <a:t>Example</a:t>
            </a:r>
            <a:endParaRPr lang="en-US" dirty="0">
              <a:solidFill>
                <a:srgbClr val="9900FF"/>
              </a:solidFill>
            </a:endParaRPr>
          </a:p>
          <a:p>
            <a:pPr algn="just"/>
            <a:r>
              <a:rPr lang="en-US" dirty="0">
                <a:solidFill>
                  <a:srgbClr val="9900FF"/>
                </a:solidFill>
              </a:rPr>
              <a:t>&gt;&gt;&gt; mylist1=['A','B','C']</a:t>
            </a:r>
          </a:p>
          <a:p>
            <a:pPr algn="just"/>
            <a:r>
              <a:rPr lang="en-US" dirty="0">
                <a:solidFill>
                  <a:srgbClr val="9900FF"/>
                </a:solidFill>
              </a:rPr>
              <a:t>&gt;&gt;&gt; mylist2=['D','E']</a:t>
            </a:r>
          </a:p>
          <a:p>
            <a:pPr algn="just"/>
            <a:r>
              <a:rPr lang="en-US" dirty="0">
                <a:solidFill>
                  <a:srgbClr val="9900FF"/>
                </a:solidFill>
              </a:rPr>
              <a:t>&gt;&gt;&gt; mylist1.extend(mylist2)</a:t>
            </a:r>
          </a:p>
          <a:p>
            <a:pPr algn="just"/>
            <a:r>
              <a:rPr lang="en-US" dirty="0">
                <a:solidFill>
                  <a:srgbClr val="9900FF"/>
                </a:solidFill>
              </a:rPr>
              <a:t>&gt;&gt;&gt; print(mylist1)</a:t>
            </a:r>
          </a:p>
          <a:p>
            <a:pPr algn="just"/>
            <a:r>
              <a:rPr lang="en-US" dirty="0">
                <a:solidFill>
                  <a:srgbClr val="9900FF"/>
                </a:solidFill>
              </a:rPr>
              <a:t>['A', 'B', 'C', 'D', 'E']</a:t>
            </a:r>
          </a:p>
          <a:p>
            <a:pPr algn="just"/>
            <a:r>
              <a:rPr lang="en-US" dirty="0">
                <a:solidFill>
                  <a:srgbClr val="9900FF"/>
                </a:solidFill>
              </a:rPr>
              <a:t>&gt;&gt;&gt; </a:t>
            </a:r>
          </a:p>
          <a:p>
            <a:pPr algn="just"/>
            <a:endParaRPr lang="en-US" dirty="0">
              <a:solidFill>
                <a:srgbClr val="9900FF"/>
              </a:solidFill>
            </a:endParaRPr>
          </a:p>
          <a:p>
            <a:pPr algn="just"/>
            <a:r>
              <a:rPr lang="en-US" dirty="0">
                <a:solidFill>
                  <a:srgbClr val="9900FF"/>
                </a:solidFill>
              </a:rPr>
              <a:t>sort() -This method is used to arrange the elements of the list from low to high.</a:t>
            </a:r>
          </a:p>
          <a:p>
            <a:pPr algn="just"/>
            <a:r>
              <a:rPr lang="en-US" b="1" dirty="0">
                <a:solidFill>
                  <a:srgbClr val="9900FF"/>
                </a:solidFill>
              </a:rPr>
              <a:t>Example</a:t>
            </a:r>
          </a:p>
          <a:p>
            <a:pPr algn="just"/>
            <a:r>
              <a:rPr lang="en-US" dirty="0">
                <a:solidFill>
                  <a:srgbClr val="9900FF"/>
                </a:solidFill>
              </a:rPr>
              <a:t>&gt;&gt;&gt; mylist1=['D','C','E','B','A']</a:t>
            </a:r>
          </a:p>
          <a:p>
            <a:pPr algn="just"/>
            <a:r>
              <a:rPr lang="en-US" dirty="0">
                <a:solidFill>
                  <a:srgbClr val="9900FF"/>
                </a:solidFill>
              </a:rPr>
              <a:t>&gt;&gt;&gt; mylist1.sort()</a:t>
            </a:r>
          </a:p>
          <a:p>
            <a:pPr algn="just"/>
            <a:r>
              <a:rPr lang="en-US" dirty="0">
                <a:solidFill>
                  <a:srgbClr val="9900FF"/>
                </a:solidFill>
              </a:rPr>
              <a:t>&gt;&gt;&gt; print(mylist1)</a:t>
            </a:r>
          </a:p>
          <a:p>
            <a:pPr algn="just"/>
            <a:r>
              <a:rPr lang="en-US" dirty="0">
                <a:solidFill>
                  <a:srgbClr val="9900FF"/>
                </a:solidFill>
              </a:rPr>
              <a:t>['A', 'B', 'C', 'D', 'E']</a:t>
            </a:r>
          </a:p>
          <a:p>
            <a:pPr algn="just"/>
            <a:endParaRPr lang="en-US" dirty="0">
              <a:solidFill>
                <a:srgbClr val="9900FF"/>
              </a:solidFill>
            </a:endParaRP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There are several ways to delete elements from a list.</a:t>
            </a:r>
          </a:p>
          <a:p>
            <a:pPr algn="just"/>
            <a:endParaRPr lang="en-US" dirty="0">
              <a:solidFill>
                <a:srgbClr val="9900FF"/>
              </a:solidFill>
            </a:endParaRPr>
          </a:p>
          <a:p>
            <a:pPr algn="just"/>
            <a:r>
              <a:rPr lang="en-US" dirty="0">
                <a:solidFill>
                  <a:srgbClr val="9900FF"/>
                </a:solidFill>
              </a:rPr>
              <a:t>Using pop() method</a:t>
            </a:r>
            <a:r>
              <a:rPr lang="en-US" baseline="0" dirty="0">
                <a:solidFill>
                  <a:srgbClr val="9900FF"/>
                </a:solidFill>
              </a:rPr>
              <a:t> </a:t>
            </a:r>
            <a:r>
              <a:rPr lang="en-US" dirty="0">
                <a:solidFill>
                  <a:srgbClr val="9900FF"/>
                </a:solidFill>
              </a:rPr>
              <a:t>- If we know the index of the element we want we can use pop().</a:t>
            </a:r>
          </a:p>
          <a:p>
            <a:pPr algn="just"/>
            <a:r>
              <a:rPr lang="en-US" b="1" dirty="0">
                <a:solidFill>
                  <a:srgbClr val="9900FF"/>
                </a:solidFill>
              </a:rPr>
              <a:t>Example</a:t>
            </a:r>
          </a:p>
          <a:p>
            <a:pPr algn="just"/>
            <a:r>
              <a:rPr lang="en-US" dirty="0">
                <a:solidFill>
                  <a:srgbClr val="9900FF"/>
                </a:solidFill>
              </a:rPr>
              <a:t>&gt;&gt;&gt; mylist1=['A','B','C']</a:t>
            </a:r>
          </a:p>
          <a:p>
            <a:pPr algn="just"/>
            <a:r>
              <a:rPr lang="en-US" dirty="0">
                <a:solidFill>
                  <a:srgbClr val="9900FF"/>
                </a:solidFill>
              </a:rPr>
              <a:t>&gt;&gt;&gt; element=mylist1.pop(1)</a:t>
            </a:r>
          </a:p>
          <a:p>
            <a:pPr algn="just"/>
            <a:r>
              <a:rPr lang="en-US" dirty="0">
                <a:solidFill>
                  <a:srgbClr val="9900FF"/>
                </a:solidFill>
              </a:rPr>
              <a:t>&gt;&gt;&gt; print(mylist1)</a:t>
            </a:r>
          </a:p>
          <a:p>
            <a:pPr algn="just"/>
            <a:r>
              <a:rPr lang="en-US" dirty="0">
                <a:solidFill>
                  <a:srgbClr val="9900FF"/>
                </a:solidFill>
              </a:rPr>
              <a:t>['A', 'C']</a:t>
            </a:r>
          </a:p>
          <a:p>
            <a:pPr algn="just"/>
            <a:r>
              <a:rPr lang="en-US" dirty="0">
                <a:solidFill>
                  <a:srgbClr val="9900FF"/>
                </a:solidFill>
              </a:rPr>
              <a:t>&gt;&gt;&gt; print(element)</a:t>
            </a:r>
          </a:p>
          <a:p>
            <a:pPr algn="just"/>
            <a:r>
              <a:rPr lang="en-US" dirty="0">
                <a:solidFill>
                  <a:srgbClr val="9900FF"/>
                </a:solidFill>
              </a:rPr>
              <a:t>B</a:t>
            </a:r>
          </a:p>
          <a:p>
            <a:pPr algn="just"/>
            <a:r>
              <a:rPr lang="en-US" dirty="0">
                <a:solidFill>
                  <a:srgbClr val="9900FF"/>
                </a:solidFill>
              </a:rPr>
              <a:t>&gt;&gt;&gt; </a:t>
            </a:r>
          </a:p>
          <a:p>
            <a:pPr algn="just"/>
            <a:endParaRPr lang="en-US" dirty="0">
              <a:solidFill>
                <a:srgbClr val="9900FF"/>
              </a:solidFill>
            </a:endParaRPr>
          </a:p>
          <a:p>
            <a:pPr algn="just"/>
            <a:r>
              <a:rPr lang="en-US" dirty="0">
                <a:solidFill>
                  <a:srgbClr val="9900FF"/>
                </a:solidFill>
              </a:rPr>
              <a:t>pop() modifies the list and returns the element that was removed. If we don't provide an index value then it deletes the last element and returns the value.</a:t>
            </a:r>
          </a:p>
          <a:p>
            <a:pPr algn="just"/>
            <a:endParaRPr lang="en-US" dirty="0">
              <a:solidFill>
                <a:srgbClr val="9900FF"/>
              </a:solidFill>
            </a:endParaRPr>
          </a:p>
          <a:p>
            <a:pPr algn="just"/>
            <a:r>
              <a:rPr lang="en-US" dirty="0">
                <a:solidFill>
                  <a:srgbClr val="9900FF"/>
                </a:solidFill>
              </a:rPr>
              <a:t>Using del operator</a:t>
            </a:r>
            <a:r>
              <a:rPr lang="en-US" baseline="0" dirty="0">
                <a:solidFill>
                  <a:srgbClr val="9900FF"/>
                </a:solidFill>
              </a:rPr>
              <a:t> </a:t>
            </a:r>
            <a:r>
              <a:rPr lang="en-US" dirty="0">
                <a:solidFill>
                  <a:srgbClr val="9900FF"/>
                </a:solidFill>
              </a:rPr>
              <a:t>- If we do not want to retain the value which we have deleted using an index then we need to use del operator.</a:t>
            </a:r>
          </a:p>
          <a:p>
            <a:pPr algn="just"/>
            <a:r>
              <a:rPr lang="en-US" b="1" dirty="0">
                <a:solidFill>
                  <a:srgbClr val="9900FF"/>
                </a:solidFill>
              </a:rPr>
              <a:t>Example</a:t>
            </a:r>
          </a:p>
          <a:p>
            <a:pPr algn="just"/>
            <a:r>
              <a:rPr lang="en-US" dirty="0">
                <a:solidFill>
                  <a:srgbClr val="9900FF"/>
                </a:solidFill>
              </a:rPr>
              <a:t>&gt;&gt;&gt; mylist1=['A','B','C']</a:t>
            </a:r>
          </a:p>
          <a:p>
            <a:pPr algn="just"/>
            <a:r>
              <a:rPr lang="en-US" dirty="0">
                <a:solidFill>
                  <a:srgbClr val="9900FF"/>
                </a:solidFill>
              </a:rPr>
              <a:t>&gt;&gt;&gt; del mylist1[1]</a:t>
            </a:r>
          </a:p>
          <a:p>
            <a:pPr algn="just"/>
            <a:r>
              <a:rPr lang="en-US" dirty="0">
                <a:solidFill>
                  <a:srgbClr val="9900FF"/>
                </a:solidFill>
              </a:rPr>
              <a:t>&gt;&gt;&gt; print(mylist1)</a:t>
            </a:r>
          </a:p>
          <a:p>
            <a:pPr algn="just"/>
            <a:r>
              <a:rPr lang="en-US" dirty="0">
                <a:solidFill>
                  <a:srgbClr val="9900FF"/>
                </a:solidFill>
              </a:rPr>
              <a:t>['A', 'C']</a:t>
            </a:r>
          </a:p>
          <a:p>
            <a:pPr algn="just"/>
            <a:r>
              <a:rPr lang="en-US" dirty="0">
                <a:solidFill>
                  <a:srgbClr val="9900FF"/>
                </a:solidFill>
              </a:rPr>
              <a:t>&gt;&gt;&gt; </a:t>
            </a:r>
          </a:p>
          <a:p>
            <a:pPr algn="just"/>
            <a:r>
              <a:rPr lang="en-US" dirty="0">
                <a:solidFill>
                  <a:srgbClr val="9900FF"/>
                </a:solidFill>
              </a:rPr>
              <a:t>In the above example we have deleted the 1st index element i.e 'B' from the list.</a:t>
            </a:r>
          </a:p>
          <a:p>
            <a:pPr algn="just"/>
            <a:endParaRPr lang="en-US" dirty="0">
              <a:solidFill>
                <a:srgbClr val="9900FF"/>
              </a:solidFill>
            </a:endParaRPr>
          </a:p>
          <a:p>
            <a:pPr algn="just"/>
            <a:r>
              <a:rPr lang="en-US" dirty="0">
                <a:solidFill>
                  <a:srgbClr val="9900FF"/>
                </a:solidFill>
              </a:rPr>
              <a:t>Using remove() method- If we know the element to be removed then we can use remove() method.</a:t>
            </a:r>
          </a:p>
          <a:p>
            <a:pPr algn="just"/>
            <a:endParaRPr lang="en-US" dirty="0">
              <a:solidFill>
                <a:srgbClr val="9900FF"/>
              </a:solidFill>
            </a:endParaRPr>
          </a:p>
          <a:p>
            <a:pPr algn="just"/>
            <a:r>
              <a:rPr lang="en-US" b="1" dirty="0">
                <a:solidFill>
                  <a:srgbClr val="9900FF"/>
                </a:solidFill>
              </a:rPr>
              <a:t>Example </a:t>
            </a:r>
            <a:endParaRPr lang="en-US" dirty="0">
              <a:solidFill>
                <a:srgbClr val="9900FF"/>
              </a:solidFill>
            </a:endParaRPr>
          </a:p>
          <a:p>
            <a:pPr algn="just"/>
            <a:r>
              <a:rPr lang="en-US" dirty="0">
                <a:solidFill>
                  <a:srgbClr val="9900FF"/>
                </a:solidFill>
              </a:rPr>
              <a:t>&gt;&gt;&gt; mylist1=['A','B','C']</a:t>
            </a:r>
          </a:p>
          <a:p>
            <a:pPr algn="just"/>
            <a:r>
              <a:rPr lang="en-US" dirty="0">
                <a:solidFill>
                  <a:srgbClr val="9900FF"/>
                </a:solidFill>
              </a:rPr>
              <a:t>&gt;&gt;&gt; mylist1.remove('B')</a:t>
            </a:r>
          </a:p>
          <a:p>
            <a:pPr algn="just"/>
            <a:r>
              <a:rPr lang="en-US" dirty="0">
                <a:solidFill>
                  <a:srgbClr val="9900FF"/>
                </a:solidFill>
              </a:rPr>
              <a:t>&gt;&gt;&gt; print(mylist1)</a:t>
            </a:r>
          </a:p>
          <a:p>
            <a:pPr algn="just"/>
            <a:r>
              <a:rPr lang="en-US" dirty="0">
                <a:solidFill>
                  <a:srgbClr val="9900FF"/>
                </a:solidFill>
              </a:rPr>
              <a:t>['A', 'C']</a:t>
            </a:r>
          </a:p>
          <a:p>
            <a:pPr algn="just"/>
            <a:r>
              <a:rPr lang="en-US" dirty="0">
                <a:solidFill>
                  <a:srgbClr val="9900FF"/>
                </a:solidFill>
              </a:rPr>
              <a:t>In the above example we have used remove() method to remove the element 'B' from list.</a:t>
            </a: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7</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There are number of built in functions that can be used on lists that allow you to quickly look through a list without writing your own loops.</a:t>
            </a:r>
          </a:p>
          <a:p>
            <a:pPr algn="just"/>
            <a:r>
              <a:rPr lang="en-US" dirty="0">
                <a:solidFill>
                  <a:srgbClr val="9900FF"/>
                </a:solidFill>
              </a:rPr>
              <a:t>The below is a small example of using these built in functions.</a:t>
            </a:r>
          </a:p>
          <a:p>
            <a:pPr algn="just"/>
            <a:r>
              <a:rPr lang="en-US" b="1" dirty="0">
                <a:solidFill>
                  <a:srgbClr val="9900FF"/>
                </a:solidFill>
              </a:rPr>
              <a:t>Examples:</a:t>
            </a:r>
          </a:p>
          <a:p>
            <a:pPr algn="just"/>
            <a:r>
              <a:rPr lang="en-US" dirty="0">
                <a:solidFill>
                  <a:srgbClr val="9900FF"/>
                </a:solidFill>
              </a:rPr>
              <a:t>&gt;&gt;&gt; numbers=[10,20,30,40,50]</a:t>
            </a:r>
          </a:p>
          <a:p>
            <a:pPr algn="just"/>
            <a:r>
              <a:rPr lang="en-US" dirty="0">
                <a:solidFill>
                  <a:srgbClr val="9900FF"/>
                </a:solidFill>
              </a:rPr>
              <a:t>&gt;&gt;&gt; print(</a:t>
            </a:r>
            <a:r>
              <a:rPr lang="en-US" dirty="0" err="1">
                <a:solidFill>
                  <a:srgbClr val="9900FF"/>
                </a:solidFill>
              </a:rPr>
              <a:t>len</a:t>
            </a:r>
            <a:r>
              <a:rPr lang="en-US" dirty="0">
                <a:solidFill>
                  <a:srgbClr val="9900FF"/>
                </a:solidFill>
              </a:rPr>
              <a:t>(numbers))</a:t>
            </a:r>
          </a:p>
          <a:p>
            <a:pPr algn="just"/>
            <a:r>
              <a:rPr lang="en-US" dirty="0">
                <a:solidFill>
                  <a:srgbClr val="9900FF"/>
                </a:solidFill>
              </a:rPr>
              <a:t>5</a:t>
            </a:r>
          </a:p>
          <a:p>
            <a:pPr algn="just"/>
            <a:r>
              <a:rPr lang="en-US" dirty="0">
                <a:solidFill>
                  <a:srgbClr val="9900FF"/>
                </a:solidFill>
              </a:rPr>
              <a:t>&gt;&gt;&gt; print(max(numbers))</a:t>
            </a:r>
          </a:p>
          <a:p>
            <a:pPr algn="just"/>
            <a:r>
              <a:rPr lang="en-US" dirty="0">
                <a:solidFill>
                  <a:srgbClr val="9900FF"/>
                </a:solidFill>
              </a:rPr>
              <a:t>50</a:t>
            </a:r>
          </a:p>
          <a:p>
            <a:pPr algn="just"/>
            <a:r>
              <a:rPr lang="en-US" dirty="0">
                <a:solidFill>
                  <a:srgbClr val="9900FF"/>
                </a:solidFill>
              </a:rPr>
              <a:t>&gt;&gt;&gt; print(min(numbers))</a:t>
            </a:r>
          </a:p>
          <a:p>
            <a:pPr algn="just"/>
            <a:r>
              <a:rPr lang="en-US" dirty="0">
                <a:solidFill>
                  <a:srgbClr val="9900FF"/>
                </a:solidFill>
              </a:rPr>
              <a:t>10</a:t>
            </a:r>
          </a:p>
          <a:p>
            <a:pPr algn="just"/>
            <a:r>
              <a:rPr lang="en-US" dirty="0">
                <a:solidFill>
                  <a:srgbClr val="9900FF"/>
                </a:solidFill>
              </a:rPr>
              <a:t>&gt;&gt;&gt; print(sum(numbers))</a:t>
            </a:r>
          </a:p>
          <a:p>
            <a:pPr algn="just"/>
            <a:r>
              <a:rPr lang="en-US" dirty="0">
                <a:solidFill>
                  <a:srgbClr val="9900FF"/>
                </a:solidFill>
              </a:rPr>
              <a:t>150</a:t>
            </a:r>
          </a:p>
          <a:p>
            <a:pPr algn="just"/>
            <a:r>
              <a:rPr lang="en-US" dirty="0">
                <a:solidFill>
                  <a:srgbClr val="9900FF"/>
                </a:solidFill>
              </a:rPr>
              <a:t>&gt;&gt;&gt; print(sum(numbers)/</a:t>
            </a:r>
            <a:r>
              <a:rPr lang="en-US" dirty="0" err="1">
                <a:solidFill>
                  <a:srgbClr val="9900FF"/>
                </a:solidFill>
              </a:rPr>
              <a:t>len</a:t>
            </a:r>
            <a:r>
              <a:rPr lang="en-US" dirty="0">
                <a:solidFill>
                  <a:srgbClr val="9900FF"/>
                </a:solidFill>
              </a:rPr>
              <a:t>(numbers))</a:t>
            </a:r>
          </a:p>
          <a:p>
            <a:pPr algn="just"/>
            <a:r>
              <a:rPr lang="en-US" dirty="0">
                <a:solidFill>
                  <a:srgbClr val="9900FF"/>
                </a:solidFill>
              </a:rPr>
              <a:t>30.0</a:t>
            </a:r>
          </a:p>
          <a:p>
            <a:pPr algn="just"/>
            <a:r>
              <a:rPr lang="en-US" dirty="0">
                <a:solidFill>
                  <a:srgbClr val="9900FF"/>
                </a:solidFill>
              </a:rPr>
              <a:t>&gt;&gt;&gt; </a:t>
            </a:r>
          </a:p>
          <a:p>
            <a:pPr algn="just"/>
            <a:r>
              <a:rPr lang="en-US" dirty="0">
                <a:solidFill>
                  <a:srgbClr val="9900FF"/>
                </a:solidFill>
              </a:rPr>
              <a:t>From these functions sum() function will work with only numbers. But other functions like max(),</a:t>
            </a:r>
            <a:r>
              <a:rPr lang="en-US" dirty="0" err="1">
                <a:solidFill>
                  <a:srgbClr val="9900FF"/>
                </a:solidFill>
              </a:rPr>
              <a:t>len</a:t>
            </a:r>
            <a:r>
              <a:rPr lang="en-US" dirty="0">
                <a:solidFill>
                  <a:srgbClr val="9900FF"/>
                </a:solidFill>
              </a:rPr>
              <a:t>(),min() </a:t>
            </a:r>
            <a:r>
              <a:rPr lang="en-US" dirty="0" err="1">
                <a:solidFill>
                  <a:srgbClr val="9900FF"/>
                </a:solidFill>
              </a:rPr>
              <a:t>etc</a:t>
            </a:r>
            <a:r>
              <a:rPr lang="en-US" dirty="0">
                <a:solidFill>
                  <a:srgbClr val="9900FF"/>
                </a:solidFill>
              </a:rPr>
              <a:t> will work with list of strings and other types that can be comparable</a:t>
            </a: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8</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A string is sequence of </a:t>
            </a:r>
            <a:r>
              <a:rPr lang="en-US" dirty="0" err="1">
                <a:solidFill>
                  <a:srgbClr val="9900FF"/>
                </a:solidFill>
              </a:rPr>
              <a:t>characters.A</a:t>
            </a:r>
            <a:r>
              <a:rPr lang="en-US" dirty="0">
                <a:solidFill>
                  <a:srgbClr val="9900FF"/>
                </a:solidFill>
              </a:rPr>
              <a:t> list is sequence of values of any type.</a:t>
            </a:r>
          </a:p>
          <a:p>
            <a:pPr algn="just"/>
            <a:r>
              <a:rPr lang="en-US" dirty="0">
                <a:solidFill>
                  <a:srgbClr val="9900FF"/>
                </a:solidFill>
              </a:rPr>
              <a:t>list() method is used to convert a string to list of characters.</a:t>
            </a:r>
          </a:p>
          <a:p>
            <a:pPr algn="just"/>
            <a:endParaRPr lang="en-US" dirty="0">
              <a:solidFill>
                <a:srgbClr val="9900FF"/>
              </a:solidFill>
            </a:endParaRPr>
          </a:p>
          <a:p>
            <a:pPr algn="just"/>
            <a:r>
              <a:rPr lang="en-US" b="1" dirty="0">
                <a:solidFill>
                  <a:srgbClr val="9900FF"/>
                </a:solidFill>
              </a:rPr>
              <a:t>Example</a:t>
            </a:r>
          </a:p>
          <a:p>
            <a:pPr algn="just"/>
            <a:r>
              <a:rPr lang="en-US" dirty="0">
                <a:solidFill>
                  <a:srgbClr val="9900FF"/>
                </a:solidFill>
              </a:rPr>
              <a:t>&gt;&gt;&gt; </a:t>
            </a:r>
            <a:r>
              <a:rPr lang="en-US" dirty="0" err="1">
                <a:solidFill>
                  <a:srgbClr val="9900FF"/>
                </a:solidFill>
              </a:rPr>
              <a:t>str</a:t>
            </a:r>
            <a:r>
              <a:rPr lang="en-US" dirty="0">
                <a:solidFill>
                  <a:srgbClr val="9900FF"/>
                </a:solidFill>
              </a:rPr>
              <a:t>='NIIT'</a:t>
            </a:r>
          </a:p>
          <a:p>
            <a:pPr algn="just"/>
            <a:r>
              <a:rPr lang="en-US" dirty="0">
                <a:solidFill>
                  <a:srgbClr val="9900FF"/>
                </a:solidFill>
              </a:rPr>
              <a:t>&gt;&gt;&gt; </a:t>
            </a:r>
            <a:r>
              <a:rPr lang="en-US" dirty="0" err="1">
                <a:solidFill>
                  <a:srgbClr val="9900FF"/>
                </a:solidFill>
              </a:rPr>
              <a:t>ele</a:t>
            </a:r>
            <a:r>
              <a:rPr lang="en-US" dirty="0">
                <a:solidFill>
                  <a:srgbClr val="9900FF"/>
                </a:solidFill>
              </a:rPr>
              <a:t>=list(</a:t>
            </a:r>
            <a:r>
              <a:rPr lang="en-US" dirty="0" err="1">
                <a:solidFill>
                  <a:srgbClr val="9900FF"/>
                </a:solidFill>
              </a:rPr>
              <a:t>str</a:t>
            </a:r>
            <a:r>
              <a:rPr lang="en-US" dirty="0">
                <a:solidFill>
                  <a:srgbClr val="9900FF"/>
                </a:solidFill>
              </a:rPr>
              <a:t>)</a:t>
            </a:r>
          </a:p>
          <a:p>
            <a:pPr algn="just"/>
            <a:r>
              <a:rPr lang="en-US" dirty="0">
                <a:solidFill>
                  <a:srgbClr val="9900FF"/>
                </a:solidFill>
              </a:rPr>
              <a:t>&gt;&gt;&gt; print </a:t>
            </a:r>
            <a:r>
              <a:rPr lang="en-US" dirty="0" err="1">
                <a:solidFill>
                  <a:srgbClr val="9900FF"/>
                </a:solidFill>
              </a:rPr>
              <a:t>ele</a:t>
            </a:r>
            <a:endParaRPr lang="en-US" dirty="0">
              <a:solidFill>
                <a:srgbClr val="9900FF"/>
              </a:solidFill>
            </a:endParaRPr>
          </a:p>
          <a:p>
            <a:pPr algn="just"/>
            <a:r>
              <a:rPr lang="en-US" dirty="0">
                <a:solidFill>
                  <a:srgbClr val="9900FF"/>
                </a:solidFill>
              </a:rPr>
              <a:t>['N', 'I', 'I', 'T']</a:t>
            </a:r>
          </a:p>
          <a:p>
            <a:pPr algn="just"/>
            <a:endParaRPr lang="en-US" dirty="0">
              <a:solidFill>
                <a:srgbClr val="9900FF"/>
              </a:solidFill>
            </a:endParaRPr>
          </a:p>
          <a:p>
            <a:pPr algn="just"/>
            <a:r>
              <a:rPr lang="en-US" dirty="0">
                <a:solidFill>
                  <a:srgbClr val="9900FF"/>
                </a:solidFill>
              </a:rPr>
              <a:t>split() method is used to break the string into list of words</a:t>
            </a:r>
          </a:p>
          <a:p>
            <a:pPr algn="just"/>
            <a:endParaRPr lang="en-US" dirty="0">
              <a:solidFill>
                <a:srgbClr val="9900FF"/>
              </a:solidFill>
            </a:endParaRPr>
          </a:p>
          <a:p>
            <a:pPr algn="just"/>
            <a:r>
              <a:rPr lang="en-US" b="1" dirty="0">
                <a:solidFill>
                  <a:srgbClr val="9900FF"/>
                </a:solidFill>
              </a:rPr>
              <a:t>Example</a:t>
            </a:r>
          </a:p>
          <a:p>
            <a:pPr algn="just"/>
            <a:r>
              <a:rPr lang="en-US" dirty="0">
                <a:solidFill>
                  <a:srgbClr val="9900FF"/>
                </a:solidFill>
              </a:rPr>
              <a:t>&gt;&gt;&gt; </a:t>
            </a:r>
            <a:r>
              <a:rPr lang="en-US" dirty="0" err="1">
                <a:solidFill>
                  <a:srgbClr val="9900FF"/>
                </a:solidFill>
              </a:rPr>
              <a:t>str</a:t>
            </a:r>
            <a:r>
              <a:rPr lang="en-US" dirty="0">
                <a:solidFill>
                  <a:srgbClr val="9900FF"/>
                </a:solidFill>
              </a:rPr>
              <a:t>='I am studying in NIIT'</a:t>
            </a:r>
          </a:p>
          <a:p>
            <a:pPr algn="just"/>
            <a:r>
              <a:rPr lang="en-US" dirty="0">
                <a:solidFill>
                  <a:srgbClr val="9900FF"/>
                </a:solidFill>
              </a:rPr>
              <a:t>&gt;&gt;&gt; t=</a:t>
            </a:r>
            <a:r>
              <a:rPr lang="en-US" dirty="0" err="1">
                <a:solidFill>
                  <a:srgbClr val="9900FF"/>
                </a:solidFill>
              </a:rPr>
              <a:t>str.split</a:t>
            </a:r>
            <a:r>
              <a:rPr lang="en-US" dirty="0">
                <a:solidFill>
                  <a:srgbClr val="9900FF"/>
                </a:solidFill>
              </a:rPr>
              <a:t>()</a:t>
            </a:r>
          </a:p>
          <a:p>
            <a:pPr algn="just"/>
            <a:r>
              <a:rPr lang="en-US" dirty="0">
                <a:solidFill>
                  <a:srgbClr val="9900FF"/>
                </a:solidFill>
              </a:rPr>
              <a:t>&gt;&gt;&gt; print(t)</a:t>
            </a:r>
          </a:p>
          <a:p>
            <a:pPr algn="just"/>
            <a:r>
              <a:rPr lang="en-US" dirty="0">
                <a:solidFill>
                  <a:srgbClr val="9900FF"/>
                </a:solidFill>
              </a:rPr>
              <a:t>['I', 'am', 'studying', 'in', 'NIIT']</a:t>
            </a:r>
          </a:p>
          <a:p>
            <a:pPr algn="just"/>
            <a:endParaRPr lang="en-US" dirty="0">
              <a:solidFill>
                <a:srgbClr val="9900FF"/>
              </a:solidFill>
            </a:endParaRPr>
          </a:p>
          <a:p>
            <a:pPr algn="just"/>
            <a:r>
              <a:rPr lang="en-US" dirty="0">
                <a:solidFill>
                  <a:srgbClr val="9900FF"/>
                </a:solidFill>
              </a:rPr>
              <a:t>split() method takes and optional argument called delimiter which specifies the word boundaries. A delimiter is a character which differentiate between one word to another in the below example the character "," is separating the words.</a:t>
            </a:r>
          </a:p>
          <a:p>
            <a:pPr algn="just"/>
            <a:endParaRPr lang="en-US" dirty="0">
              <a:solidFill>
                <a:srgbClr val="9900FF"/>
              </a:solidFill>
            </a:endParaRPr>
          </a:p>
          <a:p>
            <a:pPr algn="just"/>
            <a:r>
              <a:rPr lang="en-US" b="1" dirty="0">
                <a:solidFill>
                  <a:srgbClr val="9900FF"/>
                </a:solidFill>
              </a:rPr>
              <a:t>Example</a:t>
            </a:r>
          </a:p>
          <a:p>
            <a:pPr algn="just"/>
            <a:r>
              <a:rPr lang="en-US" dirty="0">
                <a:solidFill>
                  <a:srgbClr val="9900FF"/>
                </a:solidFill>
              </a:rPr>
              <a:t>&gt;&gt;&gt; </a:t>
            </a:r>
            <a:r>
              <a:rPr lang="en-US" dirty="0" err="1">
                <a:solidFill>
                  <a:srgbClr val="9900FF"/>
                </a:solidFill>
              </a:rPr>
              <a:t>str</a:t>
            </a:r>
            <a:r>
              <a:rPr lang="en-US" dirty="0">
                <a:solidFill>
                  <a:srgbClr val="9900FF"/>
                </a:solidFill>
              </a:rPr>
              <a:t>='</a:t>
            </a:r>
            <a:r>
              <a:rPr lang="en-US" dirty="0" err="1">
                <a:solidFill>
                  <a:srgbClr val="9900FF"/>
                </a:solidFill>
              </a:rPr>
              <a:t>Harish,Sridhar,Kishore</a:t>
            </a:r>
            <a:r>
              <a:rPr lang="en-US" dirty="0">
                <a:solidFill>
                  <a:srgbClr val="9900FF"/>
                </a:solidFill>
              </a:rPr>
              <a:t>'</a:t>
            </a:r>
          </a:p>
          <a:p>
            <a:pPr algn="just"/>
            <a:r>
              <a:rPr lang="en-US" dirty="0">
                <a:solidFill>
                  <a:srgbClr val="9900FF"/>
                </a:solidFill>
              </a:rPr>
              <a:t>&gt;&gt;&gt; delimiter=','</a:t>
            </a:r>
          </a:p>
          <a:p>
            <a:pPr algn="just"/>
            <a:r>
              <a:rPr lang="en-US" dirty="0">
                <a:solidFill>
                  <a:srgbClr val="9900FF"/>
                </a:solidFill>
              </a:rPr>
              <a:t>&gt;&gt;&gt; </a:t>
            </a:r>
            <a:r>
              <a:rPr lang="en-US" dirty="0" err="1">
                <a:solidFill>
                  <a:srgbClr val="9900FF"/>
                </a:solidFill>
              </a:rPr>
              <a:t>str.split</a:t>
            </a:r>
            <a:r>
              <a:rPr lang="en-US" dirty="0">
                <a:solidFill>
                  <a:srgbClr val="9900FF"/>
                </a:solidFill>
              </a:rPr>
              <a:t>(delimiter)</a:t>
            </a:r>
          </a:p>
          <a:p>
            <a:pPr algn="just"/>
            <a:r>
              <a:rPr lang="en-US" dirty="0">
                <a:solidFill>
                  <a:srgbClr val="9900FF"/>
                </a:solidFill>
              </a:rPr>
              <a:t>['Harish', 'Sridhar', 'Kishore']</a:t>
            </a:r>
          </a:p>
          <a:p>
            <a:pPr algn="just"/>
            <a:endParaRPr lang="en-US" dirty="0">
              <a:solidFill>
                <a:srgbClr val="9900FF"/>
              </a:solidFill>
            </a:endParaRPr>
          </a:p>
          <a:p>
            <a:pPr algn="just"/>
            <a:r>
              <a:rPr lang="en-US" dirty="0">
                <a:solidFill>
                  <a:srgbClr val="9900FF"/>
                </a:solidFill>
              </a:rPr>
              <a:t>join() method is the inverse of split. It takes a list of strings and concatenates the </a:t>
            </a:r>
            <a:r>
              <a:rPr lang="en-US" dirty="0" err="1">
                <a:solidFill>
                  <a:srgbClr val="9900FF"/>
                </a:solidFill>
              </a:rPr>
              <a:t>elements.join</a:t>
            </a:r>
            <a:r>
              <a:rPr lang="en-US" dirty="0">
                <a:solidFill>
                  <a:srgbClr val="9900FF"/>
                </a:solidFill>
              </a:rPr>
              <a:t>() is a string method.</a:t>
            </a:r>
          </a:p>
          <a:p>
            <a:pPr algn="just"/>
            <a:endParaRPr lang="en-US" dirty="0">
              <a:solidFill>
                <a:srgbClr val="9900FF"/>
              </a:solidFill>
            </a:endParaRPr>
          </a:p>
          <a:p>
            <a:pPr algn="just"/>
            <a:r>
              <a:rPr lang="en-US" b="1" dirty="0">
                <a:solidFill>
                  <a:srgbClr val="9900FF"/>
                </a:solidFill>
              </a:rPr>
              <a:t>Example</a:t>
            </a:r>
          </a:p>
          <a:p>
            <a:pPr algn="just"/>
            <a:r>
              <a:rPr lang="en-US" dirty="0">
                <a:solidFill>
                  <a:srgbClr val="9900FF"/>
                </a:solidFill>
              </a:rPr>
              <a:t>&gt;&gt;&gt; </a:t>
            </a:r>
            <a:r>
              <a:rPr lang="en-US" dirty="0" err="1">
                <a:solidFill>
                  <a:srgbClr val="9900FF"/>
                </a:solidFill>
              </a:rPr>
              <a:t>str</a:t>
            </a:r>
            <a:r>
              <a:rPr lang="en-US" dirty="0">
                <a:solidFill>
                  <a:srgbClr val="9900FF"/>
                </a:solidFill>
              </a:rPr>
              <a:t>=['</a:t>
            </a:r>
            <a:r>
              <a:rPr lang="en-US" dirty="0" err="1">
                <a:solidFill>
                  <a:srgbClr val="9900FF"/>
                </a:solidFill>
              </a:rPr>
              <a:t>Delhi','Mumbai','Chennai','Kolkata</a:t>
            </a:r>
            <a:r>
              <a:rPr lang="en-US" dirty="0">
                <a:solidFill>
                  <a:srgbClr val="9900FF"/>
                </a:solidFill>
              </a:rPr>
              <a:t>']</a:t>
            </a:r>
          </a:p>
          <a:p>
            <a:pPr algn="just"/>
            <a:r>
              <a:rPr lang="en-US" dirty="0">
                <a:solidFill>
                  <a:srgbClr val="9900FF"/>
                </a:solidFill>
              </a:rPr>
              <a:t>&gt;&gt;&gt; delimiter='-'</a:t>
            </a:r>
          </a:p>
          <a:p>
            <a:pPr algn="just"/>
            <a:r>
              <a:rPr lang="en-US" dirty="0">
                <a:solidFill>
                  <a:srgbClr val="9900FF"/>
                </a:solidFill>
              </a:rPr>
              <a:t>&gt;&gt;&gt; </a:t>
            </a:r>
            <a:r>
              <a:rPr lang="en-US" dirty="0" err="1">
                <a:solidFill>
                  <a:srgbClr val="9900FF"/>
                </a:solidFill>
              </a:rPr>
              <a:t>delimiter.join</a:t>
            </a:r>
            <a:r>
              <a:rPr lang="en-US" dirty="0">
                <a:solidFill>
                  <a:srgbClr val="9900FF"/>
                </a:solidFill>
              </a:rPr>
              <a:t>(</a:t>
            </a:r>
            <a:r>
              <a:rPr lang="en-US" dirty="0" err="1">
                <a:solidFill>
                  <a:srgbClr val="9900FF"/>
                </a:solidFill>
              </a:rPr>
              <a:t>str</a:t>
            </a:r>
            <a:r>
              <a:rPr lang="en-US" dirty="0">
                <a:solidFill>
                  <a:srgbClr val="9900FF"/>
                </a:solidFill>
              </a:rPr>
              <a:t>)</a:t>
            </a:r>
          </a:p>
          <a:p>
            <a:pPr algn="just"/>
            <a:r>
              <a:rPr lang="en-US" dirty="0">
                <a:solidFill>
                  <a:srgbClr val="9900FF"/>
                </a:solidFill>
              </a:rPr>
              <a:t>'Delhi-Mumbai-Chennai-Kolkata'</a:t>
            </a:r>
          </a:p>
          <a:p>
            <a:pPr algn="just"/>
            <a:endParaRPr lang="en-US" dirty="0">
              <a:solidFill>
                <a:srgbClr val="9900FF"/>
              </a:solidFill>
            </a:endParaRPr>
          </a:p>
          <a:p>
            <a:pPr algn="just"/>
            <a:r>
              <a:rPr lang="en-US" dirty="0">
                <a:solidFill>
                  <a:srgbClr val="9900FF"/>
                </a:solidFill>
              </a:rPr>
              <a:t>In the above code </a:t>
            </a:r>
            <a:r>
              <a:rPr lang="en-US" dirty="0" err="1">
                <a:solidFill>
                  <a:srgbClr val="9900FF"/>
                </a:solidFill>
              </a:rPr>
              <a:t>str</a:t>
            </a:r>
            <a:r>
              <a:rPr lang="en-US" dirty="0">
                <a:solidFill>
                  <a:srgbClr val="9900FF"/>
                </a:solidFill>
              </a:rPr>
              <a:t> list contains four city names with comma separated. Using join() method it </a:t>
            </a:r>
            <a:r>
              <a:rPr lang="en-US" dirty="0" err="1">
                <a:solidFill>
                  <a:srgbClr val="9900FF"/>
                </a:solidFill>
              </a:rPr>
              <a:t>will.This</a:t>
            </a:r>
            <a:r>
              <a:rPr lang="en-US" dirty="0">
                <a:solidFill>
                  <a:srgbClr val="9900FF"/>
                </a:solidFill>
              </a:rPr>
              <a:t> method will be executed using a delimiter.</a:t>
            </a: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9</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Usually when we are reading a file we want to do something to the lines other than just printing the whole line. Often we want to find the a criteria based line and then parse the line to find some interesting part of the line. For example if we wanted to print out the day of the week from those lines that start with “From ”?</a:t>
            </a:r>
          </a:p>
          <a:p>
            <a:pPr algn="just"/>
            <a:endParaRPr lang="en-US" dirty="0">
              <a:solidFill>
                <a:srgbClr val="9900FF"/>
              </a:solidFill>
            </a:endParaRPr>
          </a:p>
          <a:p>
            <a:pPr algn="just"/>
            <a:r>
              <a:rPr lang="en-US" dirty="0">
                <a:solidFill>
                  <a:srgbClr val="9900FF"/>
                </a:solidFill>
              </a:rPr>
              <a:t>From stephen.marquard@uct.ac.za Sat Jan 5 09:14:16 2008</a:t>
            </a:r>
          </a:p>
          <a:p>
            <a:pPr algn="just"/>
            <a:endParaRPr lang="en-US" dirty="0">
              <a:solidFill>
                <a:srgbClr val="9900FF"/>
              </a:solidFill>
            </a:endParaRPr>
          </a:p>
          <a:p>
            <a:pPr algn="just"/>
            <a:r>
              <a:rPr lang="en-US" dirty="0">
                <a:solidFill>
                  <a:srgbClr val="9900FF"/>
                </a:solidFill>
              </a:rPr>
              <a:t>The split method is very effective when faced with this kind of problem. We can write a small program that looks for lines where the line starts with “From ”, split those lines, and then print out the third word in the line:</a:t>
            </a:r>
          </a:p>
          <a:p>
            <a:pPr algn="just"/>
            <a:endParaRPr lang="en-US" dirty="0">
              <a:solidFill>
                <a:srgbClr val="9900FF"/>
              </a:solidFill>
            </a:endParaRPr>
          </a:p>
          <a:p>
            <a:r>
              <a:rPr lang="en-US" b="1" dirty="0" err="1"/>
              <a:t>fhand</a:t>
            </a:r>
            <a:r>
              <a:rPr lang="en-US" b="1" dirty="0"/>
              <a:t> = open(‘MyText.txt')</a:t>
            </a:r>
          </a:p>
          <a:p>
            <a:r>
              <a:rPr lang="en-US" b="1" dirty="0"/>
              <a:t>for line in </a:t>
            </a:r>
            <a:r>
              <a:rPr lang="en-US" b="1" dirty="0" err="1"/>
              <a:t>fhand</a:t>
            </a:r>
            <a:r>
              <a:rPr lang="en-US" b="1" dirty="0"/>
              <a:t>:</a:t>
            </a:r>
          </a:p>
          <a:p>
            <a:r>
              <a:rPr lang="en-US" b="1" dirty="0"/>
              <a:t>	line = </a:t>
            </a:r>
            <a:r>
              <a:rPr lang="en-US" b="1" dirty="0" err="1"/>
              <a:t>line.rstrip</a:t>
            </a:r>
            <a:r>
              <a:rPr lang="en-US" b="1" dirty="0"/>
              <a:t>()</a:t>
            </a:r>
          </a:p>
          <a:p>
            <a:r>
              <a:rPr lang="en-US" b="1" dirty="0"/>
              <a:t>	if not </a:t>
            </a:r>
            <a:r>
              <a:rPr lang="en-US" b="1" dirty="0" err="1"/>
              <a:t>line.startswith</a:t>
            </a:r>
            <a:r>
              <a:rPr lang="en-US" b="1" dirty="0"/>
              <a:t>('From ') : </a:t>
            </a:r>
          </a:p>
          <a:p>
            <a:r>
              <a:rPr lang="en-US" b="1" dirty="0"/>
              <a:t>		continue</a:t>
            </a:r>
          </a:p>
          <a:p>
            <a:r>
              <a:rPr lang="en-US" b="1" dirty="0"/>
              <a:t>	words = line.split()</a:t>
            </a:r>
          </a:p>
          <a:p>
            <a:r>
              <a:rPr lang="en-US" b="1" dirty="0"/>
              <a:t>	print words[2]</a:t>
            </a:r>
          </a:p>
          <a:p>
            <a:endParaRPr lang="en-US" b="1" dirty="0">
              <a:solidFill>
                <a:srgbClr val="9900FF"/>
              </a:solidFill>
            </a:endParaRPr>
          </a:p>
          <a:p>
            <a:pPr algn="just"/>
            <a:r>
              <a:rPr lang="en-US" dirty="0">
                <a:solidFill>
                  <a:srgbClr val="9900FF"/>
                </a:solidFill>
              </a:rPr>
              <a:t>The program produces the following output:</a:t>
            </a:r>
          </a:p>
          <a:p>
            <a:pPr algn="just"/>
            <a:r>
              <a:rPr lang="en-US" dirty="0">
                <a:solidFill>
                  <a:srgbClr val="9900FF"/>
                </a:solidFill>
              </a:rPr>
              <a:t>Sat</a:t>
            </a:r>
          </a:p>
        </p:txBody>
      </p:sp>
      <p:sp>
        <p:nvSpPr>
          <p:cNvPr id="4" name="Slide Number Placeholder 3"/>
          <p:cNvSpPr>
            <a:spLocks noGrp="1"/>
          </p:cNvSpPr>
          <p:nvPr>
            <p:ph type="sldNum" sz="quarter" idx="10"/>
          </p:nvPr>
        </p:nvSpPr>
        <p:spPr/>
        <p:txBody>
          <a:bodyPr/>
          <a:lstStyle/>
          <a:p>
            <a:fld id="{35091714-3304-44AF-AABA-9711959465C3}" type="slidenum">
              <a:rPr lang="en-US" smtClean="0"/>
              <a:t>10</a:t>
            </a:fld>
            <a:endParaRPr lang="en-US" dirty="0"/>
          </a:p>
        </p:txBody>
      </p:sp>
    </p:spTree>
    <p:extLst>
      <p:ext uri="{BB962C8B-B14F-4D97-AF65-F5344CB8AC3E}">
        <p14:creationId xmlns:p14="http://schemas.microsoft.com/office/powerpoint/2010/main" val="1413035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a:t>Solution:</a:t>
            </a:r>
          </a:p>
          <a:p>
            <a:endParaRPr lang="en-US" sz="1600" dirty="0"/>
          </a:p>
          <a:p>
            <a:r>
              <a:rPr lang="en-US" sz="1200" dirty="0"/>
              <a:t>In order to do this activity, you need to perform the following tasks:</a:t>
            </a:r>
          </a:p>
          <a:p>
            <a:pPr marL="342900" lvl="0" indent="-342900">
              <a:buFont typeface="+mj-lt"/>
              <a:buAutoNum type="arabicPeriod"/>
            </a:pPr>
            <a:r>
              <a:rPr lang="en-US" sz="1200" dirty="0"/>
              <a:t>Create a Python empty project.</a:t>
            </a:r>
          </a:p>
          <a:p>
            <a:pPr marL="342900" lvl="0" indent="-342900">
              <a:buFont typeface="+mj-lt"/>
              <a:buAutoNum type="arabicPeriod"/>
            </a:pPr>
            <a:r>
              <a:rPr lang="en-US" sz="1200" dirty="0"/>
              <a:t>Use </a:t>
            </a:r>
            <a:r>
              <a:rPr lang="en-US" sz="1200" b="1" dirty="0"/>
              <a:t>while()</a:t>
            </a:r>
            <a:r>
              <a:rPr lang="en-US" sz="1200" dirty="0"/>
              <a:t> to create</a:t>
            </a:r>
            <a:r>
              <a:rPr lang="en-US" sz="1200" baseline="0" dirty="0"/>
              <a:t> the menu</a:t>
            </a:r>
            <a:r>
              <a:rPr lang="en-US" sz="1200" dirty="0"/>
              <a:t>.</a:t>
            </a:r>
          </a:p>
          <a:p>
            <a:pPr marL="342900" lvl="0" indent="-342900">
              <a:buFont typeface="+mj-lt"/>
              <a:buAutoNum type="arabicPeriod"/>
            </a:pPr>
            <a:r>
              <a:rPr lang="en-US" sz="1200" dirty="0"/>
              <a:t>Use </a:t>
            </a:r>
            <a:r>
              <a:rPr lang="en-US" sz="1200" b="1" dirty="0"/>
              <a:t>append()</a:t>
            </a:r>
            <a:r>
              <a:rPr lang="en-US" sz="1200" b="0" dirty="0"/>
              <a:t>,</a:t>
            </a:r>
            <a:r>
              <a:rPr lang="en-US" sz="1200" b="1" baseline="0" dirty="0"/>
              <a:t> remove()</a:t>
            </a:r>
            <a:r>
              <a:rPr lang="en-US" sz="1200" b="0" baseline="0" dirty="0"/>
              <a:t>,</a:t>
            </a:r>
            <a:r>
              <a:rPr lang="en-US" sz="1200" b="1" baseline="0" dirty="0"/>
              <a:t> extend()</a:t>
            </a:r>
            <a:r>
              <a:rPr lang="en-US" sz="1200" b="0" baseline="0" dirty="0"/>
              <a:t>,</a:t>
            </a:r>
            <a:r>
              <a:rPr lang="en-US" sz="1200" b="1" baseline="0" dirty="0"/>
              <a:t> sort()</a:t>
            </a:r>
            <a:r>
              <a:rPr lang="en-US" sz="1200" b="0" baseline="0" dirty="0"/>
              <a:t>,</a:t>
            </a:r>
            <a:r>
              <a:rPr lang="en-US" sz="1200" b="1" baseline="0" dirty="0"/>
              <a:t> reverse() </a:t>
            </a:r>
            <a:r>
              <a:rPr lang="en-US" sz="1200" b="0" baseline="0" dirty="0"/>
              <a:t>to perform list operation</a:t>
            </a:r>
            <a:r>
              <a:rPr lang="en-US" sz="1200" dirty="0"/>
              <a:t>.</a:t>
            </a:r>
          </a:p>
          <a:p>
            <a:pPr marL="342900" lvl="0" indent="-342900">
              <a:buFont typeface="+mj-lt"/>
              <a:buAutoNum type="arabicPeriod"/>
            </a:pPr>
            <a:endParaRPr lang="en-US" sz="1200" dirty="0"/>
          </a:p>
          <a:p>
            <a:r>
              <a:rPr lang="en-US" sz="1600" b="1" dirty="0"/>
              <a:t>Task 1</a:t>
            </a:r>
            <a:r>
              <a:rPr lang="en-US" sz="1600" dirty="0"/>
              <a:t>: Create a Python empty project:</a:t>
            </a:r>
          </a:p>
          <a:p>
            <a:r>
              <a:rPr lang="en-US" sz="1200" dirty="0"/>
              <a:t>Step 1: Open </a:t>
            </a:r>
            <a:r>
              <a:rPr lang="en-US" sz="1200" b="1" dirty="0"/>
              <a:t>NetBeans 8.0.2</a:t>
            </a:r>
            <a:r>
              <a:rPr lang="en-US" sz="120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2: Click </a:t>
            </a:r>
            <a:r>
              <a:rPr lang="en-US" sz="1200" b="1" dirty="0"/>
              <a:t>File</a:t>
            </a:r>
            <a:r>
              <a:rPr lang="en-US" sz="1200" dirty="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3: Select </a:t>
            </a:r>
            <a:r>
              <a:rPr lang="en-US" sz="1200" b="1" dirty="0"/>
              <a:t>New Project</a:t>
            </a:r>
            <a:r>
              <a:rPr lang="en-US" sz="1200" b="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Step 4:</a:t>
            </a:r>
            <a:r>
              <a:rPr lang="en-US" sz="1200" dirty="0"/>
              <a:t> Select </a:t>
            </a:r>
            <a:r>
              <a:rPr lang="en-US" sz="1200" b="1" dirty="0"/>
              <a:t>Python</a:t>
            </a:r>
            <a:r>
              <a:rPr lang="en-US" sz="1200" dirty="0"/>
              <a:t> from Categories list and </a:t>
            </a:r>
            <a:r>
              <a:rPr lang="en-US" sz="1200" b="1" dirty="0"/>
              <a:t>Python Project</a:t>
            </a:r>
            <a:r>
              <a:rPr lang="en-US" sz="1200" dirty="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5: Click </a:t>
            </a:r>
            <a:r>
              <a:rPr lang="en-US" sz="1200" b="1" dirty="0"/>
              <a:t>Next</a:t>
            </a:r>
            <a:r>
              <a:rPr lang="en-US" sz="1200" dirty="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6: On New Python Project dialog box set the Project Name as </a:t>
            </a:r>
            <a:r>
              <a:rPr lang="en-US" sz="1200" b="1" dirty="0"/>
              <a:t>CR_Session08_Activity02</a:t>
            </a:r>
            <a:r>
              <a:rPr lang="en-US" sz="1200" b="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Step</a:t>
            </a:r>
            <a:r>
              <a:rPr lang="en-US" sz="1200" b="0" baseline="0" dirty="0"/>
              <a:t> 7:</a:t>
            </a:r>
            <a:r>
              <a:rPr lang="en-US" sz="1200" dirty="0"/>
              <a:t> Select project Location by clicking </a:t>
            </a:r>
            <a:r>
              <a:rPr lang="en-US" sz="1200" b="1" dirty="0"/>
              <a:t>Browse</a:t>
            </a:r>
            <a:r>
              <a:rPr lang="en-US" sz="1200" dirty="0"/>
              <a:t> button.</a:t>
            </a:r>
          </a:p>
          <a:p>
            <a:r>
              <a:rPr lang="en-US" sz="1050" dirty="0"/>
              <a:t>Step</a:t>
            </a:r>
            <a:r>
              <a:rPr lang="en-US" sz="1050" baseline="0" dirty="0"/>
              <a:t> 8</a:t>
            </a:r>
            <a:r>
              <a:rPr lang="en-US" sz="1050" dirty="0"/>
              <a:t>: Click </a:t>
            </a:r>
            <a:r>
              <a:rPr lang="en-US" sz="1050" b="1" dirty="0"/>
              <a:t>Finish</a:t>
            </a:r>
            <a:r>
              <a:rPr lang="en-US" sz="1050" dirty="0"/>
              <a:t> button.</a:t>
            </a:r>
          </a:p>
          <a:p>
            <a:endParaRPr lang="en-US" sz="1050" dirty="0"/>
          </a:p>
          <a:p>
            <a:pPr marL="0" lvl="0" indent="0">
              <a:buFont typeface="+mj-lt"/>
              <a:buNone/>
            </a:pPr>
            <a:r>
              <a:rPr lang="en-US" sz="1200" b="1" dirty="0"/>
              <a:t>Task 2</a:t>
            </a:r>
            <a:r>
              <a:rPr lang="en-US" sz="1200" dirty="0"/>
              <a:t>: Use </a:t>
            </a:r>
            <a:r>
              <a:rPr lang="en-US" sz="1200" b="1" dirty="0"/>
              <a:t>while()</a:t>
            </a:r>
            <a:r>
              <a:rPr lang="en-US" sz="1200" dirty="0"/>
              <a:t> to create</a:t>
            </a:r>
            <a:r>
              <a:rPr lang="en-US" sz="1200" baseline="0" dirty="0"/>
              <a:t> the menu, u</a:t>
            </a:r>
            <a:r>
              <a:rPr lang="en-US" sz="1200" dirty="0"/>
              <a:t>se </a:t>
            </a:r>
            <a:r>
              <a:rPr lang="en-US" sz="1200" b="1" dirty="0"/>
              <a:t>append()</a:t>
            </a:r>
            <a:r>
              <a:rPr lang="en-US" sz="1200" b="0" dirty="0"/>
              <a:t>,</a:t>
            </a:r>
            <a:r>
              <a:rPr lang="en-US" sz="1200" b="1" baseline="0" dirty="0"/>
              <a:t> remove()</a:t>
            </a:r>
            <a:r>
              <a:rPr lang="en-US" sz="1200" b="0" baseline="0" dirty="0"/>
              <a:t>,</a:t>
            </a:r>
            <a:r>
              <a:rPr lang="en-US" sz="1200" b="1" baseline="0" dirty="0"/>
              <a:t> extend()</a:t>
            </a:r>
            <a:r>
              <a:rPr lang="en-US" sz="1200" b="0" baseline="0" dirty="0"/>
              <a:t>,</a:t>
            </a:r>
            <a:r>
              <a:rPr lang="en-US" sz="1200" b="1" baseline="0" dirty="0"/>
              <a:t> sort()</a:t>
            </a:r>
            <a:r>
              <a:rPr lang="en-US" sz="1200" b="0" baseline="0" dirty="0"/>
              <a:t>,</a:t>
            </a:r>
            <a:r>
              <a:rPr lang="en-US" sz="1200" b="1" baseline="0" dirty="0"/>
              <a:t> reverse() </a:t>
            </a:r>
            <a:r>
              <a:rPr lang="en-US" sz="1200" b="0" baseline="0" dirty="0"/>
              <a:t>to perform list operation:</a:t>
            </a:r>
            <a:endParaRPr lang="en-US" sz="1200" dirty="0"/>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a:latin typeface="+mn-lt"/>
              </a:rPr>
              <a:t>Step 1: Type the following code:</a:t>
            </a: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altLang="en-US" sz="1200" dirty="0">
              <a:latin typeface="+mn-lt"/>
            </a:endParaRPr>
          </a:p>
          <a:p>
            <a:r>
              <a:rPr lang="en-US" sz="1200" dirty="0"/>
              <a:t>	 </a:t>
            </a:r>
            <a:r>
              <a:rPr lang="en-US" sz="1200" dirty="0" err="1">
                <a:latin typeface="+mn-lt"/>
              </a:rPr>
              <a:t>def</a:t>
            </a:r>
            <a:r>
              <a:rPr lang="en-US" sz="1200" dirty="0">
                <a:latin typeface="+mn-lt"/>
              </a:rPr>
              <a:t> </a:t>
            </a:r>
            <a:r>
              <a:rPr lang="en-US" sz="1200" dirty="0" err="1">
                <a:latin typeface="+mn-lt"/>
              </a:rPr>
              <a:t>insertList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item=</a:t>
            </a:r>
            <a:r>
              <a:rPr lang="en-US" sz="1200" dirty="0" err="1">
                <a:latin typeface="+mn-lt"/>
              </a:rPr>
              <a:t>raw_input</a:t>
            </a:r>
            <a:r>
              <a:rPr lang="en-US" sz="1200" dirty="0">
                <a:latin typeface="+mn-lt"/>
              </a:rPr>
              <a:t>("Enter an item to the list: ")</a:t>
            </a:r>
          </a:p>
          <a:p>
            <a:r>
              <a:rPr lang="en-US" sz="1200" dirty="0">
                <a:latin typeface="+mn-lt"/>
              </a:rPr>
              <a:t>    		</a:t>
            </a:r>
            <a:r>
              <a:rPr lang="en-US" sz="1200" dirty="0" err="1">
                <a:latin typeface="+mn-lt"/>
              </a:rPr>
              <a:t>nameList.append</a:t>
            </a:r>
            <a:r>
              <a:rPr lang="en-US" sz="1200" dirty="0">
                <a:latin typeface="+mn-lt"/>
              </a:rPr>
              <a:t>(item)</a:t>
            </a:r>
          </a:p>
          <a:p>
            <a:endParaRPr lang="en-US" sz="1200" dirty="0">
              <a:latin typeface="+mn-lt"/>
            </a:endParaRPr>
          </a:p>
          <a:p>
            <a:r>
              <a:rPr lang="en-US" sz="1200" dirty="0">
                <a:latin typeface="+mn-lt"/>
              </a:rPr>
              <a:t>	</a:t>
            </a:r>
            <a:r>
              <a:rPr lang="en-US" sz="1200" dirty="0" err="1">
                <a:latin typeface="+mn-lt"/>
              </a:rPr>
              <a:t>def</a:t>
            </a:r>
            <a:r>
              <a:rPr lang="en-US" sz="1200" dirty="0">
                <a:latin typeface="+mn-lt"/>
              </a:rPr>
              <a:t> </a:t>
            </a:r>
            <a:r>
              <a:rPr lang="en-US" sz="1200" dirty="0" err="1">
                <a:latin typeface="+mn-lt"/>
              </a:rPr>
              <a:t>removeList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item=</a:t>
            </a:r>
            <a:r>
              <a:rPr lang="en-US" sz="1200" dirty="0" err="1">
                <a:latin typeface="+mn-lt"/>
              </a:rPr>
              <a:t>raw_input</a:t>
            </a:r>
            <a:r>
              <a:rPr lang="en-US" sz="1200" dirty="0">
                <a:latin typeface="+mn-lt"/>
              </a:rPr>
              <a:t>("Enter an item you want to remove from the list: ")</a:t>
            </a:r>
          </a:p>
          <a:p>
            <a:r>
              <a:rPr lang="en-US" sz="1200" dirty="0">
                <a:latin typeface="+mn-lt"/>
              </a:rPr>
              <a:t>    		</a:t>
            </a:r>
            <a:r>
              <a:rPr lang="en-US" sz="1200" dirty="0" err="1">
                <a:latin typeface="+mn-lt"/>
              </a:rPr>
              <a:t>nameList.remove</a:t>
            </a:r>
            <a:r>
              <a:rPr lang="en-US" sz="1200" dirty="0">
                <a:latin typeface="+mn-lt"/>
              </a:rPr>
              <a:t>(item)</a:t>
            </a:r>
          </a:p>
          <a:p>
            <a:endParaRPr lang="en-US" sz="1200" dirty="0">
              <a:latin typeface="+mn-lt"/>
            </a:endParaRPr>
          </a:p>
          <a:p>
            <a:r>
              <a:rPr lang="en-US" sz="1200" dirty="0">
                <a:latin typeface="+mn-lt"/>
              </a:rPr>
              <a:t>	</a:t>
            </a:r>
            <a:r>
              <a:rPr lang="en-US" sz="1200" dirty="0" err="1">
                <a:latin typeface="+mn-lt"/>
              </a:rPr>
              <a:t>def</a:t>
            </a:r>
            <a:r>
              <a:rPr lang="en-US" sz="1200" dirty="0">
                <a:latin typeface="+mn-lt"/>
              </a:rPr>
              <a:t> </a:t>
            </a:r>
            <a:r>
              <a:rPr lang="en-US" sz="1200" dirty="0" err="1">
                <a:latin typeface="+mn-lt"/>
              </a:rPr>
              <a:t>sortList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nameList.sort</a:t>
            </a:r>
            <a:r>
              <a:rPr lang="en-US" sz="1200" dirty="0">
                <a:latin typeface="+mn-lt"/>
              </a:rPr>
              <a:t>()</a:t>
            </a:r>
          </a:p>
          <a:p>
            <a:r>
              <a:rPr lang="en-US" sz="1200" dirty="0">
                <a:latin typeface="+mn-lt"/>
              </a:rPr>
              <a:t>	</a:t>
            </a:r>
          </a:p>
          <a:p>
            <a:r>
              <a:rPr lang="en-US" sz="1200" dirty="0">
                <a:latin typeface="+mn-lt"/>
              </a:rPr>
              <a:t>	</a:t>
            </a:r>
            <a:r>
              <a:rPr lang="en-US" sz="1200" dirty="0" err="1">
                <a:latin typeface="+mn-lt"/>
              </a:rPr>
              <a:t>def</a:t>
            </a:r>
            <a:r>
              <a:rPr lang="en-US" sz="1200" dirty="0">
                <a:latin typeface="+mn-lt"/>
              </a:rPr>
              <a:t> </a:t>
            </a:r>
            <a:r>
              <a:rPr lang="en-US" sz="1200" dirty="0" err="1">
                <a:latin typeface="+mn-lt"/>
              </a:rPr>
              <a:t>showList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for item in </a:t>
            </a:r>
            <a:r>
              <a:rPr lang="en-US" sz="1200" dirty="0" err="1">
                <a:latin typeface="+mn-lt"/>
              </a:rPr>
              <a:t>nameList</a:t>
            </a:r>
            <a:r>
              <a:rPr lang="en-US" sz="1200" dirty="0">
                <a:latin typeface="+mn-lt"/>
              </a:rPr>
              <a:t>:</a:t>
            </a:r>
          </a:p>
          <a:p>
            <a:r>
              <a:rPr lang="en-US" sz="1200" dirty="0">
                <a:latin typeface="+mn-lt"/>
              </a:rPr>
              <a:t>        			print(item)</a:t>
            </a:r>
          </a:p>
          <a:p>
            <a:endParaRPr lang="en-US" sz="1200" dirty="0">
              <a:latin typeface="+mn-lt"/>
            </a:endParaRPr>
          </a:p>
          <a:p>
            <a:r>
              <a:rPr lang="en-US" sz="1200" dirty="0">
                <a:latin typeface="+mn-lt"/>
              </a:rPr>
              <a:t>	</a:t>
            </a:r>
            <a:r>
              <a:rPr lang="en-US" sz="1200" dirty="0" err="1">
                <a:latin typeface="+mn-lt"/>
              </a:rPr>
              <a:t>def</a:t>
            </a:r>
            <a:r>
              <a:rPr lang="en-US" sz="1200" dirty="0">
                <a:latin typeface="+mn-lt"/>
              </a:rPr>
              <a:t> </a:t>
            </a:r>
            <a:r>
              <a:rPr lang="en-US" sz="1200" dirty="0" err="1">
                <a:latin typeface="+mn-lt"/>
              </a:rPr>
              <a:t>extendList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nameList1=[23,34,35]</a:t>
            </a:r>
          </a:p>
          <a:p>
            <a:r>
              <a:rPr lang="en-US" sz="1200" dirty="0">
                <a:latin typeface="+mn-lt"/>
              </a:rPr>
              <a:t>    		</a:t>
            </a:r>
            <a:r>
              <a:rPr lang="en-US" sz="1200" dirty="0" err="1">
                <a:latin typeface="+mn-lt"/>
              </a:rPr>
              <a:t>nameList.extend</a:t>
            </a:r>
            <a:r>
              <a:rPr lang="en-US" sz="1200" dirty="0">
                <a:latin typeface="+mn-lt"/>
              </a:rPr>
              <a:t>(nameList1)</a:t>
            </a:r>
          </a:p>
          <a:p>
            <a:endParaRPr lang="en-US" sz="1200" dirty="0">
              <a:latin typeface="+mn-lt"/>
            </a:endParaRPr>
          </a:p>
          <a:p>
            <a:r>
              <a:rPr lang="en-US" sz="1200" dirty="0">
                <a:latin typeface="+mn-lt"/>
              </a:rPr>
              <a:t>	</a:t>
            </a:r>
            <a:r>
              <a:rPr lang="en-US" sz="1200" dirty="0" err="1">
                <a:latin typeface="+mn-lt"/>
              </a:rPr>
              <a:t>def</a:t>
            </a:r>
            <a:r>
              <a:rPr lang="en-US" sz="1200" dirty="0">
                <a:latin typeface="+mn-lt"/>
              </a:rPr>
              <a:t> </a:t>
            </a:r>
            <a:r>
              <a:rPr lang="en-US" sz="1200" dirty="0" err="1">
                <a:latin typeface="+mn-lt"/>
              </a:rPr>
              <a:t>reverseList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nameList.reverse</a:t>
            </a:r>
            <a:r>
              <a:rPr lang="en-US" sz="1200" dirty="0">
                <a:latin typeface="+mn-lt"/>
              </a:rPr>
              <a:t>()</a:t>
            </a:r>
          </a:p>
          <a:p>
            <a:r>
              <a:rPr lang="en-US" sz="1200" dirty="0">
                <a:latin typeface="+mn-lt"/>
              </a:rPr>
              <a:t>	</a:t>
            </a:r>
            <a:r>
              <a:rPr lang="en-US" sz="1200" dirty="0" err="1">
                <a:latin typeface="+mn-lt"/>
              </a:rPr>
              <a:t>def</a:t>
            </a:r>
            <a:r>
              <a:rPr lang="en-US" sz="1200" dirty="0">
                <a:latin typeface="+mn-lt"/>
              </a:rPr>
              <a:t> </a:t>
            </a:r>
            <a:r>
              <a:rPr lang="en-US" sz="1200" dirty="0" err="1">
                <a:latin typeface="+mn-lt"/>
              </a:rPr>
              <a:t>quitList</a:t>
            </a:r>
            <a:r>
              <a:rPr lang="en-US" sz="1200" dirty="0">
                <a:latin typeface="+mn-lt"/>
              </a:rPr>
              <a:t>():</a:t>
            </a:r>
          </a:p>
          <a:p>
            <a:r>
              <a:rPr lang="en-US" sz="1200" dirty="0">
                <a:latin typeface="+mn-lt"/>
              </a:rPr>
              <a:t>    		exit()</a:t>
            </a:r>
          </a:p>
          <a:p>
            <a:r>
              <a:rPr lang="en-US" sz="1200" dirty="0">
                <a:latin typeface="+mn-lt"/>
              </a:rPr>
              <a:t>    </a:t>
            </a:r>
          </a:p>
          <a:p>
            <a:r>
              <a:rPr lang="en-US" sz="1200" dirty="0">
                <a:latin typeface="+mn-lt"/>
              </a:rPr>
              <a:t>	</a:t>
            </a:r>
            <a:r>
              <a:rPr lang="en-US" sz="1200" dirty="0" err="1">
                <a:latin typeface="+mn-lt"/>
              </a:rPr>
              <a:t>nameList</a:t>
            </a:r>
            <a:r>
              <a:rPr lang="en-US" sz="1200" dirty="0">
                <a:latin typeface="+mn-lt"/>
              </a:rPr>
              <a:t>=[]</a:t>
            </a:r>
          </a:p>
          <a:p>
            <a:r>
              <a:rPr lang="en-US" sz="1200" dirty="0">
                <a:latin typeface="+mn-lt"/>
              </a:rPr>
              <a:t>	while("true"):</a:t>
            </a:r>
          </a:p>
          <a:p>
            <a:r>
              <a:rPr lang="en-US" sz="1200" dirty="0">
                <a:latin typeface="+mn-lt"/>
              </a:rPr>
              <a:t>    		print("1. Insert an item into List.")</a:t>
            </a:r>
          </a:p>
          <a:p>
            <a:r>
              <a:rPr lang="en-US" sz="1200" dirty="0">
                <a:latin typeface="+mn-lt"/>
              </a:rPr>
              <a:t>    		print("2. Remove an item from List.")</a:t>
            </a:r>
          </a:p>
          <a:p>
            <a:r>
              <a:rPr lang="en-US" sz="1200" dirty="0">
                <a:latin typeface="+mn-lt"/>
              </a:rPr>
              <a:t>    		print("3. Sort items of List.")</a:t>
            </a:r>
          </a:p>
          <a:p>
            <a:r>
              <a:rPr lang="en-US" sz="1200" dirty="0">
                <a:latin typeface="+mn-lt"/>
              </a:rPr>
              <a:t>    		print("4. Extend List.")</a:t>
            </a:r>
          </a:p>
          <a:p>
            <a:r>
              <a:rPr lang="en-US" sz="1200" dirty="0">
                <a:latin typeface="+mn-lt"/>
              </a:rPr>
              <a:t>    		print("5. Reverse List.")</a:t>
            </a:r>
          </a:p>
          <a:p>
            <a:r>
              <a:rPr lang="en-US" sz="1200" dirty="0">
                <a:latin typeface="+mn-lt"/>
              </a:rPr>
              <a:t>    		print("6. Display items from List.")</a:t>
            </a:r>
          </a:p>
          <a:p>
            <a:r>
              <a:rPr lang="en-US" sz="1200" dirty="0">
                <a:latin typeface="+mn-lt"/>
              </a:rPr>
              <a:t>    		print("7. Quit.")</a:t>
            </a:r>
          </a:p>
          <a:p>
            <a:r>
              <a:rPr lang="en-US" sz="1200" dirty="0">
                <a:latin typeface="+mn-lt"/>
              </a:rPr>
              <a:t>    		</a:t>
            </a:r>
            <a:r>
              <a:rPr lang="en-US" sz="1200" dirty="0" err="1">
                <a:latin typeface="+mn-lt"/>
              </a:rPr>
              <a:t>numC</a:t>
            </a:r>
            <a:r>
              <a:rPr lang="en-US" sz="1200" dirty="0">
                <a:latin typeface="+mn-lt"/>
              </a:rPr>
              <a:t>=</a:t>
            </a:r>
            <a:r>
              <a:rPr lang="en-US" sz="1200" dirty="0" err="1">
                <a:latin typeface="+mn-lt"/>
              </a:rPr>
              <a:t>raw_input</a:t>
            </a:r>
            <a:r>
              <a:rPr lang="en-US" sz="1200" dirty="0">
                <a:latin typeface="+mn-lt"/>
              </a:rPr>
              <a:t>("Enter your option: ")</a:t>
            </a:r>
          </a:p>
          <a:p>
            <a:r>
              <a:rPr lang="en-US" sz="1200" dirty="0">
                <a:latin typeface="+mn-lt"/>
              </a:rPr>
              <a:t>    		</a:t>
            </a:r>
            <a:r>
              <a:rPr lang="en-US" sz="1200" dirty="0" err="1">
                <a:latin typeface="+mn-lt"/>
              </a:rPr>
              <a:t>num</a:t>
            </a:r>
            <a:r>
              <a:rPr lang="en-US" sz="1200" dirty="0">
                <a:latin typeface="+mn-lt"/>
              </a:rPr>
              <a:t>=</a:t>
            </a:r>
            <a:r>
              <a:rPr lang="en-US" sz="1200" dirty="0" err="1">
                <a:latin typeface="+mn-lt"/>
              </a:rPr>
              <a:t>int</a:t>
            </a:r>
            <a:r>
              <a:rPr lang="en-US" sz="1200" dirty="0">
                <a:latin typeface="+mn-lt"/>
              </a:rPr>
              <a:t>(</a:t>
            </a:r>
            <a:r>
              <a:rPr lang="en-US" sz="1200" dirty="0" err="1">
                <a:latin typeface="+mn-lt"/>
              </a:rPr>
              <a:t>numC</a:t>
            </a:r>
            <a:r>
              <a:rPr lang="en-US" sz="1200" dirty="0">
                <a:latin typeface="+mn-lt"/>
              </a:rPr>
              <a:t>)</a:t>
            </a:r>
          </a:p>
          <a:p>
            <a:r>
              <a:rPr lang="en-US" sz="1200" dirty="0">
                <a:latin typeface="+mn-lt"/>
              </a:rPr>
              <a:t>    		if(</a:t>
            </a:r>
            <a:r>
              <a:rPr lang="en-US" sz="1200" dirty="0" err="1">
                <a:latin typeface="+mn-lt"/>
              </a:rPr>
              <a:t>num</a:t>
            </a:r>
            <a:r>
              <a:rPr lang="en-US" sz="1200" dirty="0">
                <a:latin typeface="+mn-lt"/>
              </a:rPr>
              <a:t>==1):</a:t>
            </a:r>
          </a:p>
          <a:p>
            <a:r>
              <a:rPr lang="en-US" sz="1200" dirty="0">
                <a:latin typeface="+mn-lt"/>
              </a:rPr>
              <a:t>       			 </a:t>
            </a:r>
            <a:r>
              <a:rPr lang="en-US" sz="1200" dirty="0" err="1">
                <a:latin typeface="+mn-lt"/>
              </a:rPr>
              <a:t>insertList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==2):</a:t>
            </a:r>
          </a:p>
          <a:p>
            <a:r>
              <a:rPr lang="en-US" sz="1200" dirty="0">
                <a:latin typeface="+mn-lt"/>
              </a:rPr>
              <a:t>        			</a:t>
            </a:r>
            <a:r>
              <a:rPr lang="en-US" sz="1200" dirty="0" err="1">
                <a:latin typeface="+mn-lt"/>
              </a:rPr>
              <a:t>removeList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==3):</a:t>
            </a:r>
          </a:p>
          <a:p>
            <a:r>
              <a:rPr lang="en-US" sz="1200" dirty="0">
                <a:latin typeface="+mn-lt"/>
              </a:rPr>
              <a:t>        			</a:t>
            </a:r>
            <a:r>
              <a:rPr lang="en-US" sz="1200" dirty="0" err="1">
                <a:latin typeface="+mn-lt"/>
              </a:rPr>
              <a:t>sortList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==4):</a:t>
            </a:r>
          </a:p>
          <a:p>
            <a:r>
              <a:rPr lang="en-US" sz="1200" dirty="0">
                <a:latin typeface="+mn-lt"/>
              </a:rPr>
              <a:t>       			</a:t>
            </a:r>
            <a:r>
              <a:rPr lang="en-US" sz="1200" dirty="0" err="1">
                <a:latin typeface="+mn-lt"/>
              </a:rPr>
              <a:t>extendList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==5):</a:t>
            </a:r>
          </a:p>
          <a:p>
            <a:r>
              <a:rPr lang="en-US" sz="1200" dirty="0">
                <a:latin typeface="+mn-lt"/>
              </a:rPr>
              <a:t>        			</a:t>
            </a:r>
            <a:r>
              <a:rPr lang="en-US" sz="1200" dirty="0" err="1">
                <a:latin typeface="+mn-lt"/>
              </a:rPr>
              <a:t>reverseList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==6):</a:t>
            </a:r>
          </a:p>
          <a:p>
            <a:r>
              <a:rPr lang="en-US" sz="1200" dirty="0">
                <a:latin typeface="+mn-lt"/>
              </a:rPr>
              <a:t>        			</a:t>
            </a:r>
            <a:r>
              <a:rPr lang="en-US" sz="1200" dirty="0" err="1">
                <a:latin typeface="+mn-lt"/>
              </a:rPr>
              <a:t>showList</a:t>
            </a:r>
            <a:r>
              <a:rPr lang="en-US" sz="1200" dirty="0">
                <a:latin typeface="+mn-lt"/>
              </a:rPr>
              <a:t>(</a:t>
            </a:r>
            <a:r>
              <a:rPr lang="en-US" sz="1200" dirty="0" err="1">
                <a:latin typeface="+mn-lt"/>
              </a:rPr>
              <a:t>nameList</a:t>
            </a:r>
            <a:r>
              <a:rPr lang="en-US" sz="1200" dirty="0">
                <a:latin typeface="+mn-lt"/>
              </a:rPr>
              <a:t>)</a:t>
            </a:r>
          </a:p>
          <a:p>
            <a:r>
              <a:rPr lang="en-US" sz="1200" dirty="0">
                <a:latin typeface="+mn-lt"/>
              </a:rPr>
              <a:t>    		</a:t>
            </a:r>
            <a:r>
              <a:rPr lang="en-US" sz="1200" dirty="0" err="1">
                <a:latin typeface="+mn-lt"/>
              </a:rPr>
              <a:t>elif</a:t>
            </a:r>
            <a:r>
              <a:rPr lang="en-US" sz="1200" dirty="0">
                <a:latin typeface="+mn-lt"/>
              </a:rPr>
              <a:t>(</a:t>
            </a:r>
            <a:r>
              <a:rPr lang="en-US" sz="1200" dirty="0" err="1">
                <a:latin typeface="+mn-lt"/>
              </a:rPr>
              <a:t>num</a:t>
            </a:r>
            <a:r>
              <a:rPr lang="en-US" sz="1200" dirty="0">
                <a:latin typeface="+mn-lt"/>
              </a:rPr>
              <a:t>==7):</a:t>
            </a:r>
          </a:p>
          <a:p>
            <a:r>
              <a:rPr lang="en-US" sz="1200" dirty="0">
                <a:latin typeface="+mn-lt"/>
              </a:rPr>
              <a:t>        			quit()</a:t>
            </a:r>
          </a:p>
          <a:p>
            <a:endParaRPr lang="en-US" altLang="en-US" sz="1200" dirty="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a:latin typeface="+mn-lt"/>
              </a:rPr>
              <a:t>Step</a:t>
            </a:r>
            <a:r>
              <a:rPr lang="en-US" altLang="en-US" sz="1200" baseline="0" dirty="0">
                <a:latin typeface="+mn-lt"/>
              </a:rPr>
              <a:t> 2</a:t>
            </a:r>
            <a:r>
              <a:rPr lang="en-US" altLang="en-US" sz="1200" dirty="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fld id="{35091714-3304-44AF-AABA-9711959465C3}" type="slidenum">
              <a:rPr lang="en-US" smtClean="0"/>
              <a:t>11</a:t>
            </a:fld>
            <a:endParaRPr lang="en-US"/>
          </a:p>
        </p:txBody>
      </p:sp>
    </p:spTree>
    <p:extLst>
      <p:ext uri="{BB962C8B-B14F-4D97-AF65-F5344CB8AC3E}">
        <p14:creationId xmlns:p14="http://schemas.microsoft.com/office/powerpoint/2010/main" val="3711784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6600CC"/>
                </a:solidFill>
              </a:rPr>
              <a:t>We know that obj1 and obj2 both refer to a string, but we don't know whether they refer to the same string. To check whether two variables refer to the same object we need to use is operator.</a:t>
            </a:r>
          </a:p>
          <a:p>
            <a:pPr algn="just"/>
            <a:endParaRPr lang="en-US" dirty="0">
              <a:solidFill>
                <a:srgbClr val="9900FF"/>
              </a:solidFill>
            </a:endParaRPr>
          </a:p>
          <a:p>
            <a:pPr algn="just"/>
            <a:r>
              <a:rPr lang="en-US" dirty="0">
                <a:solidFill>
                  <a:srgbClr val="9900FF"/>
                </a:solidFill>
              </a:rPr>
              <a:t>To check whether two variables refer to the same object, we can use the is operator.  In the above program we have used the same and we received the output as True. Hence both the objects are pointing to the same string so they are identical</a:t>
            </a:r>
          </a:p>
        </p:txBody>
      </p:sp>
      <p:sp>
        <p:nvSpPr>
          <p:cNvPr id="4" name="Slide Number Placeholder 3"/>
          <p:cNvSpPr>
            <a:spLocks noGrp="1"/>
          </p:cNvSpPr>
          <p:nvPr>
            <p:ph type="sldNum" sz="quarter" idx="10"/>
          </p:nvPr>
        </p:nvSpPr>
        <p:spPr/>
        <p:txBody>
          <a:bodyPr/>
          <a:lstStyle/>
          <a:p>
            <a:fld id="{35091714-3304-44AF-AABA-9711959465C3}" type="slidenum">
              <a:rPr lang="en-US" smtClean="0"/>
              <a:t>12</a:t>
            </a:fld>
            <a:endParaRPr lang="en-US"/>
          </a:p>
        </p:txBody>
      </p:sp>
    </p:spTree>
    <p:extLst>
      <p:ext uri="{BB962C8B-B14F-4D97-AF65-F5344CB8AC3E}">
        <p14:creationId xmlns:p14="http://schemas.microsoft.com/office/powerpoint/2010/main" val="4107410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In this case we would say that the two lists are equivalent, because they have the same elements, but not identical, because they are not the same object. If two objects are identical, they are also equivalent, but if they are equivalent, they are not necessarily identical.</a:t>
            </a:r>
          </a:p>
          <a:p>
            <a:pPr algn="just"/>
            <a:endParaRPr lang="en-US" dirty="0">
              <a:solidFill>
                <a:srgbClr val="9900FF"/>
              </a:solidFill>
            </a:endParaRPr>
          </a:p>
          <a:p>
            <a:pPr algn="just"/>
            <a:r>
              <a:rPr lang="en-US" dirty="0">
                <a:solidFill>
                  <a:srgbClr val="9900FF"/>
                </a:solidFill>
              </a:rPr>
              <a:t>Until now, we have been using “object” and “value” interchangeably, but it is more precise to say that an object has a value. If you execute obj1 = [10,20,30], obj1 refers to a list object whose value is a particular sequence of elements. If another list has the same elements, we would say it has the same value.</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13</a:t>
            </a:fld>
            <a:endParaRPr lang="en-US"/>
          </a:p>
        </p:txBody>
      </p:sp>
    </p:spTree>
    <p:extLst>
      <p:ext uri="{BB962C8B-B14F-4D97-AF65-F5344CB8AC3E}">
        <p14:creationId xmlns:p14="http://schemas.microsoft.com/office/powerpoint/2010/main" val="1586104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14909" indent="-285750"/>
            <a:r>
              <a:rPr lang="en-US" altLang="en-US" dirty="0">
                <a:solidFill>
                  <a:srgbClr val="6600CC"/>
                </a:solidFill>
              </a:rPr>
              <a:t>Aliased object is mutable then changes made with one alias affect the other.</a:t>
            </a:r>
            <a:r>
              <a:rPr lang="en-US" altLang="en-US" baseline="0" dirty="0">
                <a:solidFill>
                  <a:srgbClr val="6600CC"/>
                </a:solidFill>
              </a:rPr>
              <a:t> </a:t>
            </a:r>
            <a:r>
              <a:rPr lang="en-US" altLang="en-US" dirty="0">
                <a:solidFill>
                  <a:srgbClr val="6600CC"/>
                </a:solidFill>
              </a:rPr>
              <a:t>This behavior can be useful at the same time error-prone.</a:t>
            </a:r>
          </a:p>
          <a:p>
            <a:pPr marL="414909" indent="-285750"/>
            <a:endParaRPr lang="en-US" altLang="en-US" dirty="0">
              <a:solidFill>
                <a:srgbClr val="6600CC"/>
              </a:solidFill>
            </a:endParaRPr>
          </a:p>
          <a:p>
            <a:pPr marL="414909" indent="-285750"/>
            <a:r>
              <a:rPr lang="en-US" altLang="en-US" dirty="0">
                <a:solidFill>
                  <a:srgbClr val="6600CC"/>
                </a:solidFill>
              </a:rPr>
              <a:t>It is safer to avoid aliasing when we are working with mutable object.</a:t>
            </a:r>
            <a:r>
              <a:rPr lang="en-US" altLang="en-US" baseline="0" dirty="0">
                <a:solidFill>
                  <a:srgbClr val="6600CC"/>
                </a:solidFill>
              </a:rPr>
              <a:t> </a:t>
            </a:r>
            <a:r>
              <a:rPr lang="en-US" altLang="en-US" dirty="0">
                <a:solidFill>
                  <a:srgbClr val="6600CC"/>
                </a:solidFill>
              </a:rPr>
              <a:t>String is an immutable object where aliasing is not a problem.</a:t>
            </a:r>
            <a:endParaRPr lang="en-US" altLang="en-US" b="1" dirty="0">
              <a:solidFill>
                <a:srgbClr val="6600CC"/>
              </a:solidFill>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14</a:t>
            </a:fld>
            <a:endParaRPr lang="en-US"/>
          </a:p>
        </p:txBody>
      </p:sp>
    </p:spTree>
    <p:extLst>
      <p:ext uri="{BB962C8B-B14F-4D97-AF65-F5344CB8AC3E}">
        <p14:creationId xmlns:p14="http://schemas.microsoft.com/office/powerpoint/2010/main" val="3371827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When you pass a list to a function, the function gets a reference to the list. If the function modifies a list parameter, the caller sees the change. In the above  example, </a:t>
            </a:r>
            <a:r>
              <a:rPr lang="en-US" dirty="0" err="1">
                <a:solidFill>
                  <a:srgbClr val="9900FF"/>
                </a:solidFill>
              </a:rPr>
              <a:t>delete_head</a:t>
            </a:r>
            <a:r>
              <a:rPr lang="en-US" dirty="0">
                <a:solidFill>
                  <a:srgbClr val="9900FF"/>
                </a:solidFill>
              </a:rPr>
              <a:t>() method removes the first element from a list.</a:t>
            </a:r>
          </a:p>
          <a:p>
            <a:pPr algn="just"/>
            <a:endParaRPr lang="en-US" dirty="0">
              <a:solidFill>
                <a:srgbClr val="9900FF"/>
              </a:solidFill>
            </a:endParaRPr>
          </a:p>
          <a:p>
            <a:pPr algn="just"/>
            <a:r>
              <a:rPr lang="en-US" dirty="0">
                <a:solidFill>
                  <a:srgbClr val="9900FF"/>
                </a:solidFill>
              </a:rPr>
              <a:t>The parameter </a:t>
            </a:r>
            <a:r>
              <a:rPr lang="en-US" dirty="0" err="1">
                <a:solidFill>
                  <a:srgbClr val="9900FF"/>
                </a:solidFill>
              </a:rPr>
              <a:t>val</a:t>
            </a:r>
            <a:r>
              <a:rPr lang="en-US" dirty="0">
                <a:solidFill>
                  <a:srgbClr val="9900FF"/>
                </a:solidFill>
              </a:rPr>
              <a:t> and the variable </a:t>
            </a:r>
            <a:r>
              <a:rPr lang="en-US" dirty="0" err="1">
                <a:solidFill>
                  <a:srgbClr val="9900FF"/>
                </a:solidFill>
              </a:rPr>
              <a:t>mylist</a:t>
            </a:r>
            <a:r>
              <a:rPr lang="en-US" dirty="0">
                <a:solidFill>
                  <a:srgbClr val="9900FF"/>
                </a:solidFill>
              </a:rPr>
              <a:t> are aliases for the same object.</a:t>
            </a:r>
          </a:p>
        </p:txBody>
      </p:sp>
      <p:sp>
        <p:nvSpPr>
          <p:cNvPr id="4" name="Slide Number Placeholder 3"/>
          <p:cNvSpPr>
            <a:spLocks noGrp="1"/>
          </p:cNvSpPr>
          <p:nvPr>
            <p:ph type="sldNum" sz="quarter" idx="10"/>
          </p:nvPr>
        </p:nvSpPr>
        <p:spPr/>
        <p:txBody>
          <a:bodyPr/>
          <a:lstStyle/>
          <a:p>
            <a:fld id="{35091714-3304-44AF-AABA-9711959465C3}" type="slidenum">
              <a:rPr lang="en-US" smtClean="0"/>
              <a:t>15</a:t>
            </a:fld>
            <a:endParaRPr lang="en-US"/>
          </a:p>
        </p:txBody>
      </p:sp>
    </p:spTree>
    <p:extLst>
      <p:ext uri="{BB962C8B-B14F-4D97-AF65-F5344CB8AC3E}">
        <p14:creationId xmlns:p14="http://schemas.microsoft.com/office/powerpoint/2010/main" val="3332064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p>
          <a:p>
            <a:r>
              <a:rPr lang="en-US" dirty="0"/>
              <a:t>Split</a:t>
            </a:r>
          </a:p>
        </p:txBody>
      </p:sp>
      <p:sp>
        <p:nvSpPr>
          <p:cNvPr id="4" name="Slide Number Placeholder 3"/>
          <p:cNvSpPr>
            <a:spLocks noGrp="1"/>
          </p:cNvSpPr>
          <p:nvPr>
            <p:ph type="sldNum" sz="quarter" idx="10"/>
          </p:nvPr>
        </p:nvSpPr>
        <p:spPr/>
        <p:txBody>
          <a:bodyPr/>
          <a:lstStyle/>
          <a:p>
            <a:fld id="{35091714-3304-44AF-AABA-9711959465C3}" type="slidenum">
              <a:rPr lang="en-US" smtClean="0"/>
              <a:t>16</a:t>
            </a:fld>
            <a:endParaRPr lang="en-US" dirty="0"/>
          </a:p>
        </p:txBody>
      </p:sp>
    </p:spTree>
    <p:extLst>
      <p:ext uri="{BB962C8B-B14F-4D97-AF65-F5344CB8AC3E}">
        <p14:creationId xmlns:p14="http://schemas.microsoft.com/office/powerpoint/2010/main" val="2046449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p>
          <a:p>
            <a:r>
              <a:rPr lang="en-US" dirty="0"/>
              <a:t>Split</a:t>
            </a:r>
          </a:p>
        </p:txBody>
      </p:sp>
      <p:sp>
        <p:nvSpPr>
          <p:cNvPr id="4" name="Slide Number Placeholder 3"/>
          <p:cNvSpPr>
            <a:spLocks noGrp="1"/>
          </p:cNvSpPr>
          <p:nvPr>
            <p:ph type="sldNum" sz="quarter" idx="10"/>
          </p:nvPr>
        </p:nvSpPr>
        <p:spPr/>
        <p:txBody>
          <a:bodyPr/>
          <a:lstStyle/>
          <a:p>
            <a:fld id="{35091714-3304-44AF-AABA-9711959465C3}" type="slidenum">
              <a:rPr lang="en-US" smtClean="0"/>
              <a:t>17</a:t>
            </a:fld>
            <a:endParaRPr lang="en-US" dirty="0"/>
          </a:p>
        </p:txBody>
      </p:sp>
    </p:spTree>
    <p:extLst>
      <p:ext uri="{BB962C8B-B14F-4D97-AF65-F5344CB8AC3E}">
        <p14:creationId xmlns:p14="http://schemas.microsoft.com/office/powerpoint/2010/main" val="2046449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A dictionary is like a list, but more general. In a list, the index positions have to be integer but in a dictionary, the indices can be (almost) any type.</a:t>
            </a:r>
          </a:p>
          <a:p>
            <a:pPr algn="just"/>
            <a:endParaRPr lang="en-US" dirty="0">
              <a:solidFill>
                <a:srgbClr val="9900FF"/>
              </a:solidFill>
            </a:endParaRPr>
          </a:p>
          <a:p>
            <a:pPr algn="just"/>
            <a:r>
              <a:rPr lang="en-US" dirty="0">
                <a:solidFill>
                  <a:srgbClr val="9900FF"/>
                </a:solidFill>
              </a:rPr>
              <a:t>We can think of a dictionary as a mapping between a set of indices (which are called keys) and a set of values. Each key maps to a value. The association of a key and a value is called a key-value pair or sometimes an item.</a:t>
            </a:r>
          </a:p>
          <a:p>
            <a:pPr algn="just"/>
            <a:endParaRPr lang="en-US" dirty="0">
              <a:solidFill>
                <a:srgbClr val="9900FF"/>
              </a:solidFill>
            </a:endParaRPr>
          </a:p>
          <a:p>
            <a:pPr algn="just"/>
            <a:r>
              <a:rPr lang="en-US" dirty="0">
                <a:solidFill>
                  <a:srgbClr val="9900FF"/>
                </a:solidFill>
              </a:rPr>
              <a:t>The function </a:t>
            </a:r>
            <a:r>
              <a:rPr lang="en-US" dirty="0" err="1">
                <a:solidFill>
                  <a:srgbClr val="9900FF"/>
                </a:solidFill>
              </a:rPr>
              <a:t>dict</a:t>
            </a:r>
            <a:r>
              <a:rPr lang="en-US" dirty="0">
                <a:solidFill>
                  <a:srgbClr val="9900FF"/>
                </a:solidFill>
              </a:rPr>
              <a:t>() creates a new dictionary with no items. Because </a:t>
            </a:r>
            <a:r>
              <a:rPr lang="en-US" dirty="0" err="1">
                <a:solidFill>
                  <a:srgbClr val="9900FF"/>
                </a:solidFill>
              </a:rPr>
              <a:t>dict</a:t>
            </a:r>
            <a:r>
              <a:rPr lang="en-US" dirty="0">
                <a:solidFill>
                  <a:srgbClr val="9900FF"/>
                </a:solidFill>
              </a:rPr>
              <a:t>() is the name of a built-in function, we should avoid using it as a variable name.</a:t>
            </a:r>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59071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19</a:t>
            </a:fld>
            <a:endParaRPr lang="en-US"/>
          </a:p>
        </p:txBody>
      </p:sp>
    </p:spTree>
    <p:extLst>
      <p:ext uri="{BB962C8B-B14F-4D97-AF65-F5344CB8AC3E}">
        <p14:creationId xmlns:p14="http://schemas.microsoft.com/office/powerpoint/2010/main" val="12707216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 curly brackets, {}, represent an empty dictionary. To add items to the dictionary, we can use square brackets.</a:t>
            </a:r>
          </a:p>
          <a:p>
            <a:pPr algn="just"/>
            <a:r>
              <a:rPr lang="en-US" dirty="0">
                <a:solidFill>
                  <a:srgbClr val="9900FF"/>
                </a:solidFill>
              </a:rPr>
              <a:t>In the above program we have “</a:t>
            </a:r>
            <a:r>
              <a:rPr lang="en-US" dirty="0" err="1">
                <a:solidFill>
                  <a:srgbClr val="9900FF"/>
                </a:solidFill>
              </a:rPr>
              <a:t>jjj</a:t>
            </a:r>
            <a:r>
              <a:rPr lang="en-US" dirty="0">
                <a:solidFill>
                  <a:srgbClr val="9900FF"/>
                </a:solidFill>
              </a:rPr>
              <a:t>” variable is a dictionary which is having 3 values. And “</a:t>
            </a:r>
            <a:r>
              <a:rPr lang="en-US" dirty="0" err="1">
                <a:solidFill>
                  <a:srgbClr val="9900FF"/>
                </a:solidFill>
              </a:rPr>
              <a:t>ooo</a:t>
            </a:r>
            <a:r>
              <a:rPr lang="en-US" dirty="0">
                <a:solidFill>
                  <a:srgbClr val="9900FF"/>
                </a:solidFill>
              </a:rPr>
              <a:t>” variable does not have any values</a:t>
            </a:r>
            <a:r>
              <a:rPr lang="en-US" baseline="0" dirty="0">
                <a:solidFill>
                  <a:srgbClr val="9900FF"/>
                </a:solidFill>
              </a:rPr>
              <a:t> and hence an empty dictionary</a:t>
            </a:r>
            <a:endParaRPr lang="en-US" dirty="0">
              <a:solidFill>
                <a:srgbClr val="9900FF"/>
              </a:solidFill>
            </a:endParaRPr>
          </a:p>
          <a:p>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20</a:t>
            </a:fld>
            <a:endParaRPr lang="en-US"/>
          </a:p>
        </p:txBody>
      </p:sp>
    </p:spTree>
    <p:extLst>
      <p:ext uri="{BB962C8B-B14F-4D97-AF65-F5344CB8AC3E}">
        <p14:creationId xmlns:p14="http://schemas.microsoft.com/office/powerpoint/2010/main" val="1941695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 function </a:t>
            </a:r>
            <a:r>
              <a:rPr lang="en-US" dirty="0" err="1">
                <a:solidFill>
                  <a:srgbClr val="9900FF"/>
                </a:solidFill>
              </a:rPr>
              <a:t>dict</a:t>
            </a:r>
            <a:r>
              <a:rPr lang="en-US" dirty="0">
                <a:solidFill>
                  <a:srgbClr val="9900FF"/>
                </a:solidFill>
              </a:rPr>
              <a:t> creates a new dictionary with no items. Because </a:t>
            </a:r>
            <a:r>
              <a:rPr lang="en-US" dirty="0" err="1">
                <a:solidFill>
                  <a:srgbClr val="9900FF"/>
                </a:solidFill>
              </a:rPr>
              <a:t>dict</a:t>
            </a:r>
            <a:r>
              <a:rPr lang="en-US" dirty="0">
                <a:solidFill>
                  <a:srgbClr val="9900FF"/>
                </a:solidFill>
              </a:rPr>
              <a:t> is the name of a built-in function, you should avoid using it as a variable name.</a:t>
            </a:r>
          </a:p>
          <a:p>
            <a:pPr algn="just"/>
            <a:r>
              <a:rPr lang="en-US" dirty="0">
                <a:solidFill>
                  <a:srgbClr val="9900FF"/>
                </a:solidFill>
              </a:rPr>
              <a:t>&gt;&gt;&gt;eng2sp=</a:t>
            </a:r>
            <a:r>
              <a:rPr lang="en-US" dirty="0" err="1">
                <a:solidFill>
                  <a:srgbClr val="9900FF"/>
                </a:solidFill>
              </a:rPr>
              <a:t>dict</a:t>
            </a:r>
            <a:r>
              <a:rPr lang="en-US" dirty="0">
                <a:solidFill>
                  <a:srgbClr val="9900FF"/>
                </a:solidFill>
              </a:rPr>
              <a:t>()</a:t>
            </a:r>
          </a:p>
          <a:p>
            <a:pPr algn="just"/>
            <a:r>
              <a:rPr lang="en-US" dirty="0">
                <a:solidFill>
                  <a:srgbClr val="9900FF"/>
                </a:solidFill>
              </a:rPr>
              <a:t>&gt;&gt;&gt;print eng2sp</a:t>
            </a:r>
          </a:p>
          <a:p>
            <a:pPr algn="just"/>
            <a:r>
              <a:rPr lang="en-US" dirty="0">
                <a:solidFill>
                  <a:srgbClr val="9900FF"/>
                </a:solidFill>
              </a:rPr>
              <a:t>The curly brackets, {}, represent an empty dictionary. To add items to the dictionary, you can use square brackets:</a:t>
            </a:r>
          </a:p>
          <a:p>
            <a:pPr algn="just"/>
            <a:r>
              <a:rPr lang="en-US" dirty="0">
                <a:solidFill>
                  <a:srgbClr val="9900FF"/>
                </a:solidFill>
              </a:rPr>
              <a:t>&gt;&gt;&gt;eng2sp['one']='</a:t>
            </a:r>
            <a:r>
              <a:rPr lang="en-US" dirty="0" err="1">
                <a:solidFill>
                  <a:srgbClr val="9900FF"/>
                </a:solidFill>
              </a:rPr>
              <a:t>uno</a:t>
            </a:r>
            <a:r>
              <a:rPr lang="en-US" dirty="0">
                <a:solidFill>
                  <a:srgbClr val="9900FF"/>
                </a:solidFill>
              </a:rPr>
              <a:t>'</a:t>
            </a:r>
          </a:p>
          <a:p>
            <a:pPr algn="just"/>
            <a:r>
              <a:rPr lang="en-US" dirty="0">
                <a:solidFill>
                  <a:srgbClr val="9900FF"/>
                </a:solidFill>
              </a:rPr>
              <a:t>This line creates an item that maps from the key ’one’ to the value '</a:t>
            </a:r>
            <a:r>
              <a:rPr lang="en-US" dirty="0" err="1">
                <a:solidFill>
                  <a:srgbClr val="9900FF"/>
                </a:solidFill>
              </a:rPr>
              <a:t>uno</a:t>
            </a:r>
            <a:r>
              <a:rPr lang="en-US" dirty="0">
                <a:solidFill>
                  <a:srgbClr val="9900FF"/>
                </a:solidFill>
              </a:rPr>
              <a:t>'. If we print the dictionary again, we see a key-value pair with a colon between the key and value:</a:t>
            </a:r>
          </a:p>
          <a:p>
            <a:pPr algn="just"/>
            <a:r>
              <a:rPr lang="en-US" dirty="0">
                <a:solidFill>
                  <a:srgbClr val="9900FF"/>
                </a:solidFill>
              </a:rPr>
              <a:t>&gt;&gt;&gt;print eng2sp</a:t>
            </a:r>
          </a:p>
          <a:p>
            <a:pPr algn="just"/>
            <a:r>
              <a:rPr lang="en-US" dirty="0">
                <a:solidFill>
                  <a:srgbClr val="9900FF"/>
                </a:solidFill>
              </a:rPr>
              <a:t>{'one':'</a:t>
            </a:r>
            <a:r>
              <a:rPr lang="en-US" dirty="0" err="1">
                <a:solidFill>
                  <a:srgbClr val="9900FF"/>
                </a:solidFill>
              </a:rPr>
              <a:t>uno</a:t>
            </a:r>
            <a:r>
              <a:rPr lang="en-US" dirty="0">
                <a:solidFill>
                  <a:srgbClr val="9900FF"/>
                </a:solidFill>
              </a:rPr>
              <a:t>'}</a:t>
            </a:r>
          </a:p>
          <a:p>
            <a:pPr algn="just"/>
            <a:r>
              <a:rPr lang="en-US" dirty="0">
                <a:solidFill>
                  <a:srgbClr val="9900FF"/>
                </a:solidFill>
              </a:rPr>
              <a:t>This output format is also an input format. For example, you can create a new dictionary with three items:</a:t>
            </a:r>
          </a:p>
          <a:p>
            <a:pPr algn="just"/>
            <a:r>
              <a:rPr lang="en-US" dirty="0">
                <a:solidFill>
                  <a:srgbClr val="9900FF"/>
                </a:solidFill>
              </a:rPr>
              <a:t>&gt;&gt;&gt;eng2sp={'one':'</a:t>
            </a:r>
            <a:r>
              <a:rPr lang="en-US" dirty="0" err="1">
                <a:solidFill>
                  <a:srgbClr val="9900FF"/>
                </a:solidFill>
              </a:rPr>
              <a:t>uno</a:t>
            </a:r>
            <a:r>
              <a:rPr lang="en-US" dirty="0">
                <a:solidFill>
                  <a:srgbClr val="9900FF"/>
                </a:solidFill>
              </a:rPr>
              <a:t>','two':'dos','three':'</a:t>
            </a:r>
            <a:r>
              <a:rPr lang="en-US" dirty="0" err="1">
                <a:solidFill>
                  <a:srgbClr val="9900FF"/>
                </a:solidFill>
              </a:rPr>
              <a:t>tres</a:t>
            </a:r>
            <a:r>
              <a:rPr lang="en-US" dirty="0">
                <a:solidFill>
                  <a:srgbClr val="9900FF"/>
                </a:solidFill>
              </a:rPr>
              <a:t>'}</a:t>
            </a:r>
          </a:p>
          <a:p>
            <a:pPr algn="just"/>
            <a:r>
              <a:rPr lang="en-US" dirty="0">
                <a:solidFill>
                  <a:srgbClr val="9900FF"/>
                </a:solidFill>
              </a:rPr>
              <a:t>When we print the may be the following output</a:t>
            </a:r>
          </a:p>
          <a:p>
            <a:pPr algn="just"/>
            <a:r>
              <a:rPr lang="en-US" dirty="0">
                <a:solidFill>
                  <a:srgbClr val="9900FF"/>
                </a:solidFill>
              </a:rPr>
              <a:t>&gt;&gt;&gt;print eng2sp</a:t>
            </a:r>
          </a:p>
          <a:p>
            <a:pPr algn="just"/>
            <a:r>
              <a:rPr lang="en-US" dirty="0">
                <a:solidFill>
                  <a:srgbClr val="9900FF"/>
                </a:solidFill>
              </a:rPr>
              <a:t>{'one':'</a:t>
            </a:r>
            <a:r>
              <a:rPr lang="en-US" dirty="0" err="1">
                <a:solidFill>
                  <a:srgbClr val="9900FF"/>
                </a:solidFill>
              </a:rPr>
              <a:t>uno</a:t>
            </a:r>
            <a:r>
              <a:rPr lang="en-US" dirty="0">
                <a:solidFill>
                  <a:srgbClr val="9900FF"/>
                </a:solidFill>
              </a:rPr>
              <a:t>','three':'</a:t>
            </a:r>
            <a:r>
              <a:rPr lang="en-US" dirty="0" err="1">
                <a:solidFill>
                  <a:srgbClr val="9900FF"/>
                </a:solidFill>
              </a:rPr>
              <a:t>tres</a:t>
            </a:r>
            <a:r>
              <a:rPr lang="en-US" dirty="0">
                <a:solidFill>
                  <a:srgbClr val="9900FF"/>
                </a:solidFill>
              </a:rPr>
              <a:t>','</a:t>
            </a:r>
            <a:r>
              <a:rPr lang="en-US" dirty="0" err="1">
                <a:solidFill>
                  <a:srgbClr val="9900FF"/>
                </a:solidFill>
              </a:rPr>
              <a:t>two':'dos</a:t>
            </a:r>
            <a:r>
              <a:rPr lang="en-US" dirty="0">
                <a:solidFill>
                  <a:srgbClr val="9900FF"/>
                </a:solidFill>
              </a:rPr>
              <a:t>'}</a:t>
            </a:r>
          </a:p>
          <a:p>
            <a:pPr algn="just"/>
            <a:r>
              <a:rPr lang="en-US" dirty="0">
                <a:solidFill>
                  <a:srgbClr val="9900FF"/>
                </a:solidFill>
              </a:rPr>
              <a:t>The order of the key-value pairs is not the same. If we type the same example on another computer we might get other results. So in general the order of items of dictionary is unpredictable.</a:t>
            </a:r>
          </a:p>
          <a:p>
            <a:pPr algn="just"/>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21</a:t>
            </a:fld>
            <a:endParaRPr lang="en-US"/>
          </a:p>
        </p:txBody>
      </p:sp>
    </p:spTree>
    <p:extLst>
      <p:ext uri="{BB962C8B-B14F-4D97-AF65-F5344CB8AC3E}">
        <p14:creationId xmlns:p14="http://schemas.microsoft.com/office/powerpoint/2010/main" val="3399939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9900FF"/>
                </a:solidFill>
              </a:rPr>
              <a:t>The above slide shows the different methods for working with dictionary.  </a:t>
            </a:r>
          </a:p>
          <a:p>
            <a:r>
              <a:rPr lang="en-US" b="1" dirty="0">
                <a:solidFill>
                  <a:srgbClr val="9900FF"/>
                </a:solidFill>
              </a:rPr>
              <a:t>Example </a:t>
            </a:r>
          </a:p>
          <a:p>
            <a:r>
              <a:rPr lang="en-US" dirty="0">
                <a:solidFill>
                  <a:srgbClr val="9900FF"/>
                </a:solidFill>
              </a:rPr>
              <a:t>copy() Method</a:t>
            </a:r>
          </a:p>
          <a:p>
            <a:r>
              <a:rPr lang="en-US" dirty="0">
                <a:solidFill>
                  <a:srgbClr val="9900FF"/>
                </a:solidFill>
              </a:rPr>
              <a:t>The following example shows the usage of copy() method.</a:t>
            </a:r>
          </a:p>
          <a:p>
            <a:r>
              <a:rPr lang="en-US" dirty="0">
                <a:solidFill>
                  <a:srgbClr val="9900FF"/>
                </a:solidFill>
              </a:rPr>
              <a:t>&gt;&gt;&gt;dict1={'Name':'Harish','Age':29}</a:t>
            </a:r>
          </a:p>
          <a:p>
            <a:r>
              <a:rPr lang="en-US" dirty="0">
                <a:solidFill>
                  <a:srgbClr val="9900FF"/>
                </a:solidFill>
              </a:rPr>
              <a:t>&gt;&gt;&gt;dict2=dict1.copy()</a:t>
            </a:r>
          </a:p>
          <a:p>
            <a:r>
              <a:rPr lang="en-US" dirty="0">
                <a:solidFill>
                  <a:srgbClr val="9900FF"/>
                </a:solidFill>
              </a:rPr>
              <a:t>&gt;&gt;&gt;print('New Dictionary:',</a:t>
            </a:r>
            <a:r>
              <a:rPr lang="en-US" dirty="0" err="1">
                <a:solidFill>
                  <a:srgbClr val="9900FF"/>
                </a:solidFill>
              </a:rPr>
              <a:t>str</a:t>
            </a:r>
            <a:r>
              <a:rPr lang="en-US" dirty="0">
                <a:solidFill>
                  <a:srgbClr val="9900FF"/>
                </a:solidFill>
              </a:rPr>
              <a:t>(dict2))</a:t>
            </a:r>
          </a:p>
          <a:p>
            <a:r>
              <a:rPr lang="en-US" dirty="0">
                <a:solidFill>
                  <a:srgbClr val="9900FF"/>
                </a:solidFill>
              </a:rPr>
              <a:t>The output will be displayed like the following </a:t>
            </a:r>
          </a:p>
          <a:p>
            <a:r>
              <a:rPr lang="en-US" dirty="0">
                <a:solidFill>
                  <a:srgbClr val="9900FF"/>
                </a:solidFill>
              </a:rPr>
              <a:t>New Dictionary: {'Age':29,'Name':'Harish'}</a:t>
            </a:r>
          </a:p>
        </p:txBody>
      </p:sp>
      <p:sp>
        <p:nvSpPr>
          <p:cNvPr id="4" name="Slide Number Placeholder 3"/>
          <p:cNvSpPr>
            <a:spLocks noGrp="1"/>
          </p:cNvSpPr>
          <p:nvPr>
            <p:ph type="sldNum" sz="quarter" idx="10"/>
          </p:nvPr>
        </p:nvSpPr>
        <p:spPr/>
        <p:txBody>
          <a:bodyPr/>
          <a:lstStyle/>
          <a:p>
            <a:fld id="{35091714-3304-44AF-AABA-9711959465C3}" type="slidenum">
              <a:rPr lang="en-US" smtClean="0"/>
              <a:t>22</a:t>
            </a:fld>
            <a:endParaRPr lang="en-US"/>
          </a:p>
        </p:txBody>
      </p:sp>
    </p:spTree>
    <p:extLst>
      <p:ext uri="{BB962C8B-B14F-4D97-AF65-F5344CB8AC3E}">
        <p14:creationId xmlns:p14="http://schemas.microsoft.com/office/powerpoint/2010/main" val="2785635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1" dirty="0">
                <a:solidFill>
                  <a:srgbClr val="9900FF"/>
                </a:solidFill>
              </a:rPr>
              <a:t>Properties of Dictionary Keys</a:t>
            </a:r>
          </a:p>
          <a:p>
            <a:pPr algn="just"/>
            <a:r>
              <a:rPr lang="en-US" dirty="0">
                <a:solidFill>
                  <a:srgbClr val="9900FF"/>
                </a:solidFill>
              </a:rPr>
              <a:t>Dictionary values have no restrictions. They can be any arbitrary python object either standard objects or user-defined objects. There are two important points to remember about dictionary keys.</a:t>
            </a:r>
          </a:p>
          <a:p>
            <a:pPr algn="just"/>
            <a:r>
              <a:rPr lang="en-US" dirty="0">
                <a:solidFill>
                  <a:srgbClr val="9900FF"/>
                </a:solidFill>
              </a:rPr>
              <a:t>1.More than one entry per key not allowed. Which means no duplicate key is allowed. When duplicate keys encountered during assignment. </a:t>
            </a:r>
          </a:p>
          <a:p>
            <a:pPr algn="just"/>
            <a:r>
              <a:rPr lang="en-US" dirty="0">
                <a:solidFill>
                  <a:srgbClr val="9900FF"/>
                </a:solidFill>
              </a:rPr>
              <a:t>2.Keys must be immutable. Which means you can use strings, numbers or tuples as dictionary keys but something like ['key'] is not allowed.</a:t>
            </a:r>
          </a:p>
          <a:p>
            <a:pPr algn="just"/>
            <a:r>
              <a:rPr lang="en-US" b="1" dirty="0">
                <a:solidFill>
                  <a:srgbClr val="9900FF"/>
                </a:solidFill>
              </a:rPr>
              <a:t>keys() method</a:t>
            </a:r>
          </a:p>
          <a:p>
            <a:pPr algn="just"/>
            <a:r>
              <a:rPr lang="en-US" dirty="0">
                <a:solidFill>
                  <a:srgbClr val="9900FF"/>
                </a:solidFill>
              </a:rPr>
              <a:t>- This method keys() returns a list of all the available keys in the dictionary.</a:t>
            </a:r>
          </a:p>
          <a:p>
            <a:pPr algn="just"/>
            <a:r>
              <a:rPr lang="en-US" b="1" dirty="0">
                <a:solidFill>
                  <a:srgbClr val="9900FF"/>
                </a:solidFill>
              </a:rPr>
              <a:t>values() method</a:t>
            </a:r>
          </a:p>
          <a:p>
            <a:pPr algn="just"/>
            <a:r>
              <a:rPr lang="en-US" dirty="0">
                <a:solidFill>
                  <a:srgbClr val="9900FF"/>
                </a:solidFill>
              </a:rPr>
              <a:t>- The method values() returns a list of all the values available in a given dictionary.</a:t>
            </a:r>
          </a:p>
        </p:txBody>
      </p:sp>
      <p:sp>
        <p:nvSpPr>
          <p:cNvPr id="4" name="Slide Number Placeholder 3"/>
          <p:cNvSpPr>
            <a:spLocks noGrp="1"/>
          </p:cNvSpPr>
          <p:nvPr>
            <p:ph type="sldNum" sz="quarter" idx="10"/>
          </p:nvPr>
        </p:nvSpPr>
        <p:spPr/>
        <p:txBody>
          <a:bodyPr/>
          <a:lstStyle/>
          <a:p>
            <a:fld id="{35091714-3304-44AF-AABA-9711959465C3}" type="slidenum">
              <a:rPr lang="en-US" smtClean="0"/>
              <a:t>23</a:t>
            </a:fld>
            <a:endParaRPr lang="en-US"/>
          </a:p>
        </p:txBody>
      </p:sp>
    </p:spTree>
    <p:extLst>
      <p:ext uri="{BB962C8B-B14F-4D97-AF65-F5344CB8AC3E}">
        <p14:creationId xmlns:p14="http://schemas.microsoft.com/office/powerpoint/2010/main" val="41267117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9900FF"/>
                </a:solidFill>
              </a:rPr>
              <a:t>items() method</a:t>
            </a:r>
          </a:p>
          <a:p>
            <a:endParaRPr lang="en-US" dirty="0">
              <a:solidFill>
                <a:srgbClr val="9900FF"/>
              </a:solidFill>
            </a:endParaRPr>
          </a:p>
          <a:p>
            <a:pPr marL="171450" indent="-171450">
              <a:buFontTx/>
              <a:buChar char="-"/>
            </a:pPr>
            <a:r>
              <a:rPr lang="en-US" dirty="0">
                <a:solidFill>
                  <a:srgbClr val="9900FF"/>
                </a:solidFill>
              </a:rPr>
              <a:t>The method items() returns a list of </a:t>
            </a:r>
            <a:r>
              <a:rPr lang="en-US" dirty="0" err="1">
                <a:solidFill>
                  <a:srgbClr val="9900FF"/>
                </a:solidFill>
              </a:rPr>
              <a:t>dicts</a:t>
            </a:r>
            <a:r>
              <a:rPr lang="en-US" dirty="0">
                <a:solidFill>
                  <a:srgbClr val="9900FF"/>
                </a:solidFill>
              </a:rPr>
              <a:t> (</a:t>
            </a:r>
            <a:r>
              <a:rPr lang="en-US" dirty="0" err="1">
                <a:solidFill>
                  <a:srgbClr val="9900FF"/>
                </a:solidFill>
              </a:rPr>
              <a:t>key,value</a:t>
            </a:r>
            <a:r>
              <a:rPr lang="en-US" dirty="0">
                <a:solidFill>
                  <a:srgbClr val="9900FF"/>
                </a:solidFill>
              </a:rPr>
              <a:t>) tuple pairs.</a:t>
            </a:r>
          </a:p>
          <a:p>
            <a:pPr marL="171450" indent="-171450">
              <a:buFontTx/>
              <a:buChar char="-"/>
            </a:pPr>
            <a:endParaRPr lang="en-US" dirty="0">
              <a:solidFill>
                <a:srgbClr val="9900FF"/>
              </a:solidFill>
            </a:endParaRPr>
          </a:p>
          <a:p>
            <a:r>
              <a:rPr lang="en-US" dirty="0">
                <a:solidFill>
                  <a:srgbClr val="9900FF"/>
                </a:solidFill>
              </a:rPr>
              <a:t>The above program will display the key and value pair of the dictionary. </a:t>
            </a:r>
          </a:p>
        </p:txBody>
      </p:sp>
      <p:sp>
        <p:nvSpPr>
          <p:cNvPr id="4" name="Slide Number Placeholder 3"/>
          <p:cNvSpPr>
            <a:spLocks noGrp="1"/>
          </p:cNvSpPr>
          <p:nvPr>
            <p:ph type="sldNum" sz="quarter" idx="10"/>
          </p:nvPr>
        </p:nvSpPr>
        <p:spPr/>
        <p:txBody>
          <a:bodyPr/>
          <a:lstStyle/>
          <a:p>
            <a:fld id="{35091714-3304-44AF-AABA-9711959465C3}" type="slidenum">
              <a:rPr lang="en-US" smtClean="0"/>
              <a:t>24</a:t>
            </a:fld>
            <a:endParaRPr lang="en-US"/>
          </a:p>
        </p:txBody>
      </p:sp>
    </p:spTree>
    <p:extLst>
      <p:ext uri="{BB962C8B-B14F-4D97-AF65-F5344CB8AC3E}">
        <p14:creationId xmlns:p14="http://schemas.microsoft.com/office/powerpoint/2010/main" val="3121704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9900FF"/>
                </a:solidFill>
              </a:rPr>
              <a:t>The above is a sample example to access a particular element of dictionary using a key.</a:t>
            </a:r>
          </a:p>
        </p:txBody>
      </p:sp>
      <p:sp>
        <p:nvSpPr>
          <p:cNvPr id="4" name="Slide Number Placeholder 3"/>
          <p:cNvSpPr>
            <a:spLocks noGrp="1"/>
          </p:cNvSpPr>
          <p:nvPr>
            <p:ph type="sldNum" sz="quarter" idx="10"/>
          </p:nvPr>
        </p:nvSpPr>
        <p:spPr/>
        <p:txBody>
          <a:bodyPr/>
          <a:lstStyle/>
          <a:p>
            <a:fld id="{35091714-3304-44AF-AABA-9711959465C3}" type="slidenum">
              <a:rPr lang="en-US" smtClean="0"/>
              <a:t>25</a:t>
            </a:fld>
            <a:endParaRPr lang="en-US"/>
          </a:p>
        </p:txBody>
      </p:sp>
    </p:spTree>
    <p:extLst>
      <p:ext uri="{BB962C8B-B14F-4D97-AF65-F5344CB8AC3E}">
        <p14:creationId xmlns:p14="http://schemas.microsoft.com/office/powerpoint/2010/main" val="9830596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In the above example it has shown </a:t>
            </a:r>
            <a:r>
              <a:rPr lang="en-US" dirty="0" err="1">
                <a:solidFill>
                  <a:srgbClr val="9900FF"/>
                </a:solidFill>
              </a:rPr>
              <a:t>len</a:t>
            </a:r>
            <a:r>
              <a:rPr lang="en-US" dirty="0">
                <a:solidFill>
                  <a:srgbClr val="9900FF"/>
                </a:solidFill>
              </a:rPr>
              <a:t>() function uses. This function will work on dictionaries. This will return the number of key and value pair. There is a snippet of code which displays the same.</a:t>
            </a:r>
          </a:p>
        </p:txBody>
      </p:sp>
      <p:sp>
        <p:nvSpPr>
          <p:cNvPr id="4" name="Slide Number Placeholder 3"/>
          <p:cNvSpPr>
            <a:spLocks noGrp="1"/>
          </p:cNvSpPr>
          <p:nvPr>
            <p:ph type="sldNum" sz="quarter" idx="10"/>
          </p:nvPr>
        </p:nvSpPr>
        <p:spPr/>
        <p:txBody>
          <a:bodyPr/>
          <a:lstStyle/>
          <a:p>
            <a:fld id="{35091714-3304-44AF-AABA-9711959465C3}" type="slidenum">
              <a:rPr lang="en-US" smtClean="0"/>
              <a:t>26</a:t>
            </a:fld>
            <a:endParaRPr lang="en-US"/>
          </a:p>
        </p:txBody>
      </p:sp>
    </p:spTree>
    <p:extLst>
      <p:ext uri="{BB962C8B-B14F-4D97-AF65-F5344CB8AC3E}">
        <p14:creationId xmlns:p14="http://schemas.microsoft.com/office/powerpoint/2010/main" val="698484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9900FF"/>
                </a:solidFill>
              </a:rPr>
              <a:t>The in operator works differently for dictionaries than for other sequences. The in operator works on dictionaries.</a:t>
            </a:r>
            <a:r>
              <a:rPr lang="en-US" baseline="0" dirty="0">
                <a:solidFill>
                  <a:srgbClr val="9900FF"/>
                </a:solidFill>
              </a:rPr>
              <a:t> </a:t>
            </a:r>
            <a:r>
              <a:rPr lang="en-US" dirty="0">
                <a:solidFill>
                  <a:srgbClr val="9900FF"/>
                </a:solidFill>
              </a:rPr>
              <a:t>It tells whether something appears as a key in the dictionary. The in operator can be used to check whether a value existing in dictionary.</a:t>
            </a:r>
          </a:p>
          <a:p>
            <a:endParaRPr lang="en-US" dirty="0">
              <a:solidFill>
                <a:srgbClr val="9900FF"/>
              </a:solidFill>
            </a:endParaRPr>
          </a:p>
          <a:p>
            <a:r>
              <a:rPr lang="en-US" dirty="0">
                <a:solidFill>
                  <a:srgbClr val="9900FF"/>
                </a:solidFill>
              </a:rPr>
              <a:t>To check the values existing in a dictionary we need use values() method. The values() method will return as a List.</a:t>
            </a:r>
          </a:p>
          <a:p>
            <a:endParaRPr lang="en-US" dirty="0">
              <a:solidFill>
                <a:srgbClr val="9900FF"/>
              </a:solidFill>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t>27</a:t>
            </a:fld>
            <a:endParaRPr lang="en-US"/>
          </a:p>
        </p:txBody>
      </p:sp>
    </p:spTree>
    <p:extLst>
      <p:ext uri="{BB962C8B-B14F-4D97-AF65-F5344CB8AC3E}">
        <p14:creationId xmlns:p14="http://schemas.microsoft.com/office/powerpoint/2010/main" val="35680974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The above example explaining how in operator works on dictionary. Here the in operator is used to check whether a particular key or value exist in the dictionary or not. In operator will return true or false value.</a:t>
            </a:r>
          </a:p>
        </p:txBody>
      </p:sp>
      <p:sp>
        <p:nvSpPr>
          <p:cNvPr id="4" name="Slide Number Placeholder 3"/>
          <p:cNvSpPr>
            <a:spLocks noGrp="1"/>
          </p:cNvSpPr>
          <p:nvPr>
            <p:ph type="sldNum" sz="quarter" idx="10"/>
          </p:nvPr>
        </p:nvSpPr>
        <p:spPr/>
        <p:txBody>
          <a:bodyPr/>
          <a:lstStyle/>
          <a:p>
            <a:fld id="{35091714-3304-44AF-AABA-9711959465C3}" type="slidenum">
              <a:rPr lang="en-US" smtClean="0"/>
              <a:t>28</a:t>
            </a:fld>
            <a:endParaRPr lang="en-US"/>
          </a:p>
        </p:txBody>
      </p:sp>
    </p:spTree>
    <p:extLst>
      <p:ext uri="{BB962C8B-B14F-4D97-AF65-F5344CB8AC3E}">
        <p14:creationId xmlns:p14="http://schemas.microsoft.com/office/powerpoint/2010/main" val="715393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9900FF"/>
                </a:solidFill>
              </a:rPr>
              <a:t>Get() Method</a:t>
            </a:r>
          </a:p>
          <a:p>
            <a:r>
              <a:rPr lang="en-US" dirty="0">
                <a:solidFill>
                  <a:srgbClr val="9900FF"/>
                </a:solidFill>
              </a:rPr>
              <a:t>The method get() returns a value for the given key. If key is not available then returns default value None.</a:t>
            </a:r>
          </a:p>
          <a:p>
            <a:endParaRPr lang="en-US" dirty="0">
              <a:solidFill>
                <a:srgbClr val="9900FF"/>
              </a:solidFill>
            </a:endParaRPr>
          </a:p>
          <a:p>
            <a:r>
              <a:rPr lang="en-US" dirty="0">
                <a:solidFill>
                  <a:srgbClr val="9900FF"/>
                </a:solidFill>
              </a:rPr>
              <a:t>Syntax :</a:t>
            </a:r>
          </a:p>
          <a:p>
            <a:r>
              <a:rPr lang="en-US" dirty="0" err="1">
                <a:solidFill>
                  <a:srgbClr val="9900FF"/>
                </a:solidFill>
              </a:rPr>
              <a:t>dict.get</a:t>
            </a:r>
            <a:r>
              <a:rPr lang="en-US" dirty="0">
                <a:solidFill>
                  <a:srgbClr val="9900FF"/>
                </a:solidFill>
              </a:rPr>
              <a:t>(</a:t>
            </a:r>
            <a:r>
              <a:rPr lang="en-US" dirty="0" err="1">
                <a:solidFill>
                  <a:srgbClr val="9900FF"/>
                </a:solidFill>
              </a:rPr>
              <a:t>key,default</a:t>
            </a:r>
            <a:r>
              <a:rPr lang="en-US" dirty="0">
                <a:solidFill>
                  <a:srgbClr val="9900FF"/>
                </a:solidFill>
              </a:rPr>
              <a:t>=None)</a:t>
            </a:r>
          </a:p>
          <a:p>
            <a:endParaRPr lang="en-US" dirty="0">
              <a:solidFill>
                <a:srgbClr val="9900FF"/>
              </a:solidFill>
            </a:endParaRPr>
          </a:p>
          <a:p>
            <a:r>
              <a:rPr lang="en-US" dirty="0">
                <a:solidFill>
                  <a:srgbClr val="9900FF"/>
                </a:solidFill>
              </a:rPr>
              <a:t>The parameter explained in below.</a:t>
            </a:r>
          </a:p>
          <a:p>
            <a:r>
              <a:rPr lang="en-US" dirty="0">
                <a:solidFill>
                  <a:srgbClr val="9900FF"/>
                </a:solidFill>
              </a:rPr>
              <a:t>key -This is the Key to be searched in the dictionary.</a:t>
            </a:r>
          </a:p>
          <a:p>
            <a:r>
              <a:rPr lang="en-US" dirty="0">
                <a:solidFill>
                  <a:srgbClr val="9900FF"/>
                </a:solidFill>
              </a:rPr>
              <a:t>default -This is the Value to be returned in case key does not exist.</a:t>
            </a:r>
          </a:p>
          <a:p>
            <a:endParaRPr lang="en-US" dirty="0">
              <a:solidFill>
                <a:srgbClr val="9900FF"/>
              </a:solidFill>
            </a:endParaRPr>
          </a:p>
          <a:p>
            <a:pPr algn="just"/>
            <a:r>
              <a:rPr lang="en-US" dirty="0">
                <a:solidFill>
                  <a:srgbClr val="9900FF"/>
                </a:solidFill>
              </a:rPr>
              <a:t>The above snippet of code displays the values by giving the key value using get() method.</a:t>
            </a:r>
          </a:p>
        </p:txBody>
      </p:sp>
      <p:sp>
        <p:nvSpPr>
          <p:cNvPr id="4" name="Slide Number Placeholder 3"/>
          <p:cNvSpPr>
            <a:spLocks noGrp="1"/>
          </p:cNvSpPr>
          <p:nvPr>
            <p:ph type="sldNum" sz="quarter" idx="10"/>
          </p:nvPr>
        </p:nvSpPr>
        <p:spPr/>
        <p:txBody>
          <a:bodyPr/>
          <a:lstStyle/>
          <a:p>
            <a:fld id="{35091714-3304-44AF-AABA-9711959465C3}" type="slidenum">
              <a:rPr lang="en-US" smtClean="0"/>
              <a:t>29</a:t>
            </a:fld>
            <a:endParaRPr lang="en-US"/>
          </a:p>
        </p:txBody>
      </p:sp>
    </p:spTree>
    <p:extLst>
      <p:ext uri="{BB962C8B-B14F-4D97-AF65-F5344CB8AC3E}">
        <p14:creationId xmlns:p14="http://schemas.microsoft.com/office/powerpoint/2010/main" val="2503276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Even though dictionaries are not stored in order, we can write a for loop that goes through all the entries in a dictionary - actually it goes through all of the keys in the dictionary and looks up the values.</a:t>
            </a:r>
          </a:p>
          <a:p>
            <a:pPr algn="just"/>
            <a:endParaRPr lang="en-US" dirty="0">
              <a:solidFill>
                <a:srgbClr val="9900FF"/>
              </a:solidFill>
            </a:endParaRPr>
          </a:p>
          <a:p>
            <a:pPr algn="just"/>
            <a:r>
              <a:rPr lang="en-US" dirty="0">
                <a:solidFill>
                  <a:srgbClr val="9900FF"/>
                </a:solidFill>
              </a:rPr>
              <a:t>If a dictionary uses in a for statement, it traverses the keys of the dictionary. </a:t>
            </a:r>
          </a:p>
          <a:p>
            <a:pPr algn="just"/>
            <a:endParaRPr lang="en-US" dirty="0">
              <a:solidFill>
                <a:srgbClr val="9900FF"/>
              </a:solidFill>
            </a:endParaRPr>
          </a:p>
          <a:p>
            <a:pPr algn="just"/>
            <a:r>
              <a:rPr lang="en-US" dirty="0">
                <a:solidFill>
                  <a:srgbClr val="9900FF"/>
                </a:solidFill>
              </a:rPr>
              <a:t>In the above code snippet the for loop prints each key and the corresponding value.</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30</a:t>
            </a:fld>
            <a:endParaRPr lang="en-US"/>
          </a:p>
        </p:txBody>
      </p:sp>
    </p:spTree>
    <p:extLst>
      <p:ext uri="{BB962C8B-B14F-4D97-AF65-F5344CB8AC3E}">
        <p14:creationId xmlns:p14="http://schemas.microsoft.com/office/powerpoint/2010/main" val="2327367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solidFill>
                  <a:srgbClr val="9900FF"/>
                </a:solidFill>
              </a:rPr>
              <a:t>It is an error to reference a key which is not in the dictionary. We can use the in operator to see if a key is in the dictionary. The above examples show how an error comes when we are trying to print a value based on key value which is not existing in a empty dictionary. </a:t>
            </a:r>
          </a:p>
        </p:txBody>
      </p:sp>
      <p:sp>
        <p:nvSpPr>
          <p:cNvPr id="4" name="Slide Number Placeholder 3"/>
          <p:cNvSpPr>
            <a:spLocks noGrp="1"/>
          </p:cNvSpPr>
          <p:nvPr>
            <p:ph type="sldNum" sz="quarter" idx="10"/>
          </p:nvPr>
        </p:nvSpPr>
        <p:spPr/>
        <p:txBody>
          <a:bodyPr/>
          <a:lstStyle/>
          <a:p>
            <a:fld id="{35091714-3304-44AF-AABA-9711959465C3}" type="slidenum">
              <a:rPr lang="en-US" smtClean="0"/>
              <a:t>31</a:t>
            </a:fld>
            <a:endParaRPr lang="en-US"/>
          </a:p>
        </p:txBody>
      </p:sp>
    </p:spTree>
    <p:extLst>
      <p:ext uri="{BB962C8B-B14F-4D97-AF65-F5344CB8AC3E}">
        <p14:creationId xmlns:p14="http://schemas.microsoft.com/office/powerpoint/2010/main" val="18286963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9900FF"/>
                </a:solidFill>
              </a:rPr>
              <a:t>The above slide shows the difference between the list and dictionary.</a:t>
            </a:r>
          </a:p>
          <a:p>
            <a:endParaRPr lang="en-US" dirty="0">
              <a:solidFill>
                <a:srgbClr val="9900FF"/>
              </a:solidFill>
            </a:endParaRPr>
          </a:p>
          <a:p>
            <a:pPr algn="just"/>
            <a:r>
              <a:rPr lang="en-US" dirty="0">
                <a:solidFill>
                  <a:srgbClr val="9900FF"/>
                </a:solidFill>
              </a:rPr>
              <a:t>The slides shows the two snippet of code which show the difference between the list and dictionary. The snippet of code shows how to add elements to the list and dictionary and display it. The snippet code also shows how to access a particular element of a list or dictionary. </a:t>
            </a:r>
          </a:p>
        </p:txBody>
      </p:sp>
      <p:sp>
        <p:nvSpPr>
          <p:cNvPr id="4" name="Slide Number Placeholder 3"/>
          <p:cNvSpPr>
            <a:spLocks noGrp="1"/>
          </p:cNvSpPr>
          <p:nvPr>
            <p:ph type="sldNum" sz="quarter" idx="10"/>
          </p:nvPr>
        </p:nvSpPr>
        <p:spPr/>
        <p:txBody>
          <a:bodyPr/>
          <a:lstStyle/>
          <a:p>
            <a:fld id="{35091714-3304-44AF-AABA-9711959465C3}" type="slidenum">
              <a:rPr lang="en-US" smtClean="0"/>
              <a:t>32</a:t>
            </a:fld>
            <a:endParaRPr lang="en-US"/>
          </a:p>
        </p:txBody>
      </p:sp>
    </p:spTree>
    <p:extLst>
      <p:ext uri="{BB962C8B-B14F-4D97-AF65-F5344CB8AC3E}">
        <p14:creationId xmlns:p14="http://schemas.microsoft.com/office/powerpoint/2010/main" val="4194683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p>
          <a:p>
            <a:r>
              <a:rPr lang="en-US" dirty="0"/>
              <a:t>True</a:t>
            </a:r>
          </a:p>
        </p:txBody>
      </p:sp>
      <p:sp>
        <p:nvSpPr>
          <p:cNvPr id="4" name="Slide Number Placeholder 3"/>
          <p:cNvSpPr>
            <a:spLocks noGrp="1"/>
          </p:cNvSpPr>
          <p:nvPr>
            <p:ph type="sldNum" sz="quarter" idx="10"/>
          </p:nvPr>
        </p:nvSpPr>
        <p:spPr/>
        <p:txBody>
          <a:bodyPr/>
          <a:lstStyle/>
          <a:p>
            <a:fld id="{35091714-3304-44AF-AABA-9711959465C3}" type="slidenum">
              <a:rPr lang="en-US" smtClean="0"/>
              <a:t>33</a:t>
            </a:fld>
            <a:endParaRPr lang="en-US" dirty="0"/>
          </a:p>
        </p:txBody>
      </p:sp>
    </p:spTree>
    <p:extLst>
      <p:ext uri="{BB962C8B-B14F-4D97-AF65-F5344CB8AC3E}">
        <p14:creationId xmlns:p14="http://schemas.microsoft.com/office/powerpoint/2010/main" val="2046449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p>
          <a:p>
            <a:r>
              <a:rPr lang="en-US" dirty="0"/>
              <a:t>True</a:t>
            </a:r>
          </a:p>
        </p:txBody>
      </p:sp>
      <p:sp>
        <p:nvSpPr>
          <p:cNvPr id="4" name="Slide Number Placeholder 3"/>
          <p:cNvSpPr>
            <a:spLocks noGrp="1"/>
          </p:cNvSpPr>
          <p:nvPr>
            <p:ph type="sldNum" sz="quarter" idx="10"/>
          </p:nvPr>
        </p:nvSpPr>
        <p:spPr/>
        <p:txBody>
          <a:bodyPr/>
          <a:lstStyle/>
          <a:p>
            <a:fld id="{35091714-3304-44AF-AABA-9711959465C3}" type="slidenum">
              <a:rPr lang="en-US" smtClean="0"/>
              <a:t>34</a:t>
            </a:fld>
            <a:endParaRPr lang="en-US" dirty="0"/>
          </a:p>
        </p:txBody>
      </p:sp>
    </p:spTree>
    <p:extLst>
      <p:ext uri="{BB962C8B-B14F-4D97-AF65-F5344CB8AC3E}">
        <p14:creationId xmlns:p14="http://schemas.microsoft.com/office/powerpoint/2010/main" val="20464496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a:t>Solution:</a:t>
            </a:r>
          </a:p>
          <a:p>
            <a:endParaRPr lang="en-US" sz="1600" dirty="0"/>
          </a:p>
          <a:p>
            <a:r>
              <a:rPr lang="en-US" sz="1200" dirty="0"/>
              <a:t>In order to do this activity, you need to perform the following tasks:</a:t>
            </a:r>
          </a:p>
          <a:p>
            <a:pPr marL="342900" lvl="0" indent="-342900">
              <a:buFont typeface="+mj-lt"/>
              <a:buAutoNum type="arabicPeriod"/>
            </a:pPr>
            <a:r>
              <a:rPr lang="en-US" sz="1200" dirty="0"/>
              <a:t>Create a</a:t>
            </a:r>
            <a:r>
              <a:rPr lang="en-US" sz="1200" baseline="0" dirty="0"/>
              <a:t> </a:t>
            </a:r>
            <a:r>
              <a:rPr lang="en-US" sz="1200" dirty="0"/>
              <a:t>Python empty project.</a:t>
            </a:r>
          </a:p>
          <a:p>
            <a:pPr marL="342900" lvl="0" indent="-342900">
              <a:buFont typeface="+mj-lt"/>
              <a:buAutoNum type="arabicPeriod"/>
            </a:pPr>
            <a:r>
              <a:rPr lang="en-US" sz="1200" dirty="0"/>
              <a:t>Create a mapping of state to abbreviation,</a:t>
            </a:r>
            <a:r>
              <a:rPr lang="en-US" sz="1200" baseline="0" dirty="0"/>
              <a:t> </a:t>
            </a:r>
            <a:r>
              <a:rPr lang="en-US" sz="1200" dirty="0"/>
              <a:t>Create a basic set of states and some cities in them</a:t>
            </a:r>
            <a:r>
              <a:rPr lang="en-US" sz="1200" baseline="0" dirty="0"/>
              <a:t> and </a:t>
            </a:r>
            <a:r>
              <a:rPr lang="en-US" sz="1200" dirty="0"/>
              <a:t>Add</a:t>
            </a:r>
            <a:r>
              <a:rPr lang="en-US" sz="1200" baseline="0" dirty="0"/>
              <a:t> some more cities.</a:t>
            </a:r>
            <a:endParaRPr lang="en-US" sz="1200" dirty="0"/>
          </a:p>
          <a:p>
            <a:pPr marL="342900" lvl="0" indent="-342900">
              <a:buFont typeface="+mj-lt"/>
              <a:buAutoNum type="arabicPeriod"/>
            </a:pPr>
            <a:endParaRPr lang="en-US" sz="1200" dirty="0"/>
          </a:p>
          <a:p>
            <a:r>
              <a:rPr lang="en-US" sz="1600" b="1" dirty="0"/>
              <a:t>Task 1</a:t>
            </a:r>
            <a:r>
              <a:rPr lang="en-US" sz="1600" dirty="0"/>
              <a:t>: Create a Python empty project:</a:t>
            </a:r>
          </a:p>
          <a:p>
            <a:r>
              <a:rPr lang="en-US" sz="1200" dirty="0"/>
              <a:t>Step 1: Open </a:t>
            </a:r>
            <a:r>
              <a:rPr lang="en-US" sz="1200" b="1" dirty="0"/>
              <a:t>NetBeans 8.0.2</a:t>
            </a:r>
            <a:r>
              <a:rPr lang="en-US" sz="120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2: Click </a:t>
            </a:r>
            <a:r>
              <a:rPr lang="en-US" sz="1200" b="1" dirty="0"/>
              <a:t>File</a:t>
            </a:r>
            <a:r>
              <a:rPr lang="en-US" sz="1200" dirty="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3: Select </a:t>
            </a:r>
            <a:r>
              <a:rPr lang="en-US" sz="1200" b="1" dirty="0"/>
              <a:t>New Project</a:t>
            </a:r>
            <a:r>
              <a:rPr lang="en-US" sz="1200" b="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Step 4:</a:t>
            </a:r>
            <a:r>
              <a:rPr lang="en-US" sz="1200" dirty="0"/>
              <a:t> Select </a:t>
            </a:r>
            <a:r>
              <a:rPr lang="en-US" sz="1200" b="1" dirty="0"/>
              <a:t>Python</a:t>
            </a:r>
            <a:r>
              <a:rPr lang="en-US" sz="1200" dirty="0"/>
              <a:t> from Categories list and </a:t>
            </a:r>
            <a:r>
              <a:rPr lang="en-US" sz="1200" b="1" dirty="0"/>
              <a:t>Python Project</a:t>
            </a:r>
            <a:r>
              <a:rPr lang="en-US" sz="1200" dirty="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5: Click </a:t>
            </a:r>
            <a:r>
              <a:rPr lang="en-US" sz="1200" b="1" dirty="0"/>
              <a:t>Next</a:t>
            </a:r>
            <a:r>
              <a:rPr lang="en-US" sz="1200" dirty="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Step 6: On New Python Project dialog box set the Project Name as </a:t>
            </a:r>
            <a:r>
              <a:rPr lang="en-US" sz="1200" b="1" dirty="0"/>
              <a:t>CR_Session10_Exercise01</a:t>
            </a:r>
            <a:r>
              <a:rPr lang="en-US" sz="1200" b="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Step</a:t>
            </a:r>
            <a:r>
              <a:rPr lang="en-US" sz="1200" b="0" baseline="0" dirty="0"/>
              <a:t> 7:</a:t>
            </a:r>
            <a:r>
              <a:rPr lang="en-US" sz="1200" dirty="0"/>
              <a:t> Select project Location by clicking </a:t>
            </a:r>
            <a:r>
              <a:rPr lang="en-US" sz="1200" b="1" dirty="0"/>
              <a:t>Browse</a:t>
            </a:r>
            <a:r>
              <a:rPr lang="en-US" sz="1200" dirty="0"/>
              <a:t> button.</a:t>
            </a:r>
          </a:p>
          <a:p>
            <a:r>
              <a:rPr lang="en-US" sz="1050" dirty="0"/>
              <a:t>Step</a:t>
            </a:r>
            <a:r>
              <a:rPr lang="en-US" sz="1050" baseline="0" dirty="0"/>
              <a:t> 8</a:t>
            </a:r>
            <a:r>
              <a:rPr lang="en-US" sz="1050" dirty="0"/>
              <a:t>: Click </a:t>
            </a:r>
            <a:r>
              <a:rPr lang="en-US" sz="1050" b="1" dirty="0"/>
              <a:t>Finish</a:t>
            </a:r>
            <a:r>
              <a:rPr lang="en-US" sz="1050" dirty="0"/>
              <a:t> button.</a:t>
            </a:r>
          </a:p>
          <a:p>
            <a:endParaRPr lang="en-US" sz="1050" dirty="0"/>
          </a:p>
          <a:p>
            <a:pPr marL="0" lvl="0" indent="0">
              <a:buFont typeface="+mj-lt"/>
              <a:buNone/>
            </a:pPr>
            <a:r>
              <a:rPr lang="en-US" sz="1200" b="1" dirty="0"/>
              <a:t>Task 2</a:t>
            </a:r>
            <a:r>
              <a:rPr lang="en-US" sz="1200" dirty="0"/>
              <a:t>: Create a mapping of state to abbreviation,</a:t>
            </a:r>
            <a:r>
              <a:rPr lang="en-US" sz="1200" baseline="0" dirty="0"/>
              <a:t> c</a:t>
            </a:r>
            <a:r>
              <a:rPr lang="en-US" sz="1200" dirty="0"/>
              <a:t>reate a basic set of states and some cities in them,</a:t>
            </a:r>
            <a:r>
              <a:rPr lang="en-US" sz="1200" baseline="0" dirty="0"/>
              <a:t> a</a:t>
            </a:r>
            <a:r>
              <a:rPr lang="en-US" sz="1200" dirty="0"/>
              <a:t>dd</a:t>
            </a:r>
            <a:r>
              <a:rPr lang="en-US" sz="1200" baseline="0" dirty="0"/>
              <a:t> some more cities</a:t>
            </a:r>
            <a:r>
              <a:rPr lang="en-US" sz="1200" b="0" baseline="0" dirty="0"/>
              <a:t>:</a:t>
            </a:r>
            <a:endParaRPr lang="en-US" sz="1200" dirty="0"/>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a:latin typeface="+mn-lt"/>
              </a:rPr>
              <a:t>Step 1: Type the following code:</a:t>
            </a:r>
          </a:p>
          <a:p>
            <a:endParaRPr lang="en-US" sz="1200" dirty="0">
              <a:latin typeface="+mn-lt"/>
            </a:endParaRPr>
          </a:p>
          <a:p>
            <a:pPr lvl="1"/>
            <a:r>
              <a:rPr lang="en-US" sz="1200" dirty="0">
                <a:latin typeface="+mn-lt"/>
              </a:rPr>
              <a:t># create a mapping of state to abbreviation</a:t>
            </a:r>
          </a:p>
          <a:p>
            <a:pPr lvl="1"/>
            <a:r>
              <a:rPr lang="en-US" sz="1200" dirty="0">
                <a:latin typeface="+mn-lt"/>
              </a:rPr>
              <a:t>states = {</a:t>
            </a:r>
          </a:p>
          <a:p>
            <a:pPr lvl="1"/>
            <a:r>
              <a:rPr lang="en-US" sz="1200" dirty="0">
                <a:latin typeface="+mn-lt"/>
              </a:rPr>
              <a:t>    'Oregon': 'OR',</a:t>
            </a:r>
          </a:p>
          <a:p>
            <a:pPr lvl="1"/>
            <a:r>
              <a:rPr lang="en-US" sz="1200" dirty="0">
                <a:latin typeface="+mn-lt"/>
              </a:rPr>
              <a:t>    'Florida': 'FL',</a:t>
            </a:r>
          </a:p>
          <a:p>
            <a:pPr lvl="1"/>
            <a:r>
              <a:rPr lang="en-US" sz="1200" dirty="0">
                <a:latin typeface="+mn-lt"/>
              </a:rPr>
              <a:t>    'California': 'CA',</a:t>
            </a:r>
          </a:p>
          <a:p>
            <a:pPr lvl="1"/>
            <a:r>
              <a:rPr lang="en-US" sz="1200" dirty="0">
                <a:latin typeface="+mn-lt"/>
              </a:rPr>
              <a:t>    'New York': 'NY',</a:t>
            </a:r>
          </a:p>
          <a:p>
            <a:pPr lvl="1"/>
            <a:r>
              <a:rPr lang="en-US" sz="1200" dirty="0">
                <a:latin typeface="+mn-lt"/>
              </a:rPr>
              <a:t>    'Michigan': 'MI'</a:t>
            </a:r>
          </a:p>
          <a:p>
            <a:pPr lvl="1"/>
            <a:r>
              <a:rPr lang="en-US" sz="1200" dirty="0">
                <a:latin typeface="+mn-lt"/>
              </a:rPr>
              <a:t>}</a:t>
            </a:r>
          </a:p>
          <a:p>
            <a:pPr lvl="1"/>
            <a:endParaRPr lang="en-US" sz="1200" dirty="0">
              <a:latin typeface="+mn-lt"/>
            </a:endParaRPr>
          </a:p>
          <a:p>
            <a:pPr lvl="1"/>
            <a:r>
              <a:rPr lang="en-US" sz="1200" dirty="0">
                <a:latin typeface="+mn-lt"/>
              </a:rPr>
              <a:t># create a basic set of states and some cities in them</a:t>
            </a:r>
          </a:p>
          <a:p>
            <a:pPr lvl="1"/>
            <a:r>
              <a:rPr lang="en-US" sz="1200" dirty="0">
                <a:latin typeface="+mn-lt"/>
              </a:rPr>
              <a:t>cities = {</a:t>
            </a:r>
          </a:p>
          <a:p>
            <a:pPr lvl="1"/>
            <a:r>
              <a:rPr lang="en-US" sz="1200" dirty="0">
                <a:latin typeface="+mn-lt"/>
              </a:rPr>
              <a:t>    'CA': 'San Francisco',</a:t>
            </a:r>
          </a:p>
          <a:p>
            <a:pPr lvl="1"/>
            <a:r>
              <a:rPr lang="en-US" sz="1200" dirty="0">
                <a:latin typeface="+mn-lt"/>
              </a:rPr>
              <a:t>    'MI': 'Detroit',</a:t>
            </a:r>
          </a:p>
          <a:p>
            <a:pPr lvl="1"/>
            <a:r>
              <a:rPr lang="en-US" sz="1200" dirty="0">
                <a:latin typeface="+mn-lt"/>
              </a:rPr>
              <a:t>    'FL': 'Jacksonville'</a:t>
            </a:r>
          </a:p>
          <a:p>
            <a:pPr lvl="1"/>
            <a:r>
              <a:rPr lang="en-US" sz="1200" dirty="0">
                <a:latin typeface="+mn-lt"/>
              </a:rPr>
              <a:t>}</a:t>
            </a:r>
          </a:p>
          <a:p>
            <a:pPr lvl="1"/>
            <a:endParaRPr lang="en-US" sz="1200" dirty="0">
              <a:latin typeface="+mn-lt"/>
            </a:endParaRPr>
          </a:p>
          <a:p>
            <a:pPr lvl="1"/>
            <a:r>
              <a:rPr lang="en-US" sz="1200" dirty="0">
                <a:latin typeface="+mn-lt"/>
              </a:rPr>
              <a:t># add some more cities</a:t>
            </a:r>
          </a:p>
          <a:p>
            <a:pPr lvl="1"/>
            <a:r>
              <a:rPr lang="en-US" sz="1200" dirty="0">
                <a:latin typeface="+mn-lt"/>
              </a:rPr>
              <a:t>cities['NY'] = 'New York'</a:t>
            </a:r>
          </a:p>
          <a:p>
            <a:pPr lvl="1"/>
            <a:r>
              <a:rPr lang="en-US" sz="1200" dirty="0">
                <a:latin typeface="+mn-lt"/>
              </a:rPr>
              <a:t>cities['OR'] = 'Portland'</a:t>
            </a:r>
          </a:p>
          <a:p>
            <a:pPr lvl="1"/>
            <a:endParaRPr lang="en-US" sz="1200" dirty="0">
              <a:latin typeface="+mn-lt"/>
            </a:endParaRPr>
          </a:p>
          <a:p>
            <a:pPr lvl="1"/>
            <a:r>
              <a:rPr lang="en-US" sz="1200" dirty="0">
                <a:latin typeface="+mn-lt"/>
              </a:rPr>
              <a:t># print out some cities</a:t>
            </a:r>
          </a:p>
          <a:p>
            <a:pPr lvl="1"/>
            <a:r>
              <a:rPr lang="en-US" sz="1200" dirty="0">
                <a:latin typeface="+mn-lt"/>
              </a:rPr>
              <a:t>print '-' * 10</a:t>
            </a:r>
          </a:p>
          <a:p>
            <a:pPr lvl="1"/>
            <a:r>
              <a:rPr lang="en-US" sz="1200" dirty="0">
                <a:latin typeface="+mn-lt"/>
              </a:rPr>
              <a:t>print "NY State has: ", cities['NY']</a:t>
            </a:r>
          </a:p>
          <a:p>
            <a:pPr lvl="1"/>
            <a:r>
              <a:rPr lang="en-US" sz="1200" dirty="0">
                <a:latin typeface="+mn-lt"/>
              </a:rPr>
              <a:t>print "OR State has: ", cities['OR']</a:t>
            </a:r>
          </a:p>
          <a:p>
            <a:pPr lvl="1"/>
            <a:endParaRPr lang="en-US" sz="1200" dirty="0">
              <a:latin typeface="+mn-lt"/>
            </a:endParaRPr>
          </a:p>
          <a:p>
            <a:pPr lvl="1"/>
            <a:r>
              <a:rPr lang="en-US" sz="1200" dirty="0">
                <a:latin typeface="+mn-lt"/>
              </a:rPr>
              <a:t># print some states</a:t>
            </a:r>
          </a:p>
          <a:p>
            <a:pPr lvl="1"/>
            <a:r>
              <a:rPr lang="en-US" sz="1200" dirty="0">
                <a:latin typeface="+mn-lt"/>
              </a:rPr>
              <a:t>print '-' * 10</a:t>
            </a:r>
          </a:p>
          <a:p>
            <a:pPr lvl="1"/>
            <a:r>
              <a:rPr lang="en-US" sz="1200" dirty="0">
                <a:latin typeface="+mn-lt"/>
              </a:rPr>
              <a:t>print "Michigan's abbreviation is: ", states['Michigan']</a:t>
            </a:r>
          </a:p>
          <a:p>
            <a:pPr lvl="1"/>
            <a:r>
              <a:rPr lang="en-US" sz="1200" dirty="0">
                <a:latin typeface="+mn-lt"/>
              </a:rPr>
              <a:t>print "Florida's abbreviation is: ", states['Florida']</a:t>
            </a:r>
          </a:p>
          <a:p>
            <a:pPr lvl="1"/>
            <a:endParaRPr lang="en-US" sz="1200" dirty="0">
              <a:latin typeface="+mn-lt"/>
            </a:endParaRPr>
          </a:p>
          <a:p>
            <a:pPr lvl="1"/>
            <a:r>
              <a:rPr lang="en-US" sz="1200" dirty="0">
                <a:latin typeface="+mn-lt"/>
              </a:rPr>
              <a:t># do it by using the state then cities </a:t>
            </a:r>
            <a:r>
              <a:rPr lang="en-US" sz="1200" dirty="0" err="1">
                <a:latin typeface="+mn-lt"/>
              </a:rPr>
              <a:t>dict</a:t>
            </a:r>
            <a:endParaRPr lang="en-US" sz="1200" dirty="0">
              <a:latin typeface="+mn-lt"/>
            </a:endParaRPr>
          </a:p>
          <a:p>
            <a:pPr lvl="1"/>
            <a:r>
              <a:rPr lang="en-US" sz="1200" dirty="0">
                <a:latin typeface="+mn-lt"/>
              </a:rPr>
              <a:t>print '-' * 10</a:t>
            </a:r>
          </a:p>
          <a:p>
            <a:pPr lvl="1"/>
            <a:r>
              <a:rPr lang="en-US" sz="1200" dirty="0">
                <a:latin typeface="+mn-lt"/>
              </a:rPr>
              <a:t>print "Michigan has: ", cities[states['Michigan']]</a:t>
            </a:r>
          </a:p>
          <a:p>
            <a:pPr lvl="1"/>
            <a:r>
              <a:rPr lang="en-US" sz="1200" dirty="0">
                <a:latin typeface="+mn-lt"/>
              </a:rPr>
              <a:t>print "Florida has: ", cities[states['Florida']]</a:t>
            </a:r>
          </a:p>
          <a:p>
            <a:pPr lvl="1"/>
            <a:endParaRPr lang="en-US" sz="1200" dirty="0">
              <a:latin typeface="+mn-lt"/>
            </a:endParaRPr>
          </a:p>
          <a:p>
            <a:pPr lvl="1"/>
            <a:r>
              <a:rPr lang="en-US" sz="1200" dirty="0">
                <a:latin typeface="+mn-lt"/>
              </a:rPr>
              <a:t># print every state abbreviation</a:t>
            </a:r>
          </a:p>
          <a:p>
            <a:pPr lvl="1"/>
            <a:r>
              <a:rPr lang="en-US" sz="1200" dirty="0">
                <a:latin typeface="+mn-lt"/>
              </a:rPr>
              <a:t>print '-' * 10</a:t>
            </a:r>
          </a:p>
          <a:p>
            <a:pPr lvl="1"/>
            <a:r>
              <a:rPr lang="en-US" sz="1200" dirty="0">
                <a:latin typeface="+mn-lt"/>
              </a:rPr>
              <a:t>for state, abbrev in </a:t>
            </a:r>
            <a:r>
              <a:rPr lang="en-US" sz="1200" dirty="0" err="1">
                <a:latin typeface="+mn-lt"/>
              </a:rPr>
              <a:t>states.items</a:t>
            </a:r>
            <a:r>
              <a:rPr lang="en-US" sz="1200" dirty="0">
                <a:latin typeface="+mn-lt"/>
              </a:rPr>
              <a:t>():</a:t>
            </a:r>
          </a:p>
          <a:p>
            <a:pPr lvl="1"/>
            <a:r>
              <a:rPr lang="en-US" sz="1200" dirty="0">
                <a:latin typeface="+mn-lt"/>
              </a:rPr>
              <a:t>    print "%s is abbreviated %s" % (state, abbrev)</a:t>
            </a:r>
          </a:p>
          <a:p>
            <a:pPr lvl="1"/>
            <a:endParaRPr lang="en-US" sz="1200" dirty="0">
              <a:latin typeface="+mn-lt"/>
            </a:endParaRPr>
          </a:p>
          <a:p>
            <a:pPr lvl="1"/>
            <a:r>
              <a:rPr lang="en-US" sz="1200" dirty="0">
                <a:latin typeface="+mn-lt"/>
              </a:rPr>
              <a:t># print every city in state</a:t>
            </a:r>
          </a:p>
          <a:p>
            <a:pPr lvl="1"/>
            <a:r>
              <a:rPr lang="en-US" sz="1200" dirty="0">
                <a:latin typeface="+mn-lt"/>
              </a:rPr>
              <a:t>print '-' * 10</a:t>
            </a:r>
          </a:p>
          <a:p>
            <a:pPr lvl="1"/>
            <a:r>
              <a:rPr lang="en-US" sz="1200" dirty="0">
                <a:latin typeface="+mn-lt"/>
              </a:rPr>
              <a:t>for abbrev, city in </a:t>
            </a:r>
            <a:r>
              <a:rPr lang="en-US" sz="1200" dirty="0" err="1">
                <a:latin typeface="+mn-lt"/>
              </a:rPr>
              <a:t>cities.items</a:t>
            </a:r>
            <a:r>
              <a:rPr lang="en-US" sz="1200" dirty="0">
                <a:latin typeface="+mn-lt"/>
              </a:rPr>
              <a:t>():</a:t>
            </a:r>
          </a:p>
          <a:p>
            <a:pPr lvl="1"/>
            <a:r>
              <a:rPr lang="en-US" sz="1200" dirty="0">
                <a:latin typeface="+mn-lt"/>
              </a:rPr>
              <a:t>    print "%s has the city %s" % (abbrev, city)</a:t>
            </a:r>
          </a:p>
          <a:p>
            <a:endParaRPr lang="en-US" altLang="en-US" sz="1200" dirty="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a:latin typeface="+mn-lt"/>
              </a:rPr>
              <a:t>Step</a:t>
            </a:r>
            <a:r>
              <a:rPr lang="en-US" altLang="en-US" sz="1200" baseline="0" dirty="0">
                <a:latin typeface="+mn-lt"/>
              </a:rPr>
              <a:t> 2</a:t>
            </a:r>
            <a:r>
              <a:rPr lang="en-US" altLang="en-US" sz="1200" dirty="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fld id="{35091714-3304-44AF-AABA-9711959465C3}" type="slidenum">
              <a:rPr lang="en-US" smtClean="0"/>
              <a:t>35</a:t>
            </a:fld>
            <a:endParaRPr lang="en-US"/>
          </a:p>
        </p:txBody>
      </p:sp>
    </p:spTree>
    <p:extLst>
      <p:ext uri="{BB962C8B-B14F-4D97-AF65-F5344CB8AC3E}">
        <p14:creationId xmlns:p14="http://schemas.microsoft.com/office/powerpoint/2010/main" val="3711784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C862BE6-9897-48DF-A539-0D6DA8099BAA}"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862BE6-9897-48DF-A539-0D6DA8099BAA}"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C862BE6-9897-48DF-A539-0D6DA8099BAA}"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62BE6-9897-48DF-A539-0D6DA8099BAA}" type="datetimeFigureOut">
              <a:rPr lang="en-US" smtClean="0"/>
              <a:t>11/14/2023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C862BE6-9897-48DF-A539-0D6DA8099BAA}" type="datetimeFigureOut">
              <a:rPr lang="en-US" smtClean="0"/>
              <a:t>11/14/2023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t>11/14/2023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862BE6-9897-48DF-A539-0D6DA8099BAA}"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862BE6-9897-48DF-A539-0D6DA8099BAA}"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t>11/14/2023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hyperlink" Target="http://www.tutorialspoint.com/python/dictionary_items.htm" TargetMode="External"/><Relationship Id="rId3" Type="http://schemas.openxmlformats.org/officeDocument/2006/relationships/hyperlink" Target="http://www.tutorialspoint.com/python/dictionary_clear.htm" TargetMode="External"/><Relationship Id="rId7" Type="http://schemas.openxmlformats.org/officeDocument/2006/relationships/hyperlink" Target="http://www.tutorialspoint.com/python/dictionary_has_key.htm" TargetMode="External"/><Relationship Id="rId12" Type="http://schemas.openxmlformats.org/officeDocument/2006/relationships/hyperlink" Target="http://www.tutorialspoint.com/python/dictionary_values.htm"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www.tutorialspoint.com/python/dictionary_get.htm" TargetMode="External"/><Relationship Id="rId11" Type="http://schemas.openxmlformats.org/officeDocument/2006/relationships/hyperlink" Target="http://www.tutorialspoint.com/python/dictionary_update.htm" TargetMode="External"/><Relationship Id="rId5" Type="http://schemas.openxmlformats.org/officeDocument/2006/relationships/hyperlink" Target="http://www.tutorialspoint.com/python/dictionary_fromkeys.htm" TargetMode="External"/><Relationship Id="rId10" Type="http://schemas.openxmlformats.org/officeDocument/2006/relationships/hyperlink" Target="http://www.tutorialspoint.com/python/dictionary_setdefault.htm" TargetMode="External"/><Relationship Id="rId4" Type="http://schemas.openxmlformats.org/officeDocument/2006/relationships/hyperlink" Target="http://www.tutorialspoint.com/python/dictionary_copy.htm" TargetMode="External"/><Relationship Id="rId9" Type="http://schemas.openxmlformats.org/officeDocument/2006/relationships/hyperlink" Target="http://www.tutorialspoint.com/python/dictionary_keys.ht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a:solidFill>
                  <a:schemeClr val="bg1"/>
                </a:solidFill>
              </a:rPr>
              <a:t>List and Dictionaries</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95536" y="1556792"/>
            <a:ext cx="8352928" cy="47525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a:solidFill>
                  <a:srgbClr val="6600CC"/>
                </a:solidFill>
                <a:cs typeface="Vrinda" pitchFamily="34" charset="0"/>
              </a:rPr>
              <a:t>In this session, you will learn to use:</a:t>
            </a:r>
          </a:p>
          <a:p>
            <a:pPr marL="900000" lvl="1" indent="-396875" defTabSz="914363">
              <a:lnSpc>
                <a:spcPct val="90000"/>
              </a:lnSpc>
              <a:buSzPct val="120000"/>
              <a:buBlip>
                <a:blip r:embed="rId4"/>
              </a:buBlip>
            </a:pPr>
            <a:endParaRPr lang="en-US" sz="1800" dirty="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sz="2000" dirty="0">
                <a:solidFill>
                  <a:srgbClr val="6600CC"/>
                </a:solidFill>
                <a:cs typeface="Vrinda" pitchFamily="34" charset="0"/>
              </a:rPr>
              <a:t>List.</a:t>
            </a:r>
          </a:p>
          <a:p>
            <a:pPr marL="900000" lvl="1" indent="-396875" defTabSz="914363">
              <a:lnSpc>
                <a:spcPct val="90000"/>
              </a:lnSpc>
              <a:buSzPct val="120000"/>
              <a:buBlip>
                <a:blip r:embed="rId4"/>
              </a:buBlip>
            </a:pPr>
            <a:r>
              <a:rPr lang="en-US" sz="2000" dirty="0">
                <a:solidFill>
                  <a:srgbClr val="6600CC"/>
                </a:solidFill>
                <a:cs typeface="Vrinda" pitchFamily="34" charset="0"/>
              </a:rPr>
              <a:t>Understanding List Operations and Methods.</a:t>
            </a:r>
          </a:p>
          <a:p>
            <a:pPr marL="900000" lvl="1" indent="-396875" defTabSz="914363">
              <a:lnSpc>
                <a:spcPct val="90000"/>
              </a:lnSpc>
              <a:buSzPct val="120000"/>
              <a:buBlip>
                <a:blip r:embed="rId4"/>
              </a:buBlip>
            </a:pPr>
            <a:r>
              <a:rPr lang="en-US" sz="2000" dirty="0">
                <a:solidFill>
                  <a:srgbClr val="6600CC"/>
                </a:solidFill>
                <a:cs typeface="Vrinda" pitchFamily="34" charset="0"/>
              </a:rPr>
              <a:t>Parsing Lines.</a:t>
            </a:r>
          </a:p>
          <a:p>
            <a:pPr marL="900000" lvl="1" indent="-396875" defTabSz="914363">
              <a:lnSpc>
                <a:spcPct val="90000"/>
              </a:lnSpc>
              <a:buSzPct val="120000"/>
              <a:buBlip>
                <a:blip r:embed="rId4"/>
              </a:buBlip>
            </a:pPr>
            <a:r>
              <a:rPr lang="en-US" sz="2000" dirty="0">
                <a:solidFill>
                  <a:srgbClr val="6600CC"/>
                </a:solidFill>
                <a:cs typeface="Vrinda" pitchFamily="34" charset="0"/>
              </a:rPr>
              <a:t>Implementing Objects, Values and Arguments. </a:t>
            </a:r>
          </a:p>
          <a:p>
            <a:pPr marL="900000" lvl="1" indent="-396875" defTabSz="914363">
              <a:lnSpc>
                <a:spcPct val="90000"/>
              </a:lnSpc>
              <a:buSzPct val="120000"/>
              <a:buBlip>
                <a:blip r:embed="rId4"/>
              </a:buBlip>
            </a:pPr>
            <a:r>
              <a:rPr lang="en-IN" sz="2000" dirty="0">
                <a:solidFill>
                  <a:srgbClr val="6600CC"/>
                </a:solidFill>
                <a:cs typeface="Vrinda" pitchFamily="34" charset="0"/>
              </a:rPr>
              <a:t>Use Dictionaries </a:t>
            </a:r>
            <a:r>
              <a:rPr lang="en-US" sz="2000" dirty="0">
                <a:solidFill>
                  <a:srgbClr val="6600CC"/>
                </a:solidFill>
                <a:cs typeface="Vrinda" pitchFamily="34" charset="0"/>
              </a:rPr>
              <a:t>F</a:t>
            </a:r>
            <a:r>
              <a:rPr lang="en-US" altLang="en-US" sz="2000" dirty="0">
                <a:solidFill>
                  <a:srgbClr val="6600CC"/>
                </a:solidFill>
                <a:cs typeface="Vrinda" pitchFamily="34" charset="0"/>
              </a:rPr>
              <a:t>unctions and Methods.</a:t>
            </a:r>
          </a:p>
          <a:p>
            <a:pPr marL="900000" lvl="1" indent="-396875" defTabSz="914363">
              <a:lnSpc>
                <a:spcPct val="90000"/>
              </a:lnSpc>
              <a:buSzPct val="120000"/>
              <a:buBlip>
                <a:blip r:embed="rId4"/>
              </a:buBlip>
            </a:pPr>
            <a:r>
              <a:rPr lang="en-US" sz="2000" dirty="0">
                <a:solidFill>
                  <a:srgbClr val="6600CC"/>
                </a:solidFill>
                <a:cs typeface="Vrinda" pitchFamily="34" charset="0"/>
                <a:sym typeface="Gill Sans" charset="0"/>
              </a:rPr>
              <a:t>Differences between Lists and Dictionaries.</a:t>
            </a:r>
            <a:endParaRPr lang="en-IN" sz="2000" dirty="0">
              <a:solidFill>
                <a:srgbClr val="6600CC"/>
              </a:solidFill>
              <a:cs typeface="Vrinda" pitchFamily="34" charset="0"/>
            </a:endParaRPr>
          </a:p>
          <a:p>
            <a:pPr marL="900000" lvl="1" indent="-396875" defTabSz="914363">
              <a:lnSpc>
                <a:spcPct val="90000"/>
              </a:lnSpc>
              <a:buSzPct val="120000"/>
              <a:buBlip>
                <a:blip r:embed="rId4"/>
              </a:buBlip>
            </a:pPr>
            <a:endParaRPr lang="en-IN" sz="1800" dirty="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00200"/>
            <a:ext cx="8304154" cy="4525963"/>
          </a:xfrm>
          <a:solidFill>
            <a:schemeClr val="bg1"/>
          </a:solidFill>
        </p:spPr>
        <p:txBody>
          <a:bodyPr>
            <a:normAutofit/>
          </a:bodyPr>
          <a:lstStyle/>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Most versatile datatype available in python.</a:t>
            </a:r>
          </a:p>
          <a:p>
            <a:pPr marL="514350" lvl="1" indent="-396875" defTabSz="914363">
              <a:lnSpc>
                <a:spcPct val="90000"/>
              </a:lnSpc>
              <a:buSzPct val="100000"/>
              <a:buBlip>
                <a:blip r:embed="rId3"/>
              </a:buBlip>
            </a:pPr>
            <a:r>
              <a:rPr lang="en-US" altLang="en-US" sz="2400" dirty="0">
                <a:solidFill>
                  <a:srgbClr val="6600CC"/>
                </a:solidFill>
              </a:rPr>
              <a:t>Defined as a sequence of values.</a:t>
            </a:r>
          </a:p>
          <a:p>
            <a:pPr marL="514350" lvl="1" indent="-396875" defTabSz="914363">
              <a:lnSpc>
                <a:spcPct val="90000"/>
              </a:lnSpc>
              <a:buSzPct val="100000"/>
              <a:buBlip>
                <a:blip r:embed="rId3"/>
              </a:buBlip>
            </a:pPr>
            <a:r>
              <a:rPr lang="en-US" altLang="en-US" sz="2400" dirty="0">
                <a:solidFill>
                  <a:srgbClr val="6600CC"/>
                </a:solidFill>
              </a:rPr>
              <a:t>Holds Homogenous set of items.</a:t>
            </a:r>
          </a:p>
          <a:p>
            <a:pPr marL="514350" lvl="1" indent="-396875" defTabSz="914363">
              <a:lnSpc>
                <a:spcPct val="90000"/>
              </a:lnSpc>
              <a:buSzPct val="100000"/>
              <a:buBlip>
                <a:blip r:embed="rId3"/>
              </a:buBlip>
            </a:pPr>
            <a:r>
              <a:rPr lang="en-US" altLang="en-US" sz="2400" dirty="0">
                <a:solidFill>
                  <a:srgbClr val="6600CC"/>
                </a:solidFill>
              </a:rPr>
              <a:t>Indices start at 0.</a:t>
            </a:r>
          </a:p>
          <a:p>
            <a:pPr marL="514350" lvl="1" indent="-396875" defTabSz="914363">
              <a:lnSpc>
                <a:spcPct val="90000"/>
              </a:lnSpc>
              <a:buSzPct val="100000"/>
              <a:buBlip>
                <a:blip r:embed="rId3"/>
              </a:buBlip>
            </a:pPr>
            <a:r>
              <a:rPr lang="en-US" altLang="en-US" sz="2400" dirty="0">
                <a:solidFill>
                  <a:srgbClr val="6600CC"/>
                </a:solidFill>
              </a:rPr>
              <a:t>Lists are Mutable.</a:t>
            </a:r>
          </a:p>
          <a:p>
            <a:pPr marL="129159" indent="0">
              <a:buNone/>
            </a:pPr>
            <a:endParaRPr lang="en-US" altLang="en-US" sz="1600" dirty="0">
              <a:solidFill>
                <a:srgbClr val="6600CC"/>
              </a:solidFill>
            </a:endParaRPr>
          </a:p>
          <a:p>
            <a:pPr marL="129159" indent="0">
              <a:buNone/>
            </a:pPr>
            <a:r>
              <a:rPr lang="en-US" altLang="en-US" sz="2000" b="1" dirty="0">
                <a:solidFill>
                  <a:srgbClr val="6600CC"/>
                </a:solidFill>
              </a:rPr>
              <a:t>Example:</a:t>
            </a:r>
          </a:p>
          <a:p>
            <a:pPr marL="129159" indent="0">
              <a:buNone/>
            </a:pPr>
            <a:endParaRPr lang="en-US" altLang="en-US" sz="1600" b="1" i="1" dirty="0">
              <a:solidFill>
                <a:srgbClr val="6600CC"/>
              </a:solidFill>
            </a:endParaRPr>
          </a:p>
        </p:txBody>
      </p:sp>
      <p:sp>
        <p:nvSpPr>
          <p:cNvPr id="4" name="Rectangle 3"/>
          <p:cNvSpPr/>
          <p:nvPr/>
        </p:nvSpPr>
        <p:spPr>
          <a:xfrm>
            <a:off x="526662" y="519063"/>
            <a:ext cx="2821202" cy="461665"/>
          </a:xfrm>
          <a:prstGeom prst="rect">
            <a:avLst/>
          </a:prstGeom>
        </p:spPr>
        <p:txBody>
          <a:bodyPr wrap="square">
            <a:spAutoFit/>
          </a:bodyPr>
          <a:lstStyle/>
          <a:p>
            <a:pPr>
              <a:spcBef>
                <a:spcPct val="0"/>
              </a:spcBef>
            </a:pPr>
            <a:r>
              <a:rPr lang="en-US" altLang="en-US" sz="2400" b="1" dirty="0">
                <a:solidFill>
                  <a:schemeClr val="bg1"/>
                </a:solidFill>
                <a:latin typeface="Vrinda" pitchFamily="34" charset="0"/>
                <a:ea typeface="+mj-ea"/>
                <a:cs typeface="Vrinda" pitchFamily="34" charset="0"/>
              </a:rPr>
              <a:t>List</a:t>
            </a:r>
            <a:endParaRPr lang="en-IN" sz="2400" b="1" dirty="0">
              <a:solidFill>
                <a:schemeClr val="bg1"/>
              </a:solidFill>
              <a:latin typeface="Vrinda" pitchFamily="34" charset="0"/>
              <a:ea typeface="+mj-ea"/>
              <a:cs typeface="Vrinda" pitchFamily="34" charset="0"/>
            </a:endParaRPr>
          </a:p>
        </p:txBody>
      </p:sp>
      <p:sp>
        <p:nvSpPr>
          <p:cNvPr id="2" name="TextBox 1"/>
          <p:cNvSpPr txBox="1"/>
          <p:nvPr/>
        </p:nvSpPr>
        <p:spPr>
          <a:xfrm>
            <a:off x="678970" y="4725144"/>
            <a:ext cx="4155689" cy="646331"/>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pPr algn="just"/>
            <a:r>
              <a:rPr lang="en-US" b="1" dirty="0">
                <a:solidFill>
                  <a:srgbClr val="C00000"/>
                </a:solidFill>
              </a:rPr>
              <a:t>&gt;&gt;&gt;list1=[10,20,30,40]</a:t>
            </a:r>
          </a:p>
          <a:p>
            <a:pPr algn="just"/>
            <a:r>
              <a:rPr lang="en-US" b="1" dirty="0">
                <a:solidFill>
                  <a:srgbClr val="C00000"/>
                </a:solidFill>
              </a:rPr>
              <a:t>&gt;&gt;&gt;list2=['Harish','Suresh','Kunal','</a:t>
            </a:r>
            <a:r>
              <a:rPr lang="en-US" b="1" dirty="0" err="1">
                <a:solidFill>
                  <a:srgbClr val="C00000"/>
                </a:solidFill>
              </a:rPr>
              <a:t>Girish</a:t>
            </a:r>
            <a:r>
              <a:rPr lang="en-US" b="1" dirty="0">
                <a:solidFill>
                  <a:srgbClr val="C00000"/>
                </a:solidFill>
              </a:rPr>
              <a:t>’</a:t>
            </a:r>
            <a:r>
              <a:rPr lang="en-US" dirty="0">
                <a:solidFill>
                  <a:srgbClr val="9900FF"/>
                </a:solidFill>
              </a:rPr>
              <a:t>]</a:t>
            </a:r>
          </a:p>
        </p:txBody>
      </p:sp>
      <p:sp>
        <p:nvSpPr>
          <p:cNvPr id="3" name="TextBox 2"/>
          <p:cNvSpPr txBox="1"/>
          <p:nvPr/>
        </p:nvSpPr>
        <p:spPr>
          <a:xfrm>
            <a:off x="5076056" y="4522440"/>
            <a:ext cx="1872208"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just"/>
            <a:r>
              <a:rPr lang="en-US" b="1" dirty="0">
                <a:solidFill>
                  <a:srgbClr val="C00000"/>
                </a:solidFill>
              </a:rPr>
              <a:t>&gt;&gt;&gt;list1=[17,119]</a:t>
            </a:r>
          </a:p>
          <a:p>
            <a:pPr algn="just"/>
            <a:r>
              <a:rPr lang="en-US" b="1" dirty="0">
                <a:solidFill>
                  <a:srgbClr val="C00000"/>
                </a:solidFill>
              </a:rPr>
              <a:t>&gt;&gt;&gt;list[1]=90</a:t>
            </a:r>
          </a:p>
          <a:p>
            <a:pPr algn="just"/>
            <a:r>
              <a:rPr lang="en-US" b="1" dirty="0">
                <a:solidFill>
                  <a:srgbClr val="C00000"/>
                </a:solidFill>
              </a:rPr>
              <a:t>&gt;&gt;&gt;print list1</a:t>
            </a:r>
          </a:p>
          <a:p>
            <a:pPr algn="just"/>
            <a:r>
              <a:rPr lang="en-US" b="1" dirty="0">
                <a:solidFill>
                  <a:srgbClr val="C00000"/>
                </a:solidFill>
              </a:rPr>
              <a:t>[17,90]</a:t>
            </a:r>
          </a:p>
        </p:txBody>
      </p:sp>
    </p:spTree>
    <p:extLst>
      <p:ext uri="{BB962C8B-B14F-4D97-AF65-F5344CB8AC3E}">
        <p14:creationId xmlns:p14="http://schemas.microsoft.com/office/powerpoint/2010/main" val="1342091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95536" y="1556792"/>
            <a:ext cx="8304154" cy="4525963"/>
          </a:xfrm>
          <a:solidFill>
            <a:schemeClr val="bg1"/>
          </a:solidFill>
        </p:spPr>
        <p:txBody>
          <a:bodyPr>
            <a:normAutofit/>
          </a:bodyPr>
          <a:lstStyle/>
          <a:p>
            <a:pPr marL="414909" indent="-285750"/>
            <a:endParaRPr lang="en-US" altLang="en-US" sz="1600" b="1"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Traversing  means visiting all the elements in the list.</a:t>
            </a:r>
          </a:p>
          <a:p>
            <a:pPr marL="514350" lvl="1" indent="-396875" defTabSz="914363">
              <a:lnSpc>
                <a:spcPct val="90000"/>
              </a:lnSpc>
              <a:buSzPct val="100000"/>
              <a:buBlip>
                <a:blip r:embed="rId3"/>
              </a:buBlip>
            </a:pPr>
            <a:r>
              <a:rPr lang="en-US" altLang="en-US" sz="2400" dirty="0">
                <a:solidFill>
                  <a:srgbClr val="6600CC"/>
                </a:solidFill>
              </a:rPr>
              <a:t>Traversing is required to  Search, Update  and Delete values from List.</a:t>
            </a:r>
          </a:p>
          <a:p>
            <a:pPr marL="414909" indent="-285750"/>
            <a:endParaRPr lang="en-US" altLang="en-US" sz="1600" b="1" dirty="0">
              <a:solidFill>
                <a:srgbClr val="6600CC"/>
              </a:solidFill>
            </a:endParaRPr>
          </a:p>
        </p:txBody>
      </p:sp>
      <p:sp>
        <p:nvSpPr>
          <p:cNvPr id="4" name="Rectangle 3"/>
          <p:cNvSpPr/>
          <p:nvPr/>
        </p:nvSpPr>
        <p:spPr>
          <a:xfrm>
            <a:off x="526662" y="544324"/>
            <a:ext cx="3541282" cy="461665"/>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Traversing List</a:t>
            </a:r>
            <a:endParaRPr lang="en-IN" sz="2400" b="1" dirty="0">
              <a:solidFill>
                <a:schemeClr val="bg1"/>
              </a:solidFill>
              <a:latin typeface="Vrinda" pitchFamily="34" charset="0"/>
              <a:ea typeface="+mj-ea"/>
              <a:cs typeface="Vrinda" pitchFamily="34" charset="0"/>
            </a:endParaRPr>
          </a:p>
        </p:txBody>
      </p:sp>
      <p:sp>
        <p:nvSpPr>
          <p:cNvPr id="2" name="TextBox 1"/>
          <p:cNvSpPr txBox="1"/>
          <p:nvPr/>
        </p:nvSpPr>
        <p:spPr>
          <a:xfrm>
            <a:off x="728933" y="2999269"/>
            <a:ext cx="3025957" cy="923330"/>
          </a:xfrm>
          <a:prstGeom prst="rect">
            <a:avLst/>
          </a:prstGeom>
        </p:spPr>
        <p:style>
          <a:lnRef idx="3">
            <a:schemeClr val="lt1"/>
          </a:lnRef>
          <a:fillRef idx="1">
            <a:schemeClr val="accent3"/>
          </a:fillRef>
          <a:effectRef idx="1">
            <a:schemeClr val="accent3"/>
          </a:effectRef>
          <a:fontRef idx="minor">
            <a:schemeClr val="lt1"/>
          </a:fontRef>
        </p:style>
        <p:txBody>
          <a:bodyPr wrap="none" rtlCol="0">
            <a:spAutoFit/>
          </a:bodyPr>
          <a:lstStyle/>
          <a:p>
            <a:pPr algn="just"/>
            <a:r>
              <a:rPr lang="en-US" b="1" dirty="0">
                <a:solidFill>
                  <a:schemeClr val="bg1"/>
                </a:solidFill>
              </a:rPr>
              <a:t>&gt;&gt;&gt;dept=[‘IT',‘CSE',‘ECE',‘CSE']</a:t>
            </a:r>
          </a:p>
          <a:p>
            <a:pPr algn="just"/>
            <a:r>
              <a:rPr lang="en-US" b="1" dirty="0">
                <a:solidFill>
                  <a:schemeClr val="bg1"/>
                </a:solidFill>
              </a:rPr>
              <a:t>&gt;&gt;&gt;for d in dept</a:t>
            </a:r>
          </a:p>
          <a:p>
            <a:pPr algn="just"/>
            <a:r>
              <a:rPr lang="en-US" b="1" dirty="0">
                <a:solidFill>
                  <a:schemeClr val="bg1"/>
                </a:solidFill>
              </a:rPr>
              <a:t>       print (d)</a:t>
            </a:r>
          </a:p>
        </p:txBody>
      </p:sp>
      <p:sp>
        <p:nvSpPr>
          <p:cNvPr id="3" name="TextBox 2"/>
          <p:cNvSpPr txBox="1"/>
          <p:nvPr/>
        </p:nvSpPr>
        <p:spPr>
          <a:xfrm>
            <a:off x="1547664" y="4567416"/>
            <a:ext cx="529825" cy="1200329"/>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r>
              <a:rPr lang="en-US" b="1" dirty="0"/>
              <a:t>IT</a:t>
            </a:r>
          </a:p>
          <a:p>
            <a:r>
              <a:rPr lang="en-US" b="1" dirty="0"/>
              <a:t>CSE</a:t>
            </a:r>
          </a:p>
          <a:p>
            <a:r>
              <a:rPr lang="en-US" b="1" dirty="0"/>
              <a:t>ECE</a:t>
            </a:r>
          </a:p>
          <a:p>
            <a:r>
              <a:rPr lang="en-US" b="1" dirty="0"/>
              <a:t>CSE</a:t>
            </a:r>
          </a:p>
        </p:txBody>
      </p:sp>
      <p:sp>
        <p:nvSpPr>
          <p:cNvPr id="5" name="TextBox 4"/>
          <p:cNvSpPr txBox="1"/>
          <p:nvPr/>
        </p:nvSpPr>
        <p:spPr>
          <a:xfrm>
            <a:off x="4211960" y="2722270"/>
            <a:ext cx="3227743" cy="1477328"/>
          </a:xfrm>
          <a:prstGeom prst="rect">
            <a:avLst/>
          </a:prstGeom>
        </p:spPr>
        <p:style>
          <a:lnRef idx="3">
            <a:schemeClr val="lt1"/>
          </a:lnRef>
          <a:fillRef idx="1">
            <a:schemeClr val="accent3"/>
          </a:fillRef>
          <a:effectRef idx="1">
            <a:schemeClr val="accent3"/>
          </a:effectRef>
          <a:fontRef idx="minor">
            <a:schemeClr val="lt1"/>
          </a:fontRef>
        </p:style>
        <p:txBody>
          <a:bodyPr wrap="none" rtlCol="0">
            <a:spAutoFit/>
          </a:bodyPr>
          <a:lstStyle/>
          <a:p>
            <a:pPr algn="just"/>
            <a:r>
              <a:rPr lang="en-US" b="1" dirty="0">
                <a:solidFill>
                  <a:schemeClr val="bg1"/>
                </a:solidFill>
              </a:rPr>
              <a:t>&gt;&gt;&gt;numbers=[10,20,30,40]</a:t>
            </a:r>
          </a:p>
          <a:p>
            <a:pPr algn="just"/>
            <a:r>
              <a:rPr lang="en-US" b="1" dirty="0">
                <a:solidFill>
                  <a:schemeClr val="bg1"/>
                </a:solidFill>
              </a:rPr>
              <a:t>&gt;&gt;&gt;for i in range(len(numbers)):</a:t>
            </a:r>
          </a:p>
          <a:p>
            <a:pPr algn="just"/>
            <a:r>
              <a:rPr lang="en-US" b="1" dirty="0">
                <a:solidFill>
                  <a:schemeClr val="bg1"/>
                </a:solidFill>
              </a:rPr>
              <a:t>       numbers[i]=numbers[i]*2</a:t>
            </a:r>
          </a:p>
          <a:p>
            <a:pPr algn="just"/>
            <a:r>
              <a:rPr lang="en-US" b="1" dirty="0">
                <a:solidFill>
                  <a:schemeClr val="bg1"/>
                </a:solidFill>
              </a:rPr>
              <a:t>       print(numbers[i])</a:t>
            </a:r>
          </a:p>
          <a:p>
            <a:endParaRPr lang="en-US" dirty="0"/>
          </a:p>
        </p:txBody>
      </p:sp>
      <p:sp>
        <p:nvSpPr>
          <p:cNvPr id="7" name="TextBox 6"/>
          <p:cNvSpPr txBox="1"/>
          <p:nvPr/>
        </p:nvSpPr>
        <p:spPr>
          <a:xfrm>
            <a:off x="4988559" y="5010500"/>
            <a:ext cx="432048" cy="1200329"/>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b="1" dirty="0"/>
              <a:t>20</a:t>
            </a:r>
          </a:p>
          <a:p>
            <a:r>
              <a:rPr lang="en-US" b="1" dirty="0"/>
              <a:t>40</a:t>
            </a:r>
          </a:p>
          <a:p>
            <a:r>
              <a:rPr lang="en-US" b="1" dirty="0"/>
              <a:t>60</a:t>
            </a:r>
          </a:p>
          <a:p>
            <a:r>
              <a:rPr lang="en-US" b="1" dirty="0"/>
              <a:t>80</a:t>
            </a:r>
          </a:p>
        </p:txBody>
      </p:sp>
      <p:sp>
        <p:nvSpPr>
          <p:cNvPr id="8" name="Down Arrow 7"/>
          <p:cNvSpPr/>
          <p:nvPr/>
        </p:nvSpPr>
        <p:spPr>
          <a:xfrm>
            <a:off x="5076056" y="4199598"/>
            <a:ext cx="313053" cy="810902"/>
          </a:xfrm>
          <a:prstGeom prst="downArrow">
            <a:avLst>
              <a:gd name="adj1" fmla="val 7671"/>
              <a:gd name="adj2" fmla="val 50000"/>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pPr marL="514350" indent="-396875" algn="ctr" defTabSz="914363">
              <a:lnSpc>
                <a:spcPct val="90000"/>
              </a:lnSpc>
              <a:spcBef>
                <a:spcPct val="20000"/>
              </a:spcBef>
              <a:buSzPct val="100000"/>
              <a:buBlip>
                <a:blip r:embed="rId3"/>
              </a:buBlip>
            </a:pPr>
            <a:endParaRPr lang="en-US" sz="2000" dirty="0">
              <a:solidFill>
                <a:srgbClr val="6600CC"/>
              </a:solidFill>
              <a:latin typeface="Vrinda" pitchFamily="34" charset="0"/>
              <a:cs typeface="Vrinda" pitchFamily="34" charset="0"/>
            </a:endParaRPr>
          </a:p>
        </p:txBody>
      </p:sp>
      <p:sp>
        <p:nvSpPr>
          <p:cNvPr id="10" name="Down Arrow 9"/>
          <p:cNvSpPr/>
          <p:nvPr/>
        </p:nvSpPr>
        <p:spPr>
          <a:xfrm>
            <a:off x="1645453" y="3968660"/>
            <a:ext cx="415679" cy="646709"/>
          </a:xfrm>
          <a:prstGeom prst="downArrow">
            <a:avLst>
              <a:gd name="adj1" fmla="val 7671"/>
              <a:gd name="adj2" fmla="val 50000"/>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pPr marL="514350" indent="-396875" algn="ctr" defTabSz="914363">
              <a:lnSpc>
                <a:spcPct val="90000"/>
              </a:lnSpc>
              <a:spcBef>
                <a:spcPct val="20000"/>
              </a:spcBef>
              <a:buSzPct val="100000"/>
              <a:buBlip>
                <a:blip r:embed="rId3"/>
              </a:buBlip>
            </a:pPr>
            <a:endParaRPr lang="en-US" sz="2000" dirty="0">
              <a:solidFill>
                <a:srgbClr val="6600CC"/>
              </a:solidFill>
              <a:latin typeface="Vrinda" pitchFamily="34" charset="0"/>
              <a:cs typeface="Vrinda" pitchFamily="34" charset="0"/>
            </a:endParaRPr>
          </a:p>
        </p:txBody>
      </p:sp>
      <p:sp>
        <p:nvSpPr>
          <p:cNvPr id="9" name="Left-Right Arrow 8"/>
          <p:cNvSpPr/>
          <p:nvPr/>
        </p:nvSpPr>
        <p:spPr>
          <a:xfrm>
            <a:off x="2241912" y="4878342"/>
            <a:ext cx="2690127" cy="748948"/>
          </a:xfrm>
          <a:prstGeom prst="leftRightArrow">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p>
            <a:pPr marL="117475" algn="ctr" defTabSz="914363">
              <a:lnSpc>
                <a:spcPct val="90000"/>
              </a:lnSpc>
              <a:spcBef>
                <a:spcPct val="20000"/>
              </a:spcBef>
              <a:buSzPct val="100000"/>
            </a:pPr>
            <a:r>
              <a:rPr lang="en-US" sz="2000" b="1" i="1" dirty="0">
                <a:solidFill>
                  <a:schemeClr val="bg1"/>
                </a:solidFill>
                <a:latin typeface="Vrinda" pitchFamily="34" charset="0"/>
                <a:cs typeface="Vrinda" pitchFamily="34" charset="0"/>
              </a:rPr>
              <a:t>Output</a:t>
            </a:r>
          </a:p>
        </p:txBody>
      </p:sp>
    </p:spTree>
    <p:extLst>
      <p:ext uri="{BB962C8B-B14F-4D97-AF65-F5344CB8AC3E}">
        <p14:creationId xmlns:p14="http://schemas.microsoft.com/office/powerpoint/2010/main" val="34083476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444310" y="1600200"/>
            <a:ext cx="8304154" cy="4493096"/>
          </a:xfrm>
          <a:solidFill>
            <a:schemeClr val="bg1"/>
          </a:solidFill>
        </p:spPr>
        <p:txBody>
          <a:bodyPr>
            <a:normAutofit/>
          </a:bodyPr>
          <a:lstStyle/>
          <a:p>
            <a:pPr marL="129159" indent="0">
              <a:buNone/>
            </a:pPr>
            <a:endParaRPr lang="en-US" altLang="en-US" sz="1600" b="1" i="1"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Operators used in list</a:t>
            </a:r>
          </a:p>
          <a:p>
            <a:pPr marL="514350" lvl="1" indent="-396875" defTabSz="914363">
              <a:lnSpc>
                <a:spcPct val="90000"/>
              </a:lnSpc>
              <a:buSzPct val="100000"/>
              <a:buBlip>
                <a:blip r:embed="rId3"/>
              </a:buBlip>
            </a:pPr>
            <a:endParaRPr lang="en-IN" sz="2000" dirty="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altLang="en-US" sz="2000" b="1" dirty="0">
                <a:solidFill>
                  <a:srgbClr val="FF0000"/>
                </a:solidFill>
              </a:rPr>
              <a:t>+</a:t>
            </a:r>
            <a:r>
              <a:rPr lang="en-US" altLang="en-US" sz="2000" dirty="0">
                <a:solidFill>
                  <a:srgbClr val="6600CC"/>
                </a:solidFill>
              </a:rPr>
              <a:t>  - used to concatenate the list.</a:t>
            </a:r>
          </a:p>
          <a:p>
            <a:pPr marL="900000" lvl="1" indent="-396875" defTabSz="914363">
              <a:lnSpc>
                <a:spcPct val="90000"/>
              </a:lnSpc>
              <a:buSzPct val="120000"/>
              <a:buBlip>
                <a:blip r:embed="rId4"/>
              </a:buBlip>
            </a:pPr>
            <a:endParaRPr lang="en-US" altLang="en-US" sz="2000" dirty="0">
              <a:solidFill>
                <a:srgbClr val="6600CC"/>
              </a:solidFill>
            </a:endParaRPr>
          </a:p>
          <a:p>
            <a:pPr marL="900000" lvl="1" indent="-396875" defTabSz="914363">
              <a:lnSpc>
                <a:spcPct val="90000"/>
              </a:lnSpc>
              <a:buSzPct val="120000"/>
              <a:buBlip>
                <a:blip r:embed="rId4"/>
              </a:buBlip>
            </a:pPr>
            <a:r>
              <a:rPr lang="en-US" altLang="en-US" sz="2000" b="1" dirty="0">
                <a:solidFill>
                  <a:srgbClr val="FF0000"/>
                </a:solidFill>
              </a:rPr>
              <a:t>* </a:t>
            </a:r>
            <a:r>
              <a:rPr lang="en-US" altLang="en-US" sz="2000" dirty="0">
                <a:solidFill>
                  <a:srgbClr val="6600CC"/>
                </a:solidFill>
              </a:rPr>
              <a:t> -  used to repeat a list for a number of times.</a:t>
            </a:r>
          </a:p>
          <a:p>
            <a:pPr marL="900000" lvl="1" indent="-396875" defTabSz="914363">
              <a:lnSpc>
                <a:spcPct val="90000"/>
              </a:lnSpc>
              <a:buSzPct val="120000"/>
              <a:buBlip>
                <a:blip r:embed="rId4"/>
              </a:buBlip>
            </a:pPr>
            <a:endParaRPr lang="en-US" altLang="en-US" sz="2000" b="1" dirty="0">
              <a:solidFill>
                <a:srgbClr val="FF0000"/>
              </a:solidFill>
            </a:endParaRPr>
          </a:p>
          <a:p>
            <a:pPr marL="900000" lvl="1" indent="-396875" defTabSz="914363">
              <a:lnSpc>
                <a:spcPct val="90000"/>
              </a:lnSpc>
              <a:buSzPct val="120000"/>
              <a:buBlip>
                <a:blip r:embed="rId4"/>
              </a:buBlip>
            </a:pPr>
            <a:r>
              <a:rPr lang="en-US" altLang="en-US" sz="2000" b="1" dirty="0">
                <a:solidFill>
                  <a:srgbClr val="FF0000"/>
                </a:solidFill>
              </a:rPr>
              <a:t>: </a:t>
            </a:r>
            <a:r>
              <a:rPr lang="en-US" altLang="en-US" sz="2000" dirty="0">
                <a:solidFill>
                  <a:srgbClr val="6600CC"/>
                </a:solidFill>
              </a:rPr>
              <a:t>  -  used to check a range of characters.</a:t>
            </a:r>
          </a:p>
          <a:p>
            <a:pPr marL="129159" indent="0">
              <a:buNone/>
            </a:pPr>
            <a:endParaRPr lang="en-US" altLang="en-US" sz="2000" dirty="0">
              <a:solidFill>
                <a:srgbClr val="6600CC"/>
              </a:solidFill>
            </a:endParaRPr>
          </a:p>
          <a:p>
            <a:pPr marL="129159" indent="0">
              <a:buNone/>
            </a:pPr>
            <a:endParaRPr lang="en-US" altLang="en-US" sz="2000" dirty="0">
              <a:solidFill>
                <a:srgbClr val="6600CC"/>
              </a:solidFill>
            </a:endParaRPr>
          </a:p>
          <a:p>
            <a:pPr marL="129159" indent="0">
              <a:buNone/>
            </a:pPr>
            <a:endParaRPr lang="en-US" altLang="en-US" sz="1600" dirty="0">
              <a:solidFill>
                <a:srgbClr val="6600CC"/>
              </a:solidFill>
            </a:endParaRPr>
          </a:p>
        </p:txBody>
      </p:sp>
      <p:sp>
        <p:nvSpPr>
          <p:cNvPr id="4" name="Rectangle 3"/>
          <p:cNvSpPr/>
          <p:nvPr/>
        </p:nvSpPr>
        <p:spPr>
          <a:xfrm>
            <a:off x="526662" y="544324"/>
            <a:ext cx="3757306" cy="461665"/>
          </a:xfrm>
          <a:prstGeom prst="rect">
            <a:avLst/>
          </a:prstGeom>
        </p:spPr>
        <p:txBody>
          <a:bodyPr wrap="square">
            <a:spAutoFit/>
          </a:bodyPr>
          <a:lstStyle/>
          <a:p>
            <a:pPr>
              <a:spcBef>
                <a:spcPct val="0"/>
              </a:spcBef>
            </a:pPr>
            <a:r>
              <a:rPr lang="en-IN" sz="2400" b="1" dirty="0">
                <a:solidFill>
                  <a:schemeClr val="bg1"/>
                </a:solidFill>
                <a:latin typeface="Vrinda" pitchFamily="34" charset="0"/>
                <a:ea typeface="+mj-ea"/>
                <a:cs typeface="Vrinda" pitchFamily="34" charset="0"/>
              </a:rPr>
              <a:t>List Operations &amp; Slices</a:t>
            </a:r>
          </a:p>
        </p:txBody>
      </p:sp>
      <p:sp>
        <p:nvSpPr>
          <p:cNvPr id="3" name="Vertical Scroll 2"/>
          <p:cNvSpPr/>
          <p:nvPr/>
        </p:nvSpPr>
        <p:spPr>
          <a:xfrm>
            <a:off x="5868144" y="1430764"/>
            <a:ext cx="3312368" cy="4997113"/>
          </a:xfrm>
          <a:prstGeom prst="verticalScroll">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just"/>
            <a:r>
              <a:rPr lang="en-US" sz="2000" dirty="0">
                <a:solidFill>
                  <a:srgbClr val="9900FF"/>
                </a:solidFill>
              </a:rPr>
              <a:t>&gt;&gt;&gt;a=[1,2,3]</a:t>
            </a:r>
          </a:p>
          <a:p>
            <a:pPr algn="just"/>
            <a:r>
              <a:rPr lang="en-US" sz="2000" dirty="0">
                <a:solidFill>
                  <a:srgbClr val="9900FF"/>
                </a:solidFill>
              </a:rPr>
              <a:t>&gt;&gt;&gt;b=[4,5,6]</a:t>
            </a:r>
          </a:p>
          <a:p>
            <a:pPr algn="just"/>
            <a:r>
              <a:rPr lang="en-US" sz="2000" dirty="0">
                <a:solidFill>
                  <a:srgbClr val="9900FF"/>
                </a:solidFill>
              </a:rPr>
              <a:t>&gt;&gt;&gt;c=</a:t>
            </a:r>
            <a:r>
              <a:rPr lang="en-US" sz="2000" dirty="0" err="1">
                <a:solidFill>
                  <a:srgbClr val="9900FF"/>
                </a:solidFill>
              </a:rPr>
              <a:t>a+b</a:t>
            </a:r>
            <a:endParaRPr lang="en-US" sz="2000" dirty="0">
              <a:solidFill>
                <a:srgbClr val="9900FF"/>
              </a:solidFill>
            </a:endParaRPr>
          </a:p>
          <a:p>
            <a:pPr algn="just"/>
            <a:r>
              <a:rPr lang="en-US" sz="2000" dirty="0">
                <a:solidFill>
                  <a:srgbClr val="9900FF"/>
                </a:solidFill>
              </a:rPr>
              <a:t>&gt;&gt;&gt;print(c)</a:t>
            </a:r>
          </a:p>
          <a:p>
            <a:pPr algn="just"/>
            <a:r>
              <a:rPr lang="en-US" sz="2000" b="1" i="1" dirty="0">
                <a:solidFill>
                  <a:srgbClr val="9900FF"/>
                </a:solidFill>
              </a:rPr>
              <a:t>Output : </a:t>
            </a:r>
            <a:r>
              <a:rPr lang="en-US" sz="2000" dirty="0">
                <a:solidFill>
                  <a:srgbClr val="9900FF"/>
                </a:solidFill>
              </a:rPr>
              <a:t>[1,2,3,4,5,6]</a:t>
            </a:r>
          </a:p>
          <a:p>
            <a:pPr algn="just"/>
            <a:r>
              <a:rPr lang="en-US" sz="2000" dirty="0">
                <a:solidFill>
                  <a:srgbClr val="9900FF"/>
                </a:solidFill>
              </a:rPr>
              <a:t>&gt;&gt;&gt;a=[10,20,30]</a:t>
            </a:r>
          </a:p>
          <a:p>
            <a:pPr algn="just"/>
            <a:r>
              <a:rPr lang="en-US" sz="2000" dirty="0">
                <a:solidFill>
                  <a:srgbClr val="9900FF"/>
                </a:solidFill>
              </a:rPr>
              <a:t>&gt;&gt;&gt;a*2</a:t>
            </a:r>
          </a:p>
          <a:p>
            <a:pPr algn="just"/>
            <a:r>
              <a:rPr lang="en-US" sz="2000" b="1" i="1" dirty="0">
                <a:solidFill>
                  <a:srgbClr val="9900FF"/>
                </a:solidFill>
              </a:rPr>
              <a:t>Output:</a:t>
            </a:r>
          </a:p>
          <a:p>
            <a:pPr algn="just"/>
            <a:r>
              <a:rPr lang="en-US" sz="2000" dirty="0">
                <a:solidFill>
                  <a:srgbClr val="9900FF"/>
                </a:solidFill>
              </a:rPr>
              <a:t>[10,20,30,10,20,30]</a:t>
            </a:r>
          </a:p>
          <a:p>
            <a:pPr algn="just"/>
            <a:r>
              <a:rPr lang="en-US" sz="2000" dirty="0">
                <a:solidFill>
                  <a:srgbClr val="9900FF"/>
                </a:solidFill>
              </a:rPr>
              <a:t>&gt;&gt;&gt; alpha=['</a:t>
            </a:r>
            <a:r>
              <a:rPr lang="en-US" sz="2000" dirty="0" err="1">
                <a:solidFill>
                  <a:srgbClr val="9900FF"/>
                </a:solidFill>
              </a:rPr>
              <a:t>a','b','c','d','e','f</a:t>
            </a:r>
            <a:r>
              <a:rPr lang="en-US" sz="2000" dirty="0">
                <a:solidFill>
                  <a:srgbClr val="9900FF"/>
                </a:solidFill>
              </a:rPr>
              <a:t>']</a:t>
            </a:r>
          </a:p>
          <a:p>
            <a:pPr algn="just"/>
            <a:r>
              <a:rPr lang="en-US" sz="2000" dirty="0">
                <a:solidFill>
                  <a:srgbClr val="9900FF"/>
                </a:solidFill>
              </a:rPr>
              <a:t>&gt;&gt;&gt; alpha[1:3]</a:t>
            </a:r>
          </a:p>
          <a:p>
            <a:pPr algn="just"/>
            <a:r>
              <a:rPr lang="en-US" sz="2000" b="1" i="1" dirty="0">
                <a:solidFill>
                  <a:srgbClr val="9900FF"/>
                </a:solidFill>
              </a:rPr>
              <a:t>Output</a:t>
            </a:r>
            <a:r>
              <a:rPr lang="en-US" sz="2000" dirty="0">
                <a:solidFill>
                  <a:srgbClr val="9900FF"/>
                </a:solidFill>
              </a:rPr>
              <a:t> :['b', 'c‘]</a:t>
            </a:r>
          </a:p>
        </p:txBody>
      </p:sp>
      <p:sp>
        <p:nvSpPr>
          <p:cNvPr id="5" name="TextBox 4"/>
          <p:cNvSpPr txBox="1"/>
          <p:nvPr/>
        </p:nvSpPr>
        <p:spPr>
          <a:xfrm>
            <a:off x="6797596" y="1412776"/>
            <a:ext cx="1086772" cy="369332"/>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r>
              <a:rPr lang="en-US" b="1" i="1" dirty="0"/>
              <a:t>Examples</a:t>
            </a:r>
          </a:p>
        </p:txBody>
      </p:sp>
    </p:spTree>
    <p:extLst>
      <p:ext uri="{BB962C8B-B14F-4D97-AF65-F5344CB8AC3E}">
        <p14:creationId xmlns:p14="http://schemas.microsoft.com/office/powerpoint/2010/main" val="2171823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467544" y="1783357"/>
            <a:ext cx="8219256" cy="4525963"/>
          </a:xfrm>
          <a:solidFill>
            <a:schemeClr val="bg1"/>
          </a:solidFill>
        </p:spPr>
        <p:txBody>
          <a:bodyPr>
            <a:normAutofit/>
          </a:bodyPr>
          <a:lstStyle/>
          <a:p>
            <a:pPr marL="129159" indent="0">
              <a:buNone/>
            </a:pPr>
            <a:r>
              <a:rPr lang="en-US" altLang="en-US" sz="2400" dirty="0">
                <a:solidFill>
                  <a:srgbClr val="6600CC"/>
                </a:solidFill>
              </a:rPr>
              <a:t>The following methods  are used in Python for manipulating the list:</a:t>
            </a:r>
          </a:p>
        </p:txBody>
      </p:sp>
      <p:sp>
        <p:nvSpPr>
          <p:cNvPr id="4" name="Rectangle 3"/>
          <p:cNvSpPr/>
          <p:nvPr/>
        </p:nvSpPr>
        <p:spPr>
          <a:xfrm>
            <a:off x="526662" y="544324"/>
            <a:ext cx="3613290" cy="461665"/>
          </a:xfrm>
          <a:prstGeom prst="rect">
            <a:avLst/>
          </a:prstGeom>
        </p:spPr>
        <p:txBody>
          <a:bodyPr wrap="square">
            <a:spAutoFit/>
          </a:bodyPr>
          <a:lstStyle/>
          <a:p>
            <a:r>
              <a:rPr lang="en-IN" sz="2400" b="1" dirty="0">
                <a:solidFill>
                  <a:schemeClr val="bg1"/>
                </a:solidFill>
                <a:latin typeface="Vrinda" pitchFamily="34" charset="0"/>
                <a:ea typeface="+mj-ea"/>
                <a:cs typeface="Vrinda" pitchFamily="34" charset="0"/>
              </a:rPr>
              <a:t>List Methods</a:t>
            </a:r>
          </a:p>
        </p:txBody>
      </p:sp>
      <p:graphicFrame>
        <p:nvGraphicFramePr>
          <p:cNvPr id="2" name="Table 1"/>
          <p:cNvGraphicFramePr>
            <a:graphicFrameLocks noGrp="1"/>
          </p:cNvGraphicFramePr>
          <p:nvPr>
            <p:extLst>
              <p:ext uri="{D42A27DB-BD31-4B8C-83A1-F6EECF244321}">
                <p14:modId xmlns:p14="http://schemas.microsoft.com/office/powerpoint/2010/main" val="3157649333"/>
              </p:ext>
            </p:extLst>
          </p:nvPr>
        </p:nvGraphicFramePr>
        <p:xfrm>
          <a:off x="683568" y="2636912"/>
          <a:ext cx="7272808" cy="1762224"/>
        </p:xfrm>
        <a:graphic>
          <a:graphicData uri="http://schemas.openxmlformats.org/drawingml/2006/table">
            <a:tbl>
              <a:tblPr firstRow="1" bandRow="1">
                <a:tableStyleId>{72833802-FEF1-4C79-8D5D-14CF1EAF98D9}</a:tableStyleId>
              </a:tblPr>
              <a:tblGrid>
                <a:gridCol w="2016224">
                  <a:extLst>
                    <a:ext uri="{9D8B030D-6E8A-4147-A177-3AD203B41FA5}">
                      <a16:colId xmlns:a16="http://schemas.microsoft.com/office/drawing/2014/main" val="20000"/>
                    </a:ext>
                  </a:extLst>
                </a:gridCol>
                <a:gridCol w="5256584">
                  <a:extLst>
                    <a:ext uri="{9D8B030D-6E8A-4147-A177-3AD203B41FA5}">
                      <a16:colId xmlns:a16="http://schemas.microsoft.com/office/drawing/2014/main" val="20001"/>
                    </a:ext>
                  </a:extLst>
                </a:gridCol>
              </a:tblGrid>
              <a:tr h="355064">
                <a:tc>
                  <a:txBody>
                    <a:bodyPr/>
                    <a:lstStyle/>
                    <a:p>
                      <a:pPr algn="ctr"/>
                      <a:r>
                        <a:rPr lang="en-US" sz="1600" dirty="0"/>
                        <a:t>Method Name</a:t>
                      </a:r>
                    </a:p>
                  </a:txBody>
                  <a:tcPr/>
                </a:tc>
                <a:tc>
                  <a:txBody>
                    <a:bodyPr/>
                    <a:lstStyle/>
                    <a:p>
                      <a:pPr algn="ctr"/>
                      <a:r>
                        <a:rPr lang="en-US" sz="1600" dirty="0"/>
                        <a:t>Description</a:t>
                      </a:r>
                    </a:p>
                  </a:txBody>
                  <a:tcPr/>
                </a:tc>
                <a:extLst>
                  <a:ext uri="{0D108BD9-81ED-4DB2-BD59-A6C34878D82A}">
                    <a16:rowId xmlns:a16="http://schemas.microsoft.com/office/drawing/2014/main" val="10000"/>
                  </a:ext>
                </a:extLst>
              </a:tr>
              <a:tr h="370840">
                <a:tc>
                  <a:txBody>
                    <a:bodyPr/>
                    <a:lstStyle/>
                    <a:p>
                      <a:r>
                        <a:rPr lang="en-US" sz="1600" dirty="0"/>
                        <a:t>append()</a:t>
                      </a:r>
                    </a:p>
                  </a:txBody>
                  <a:tcPr/>
                </a:tc>
                <a:tc>
                  <a:txBody>
                    <a:bodyPr/>
                    <a:lstStyle/>
                    <a:p>
                      <a:r>
                        <a:rPr lang="en-US" sz="1400" dirty="0"/>
                        <a:t>This method is used to add a new element to the end of a list.</a:t>
                      </a:r>
                    </a:p>
                  </a:txBody>
                  <a:tcPr/>
                </a:tc>
                <a:extLst>
                  <a:ext uri="{0D108BD9-81ED-4DB2-BD59-A6C34878D82A}">
                    <a16:rowId xmlns:a16="http://schemas.microsoft.com/office/drawing/2014/main" val="10001"/>
                  </a:ext>
                </a:extLst>
              </a:tr>
              <a:tr h="370840">
                <a:tc>
                  <a:txBody>
                    <a:bodyPr/>
                    <a:lstStyle/>
                    <a:p>
                      <a:r>
                        <a:rPr lang="en-US" sz="1600" dirty="0"/>
                        <a:t>extend()</a:t>
                      </a:r>
                    </a:p>
                  </a:txBody>
                  <a:tcPr/>
                </a:tc>
                <a:tc>
                  <a:txBody>
                    <a:bodyPr/>
                    <a:lstStyle/>
                    <a:p>
                      <a:r>
                        <a:rPr lang="en-US" sz="1400" dirty="0"/>
                        <a:t>This method is used to take a list as an argument and appends all the elements.</a:t>
                      </a:r>
                    </a:p>
                  </a:txBody>
                  <a:tcPr/>
                </a:tc>
                <a:extLst>
                  <a:ext uri="{0D108BD9-81ED-4DB2-BD59-A6C34878D82A}">
                    <a16:rowId xmlns:a16="http://schemas.microsoft.com/office/drawing/2014/main" val="10002"/>
                  </a:ext>
                </a:extLst>
              </a:tr>
              <a:tr h="370840">
                <a:tc>
                  <a:txBody>
                    <a:bodyPr/>
                    <a:lstStyle/>
                    <a:p>
                      <a:r>
                        <a:rPr lang="en-US" sz="1600" dirty="0"/>
                        <a:t>sort()</a:t>
                      </a:r>
                    </a:p>
                  </a:txBody>
                  <a:tcPr/>
                </a:tc>
                <a:tc>
                  <a:txBody>
                    <a:bodyPr/>
                    <a:lstStyle/>
                    <a:p>
                      <a:r>
                        <a:rPr lang="en-US" sz="1400" dirty="0"/>
                        <a:t>This method is used to arrange the elements of the list from low to high.</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2699792" y="4509120"/>
            <a:ext cx="2737949" cy="1477328"/>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just"/>
            <a:r>
              <a:rPr lang="en-US" b="1" dirty="0">
                <a:solidFill>
                  <a:schemeClr val="bg1"/>
                </a:solidFill>
              </a:rPr>
              <a:t>Example</a:t>
            </a:r>
          </a:p>
          <a:p>
            <a:pPr algn="just"/>
            <a:r>
              <a:rPr lang="en-US" b="1" dirty="0">
                <a:solidFill>
                  <a:schemeClr val="bg1"/>
                </a:solidFill>
              </a:rPr>
              <a:t>&gt;&gt;&gt; </a:t>
            </a:r>
            <a:r>
              <a:rPr lang="en-US" b="1" dirty="0" err="1">
                <a:solidFill>
                  <a:schemeClr val="bg1"/>
                </a:solidFill>
              </a:rPr>
              <a:t>mylist</a:t>
            </a:r>
            <a:r>
              <a:rPr lang="en-US" b="1" dirty="0">
                <a:solidFill>
                  <a:schemeClr val="bg1"/>
                </a:solidFill>
              </a:rPr>
              <a:t>=['A','B','C']</a:t>
            </a:r>
          </a:p>
          <a:p>
            <a:pPr algn="just"/>
            <a:r>
              <a:rPr lang="en-US" b="1" dirty="0">
                <a:solidFill>
                  <a:schemeClr val="bg1"/>
                </a:solidFill>
              </a:rPr>
              <a:t>&gt;&gt;&gt; </a:t>
            </a:r>
            <a:r>
              <a:rPr lang="en-US" b="1" dirty="0" err="1">
                <a:solidFill>
                  <a:schemeClr val="bg1"/>
                </a:solidFill>
              </a:rPr>
              <a:t>mylist.append</a:t>
            </a:r>
            <a:r>
              <a:rPr lang="en-US" b="1" dirty="0">
                <a:solidFill>
                  <a:schemeClr val="bg1"/>
                </a:solidFill>
              </a:rPr>
              <a:t>('D')</a:t>
            </a:r>
          </a:p>
          <a:p>
            <a:pPr algn="just"/>
            <a:r>
              <a:rPr lang="en-US" b="1" dirty="0">
                <a:solidFill>
                  <a:schemeClr val="bg1"/>
                </a:solidFill>
              </a:rPr>
              <a:t>&gt;&gt;&gt; print (</a:t>
            </a:r>
            <a:r>
              <a:rPr lang="en-US" b="1" dirty="0" err="1">
                <a:solidFill>
                  <a:schemeClr val="bg1"/>
                </a:solidFill>
              </a:rPr>
              <a:t>mylist</a:t>
            </a:r>
            <a:r>
              <a:rPr lang="en-US" b="1" dirty="0">
                <a:solidFill>
                  <a:schemeClr val="bg1"/>
                </a:solidFill>
              </a:rPr>
              <a:t>)</a:t>
            </a:r>
          </a:p>
          <a:p>
            <a:pPr algn="just"/>
            <a:r>
              <a:rPr lang="en-US" b="1" dirty="0">
                <a:solidFill>
                  <a:schemeClr val="bg1"/>
                </a:solidFill>
              </a:rPr>
              <a:t>['A', 'B', 'C', 'D']</a:t>
            </a:r>
          </a:p>
        </p:txBody>
      </p:sp>
    </p:spTree>
    <p:extLst>
      <p:ext uri="{BB962C8B-B14F-4D97-AF65-F5344CB8AC3E}">
        <p14:creationId xmlns:p14="http://schemas.microsoft.com/office/powerpoint/2010/main" val="825321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467544" y="1600200"/>
            <a:ext cx="8219256" cy="4525963"/>
          </a:xfrm>
          <a:solidFill>
            <a:schemeClr val="bg1"/>
          </a:solidFill>
        </p:spPr>
        <p:txBody>
          <a:bodyPr>
            <a:normAutofit/>
          </a:bodyPr>
          <a:lstStyle/>
          <a:p>
            <a:pPr marL="129159" indent="0">
              <a:buNone/>
            </a:pPr>
            <a:r>
              <a:rPr lang="en-US" altLang="en-US" sz="2400" dirty="0">
                <a:solidFill>
                  <a:srgbClr val="6600CC"/>
                </a:solidFill>
              </a:rPr>
              <a:t>There are several ways to delete elements from a list.</a:t>
            </a:r>
          </a:p>
          <a:p>
            <a:pPr marL="472059"/>
            <a:endParaRPr lang="en-US" altLang="en-US" sz="1600" dirty="0">
              <a:solidFill>
                <a:srgbClr val="6600CC"/>
              </a:solidFill>
            </a:endParaRPr>
          </a:p>
          <a:p>
            <a:pPr marL="129159" indent="0">
              <a:buNone/>
            </a:pPr>
            <a:endParaRPr lang="en-US" altLang="en-US" sz="1600" dirty="0">
              <a:solidFill>
                <a:srgbClr val="6600CC"/>
              </a:solidFill>
            </a:endParaRPr>
          </a:p>
          <a:p>
            <a:pPr marL="129159" indent="0">
              <a:buNone/>
            </a:pPr>
            <a:endParaRPr lang="en-US" altLang="en-US" sz="1600" dirty="0">
              <a:solidFill>
                <a:srgbClr val="6600CC"/>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384387402"/>
              </p:ext>
            </p:extLst>
          </p:nvPr>
        </p:nvGraphicFramePr>
        <p:xfrm>
          <a:off x="971600" y="2276872"/>
          <a:ext cx="7272808" cy="2122904"/>
        </p:xfrm>
        <a:graphic>
          <a:graphicData uri="http://schemas.openxmlformats.org/drawingml/2006/table">
            <a:tbl>
              <a:tblPr firstRow="1" bandRow="1">
                <a:tableStyleId>{F2DE63D5-997A-4646-A377-4702673A728D}</a:tableStyleId>
              </a:tblPr>
              <a:tblGrid>
                <a:gridCol w="2016224">
                  <a:extLst>
                    <a:ext uri="{9D8B030D-6E8A-4147-A177-3AD203B41FA5}">
                      <a16:colId xmlns:a16="http://schemas.microsoft.com/office/drawing/2014/main" val="20000"/>
                    </a:ext>
                  </a:extLst>
                </a:gridCol>
                <a:gridCol w="5256584">
                  <a:extLst>
                    <a:ext uri="{9D8B030D-6E8A-4147-A177-3AD203B41FA5}">
                      <a16:colId xmlns:a16="http://schemas.microsoft.com/office/drawing/2014/main" val="20001"/>
                    </a:ext>
                  </a:extLst>
                </a:gridCol>
              </a:tblGrid>
              <a:tr h="355064">
                <a:tc>
                  <a:txBody>
                    <a:bodyPr/>
                    <a:lstStyle/>
                    <a:p>
                      <a:pPr algn="ctr"/>
                      <a:r>
                        <a:rPr lang="en-US" sz="1600" dirty="0"/>
                        <a:t>Ways</a:t>
                      </a:r>
                    </a:p>
                  </a:txBody>
                  <a:tcPr/>
                </a:tc>
                <a:tc>
                  <a:txBody>
                    <a:bodyPr/>
                    <a:lstStyle/>
                    <a:p>
                      <a:pPr algn="ctr"/>
                      <a:r>
                        <a:rPr lang="en-US" sz="1600" dirty="0"/>
                        <a:t>Description</a:t>
                      </a:r>
                    </a:p>
                  </a:txBody>
                  <a:tcPr/>
                </a:tc>
                <a:extLst>
                  <a:ext uri="{0D108BD9-81ED-4DB2-BD59-A6C34878D82A}">
                    <a16:rowId xmlns:a16="http://schemas.microsoft.com/office/drawing/2014/main" val="10000"/>
                  </a:ext>
                </a:extLst>
              </a:tr>
              <a:tr h="370840">
                <a:tc>
                  <a:txBody>
                    <a:bodyPr/>
                    <a:lstStyle/>
                    <a:p>
                      <a:r>
                        <a:rPr lang="en-US" sz="1600" dirty="0"/>
                        <a:t>pop() method</a:t>
                      </a:r>
                    </a:p>
                  </a:txBody>
                  <a:tcPr/>
                </a:tc>
                <a:tc>
                  <a:txBody>
                    <a:bodyPr/>
                    <a:lstStyle/>
                    <a:p>
                      <a:pPr algn="just"/>
                      <a:r>
                        <a:rPr lang="en-US" sz="1400" dirty="0"/>
                        <a:t>It modifies the list and returns the element that was removed. If we </a:t>
                      </a:r>
                    </a:p>
                    <a:p>
                      <a:pPr algn="just"/>
                      <a:r>
                        <a:rPr lang="en-US" sz="1400" dirty="0"/>
                        <a:t>don't provide an index value then it deletes the last element and returns the value.</a:t>
                      </a:r>
                    </a:p>
                  </a:txBody>
                  <a:tcPr/>
                </a:tc>
                <a:extLst>
                  <a:ext uri="{0D108BD9-81ED-4DB2-BD59-A6C34878D82A}">
                    <a16:rowId xmlns:a16="http://schemas.microsoft.com/office/drawing/2014/main" val="10001"/>
                  </a:ext>
                </a:extLst>
              </a:tr>
              <a:tr h="370840">
                <a:tc>
                  <a:txBody>
                    <a:bodyPr/>
                    <a:lstStyle/>
                    <a:p>
                      <a:r>
                        <a:rPr lang="en-US" sz="1600" dirty="0"/>
                        <a:t>del</a:t>
                      </a:r>
                      <a:r>
                        <a:rPr lang="en-US" sz="1600" baseline="0" dirty="0"/>
                        <a:t> operator</a:t>
                      </a:r>
                      <a:endParaRPr lang="en-US" sz="1600" dirty="0"/>
                    </a:p>
                  </a:txBody>
                  <a:tcPr/>
                </a:tc>
                <a:tc>
                  <a:txBody>
                    <a:bodyPr/>
                    <a:lstStyle/>
                    <a:p>
                      <a:pPr algn="just"/>
                      <a:r>
                        <a:rPr lang="en-US" sz="1400" dirty="0"/>
                        <a:t>If we do not want to retain the value which we have deleted using an index  then we need to use the del operator.</a:t>
                      </a:r>
                    </a:p>
                  </a:txBody>
                  <a:tcPr/>
                </a:tc>
                <a:extLst>
                  <a:ext uri="{0D108BD9-81ED-4DB2-BD59-A6C34878D82A}">
                    <a16:rowId xmlns:a16="http://schemas.microsoft.com/office/drawing/2014/main" val="10002"/>
                  </a:ext>
                </a:extLst>
              </a:tr>
              <a:tr h="370840">
                <a:tc>
                  <a:txBody>
                    <a:bodyPr/>
                    <a:lstStyle/>
                    <a:p>
                      <a:r>
                        <a:rPr lang="en-US" sz="1600" dirty="0"/>
                        <a:t>remove</a:t>
                      </a:r>
                      <a:r>
                        <a:rPr lang="en-US" sz="1600" baseline="0" dirty="0"/>
                        <a:t>() method</a:t>
                      </a:r>
                      <a:endParaRPr lang="en-US" sz="1600" dirty="0"/>
                    </a:p>
                  </a:txBody>
                  <a:tcPr/>
                </a:tc>
                <a:tc>
                  <a:txBody>
                    <a:bodyPr/>
                    <a:lstStyle/>
                    <a:p>
                      <a:pPr algn="just"/>
                      <a:r>
                        <a:rPr lang="en-US" sz="1400" dirty="0"/>
                        <a:t>If we know the element to be removed then we can use the remove() method.</a:t>
                      </a:r>
                    </a:p>
                  </a:txBody>
                  <a:tcPr/>
                </a:tc>
                <a:extLst>
                  <a:ext uri="{0D108BD9-81ED-4DB2-BD59-A6C34878D82A}">
                    <a16:rowId xmlns:a16="http://schemas.microsoft.com/office/drawing/2014/main" val="10003"/>
                  </a:ext>
                </a:extLst>
              </a:tr>
            </a:tbl>
          </a:graphicData>
        </a:graphic>
      </p:graphicFrame>
      <p:sp>
        <p:nvSpPr>
          <p:cNvPr id="2" name="TextBox 1"/>
          <p:cNvSpPr txBox="1"/>
          <p:nvPr/>
        </p:nvSpPr>
        <p:spPr>
          <a:xfrm>
            <a:off x="2822567" y="4454624"/>
            <a:ext cx="2994777" cy="1477328"/>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just"/>
            <a:r>
              <a:rPr lang="en-US" b="1" dirty="0">
                <a:solidFill>
                  <a:schemeClr val="bg1"/>
                </a:solidFill>
              </a:rPr>
              <a:t>Example</a:t>
            </a:r>
          </a:p>
          <a:p>
            <a:pPr algn="just"/>
            <a:r>
              <a:rPr lang="en-US" b="1" dirty="0">
                <a:solidFill>
                  <a:schemeClr val="bg1"/>
                </a:solidFill>
              </a:rPr>
              <a:t>&gt;&gt;&gt; mylist1=['A','B','C']</a:t>
            </a:r>
          </a:p>
          <a:p>
            <a:pPr algn="just"/>
            <a:r>
              <a:rPr lang="en-US" b="1" dirty="0">
                <a:solidFill>
                  <a:schemeClr val="bg1"/>
                </a:solidFill>
              </a:rPr>
              <a:t>&gt;&gt;&gt; element=mylist1.pop(1)</a:t>
            </a:r>
          </a:p>
          <a:p>
            <a:pPr algn="just"/>
            <a:r>
              <a:rPr lang="en-US" b="1" dirty="0">
                <a:solidFill>
                  <a:schemeClr val="bg1"/>
                </a:solidFill>
              </a:rPr>
              <a:t>&gt;&gt;&gt; print(mylist1)</a:t>
            </a:r>
          </a:p>
          <a:p>
            <a:pPr algn="just"/>
            <a:r>
              <a:rPr lang="en-US" b="1" dirty="0">
                <a:solidFill>
                  <a:schemeClr val="bg1"/>
                </a:solidFill>
              </a:rPr>
              <a:t>['A', 'C']</a:t>
            </a:r>
          </a:p>
        </p:txBody>
      </p:sp>
      <p:sp>
        <p:nvSpPr>
          <p:cNvPr id="6" name="Rectangle 5"/>
          <p:cNvSpPr/>
          <p:nvPr/>
        </p:nvSpPr>
        <p:spPr>
          <a:xfrm>
            <a:off x="526662" y="544324"/>
            <a:ext cx="3541282" cy="461665"/>
          </a:xfrm>
          <a:prstGeom prst="rect">
            <a:avLst/>
          </a:prstGeom>
        </p:spPr>
        <p:txBody>
          <a:bodyPr wrap="square">
            <a:spAutoFit/>
          </a:bodyPr>
          <a:lstStyle/>
          <a:p>
            <a:pPr>
              <a:spcBef>
                <a:spcPct val="0"/>
              </a:spcBef>
            </a:pPr>
            <a:r>
              <a:rPr lang="en-IN" sz="2400" b="1" dirty="0">
                <a:solidFill>
                  <a:schemeClr val="bg1"/>
                </a:solidFill>
                <a:latin typeface="Vrinda" pitchFamily="34" charset="0"/>
                <a:ea typeface="+mj-ea"/>
                <a:cs typeface="Vrinda" pitchFamily="34" charset="0"/>
              </a:rPr>
              <a:t>List Methods (Contd.)</a:t>
            </a:r>
          </a:p>
        </p:txBody>
      </p:sp>
    </p:spTree>
    <p:extLst>
      <p:ext uri="{BB962C8B-B14F-4D97-AF65-F5344CB8AC3E}">
        <p14:creationId xmlns:p14="http://schemas.microsoft.com/office/powerpoint/2010/main" val="51651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00200"/>
            <a:ext cx="8509834" cy="4709120"/>
          </a:xfrm>
          <a:solidFill>
            <a:schemeClr val="bg1"/>
          </a:solidFill>
        </p:spPr>
        <p:txBody>
          <a:bodyPr>
            <a:normAutofit/>
          </a:bodyPr>
          <a:lstStyle/>
          <a:p>
            <a:pPr marL="129159" indent="0">
              <a:buNone/>
            </a:pPr>
            <a:r>
              <a:rPr lang="en-US" altLang="en-US" sz="2400" dirty="0">
                <a:solidFill>
                  <a:srgbClr val="6600CC"/>
                </a:solidFill>
              </a:rPr>
              <a:t>There are a number of built in functions that can be used on lists.</a:t>
            </a:r>
          </a:p>
          <a:p>
            <a:pPr marL="472059"/>
            <a:endParaRPr lang="en-US" altLang="en-US" sz="1600" dirty="0">
              <a:solidFill>
                <a:srgbClr val="6600CC"/>
              </a:solidFill>
            </a:endParaRPr>
          </a:p>
          <a:p>
            <a:pPr marL="472059"/>
            <a:endParaRPr lang="en-US" altLang="en-US" sz="1600" dirty="0">
              <a:solidFill>
                <a:srgbClr val="6600CC"/>
              </a:solidFill>
            </a:endParaRPr>
          </a:p>
          <a:p>
            <a:pPr marL="129159" indent="0">
              <a:buNone/>
            </a:pPr>
            <a:endParaRPr lang="en-US" altLang="en-US" sz="1600" dirty="0">
              <a:solidFill>
                <a:srgbClr val="6600CC"/>
              </a:solidFill>
            </a:endParaRPr>
          </a:p>
          <a:p>
            <a:pPr marL="129159" indent="0">
              <a:buNone/>
            </a:pPr>
            <a:endParaRPr lang="en-US" altLang="en-US" sz="1600" dirty="0">
              <a:solidFill>
                <a:srgbClr val="6600CC"/>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345606722"/>
              </p:ext>
            </p:extLst>
          </p:nvPr>
        </p:nvGraphicFramePr>
        <p:xfrm>
          <a:off x="827584" y="2435592"/>
          <a:ext cx="7560840" cy="2001520"/>
        </p:xfrm>
        <a:graphic>
          <a:graphicData uri="http://schemas.openxmlformats.org/drawingml/2006/table">
            <a:tbl>
              <a:tblPr firstRow="1" bandRow="1">
                <a:tableStyleId>{72833802-FEF1-4C79-8D5D-14CF1EAF98D9}</a:tableStyleId>
              </a:tblPr>
              <a:tblGrid>
                <a:gridCol w="172819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tblGrid>
              <a:tr h="370840">
                <a:tc>
                  <a:txBody>
                    <a:bodyPr/>
                    <a:lstStyle/>
                    <a:p>
                      <a:r>
                        <a:rPr lang="en-US" dirty="0"/>
                        <a:t>Function Name</a:t>
                      </a:r>
                    </a:p>
                  </a:txBody>
                  <a:tcPr/>
                </a:tc>
                <a:tc>
                  <a:txBody>
                    <a:bodyPr/>
                    <a:lstStyle/>
                    <a:p>
                      <a:pPr algn="ctr"/>
                      <a:r>
                        <a:rPr lang="en-US" dirty="0"/>
                        <a:t>Description</a:t>
                      </a:r>
                    </a:p>
                  </a:txBody>
                  <a:tcPr/>
                </a:tc>
                <a:extLst>
                  <a:ext uri="{0D108BD9-81ED-4DB2-BD59-A6C34878D82A}">
                    <a16:rowId xmlns:a16="http://schemas.microsoft.com/office/drawing/2014/main" val="10000"/>
                  </a:ext>
                </a:extLst>
              </a:tr>
              <a:tr h="370840">
                <a:tc>
                  <a:txBody>
                    <a:bodyPr/>
                    <a:lstStyle/>
                    <a:p>
                      <a:r>
                        <a:rPr lang="en-US" dirty="0"/>
                        <a:t>sum()</a:t>
                      </a:r>
                    </a:p>
                  </a:txBody>
                  <a:tcPr/>
                </a:tc>
                <a:tc>
                  <a:txBody>
                    <a:bodyPr/>
                    <a:lstStyle/>
                    <a:p>
                      <a:r>
                        <a:rPr lang="en-US" sz="1400" dirty="0"/>
                        <a:t>Using this function</a:t>
                      </a:r>
                      <a:r>
                        <a:rPr lang="en-US" sz="1400" baseline="0" dirty="0"/>
                        <a:t> we can add the elements of the list. It will work only with the numbers.</a:t>
                      </a:r>
                      <a:endParaRPr lang="en-US" sz="1400" dirty="0"/>
                    </a:p>
                  </a:txBody>
                  <a:tcPr/>
                </a:tc>
                <a:extLst>
                  <a:ext uri="{0D108BD9-81ED-4DB2-BD59-A6C34878D82A}">
                    <a16:rowId xmlns:a16="http://schemas.microsoft.com/office/drawing/2014/main" val="10001"/>
                  </a:ext>
                </a:extLst>
              </a:tr>
              <a:tr h="370840">
                <a:tc>
                  <a:txBody>
                    <a:bodyPr/>
                    <a:lstStyle/>
                    <a:p>
                      <a:r>
                        <a:rPr lang="en-US" dirty="0"/>
                        <a:t>min()</a:t>
                      </a:r>
                    </a:p>
                  </a:txBody>
                  <a:tcPr/>
                </a:tc>
                <a:tc>
                  <a:txBody>
                    <a:bodyPr/>
                    <a:lstStyle/>
                    <a:p>
                      <a:r>
                        <a:rPr lang="en-US" sz="1400" dirty="0"/>
                        <a:t>Using this function we can find the minimum</a:t>
                      </a:r>
                      <a:r>
                        <a:rPr lang="en-US" sz="1400" baseline="0" dirty="0"/>
                        <a:t> value from the list.</a:t>
                      </a:r>
                      <a:endParaRPr lang="en-US" sz="1400" dirty="0"/>
                    </a:p>
                  </a:txBody>
                  <a:tcPr/>
                </a:tc>
                <a:extLst>
                  <a:ext uri="{0D108BD9-81ED-4DB2-BD59-A6C34878D82A}">
                    <a16:rowId xmlns:a16="http://schemas.microsoft.com/office/drawing/2014/main" val="10002"/>
                  </a:ext>
                </a:extLst>
              </a:tr>
              <a:tr h="370840">
                <a:tc>
                  <a:txBody>
                    <a:bodyPr/>
                    <a:lstStyle/>
                    <a:p>
                      <a:r>
                        <a:rPr lang="en-US" dirty="0"/>
                        <a:t>max()</a:t>
                      </a:r>
                    </a:p>
                  </a:txBody>
                  <a:tcPr/>
                </a:tc>
                <a:tc>
                  <a:txBody>
                    <a:bodyPr/>
                    <a:lstStyle/>
                    <a:p>
                      <a:r>
                        <a:rPr lang="en-US" sz="1400" dirty="0"/>
                        <a:t>Using this function we can find the maximum</a:t>
                      </a:r>
                      <a:r>
                        <a:rPr lang="en-US" sz="1400" baseline="0" dirty="0"/>
                        <a:t> value from the list</a:t>
                      </a:r>
                      <a:endParaRPr lang="en-US" sz="1400" dirty="0"/>
                    </a:p>
                  </a:txBody>
                  <a:tcPr/>
                </a:tc>
                <a:extLst>
                  <a:ext uri="{0D108BD9-81ED-4DB2-BD59-A6C34878D82A}">
                    <a16:rowId xmlns:a16="http://schemas.microsoft.com/office/drawing/2014/main" val="10003"/>
                  </a:ext>
                </a:extLst>
              </a:tr>
              <a:tr h="370840">
                <a:tc>
                  <a:txBody>
                    <a:bodyPr/>
                    <a:lstStyle/>
                    <a:p>
                      <a:r>
                        <a:rPr lang="en-US" dirty="0" err="1"/>
                        <a:t>len</a:t>
                      </a:r>
                      <a:r>
                        <a:rPr lang="en-US" dirty="0"/>
                        <a:t>()</a:t>
                      </a:r>
                    </a:p>
                  </a:txBody>
                  <a:tcPr/>
                </a:tc>
                <a:tc>
                  <a:txBody>
                    <a:bodyPr/>
                    <a:lstStyle/>
                    <a:p>
                      <a:r>
                        <a:rPr lang="en-US" sz="1400" dirty="0"/>
                        <a:t>Using this function we can find</a:t>
                      </a:r>
                      <a:r>
                        <a:rPr lang="en-US" sz="1400" baseline="0" dirty="0"/>
                        <a:t> the number of elements in the list.</a:t>
                      </a:r>
                      <a:endParaRPr lang="en-US" sz="1400" dirty="0"/>
                    </a:p>
                  </a:txBody>
                  <a:tcPr/>
                </a:tc>
                <a:extLst>
                  <a:ext uri="{0D108BD9-81ED-4DB2-BD59-A6C34878D82A}">
                    <a16:rowId xmlns:a16="http://schemas.microsoft.com/office/drawing/2014/main" val="10004"/>
                  </a:ext>
                </a:extLst>
              </a:tr>
            </a:tbl>
          </a:graphicData>
        </a:graphic>
      </p:graphicFrame>
      <p:sp>
        <p:nvSpPr>
          <p:cNvPr id="3" name="TextBox 2"/>
          <p:cNvSpPr txBox="1"/>
          <p:nvPr/>
        </p:nvSpPr>
        <p:spPr>
          <a:xfrm>
            <a:off x="2767327" y="4554994"/>
            <a:ext cx="3072508" cy="1754326"/>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pPr algn="just"/>
            <a:r>
              <a:rPr lang="en-US" b="1" dirty="0">
                <a:solidFill>
                  <a:schemeClr val="bg1"/>
                </a:solidFill>
              </a:rPr>
              <a:t>Example</a:t>
            </a:r>
          </a:p>
          <a:p>
            <a:pPr algn="just"/>
            <a:r>
              <a:rPr lang="en-US" b="1" dirty="0">
                <a:solidFill>
                  <a:schemeClr val="bg1"/>
                </a:solidFill>
              </a:rPr>
              <a:t>&gt;&gt;&gt; numbers=[10,20,30,40,50]</a:t>
            </a:r>
          </a:p>
          <a:p>
            <a:pPr algn="just"/>
            <a:r>
              <a:rPr lang="en-US" b="1" dirty="0">
                <a:solidFill>
                  <a:schemeClr val="bg1"/>
                </a:solidFill>
              </a:rPr>
              <a:t>&gt;&gt;&gt; print(len(numbers))</a:t>
            </a:r>
          </a:p>
          <a:p>
            <a:pPr algn="just"/>
            <a:r>
              <a:rPr lang="en-US" b="1" dirty="0">
                <a:solidFill>
                  <a:schemeClr val="bg1"/>
                </a:solidFill>
              </a:rPr>
              <a:t>5</a:t>
            </a:r>
          </a:p>
          <a:p>
            <a:pPr algn="just"/>
            <a:r>
              <a:rPr lang="en-US" b="1" dirty="0">
                <a:solidFill>
                  <a:schemeClr val="bg1"/>
                </a:solidFill>
              </a:rPr>
              <a:t>&gt;&gt;&gt; print(max(numbers))</a:t>
            </a:r>
          </a:p>
          <a:p>
            <a:pPr algn="just"/>
            <a:r>
              <a:rPr lang="en-US" b="1" dirty="0">
                <a:solidFill>
                  <a:schemeClr val="bg1"/>
                </a:solidFill>
              </a:rPr>
              <a:t>50</a:t>
            </a:r>
          </a:p>
        </p:txBody>
      </p:sp>
      <p:sp>
        <p:nvSpPr>
          <p:cNvPr id="6" name="Rectangle 5"/>
          <p:cNvSpPr/>
          <p:nvPr/>
        </p:nvSpPr>
        <p:spPr>
          <a:xfrm>
            <a:off x="526662" y="544324"/>
            <a:ext cx="3613290" cy="461665"/>
          </a:xfrm>
          <a:prstGeom prst="rect">
            <a:avLst/>
          </a:prstGeom>
        </p:spPr>
        <p:txBody>
          <a:bodyPr wrap="square">
            <a:spAutoFit/>
          </a:bodyPr>
          <a:lstStyle/>
          <a:p>
            <a:r>
              <a:rPr lang="en-IN" sz="2400" b="1" dirty="0">
                <a:solidFill>
                  <a:schemeClr val="bg1"/>
                </a:solidFill>
                <a:latin typeface="Vrinda" pitchFamily="34" charset="0"/>
                <a:ea typeface="+mj-ea"/>
                <a:cs typeface="Vrinda" pitchFamily="34" charset="0"/>
              </a:rPr>
              <a:t>List Functions</a:t>
            </a:r>
          </a:p>
        </p:txBody>
      </p:sp>
    </p:spTree>
    <p:extLst>
      <p:ext uri="{BB962C8B-B14F-4D97-AF65-F5344CB8AC3E}">
        <p14:creationId xmlns:p14="http://schemas.microsoft.com/office/powerpoint/2010/main" val="2782789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00200"/>
            <a:ext cx="8365818" cy="4709120"/>
          </a:xfrm>
          <a:solidFill>
            <a:schemeClr val="bg1"/>
          </a:solidFill>
        </p:spPr>
        <p:txBody>
          <a:bodyPr>
            <a:normAutofit/>
          </a:bodyPr>
          <a:lstStyle/>
          <a:p>
            <a:pPr marL="129159" indent="0">
              <a:buNone/>
            </a:pPr>
            <a:endParaRPr lang="en-US" altLang="en-US" sz="1600" b="1" i="1"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String Is a sequence of characters.</a:t>
            </a:r>
          </a:p>
          <a:p>
            <a:pPr marL="117475" lvl="1" indent="0" defTabSz="914363">
              <a:lnSpc>
                <a:spcPct val="90000"/>
              </a:lnSpc>
              <a:buSzPct val="100000"/>
              <a:buNone/>
            </a:pPr>
            <a:endParaRPr lang="en-US" altLang="en-US" sz="2000" b="1" i="1"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Methods in Strings</a:t>
            </a:r>
          </a:p>
          <a:p>
            <a:pPr marL="900000" lvl="1" indent="-396875" defTabSz="914363">
              <a:lnSpc>
                <a:spcPct val="90000"/>
              </a:lnSpc>
              <a:buSzPct val="120000"/>
              <a:buBlip>
                <a:blip r:embed="rId4"/>
              </a:buBlip>
            </a:pPr>
            <a:r>
              <a:rPr lang="en-US" altLang="en-US" sz="2000" dirty="0">
                <a:solidFill>
                  <a:srgbClr val="6600CC"/>
                </a:solidFill>
              </a:rPr>
              <a:t>list() is used to convert a string to list of characters.</a:t>
            </a:r>
          </a:p>
          <a:p>
            <a:pPr marL="900000" lvl="1" indent="-396875" defTabSz="914363">
              <a:lnSpc>
                <a:spcPct val="90000"/>
              </a:lnSpc>
              <a:buSzPct val="120000"/>
              <a:buBlip>
                <a:blip r:embed="rId4"/>
              </a:buBlip>
            </a:pPr>
            <a:r>
              <a:rPr lang="en-US" altLang="en-US" sz="2000" dirty="0">
                <a:solidFill>
                  <a:srgbClr val="6600CC"/>
                </a:solidFill>
              </a:rPr>
              <a:t>split() is used to break the string into list of words.</a:t>
            </a:r>
          </a:p>
          <a:p>
            <a:pPr marL="900000" lvl="1" indent="-396875" defTabSz="914363">
              <a:lnSpc>
                <a:spcPct val="90000"/>
              </a:lnSpc>
              <a:buSzPct val="120000"/>
              <a:buBlip>
                <a:blip r:embed="rId4"/>
              </a:buBlip>
            </a:pPr>
            <a:r>
              <a:rPr lang="en-US" altLang="en-US" sz="2000" dirty="0">
                <a:solidFill>
                  <a:srgbClr val="6600CC"/>
                </a:solidFill>
              </a:rPr>
              <a:t>split() takes an optional argument called delimiter which specifies the word boundaries.</a:t>
            </a:r>
          </a:p>
        </p:txBody>
      </p:sp>
      <p:sp>
        <p:nvSpPr>
          <p:cNvPr id="4" name="Rectangle 3"/>
          <p:cNvSpPr/>
          <p:nvPr/>
        </p:nvSpPr>
        <p:spPr>
          <a:xfrm>
            <a:off x="526662" y="557480"/>
            <a:ext cx="3469274" cy="461665"/>
          </a:xfrm>
          <a:prstGeom prst="rect">
            <a:avLst/>
          </a:prstGeom>
        </p:spPr>
        <p:txBody>
          <a:bodyPr wrap="square">
            <a:spAutoFit/>
          </a:bodyPr>
          <a:lstStyle/>
          <a:p>
            <a:r>
              <a:rPr lang="en-IN" sz="2400" b="1" dirty="0">
                <a:solidFill>
                  <a:schemeClr val="bg1"/>
                </a:solidFill>
                <a:latin typeface="Vrinda" pitchFamily="34" charset="0"/>
                <a:ea typeface="+mj-ea"/>
                <a:cs typeface="Vrinda" pitchFamily="34" charset="0"/>
              </a:rPr>
              <a:t>String and Its Methods</a:t>
            </a:r>
          </a:p>
        </p:txBody>
      </p:sp>
      <p:sp>
        <p:nvSpPr>
          <p:cNvPr id="2" name="TextBox 1"/>
          <p:cNvSpPr txBox="1"/>
          <p:nvPr/>
        </p:nvSpPr>
        <p:spPr>
          <a:xfrm>
            <a:off x="2510090" y="4293096"/>
            <a:ext cx="3072316" cy="1200329"/>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pPr algn="just"/>
            <a:r>
              <a:rPr lang="en-US" b="1" dirty="0">
                <a:solidFill>
                  <a:schemeClr val="bg1"/>
                </a:solidFill>
              </a:rPr>
              <a:t>&gt;&gt;&gt; </a:t>
            </a:r>
            <a:r>
              <a:rPr lang="en-US" b="1" dirty="0" err="1">
                <a:solidFill>
                  <a:schemeClr val="bg1"/>
                </a:solidFill>
              </a:rPr>
              <a:t>str</a:t>
            </a:r>
            <a:r>
              <a:rPr lang="en-US" b="1" dirty="0">
                <a:solidFill>
                  <a:schemeClr val="bg1"/>
                </a:solidFill>
              </a:rPr>
              <a:t>='I am studying in NIIT'</a:t>
            </a:r>
          </a:p>
          <a:p>
            <a:pPr algn="just"/>
            <a:r>
              <a:rPr lang="en-US" b="1" dirty="0">
                <a:solidFill>
                  <a:schemeClr val="bg1"/>
                </a:solidFill>
              </a:rPr>
              <a:t>&gt;&gt;&gt; t=</a:t>
            </a:r>
            <a:r>
              <a:rPr lang="en-US" b="1" dirty="0" err="1">
                <a:solidFill>
                  <a:schemeClr val="bg1"/>
                </a:solidFill>
              </a:rPr>
              <a:t>str.split</a:t>
            </a:r>
            <a:r>
              <a:rPr lang="en-US" b="1" dirty="0">
                <a:solidFill>
                  <a:schemeClr val="bg1"/>
                </a:solidFill>
              </a:rPr>
              <a:t>()</a:t>
            </a:r>
          </a:p>
          <a:p>
            <a:pPr algn="just"/>
            <a:r>
              <a:rPr lang="en-US" b="1" dirty="0">
                <a:solidFill>
                  <a:schemeClr val="bg1"/>
                </a:solidFill>
              </a:rPr>
              <a:t>&gt;&gt;&gt; print(t)</a:t>
            </a:r>
          </a:p>
          <a:p>
            <a:pPr algn="just"/>
            <a:r>
              <a:rPr lang="en-US" b="1" dirty="0">
                <a:solidFill>
                  <a:schemeClr val="bg1"/>
                </a:solidFill>
              </a:rPr>
              <a:t>['I', 'am', 'studying', 'in', 'NIIT']</a:t>
            </a:r>
          </a:p>
        </p:txBody>
      </p:sp>
    </p:spTree>
    <p:extLst>
      <p:ext uri="{BB962C8B-B14F-4D97-AF65-F5344CB8AC3E}">
        <p14:creationId xmlns:p14="http://schemas.microsoft.com/office/powerpoint/2010/main" val="3851768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28800"/>
            <a:ext cx="8304154" cy="4525963"/>
          </a:xfrm>
          <a:solidFill>
            <a:schemeClr val="bg1"/>
          </a:solidFill>
        </p:spPr>
        <p:txBody>
          <a:bodyPr>
            <a:normAutofit/>
          </a:bodyPr>
          <a:lstStyle/>
          <a:p>
            <a:pPr marL="414909" indent="-285750"/>
            <a:endParaRPr lang="en-US" altLang="en-US" sz="20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Parsing means, dividing a string into tokens based on some delimiters.</a:t>
            </a:r>
          </a:p>
          <a:p>
            <a:pPr marL="514350" lvl="1" indent="-396875" defTabSz="914363">
              <a:lnSpc>
                <a:spcPct val="90000"/>
              </a:lnSpc>
              <a:buSzPct val="100000"/>
              <a:buBlip>
                <a:blip r:embed="rId3"/>
              </a:buBlip>
            </a:pPr>
            <a:r>
              <a:rPr lang="en-US" altLang="en-US" sz="2400" dirty="0">
                <a:solidFill>
                  <a:srgbClr val="6600CC"/>
                </a:solidFill>
              </a:rPr>
              <a:t>It is used to find a particular word from a file or search a pattern </a:t>
            </a:r>
          </a:p>
        </p:txBody>
      </p:sp>
      <p:sp>
        <p:nvSpPr>
          <p:cNvPr id="4" name="Rectangle 3"/>
          <p:cNvSpPr/>
          <p:nvPr/>
        </p:nvSpPr>
        <p:spPr>
          <a:xfrm>
            <a:off x="526662" y="544324"/>
            <a:ext cx="3325258" cy="461665"/>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Parsing of Lines</a:t>
            </a:r>
            <a:endParaRPr lang="en-IN" sz="2400" b="1" dirty="0">
              <a:solidFill>
                <a:schemeClr val="bg1"/>
              </a:solidFill>
              <a:latin typeface="Vrinda" pitchFamily="34" charset="0"/>
              <a:ea typeface="+mj-ea"/>
              <a:cs typeface="Vrinda" pitchFamily="34" charset="0"/>
            </a:endParaRPr>
          </a:p>
        </p:txBody>
      </p:sp>
      <p:sp>
        <p:nvSpPr>
          <p:cNvPr id="2" name="TextBox 1"/>
          <p:cNvSpPr txBox="1"/>
          <p:nvPr/>
        </p:nvSpPr>
        <p:spPr>
          <a:xfrm>
            <a:off x="611560" y="3122692"/>
            <a:ext cx="4018280" cy="2308324"/>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b="1" dirty="0">
                <a:solidFill>
                  <a:srgbClr val="C00000"/>
                </a:solidFill>
              </a:rPr>
              <a:t>Example Code:</a:t>
            </a:r>
          </a:p>
          <a:p>
            <a:r>
              <a:rPr lang="en-US" b="1" dirty="0">
                <a:solidFill>
                  <a:srgbClr val="C00000"/>
                </a:solidFill>
              </a:rPr>
              <a:t>fhand = open(‘MyText.txt')</a:t>
            </a:r>
          </a:p>
          <a:p>
            <a:r>
              <a:rPr lang="en-US" b="1" dirty="0">
                <a:solidFill>
                  <a:srgbClr val="C00000"/>
                </a:solidFill>
              </a:rPr>
              <a:t>for line in fhand:</a:t>
            </a:r>
          </a:p>
          <a:p>
            <a:r>
              <a:rPr lang="en-US" b="1" dirty="0">
                <a:solidFill>
                  <a:srgbClr val="C00000"/>
                </a:solidFill>
              </a:rPr>
              <a:t>	line = line.rstrip()</a:t>
            </a:r>
          </a:p>
          <a:p>
            <a:r>
              <a:rPr lang="en-US" b="1" dirty="0">
                <a:solidFill>
                  <a:srgbClr val="C00000"/>
                </a:solidFill>
              </a:rPr>
              <a:t>	if not line.startswith('From ') : </a:t>
            </a:r>
          </a:p>
          <a:p>
            <a:r>
              <a:rPr lang="en-US" b="1" dirty="0">
                <a:solidFill>
                  <a:srgbClr val="C00000"/>
                </a:solidFill>
              </a:rPr>
              <a:t>		continue</a:t>
            </a:r>
          </a:p>
          <a:p>
            <a:r>
              <a:rPr lang="en-US" b="1" dirty="0">
                <a:solidFill>
                  <a:srgbClr val="C00000"/>
                </a:solidFill>
              </a:rPr>
              <a:t>	words = line.split()</a:t>
            </a:r>
          </a:p>
          <a:p>
            <a:r>
              <a:rPr lang="en-US" b="1" dirty="0">
                <a:solidFill>
                  <a:srgbClr val="C00000"/>
                </a:solidFill>
              </a:rPr>
              <a:t>	print words[2]</a:t>
            </a:r>
          </a:p>
        </p:txBody>
      </p:sp>
      <p:sp>
        <p:nvSpPr>
          <p:cNvPr id="3" name="TextBox 2"/>
          <p:cNvSpPr txBox="1"/>
          <p:nvPr/>
        </p:nvSpPr>
        <p:spPr>
          <a:xfrm>
            <a:off x="5076056" y="3122692"/>
            <a:ext cx="3258003" cy="120032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b="1" i="1" dirty="0"/>
              <a:t>Contents of MyText.txt</a:t>
            </a:r>
          </a:p>
          <a:p>
            <a:r>
              <a:rPr lang="en-US" i="1" dirty="0">
                <a:solidFill>
                  <a:srgbClr val="9900FF"/>
                </a:solidFill>
              </a:rPr>
              <a:t>From stephen.marquard@uct.ac.za </a:t>
            </a:r>
          </a:p>
          <a:p>
            <a:r>
              <a:rPr lang="en-US" i="1" dirty="0">
                <a:solidFill>
                  <a:srgbClr val="9900FF"/>
                </a:solidFill>
              </a:rPr>
              <a:t>Sat Jan 5 09:14:16 2008</a:t>
            </a:r>
          </a:p>
        </p:txBody>
      </p:sp>
      <p:sp>
        <p:nvSpPr>
          <p:cNvPr id="5" name="TextBox 4"/>
          <p:cNvSpPr txBox="1"/>
          <p:nvPr/>
        </p:nvSpPr>
        <p:spPr>
          <a:xfrm>
            <a:off x="6948264" y="4276853"/>
            <a:ext cx="933269"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t>Output</a:t>
            </a:r>
            <a:r>
              <a:rPr lang="en-US" dirty="0"/>
              <a:t>:</a:t>
            </a:r>
          </a:p>
          <a:p>
            <a:r>
              <a:rPr lang="en-US" dirty="0"/>
              <a:t>Sat</a:t>
            </a:r>
          </a:p>
        </p:txBody>
      </p:sp>
      <p:sp>
        <p:nvSpPr>
          <p:cNvPr id="6" name="Striped Right Arrow 5"/>
          <p:cNvSpPr/>
          <p:nvPr/>
        </p:nvSpPr>
        <p:spPr>
          <a:xfrm>
            <a:off x="4788024" y="4264228"/>
            <a:ext cx="2160240" cy="748948"/>
          </a:xfrm>
          <a:prstGeom prst="stripedRightArrow">
            <a:avLst/>
          </a:prstGeom>
        </p:spPr>
        <p:style>
          <a:lnRef idx="2">
            <a:schemeClr val="accent3"/>
          </a:lnRef>
          <a:fillRef idx="1">
            <a:schemeClr val="lt1"/>
          </a:fillRef>
          <a:effectRef idx="0">
            <a:schemeClr val="accent3"/>
          </a:effectRef>
          <a:fontRef idx="minor">
            <a:schemeClr val="dk1"/>
          </a:fontRef>
        </p:style>
        <p:txBody>
          <a:bodyPr wrap="square" rtlCol="0" anchor="ctr">
            <a:spAutoFit/>
          </a:bodyPr>
          <a:lstStyle/>
          <a:p>
            <a:pPr marL="117475" algn="ctr" defTabSz="914363">
              <a:lnSpc>
                <a:spcPct val="90000"/>
              </a:lnSpc>
              <a:spcBef>
                <a:spcPct val="20000"/>
              </a:spcBef>
              <a:buSzPct val="100000"/>
            </a:pPr>
            <a:endParaRPr lang="en-US" sz="2000" b="1" i="1" dirty="0">
              <a:solidFill>
                <a:srgbClr val="FF0000"/>
              </a:solidFill>
              <a:latin typeface="Vrinda" pitchFamily="34" charset="0"/>
              <a:cs typeface="Vrinda" pitchFamily="34" charset="0"/>
            </a:endParaRPr>
          </a:p>
        </p:txBody>
      </p:sp>
    </p:spTree>
    <p:extLst>
      <p:ext uri="{BB962C8B-B14F-4D97-AF65-F5344CB8AC3E}">
        <p14:creationId xmlns:p14="http://schemas.microsoft.com/office/powerpoint/2010/main" val="3976486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553140" y="1744674"/>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a:solidFill>
                  <a:schemeClr val="bg1"/>
                </a:solidFill>
                <a:latin typeface="Vrinda" pitchFamily="34" charset="0"/>
                <a:cs typeface="Vrinda" pitchFamily="34" charset="0"/>
              </a:rPr>
              <a:t>Activity</a:t>
            </a: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a:solidFill>
                  <a:srgbClr val="6600CC"/>
                </a:solidFill>
                <a:latin typeface="Vrinda" panose="020B0502040204020203" pitchFamily="34" charset="0"/>
                <a:ea typeface="Calibri" panose="020F0502020204030204" pitchFamily="34" charset="0"/>
                <a:cs typeface="Vrinda" panose="020B0502040204020203" pitchFamily="34" charset="0"/>
              </a:rPr>
              <a:t>Activity : Understanding Collection Operations</a:t>
            </a:r>
            <a:endParaRPr lang="en-US" sz="2400" dirty="0">
              <a:solidFill>
                <a:srgbClr val="6600CC"/>
              </a:solidFill>
              <a:effectLst/>
              <a:latin typeface="Vrinda" panose="020B0502040204020203" pitchFamily="34" charset="0"/>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88704" y="2132856"/>
            <a:ext cx="7848872" cy="21852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6600CC"/>
                </a:solidFill>
                <a:effectLst/>
                <a:latin typeface="+mj-l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6600CC"/>
              </a:solidFill>
              <a:effectLst/>
            </a:endParaRPr>
          </a:p>
          <a:p>
            <a:r>
              <a:rPr lang="en-US" sz="1600" dirty="0">
                <a:solidFill>
                  <a:srgbClr val="6600CC"/>
                </a:solidFill>
              </a:rPr>
              <a:t>Write a menu based program to insert , remove, sort, extend, reverse and traverse a list of items. </a:t>
            </a:r>
          </a:p>
          <a:p>
            <a:endParaRPr lang="en-US" sz="1600" dirty="0">
              <a:solidFill>
                <a:srgbClr val="6600CC"/>
              </a:solidFill>
            </a:endParaRPr>
          </a:p>
          <a:p>
            <a:r>
              <a:rPr lang="en-US" sz="1600" b="1" dirty="0">
                <a:solidFill>
                  <a:srgbClr val="6600CC"/>
                </a:solidFill>
              </a:rPr>
              <a:t>Hint:</a:t>
            </a:r>
            <a:r>
              <a:rPr lang="en-US" sz="1600" dirty="0">
                <a:solidFill>
                  <a:srgbClr val="6600CC"/>
                </a:solidFill>
              </a:rPr>
              <a:t> Define functions to perform different operation of list, such as </a:t>
            </a:r>
            <a:r>
              <a:rPr lang="en-US" sz="1600" dirty="0" err="1">
                <a:solidFill>
                  <a:srgbClr val="6600CC"/>
                </a:solidFill>
              </a:rPr>
              <a:t>insertList</a:t>
            </a:r>
            <a:r>
              <a:rPr lang="en-US" sz="1600" dirty="0">
                <a:solidFill>
                  <a:srgbClr val="6600CC"/>
                </a:solidFill>
              </a:rPr>
              <a:t>() and </a:t>
            </a:r>
            <a:r>
              <a:rPr lang="en-US" sz="1600" dirty="0" err="1">
                <a:solidFill>
                  <a:srgbClr val="6600CC"/>
                </a:solidFill>
              </a:rPr>
              <a:t>removeList</a:t>
            </a:r>
            <a:r>
              <a:rPr lang="en-US" sz="1600">
                <a:solidFill>
                  <a:srgbClr val="6600CC"/>
                </a:solidFill>
              </a:rPr>
              <a:t>() </a:t>
            </a:r>
            <a:r>
              <a:rPr lang="en-US" sz="1600" dirty="0">
                <a:solidFill>
                  <a:srgbClr val="6600CC"/>
                </a:solidFill>
              </a:rPr>
              <a:t>etc.</a:t>
            </a:r>
          </a:p>
          <a:p>
            <a:endParaRPr lang="en-US" sz="1600" dirty="0"/>
          </a:p>
        </p:txBody>
      </p:sp>
    </p:spTree>
    <p:extLst>
      <p:ext uri="{BB962C8B-B14F-4D97-AF65-F5344CB8AC3E}">
        <p14:creationId xmlns:p14="http://schemas.microsoft.com/office/powerpoint/2010/main" val="59703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solidFill>
            <a:schemeClr val="bg1"/>
          </a:solidFill>
        </p:spPr>
        <p:txBody>
          <a:bodyPr>
            <a:normAutofit/>
          </a:bodyPr>
          <a:lstStyle/>
          <a:p>
            <a:pPr marL="514350" lvl="1" indent="-396875" defTabSz="914363">
              <a:lnSpc>
                <a:spcPct val="90000"/>
              </a:lnSpc>
              <a:buSzPct val="100000"/>
              <a:buBlip>
                <a:blip r:embed="rId3"/>
              </a:buBlip>
            </a:pPr>
            <a:r>
              <a:rPr lang="en-US" altLang="en-US" sz="2000" dirty="0">
                <a:solidFill>
                  <a:srgbClr val="6600CC"/>
                </a:solidFill>
              </a:rPr>
              <a:t>In python every data is represented as an Object.</a:t>
            </a:r>
          </a:p>
          <a:p>
            <a:pPr marL="117475" lvl="1" indent="0" defTabSz="914363">
              <a:lnSpc>
                <a:spcPct val="90000"/>
              </a:lnSpc>
              <a:buSzPct val="100000"/>
              <a:buNone/>
            </a:pPr>
            <a:r>
              <a:rPr lang="en-US" altLang="en-US" sz="2000" b="1" i="1" dirty="0">
                <a:solidFill>
                  <a:srgbClr val="6600CC"/>
                </a:solidFill>
              </a:rPr>
              <a:t>Example:</a:t>
            </a: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In the preceding example, obj1 and obj2 are pointing to the same string hence they are identical. </a:t>
            </a:r>
            <a:r>
              <a:rPr lang="en-US" altLang="en-US" sz="2400" b="1" dirty="0">
                <a:solidFill>
                  <a:srgbClr val="6600CC"/>
                </a:solidFill>
              </a:rPr>
              <a:t> </a:t>
            </a:r>
          </a:p>
          <a:p>
            <a:pPr marL="414909" indent="-285750"/>
            <a:endParaRPr lang="en-US" altLang="en-US" sz="1600" b="1" dirty="0">
              <a:solidFill>
                <a:srgbClr val="6600CC"/>
              </a:solidFill>
            </a:endParaRPr>
          </a:p>
        </p:txBody>
      </p:sp>
      <p:sp>
        <p:nvSpPr>
          <p:cNvPr id="4" name="Rectangle 3"/>
          <p:cNvSpPr/>
          <p:nvPr/>
        </p:nvSpPr>
        <p:spPr>
          <a:xfrm>
            <a:off x="526662" y="544324"/>
            <a:ext cx="3325258" cy="461665"/>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Objects &amp; Values</a:t>
            </a:r>
            <a:endParaRPr lang="en-IN" sz="2400" b="1" dirty="0">
              <a:solidFill>
                <a:schemeClr val="bg1"/>
              </a:solidFill>
              <a:latin typeface="Vrinda" pitchFamily="34" charset="0"/>
              <a:ea typeface="+mj-ea"/>
              <a:cs typeface="Vrinda"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671" y="2492896"/>
            <a:ext cx="7762875" cy="156210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792" y="4980872"/>
            <a:ext cx="3381375" cy="141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82396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solidFill>
            <a:schemeClr val="bg1"/>
          </a:solidFill>
        </p:spPr>
        <p:txBody>
          <a:bodyPr>
            <a:normAutofit/>
          </a:bodyPr>
          <a:lstStyle/>
          <a:p>
            <a:pPr marL="129159" indent="0">
              <a:buNone/>
            </a:pPr>
            <a:r>
              <a:rPr lang="en-US" altLang="en-US" sz="2000" b="1" dirty="0">
                <a:solidFill>
                  <a:srgbClr val="6600CC"/>
                </a:solidFill>
              </a:rPr>
              <a:t>Example:</a:t>
            </a: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2000" dirty="0">
              <a:solidFill>
                <a:srgbClr val="6600CC"/>
              </a:solidFill>
            </a:endParaRPr>
          </a:p>
          <a:p>
            <a:pPr marL="129159" indent="0">
              <a:buNone/>
            </a:pPr>
            <a:r>
              <a:rPr lang="en-US" altLang="en-US" sz="2400" dirty="0">
                <a:solidFill>
                  <a:srgbClr val="6600CC"/>
                </a:solidFill>
              </a:rPr>
              <a:t>In the preceding example obj1 and obj2 are pointing to the same values hence they are equivalent . But they are not identical.  </a:t>
            </a:r>
          </a:p>
        </p:txBody>
      </p:sp>
      <p:sp>
        <p:nvSpPr>
          <p:cNvPr id="4" name="Rectangle 3"/>
          <p:cNvSpPr/>
          <p:nvPr/>
        </p:nvSpPr>
        <p:spPr>
          <a:xfrm>
            <a:off x="526662" y="544324"/>
            <a:ext cx="3541282" cy="830997"/>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Objects &amp; Values (Contd.)</a:t>
            </a:r>
            <a:endParaRPr lang="en-IN" sz="2400" b="1" dirty="0">
              <a:solidFill>
                <a:schemeClr val="bg1"/>
              </a:solidFill>
              <a:latin typeface="Vrinda" pitchFamily="34" charset="0"/>
              <a:ea typeface="+mj-ea"/>
              <a:cs typeface="Vrinda"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988840"/>
            <a:ext cx="7705725" cy="1562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7937" y="4725144"/>
            <a:ext cx="4048125" cy="1494604"/>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1499783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solidFill>
            <a:schemeClr val="bg1"/>
          </a:solidFill>
        </p:spPr>
        <p:txBody>
          <a:bodyPr>
            <a:normAutofit/>
          </a:bodyPr>
          <a:lstStyle/>
          <a:p>
            <a:pPr marL="514350" lvl="1" indent="-396875" defTabSz="914363">
              <a:lnSpc>
                <a:spcPct val="90000"/>
              </a:lnSpc>
              <a:buSzPct val="100000"/>
              <a:buBlip>
                <a:blip r:embed="rId3"/>
              </a:buBlip>
            </a:pPr>
            <a:r>
              <a:rPr lang="en-US" altLang="en-US" sz="2000" dirty="0">
                <a:solidFill>
                  <a:srgbClr val="6600CC"/>
                </a:solidFill>
              </a:rPr>
              <a:t>The association of a variable with an object is called a reference.</a:t>
            </a:r>
          </a:p>
          <a:p>
            <a:pPr marL="514350" lvl="1" indent="-396875" defTabSz="914363">
              <a:lnSpc>
                <a:spcPct val="90000"/>
              </a:lnSpc>
              <a:buSzPct val="100000"/>
              <a:buBlip>
                <a:blip r:embed="rId3"/>
              </a:buBlip>
            </a:pPr>
            <a:r>
              <a:rPr lang="en-US" altLang="en-US" sz="2000" dirty="0">
                <a:solidFill>
                  <a:srgbClr val="6600CC"/>
                </a:solidFill>
              </a:rPr>
              <a:t>An object with more than one reference, has more than one name and is called as aliasing</a:t>
            </a:r>
            <a:r>
              <a:rPr lang="en-US" altLang="en-US" sz="2000" b="1" dirty="0">
                <a:solidFill>
                  <a:srgbClr val="6600CC"/>
                </a:solidFill>
              </a:rPr>
              <a:t>.</a:t>
            </a:r>
            <a:endParaRPr lang="en-IN" sz="2000" dirty="0">
              <a:solidFill>
                <a:srgbClr val="6600CC"/>
              </a:solidFill>
              <a:cs typeface="Vrinda" pitchFamily="34" charset="0"/>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a:p>
            <a:pPr marL="129159" indent="0">
              <a:buNone/>
            </a:pPr>
            <a:endParaRPr lang="en-US" altLang="en-US" sz="1600" b="1" dirty="0">
              <a:solidFill>
                <a:srgbClr val="6600CC"/>
              </a:solidFill>
            </a:endParaRPr>
          </a:p>
        </p:txBody>
      </p:sp>
      <p:sp>
        <p:nvSpPr>
          <p:cNvPr id="4" name="Rectangle 3"/>
          <p:cNvSpPr/>
          <p:nvPr/>
        </p:nvSpPr>
        <p:spPr>
          <a:xfrm>
            <a:off x="526662" y="544324"/>
            <a:ext cx="3325258" cy="461665"/>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Aliasing</a:t>
            </a:r>
            <a:endParaRPr lang="en-IN" sz="2400" b="1" dirty="0">
              <a:solidFill>
                <a:schemeClr val="bg1"/>
              </a:solidFill>
              <a:latin typeface="Vrinda" pitchFamily="34" charset="0"/>
              <a:ea typeface="+mj-ea"/>
              <a:cs typeface="Vrinda" pitchFamily="34"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34" y="2630413"/>
            <a:ext cx="7705725" cy="1590675"/>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115" y="4417046"/>
            <a:ext cx="6134100" cy="1604242"/>
          </a:xfrm>
          <a:prstGeom prst="rect">
            <a:avLst/>
          </a:prstGeom>
          <a:ln>
            <a:noFill/>
          </a:ln>
          <a:effectLst>
            <a:glow rad="63500">
              <a:schemeClr val="accent2">
                <a:satMod val="175000"/>
                <a:alpha val="40000"/>
              </a:schemeClr>
            </a:glow>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9110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00200"/>
            <a:ext cx="8365818" cy="4637112"/>
          </a:xfrm>
          <a:solidFill>
            <a:schemeClr val="bg1"/>
          </a:solidFill>
        </p:spPr>
        <p:txBody>
          <a:bodyPr>
            <a:normAutofit/>
          </a:bodyPr>
          <a:lstStyle/>
          <a:p>
            <a:pPr marL="514350" lvl="1" indent="-396875" defTabSz="914363">
              <a:lnSpc>
                <a:spcPct val="90000"/>
              </a:lnSpc>
              <a:buSzPct val="100000"/>
              <a:buBlip>
                <a:blip r:embed="rId3"/>
              </a:buBlip>
            </a:pPr>
            <a:endParaRPr lang="en-US" altLang="en-US" sz="20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List can be passed as an argument to a function.</a:t>
            </a:r>
          </a:p>
          <a:p>
            <a:pPr marL="514350" lvl="1" indent="-396875" defTabSz="914363">
              <a:lnSpc>
                <a:spcPct val="90000"/>
              </a:lnSpc>
              <a:buSzPct val="100000"/>
              <a:buBlip>
                <a:blip r:embed="rId3"/>
              </a:buBlip>
            </a:pPr>
            <a:endParaRPr lang="en-US" altLang="en-US" sz="24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Passing a list as an argument to a function gets the reference of the list.</a:t>
            </a:r>
          </a:p>
        </p:txBody>
      </p:sp>
      <p:sp>
        <p:nvSpPr>
          <p:cNvPr id="4" name="Rectangle 3"/>
          <p:cNvSpPr/>
          <p:nvPr/>
        </p:nvSpPr>
        <p:spPr>
          <a:xfrm>
            <a:off x="526662" y="544323"/>
            <a:ext cx="3109234" cy="461665"/>
          </a:xfrm>
          <a:prstGeom prst="rect">
            <a:avLst/>
          </a:prstGeom>
        </p:spPr>
        <p:txBody>
          <a:bodyPr wrap="square">
            <a:spAutoFit/>
          </a:bodyPr>
          <a:lstStyle/>
          <a:p>
            <a:r>
              <a:rPr lang="en-US" altLang="en-US" sz="2400" b="1" dirty="0">
                <a:solidFill>
                  <a:schemeClr val="bg1"/>
                </a:solidFill>
                <a:latin typeface="Vrinda" pitchFamily="34" charset="0"/>
                <a:ea typeface="+mj-ea"/>
                <a:cs typeface="Vrinda" pitchFamily="34" charset="0"/>
              </a:rPr>
              <a:t>List Arguments</a:t>
            </a:r>
            <a:endParaRPr lang="en-IN" sz="2400" b="1" dirty="0">
              <a:solidFill>
                <a:schemeClr val="bg1"/>
              </a:solidFill>
              <a:latin typeface="Vrinda" pitchFamily="34" charset="0"/>
              <a:ea typeface="+mj-ea"/>
              <a:cs typeface="Vrinda" pitchFamily="34" charset="0"/>
            </a:endParaRP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115" y="3645024"/>
            <a:ext cx="7920880" cy="2371725"/>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0912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00808"/>
            <a:ext cx="7632848" cy="4425355"/>
          </a:xfrm>
        </p:spPr>
      </p:pic>
      <p:sp>
        <p:nvSpPr>
          <p:cNvPr id="5"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solidFill>
                  <a:schemeClr val="bg1"/>
                </a:solidFill>
                <a:latin typeface="Vrinda" pitchFamily="34" charset="0"/>
                <a:cs typeface="Vrinda" pitchFamily="34" charset="0"/>
              </a:rPr>
              <a:t>Just a Minute</a:t>
            </a:r>
          </a:p>
          <a:p>
            <a:pPr algn="l"/>
            <a:endParaRPr lang="en-US" sz="2400" b="1" dirty="0">
              <a:solidFill>
                <a:schemeClr val="bg1"/>
              </a:solidFill>
              <a:latin typeface="Vrinda" pitchFamily="34" charset="0"/>
              <a:cs typeface="Vrinda" pitchFamily="34" charset="0"/>
            </a:endParaRPr>
          </a:p>
        </p:txBody>
      </p:sp>
      <p:sp>
        <p:nvSpPr>
          <p:cNvPr id="8" name="Oval Callout 7"/>
          <p:cNvSpPr/>
          <p:nvPr/>
        </p:nvSpPr>
        <p:spPr>
          <a:xfrm flipH="1">
            <a:off x="1187624" y="2209800"/>
            <a:ext cx="5069160" cy="193928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dirty="0">
                <a:solidFill>
                  <a:schemeClr val="bg1"/>
                </a:solidFill>
              </a:rPr>
              <a:t> _____ method is used to break the string into list of words.</a:t>
            </a:r>
          </a:p>
        </p:txBody>
      </p:sp>
    </p:spTree>
    <p:extLst>
      <p:ext uri="{BB962C8B-B14F-4D97-AF65-F5344CB8AC3E}">
        <p14:creationId xmlns:p14="http://schemas.microsoft.com/office/powerpoint/2010/main" val="172191384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00808"/>
            <a:ext cx="7632848" cy="4425355"/>
          </a:xfrm>
        </p:spPr>
      </p:pic>
      <p:sp>
        <p:nvSpPr>
          <p:cNvPr id="5"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solidFill>
                  <a:schemeClr val="bg1"/>
                </a:solidFill>
                <a:latin typeface="Vrinda" pitchFamily="34" charset="0"/>
                <a:cs typeface="Vrinda" pitchFamily="34" charset="0"/>
              </a:rPr>
              <a:t>Just a Minute</a:t>
            </a:r>
          </a:p>
          <a:p>
            <a:pPr algn="l"/>
            <a:endParaRPr lang="en-US" sz="2400" b="1" dirty="0">
              <a:solidFill>
                <a:schemeClr val="bg1"/>
              </a:solidFill>
              <a:latin typeface="Vrinda" pitchFamily="34" charset="0"/>
              <a:cs typeface="Vrinda" pitchFamily="34" charset="0"/>
            </a:endParaRPr>
          </a:p>
        </p:txBody>
      </p:sp>
      <p:sp>
        <p:nvSpPr>
          <p:cNvPr id="8" name="Oval Callout 7"/>
          <p:cNvSpPr/>
          <p:nvPr/>
        </p:nvSpPr>
        <p:spPr>
          <a:xfrm flipH="1">
            <a:off x="1187624" y="2209800"/>
            <a:ext cx="5069160" cy="193928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sz="3200" b="1" dirty="0">
                <a:solidFill>
                  <a:schemeClr val="bg1"/>
                </a:solidFill>
              </a:rPr>
              <a:t> </a:t>
            </a:r>
            <a:r>
              <a:rPr lang="en-US" dirty="0">
                <a:solidFill>
                  <a:schemeClr val="bg1"/>
                </a:solidFill>
              </a:rPr>
              <a:t>_____ method is used to break the string into list of words.</a:t>
            </a:r>
          </a:p>
        </p:txBody>
      </p:sp>
      <p:grpSp>
        <p:nvGrpSpPr>
          <p:cNvPr id="6" name="Group 5"/>
          <p:cNvGrpSpPr/>
          <p:nvPr/>
        </p:nvGrpSpPr>
        <p:grpSpPr>
          <a:xfrm>
            <a:off x="2733802" y="4974021"/>
            <a:ext cx="3946773" cy="977946"/>
            <a:chOff x="304808" y="5638800"/>
            <a:chExt cx="2488567" cy="914400"/>
          </a:xfrm>
        </p:grpSpPr>
        <p:grpSp>
          <p:nvGrpSpPr>
            <p:cNvPr id="7" name="Group 6"/>
            <p:cNvGrpSpPr/>
            <p:nvPr/>
          </p:nvGrpSpPr>
          <p:grpSpPr>
            <a:xfrm>
              <a:off x="304808" y="5638800"/>
              <a:ext cx="2488567" cy="914400"/>
              <a:chOff x="6019800" y="1143000"/>
              <a:chExt cx="585545" cy="533400"/>
            </a:xfrm>
          </p:grpSpPr>
          <p:sp>
            <p:nvSpPr>
              <p:cNvPr id="11" name="Oval 10"/>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2" name="Oval 11"/>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9" name="Rectangle 8"/>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a:solidFill>
                    <a:schemeClr val="bg1"/>
                  </a:solidFill>
                  <a:cs typeface="Vrinda" pitchFamily="34" charset="0"/>
                </a:rPr>
                <a:t>split</a:t>
              </a:r>
            </a:p>
          </p:txBody>
        </p:sp>
        <p:sp>
          <p:nvSpPr>
            <p:cNvPr id="10" name="Rectangle 9"/>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309759209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p:nvPr>
        </p:nvSpPr>
        <p:spPr>
          <a:xfrm>
            <a:off x="529208" y="476672"/>
            <a:ext cx="3682752" cy="580926"/>
          </a:xfrm>
        </p:spPr>
        <p:txBody>
          <a:bodyPr>
            <a:normAutofit/>
          </a:bodyPr>
          <a:lstStyle/>
          <a:p>
            <a:pPr algn="l">
              <a:defRPr/>
            </a:pPr>
            <a:r>
              <a:rPr lang="en-US" sz="2400" b="1" dirty="0">
                <a:solidFill>
                  <a:schemeClr val="bg1"/>
                </a:solidFill>
                <a:latin typeface="Vrinda" pitchFamily="34" charset="0"/>
                <a:cs typeface="Vrinda" pitchFamily="34" charset="0"/>
                <a:sym typeface="Gill Sans" charset="0"/>
              </a:rPr>
              <a:t>Introduction to Dictionary</a:t>
            </a:r>
          </a:p>
        </p:txBody>
      </p:sp>
      <p:sp>
        <p:nvSpPr>
          <p:cNvPr id="20482" name="Rectangle 2"/>
          <p:cNvSpPr>
            <a:spLocks noGrp="1" noChangeArrowheads="1"/>
          </p:cNvSpPr>
          <p:nvPr>
            <p:ph type="body" idx="1"/>
          </p:nvPr>
        </p:nvSpPr>
        <p:spPr>
          <a:xfrm>
            <a:off x="457199" y="1600200"/>
            <a:ext cx="8259791" cy="4637112"/>
          </a:xfrm>
          <a:solidFill>
            <a:schemeClr val="bg1"/>
          </a:solidFill>
        </p:spPr>
        <p:txBody>
          <a:bodyPr/>
          <a:lstStyle/>
          <a:p>
            <a:pPr marL="129159" indent="0">
              <a:buNone/>
            </a:pPr>
            <a:endParaRPr lang="en-US" altLang="en-US" sz="1600" b="1" dirty="0">
              <a:solidFill>
                <a:srgbClr val="6600CC"/>
              </a:solidFill>
            </a:endParaRPr>
          </a:p>
          <a:p>
            <a:pPr marL="129159" indent="0">
              <a:buNone/>
            </a:pPr>
            <a:r>
              <a:rPr lang="en-US" altLang="en-US" sz="2400" dirty="0">
                <a:solidFill>
                  <a:srgbClr val="6600CC"/>
                </a:solidFill>
              </a:rPr>
              <a:t>Dictionary </a:t>
            </a:r>
          </a:p>
          <a:p>
            <a:pPr marL="900000" lvl="1" indent="-396875" defTabSz="914363">
              <a:lnSpc>
                <a:spcPct val="90000"/>
              </a:lnSpc>
              <a:buSzPct val="120000"/>
              <a:buBlip>
                <a:blip r:embed="rId3"/>
              </a:buBlip>
            </a:pPr>
            <a:r>
              <a:rPr lang="en-US" altLang="en-US" sz="2000" dirty="0">
                <a:solidFill>
                  <a:srgbClr val="6600CC"/>
                </a:solidFill>
              </a:rPr>
              <a:t>It is a </a:t>
            </a:r>
            <a:r>
              <a:rPr lang="ja-JP" altLang="en-US" sz="2000" dirty="0">
                <a:solidFill>
                  <a:srgbClr val="6600CC"/>
                </a:solidFill>
              </a:rPr>
              <a:t>“</a:t>
            </a:r>
            <a:r>
              <a:rPr lang="en-US" altLang="ja-JP" sz="2000" dirty="0">
                <a:solidFill>
                  <a:srgbClr val="6600CC"/>
                </a:solidFill>
              </a:rPr>
              <a:t>bag</a:t>
            </a:r>
            <a:r>
              <a:rPr lang="ja-JP" altLang="en-US" sz="2000" dirty="0">
                <a:solidFill>
                  <a:srgbClr val="6600CC"/>
                </a:solidFill>
              </a:rPr>
              <a:t>”</a:t>
            </a:r>
            <a:r>
              <a:rPr lang="en-US" altLang="ja-JP" sz="2000" dirty="0">
                <a:solidFill>
                  <a:srgbClr val="6600CC"/>
                </a:solidFill>
              </a:rPr>
              <a:t> of values, each with its own label.</a:t>
            </a:r>
          </a:p>
          <a:p>
            <a:pPr marL="900000" lvl="1" indent="-396875" defTabSz="914363">
              <a:lnSpc>
                <a:spcPct val="90000"/>
              </a:lnSpc>
              <a:buSzPct val="120000"/>
              <a:buBlip>
                <a:blip r:embed="rId3"/>
              </a:buBlip>
            </a:pPr>
            <a:r>
              <a:rPr lang="en-US" altLang="en-US" sz="2000" dirty="0">
                <a:solidFill>
                  <a:srgbClr val="6600CC"/>
                </a:solidFill>
              </a:rPr>
              <a:t>It contains the values in the form of key-value pair.</a:t>
            </a:r>
          </a:p>
          <a:p>
            <a:pPr marL="900000" lvl="1" indent="-396875" defTabSz="914363">
              <a:lnSpc>
                <a:spcPct val="90000"/>
              </a:lnSpc>
              <a:buSzPct val="120000"/>
              <a:buBlip>
                <a:blip r:embed="rId3"/>
              </a:buBlip>
            </a:pPr>
            <a:r>
              <a:rPr lang="en-US" altLang="en-US" sz="2000" dirty="0">
                <a:solidFill>
                  <a:srgbClr val="6600CC"/>
                </a:solidFill>
              </a:rPr>
              <a:t>Every value in Dictionary is associated with a key.</a:t>
            </a:r>
          </a:p>
          <a:p>
            <a:pPr marL="656082" lvl="1"/>
            <a:endParaRPr lang="en-US" altLang="en-US" sz="1600" dirty="0">
              <a:solidFill>
                <a:srgbClr val="6600CC"/>
              </a:solidFill>
            </a:endParaRPr>
          </a:p>
          <a:p>
            <a:pPr marL="656082" lvl="1"/>
            <a:endParaRPr lang="en-US" altLang="en-US" dirty="0"/>
          </a:p>
        </p:txBody>
      </p: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3356992"/>
            <a:ext cx="2541071" cy="2728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6"/>
          <p:cNvSpPr>
            <a:spLocks/>
          </p:cNvSpPr>
          <p:nvPr/>
        </p:nvSpPr>
        <p:spPr bwMode="auto">
          <a:xfrm>
            <a:off x="4922593" y="5085184"/>
            <a:ext cx="1411586" cy="27699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eaLnBrk="0" hangingPunct="0">
              <a:defRPr sz="3600">
                <a:solidFill>
                  <a:srgbClr val="FFFFFF"/>
                </a:solidFill>
                <a:latin typeface="Gill Sans" pitchFamily="-84" charset="0"/>
                <a:ea typeface="ヒラギノ角ゴ ProN W3" pitchFamily="-84" charset="-128"/>
                <a:sym typeface="Gill Sans" pitchFamily="-84" charset="0"/>
              </a:defRPr>
            </a:lvl1pPr>
            <a:lvl2pPr marL="742950" indent="-285750" eaLnBrk="0" hangingPunct="0">
              <a:defRPr sz="3600">
                <a:solidFill>
                  <a:srgbClr val="FFFFFF"/>
                </a:solidFill>
                <a:latin typeface="Gill Sans" pitchFamily="-84" charset="0"/>
                <a:ea typeface="ヒラギノ角ゴ ProN W3" pitchFamily="-84" charset="-128"/>
                <a:sym typeface="Gill Sans" pitchFamily="-84" charset="0"/>
              </a:defRPr>
            </a:lvl2pPr>
            <a:lvl3pPr marL="1143000" indent="-228600" eaLnBrk="0" hangingPunct="0">
              <a:defRPr sz="3600">
                <a:solidFill>
                  <a:srgbClr val="FFFFFF"/>
                </a:solidFill>
                <a:latin typeface="Gill Sans" pitchFamily="-84" charset="0"/>
                <a:ea typeface="ヒラギノ角ゴ ProN W3" pitchFamily="-84" charset="-128"/>
                <a:sym typeface="Gill Sans" pitchFamily="-84" charset="0"/>
              </a:defRPr>
            </a:lvl3pPr>
            <a:lvl4pPr marL="1600200" indent="-228600" eaLnBrk="0" hangingPunct="0">
              <a:defRPr sz="3600">
                <a:solidFill>
                  <a:srgbClr val="FFFFFF"/>
                </a:solidFill>
                <a:latin typeface="Gill Sans" pitchFamily="-84" charset="0"/>
                <a:ea typeface="ヒラギノ角ゴ ProN W3" pitchFamily="-84" charset="-128"/>
                <a:sym typeface="Gill Sans" pitchFamily="-84" charset="0"/>
              </a:defRPr>
            </a:lvl4pPr>
            <a:lvl5pPr marL="2057400" indent="-228600" eaLnBrk="0" hangingPunct="0">
              <a:defRPr sz="3600">
                <a:solidFill>
                  <a:srgbClr val="FFFFFF"/>
                </a:solidFill>
                <a:latin typeface="Gill Sans" pitchFamily="-84" charset="0"/>
                <a:ea typeface="ヒラギノ角ゴ ProN W3" pitchFamily="-84" charset="-128"/>
                <a:sym typeface="Gill Sans" pitchFamily="-84" charset="0"/>
              </a:defRPr>
            </a:lvl5pPr>
            <a:lvl6pPr marL="25146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6pPr>
            <a:lvl7pPr marL="29718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7pPr>
            <a:lvl8pPr marL="34290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8pPr>
            <a:lvl9pPr marL="38862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9pPr>
          </a:lstStyle>
          <a:p>
            <a:pPr eaLnBrk="1" hangingPunct="1"/>
            <a:r>
              <a:rPr lang="en-US" altLang="en-US" sz="1800" dirty="0">
                <a:solidFill>
                  <a:schemeClr val="tx1"/>
                </a:solidFill>
                <a:ea typeface="MS PGothic" pitchFamily="34" charset="-128"/>
              </a:rPr>
              <a:t>calculator</a:t>
            </a:r>
          </a:p>
        </p:txBody>
      </p:sp>
      <p:sp>
        <p:nvSpPr>
          <p:cNvPr id="6" name="Rectangle 7"/>
          <p:cNvSpPr>
            <a:spLocks/>
          </p:cNvSpPr>
          <p:nvPr/>
        </p:nvSpPr>
        <p:spPr bwMode="auto">
          <a:xfrm>
            <a:off x="4922593" y="4479382"/>
            <a:ext cx="1209931" cy="27699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eaLnBrk="0" hangingPunct="0">
              <a:defRPr sz="3600">
                <a:solidFill>
                  <a:srgbClr val="FFFFFF"/>
                </a:solidFill>
                <a:latin typeface="Gill Sans" pitchFamily="-84" charset="0"/>
                <a:ea typeface="ヒラギノ角ゴ ProN W3" pitchFamily="-84" charset="-128"/>
                <a:sym typeface="Gill Sans" pitchFamily="-84" charset="0"/>
              </a:defRPr>
            </a:lvl1pPr>
            <a:lvl2pPr marL="742950" indent="-285750" eaLnBrk="0" hangingPunct="0">
              <a:defRPr sz="3600">
                <a:solidFill>
                  <a:srgbClr val="FFFFFF"/>
                </a:solidFill>
                <a:latin typeface="Gill Sans" pitchFamily="-84" charset="0"/>
                <a:ea typeface="ヒラギノ角ゴ ProN W3" pitchFamily="-84" charset="-128"/>
                <a:sym typeface="Gill Sans" pitchFamily="-84" charset="0"/>
              </a:defRPr>
            </a:lvl2pPr>
            <a:lvl3pPr marL="1143000" indent="-228600" eaLnBrk="0" hangingPunct="0">
              <a:defRPr sz="3600">
                <a:solidFill>
                  <a:srgbClr val="FFFFFF"/>
                </a:solidFill>
                <a:latin typeface="Gill Sans" pitchFamily="-84" charset="0"/>
                <a:ea typeface="ヒラギノ角ゴ ProN W3" pitchFamily="-84" charset="-128"/>
                <a:sym typeface="Gill Sans" pitchFamily="-84" charset="0"/>
              </a:defRPr>
            </a:lvl3pPr>
            <a:lvl4pPr marL="1600200" indent="-228600" eaLnBrk="0" hangingPunct="0">
              <a:defRPr sz="3600">
                <a:solidFill>
                  <a:srgbClr val="FFFFFF"/>
                </a:solidFill>
                <a:latin typeface="Gill Sans" pitchFamily="-84" charset="0"/>
                <a:ea typeface="ヒラギノ角ゴ ProN W3" pitchFamily="-84" charset="-128"/>
                <a:sym typeface="Gill Sans" pitchFamily="-84" charset="0"/>
              </a:defRPr>
            </a:lvl4pPr>
            <a:lvl5pPr marL="2057400" indent="-228600" eaLnBrk="0" hangingPunct="0">
              <a:defRPr sz="3600">
                <a:solidFill>
                  <a:srgbClr val="FFFFFF"/>
                </a:solidFill>
                <a:latin typeface="Gill Sans" pitchFamily="-84" charset="0"/>
                <a:ea typeface="ヒラギノ角ゴ ProN W3" pitchFamily="-84" charset="-128"/>
                <a:sym typeface="Gill Sans" pitchFamily="-84" charset="0"/>
              </a:defRPr>
            </a:lvl5pPr>
            <a:lvl6pPr marL="25146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6pPr>
            <a:lvl7pPr marL="29718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7pPr>
            <a:lvl8pPr marL="34290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8pPr>
            <a:lvl9pPr marL="38862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9pPr>
          </a:lstStyle>
          <a:p>
            <a:pPr eaLnBrk="1" hangingPunct="1"/>
            <a:r>
              <a:rPr lang="en-US" altLang="en-US" sz="1800" dirty="0">
                <a:solidFill>
                  <a:schemeClr val="tx1"/>
                </a:solidFill>
                <a:ea typeface="MS PGothic" pitchFamily="34" charset="-128"/>
              </a:rPr>
              <a:t>perfume</a:t>
            </a:r>
          </a:p>
        </p:txBody>
      </p:sp>
      <p:sp>
        <p:nvSpPr>
          <p:cNvPr id="2" name="Rectangle 1"/>
          <p:cNvSpPr/>
          <p:nvPr/>
        </p:nvSpPr>
        <p:spPr>
          <a:xfrm>
            <a:off x="6276097" y="5589240"/>
            <a:ext cx="830805" cy="369332"/>
          </a:xfrm>
          <a:prstGeom prst="rect">
            <a:avLst/>
          </a:prstGeom>
          <a:gradFill flip="none" rotWithShape="1">
            <a:gsLst>
              <a:gs pos="0">
                <a:srgbClr val="0005CA">
                  <a:tint val="66000"/>
                  <a:satMod val="160000"/>
                </a:srgbClr>
              </a:gs>
              <a:gs pos="50000">
                <a:srgbClr val="0005CA">
                  <a:tint val="44500"/>
                  <a:satMod val="160000"/>
                </a:srgbClr>
              </a:gs>
              <a:gs pos="100000">
                <a:srgbClr val="0005CA">
                  <a:tint val="23500"/>
                  <a:satMod val="160000"/>
                </a:srgbClr>
              </a:gs>
            </a:gsLst>
            <a:lin ang="2700000" scaled="1"/>
            <a:tileRect/>
          </a:gradFill>
        </p:spPr>
        <p:txBody>
          <a:bodyPr wrap="none">
            <a:spAutoFit/>
          </a:bodyPr>
          <a:lstStyle/>
          <a:p>
            <a:r>
              <a:rPr lang="en-US" altLang="en-US" dirty="0">
                <a:ea typeface="MS PGothic" pitchFamily="34" charset="-128"/>
              </a:rPr>
              <a:t>money</a:t>
            </a:r>
          </a:p>
        </p:txBody>
      </p:sp>
      <p:sp>
        <p:nvSpPr>
          <p:cNvPr id="8" name="Rectangle 5"/>
          <p:cNvSpPr>
            <a:spLocks/>
          </p:cNvSpPr>
          <p:nvPr/>
        </p:nvSpPr>
        <p:spPr bwMode="auto">
          <a:xfrm>
            <a:off x="7980581" y="3855531"/>
            <a:ext cx="602729" cy="27699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pitchFamily="-84" charset="0"/>
                <a:ea typeface="ヒラギノ角ゴ ProN W3" pitchFamily="-84" charset="-128"/>
                <a:sym typeface="Gill Sans" pitchFamily="-84" charset="0"/>
              </a:defRPr>
            </a:lvl1pPr>
            <a:lvl2pPr marL="742950" indent="-285750" eaLnBrk="0" hangingPunct="0">
              <a:defRPr sz="3600">
                <a:solidFill>
                  <a:srgbClr val="FFFFFF"/>
                </a:solidFill>
                <a:latin typeface="Gill Sans" pitchFamily="-84" charset="0"/>
                <a:ea typeface="ヒラギノ角ゴ ProN W3" pitchFamily="-84" charset="-128"/>
                <a:sym typeface="Gill Sans" pitchFamily="-84" charset="0"/>
              </a:defRPr>
            </a:lvl2pPr>
            <a:lvl3pPr marL="1143000" indent="-228600" eaLnBrk="0" hangingPunct="0">
              <a:defRPr sz="3600">
                <a:solidFill>
                  <a:srgbClr val="FFFFFF"/>
                </a:solidFill>
                <a:latin typeface="Gill Sans" pitchFamily="-84" charset="0"/>
                <a:ea typeface="ヒラギノ角ゴ ProN W3" pitchFamily="-84" charset="-128"/>
                <a:sym typeface="Gill Sans" pitchFamily="-84" charset="0"/>
              </a:defRPr>
            </a:lvl3pPr>
            <a:lvl4pPr marL="1600200" indent="-228600" eaLnBrk="0" hangingPunct="0">
              <a:defRPr sz="3600">
                <a:solidFill>
                  <a:srgbClr val="FFFFFF"/>
                </a:solidFill>
                <a:latin typeface="Gill Sans" pitchFamily="-84" charset="0"/>
                <a:ea typeface="ヒラギノ角ゴ ProN W3" pitchFamily="-84" charset="-128"/>
                <a:sym typeface="Gill Sans" pitchFamily="-84" charset="0"/>
              </a:defRPr>
            </a:lvl4pPr>
            <a:lvl5pPr marL="2057400" indent="-228600" eaLnBrk="0" hangingPunct="0">
              <a:defRPr sz="3600">
                <a:solidFill>
                  <a:srgbClr val="FFFFFF"/>
                </a:solidFill>
                <a:latin typeface="Gill Sans" pitchFamily="-84" charset="0"/>
                <a:ea typeface="ヒラギノ角ゴ ProN W3" pitchFamily="-84" charset="-128"/>
                <a:sym typeface="Gill Sans" pitchFamily="-84" charset="0"/>
              </a:defRPr>
            </a:lvl5pPr>
            <a:lvl6pPr marL="25146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6pPr>
            <a:lvl7pPr marL="29718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7pPr>
            <a:lvl8pPr marL="34290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8pPr>
            <a:lvl9pPr marL="38862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9pPr>
          </a:lstStyle>
          <a:p>
            <a:pPr eaLnBrk="1" hangingPunct="1"/>
            <a:r>
              <a:rPr lang="en-US" altLang="en-US" sz="1800" dirty="0">
                <a:solidFill>
                  <a:schemeClr val="tx1"/>
                </a:solidFill>
                <a:ea typeface="MS PGothic" pitchFamily="34" charset="-128"/>
              </a:rPr>
              <a:t>tissue</a:t>
            </a:r>
          </a:p>
        </p:txBody>
      </p:sp>
      <p:sp>
        <p:nvSpPr>
          <p:cNvPr id="9" name="Rectangle 8"/>
          <p:cNvSpPr>
            <a:spLocks/>
          </p:cNvSpPr>
          <p:nvPr/>
        </p:nvSpPr>
        <p:spPr bwMode="auto">
          <a:xfrm>
            <a:off x="8101438" y="4340882"/>
            <a:ext cx="615553" cy="276999"/>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pitchFamily="-84" charset="0"/>
                <a:ea typeface="ヒラギノ角ゴ ProN W3" pitchFamily="-84" charset="-128"/>
                <a:sym typeface="Gill Sans" pitchFamily="-84" charset="0"/>
              </a:defRPr>
            </a:lvl1pPr>
            <a:lvl2pPr marL="742950" indent="-285750" eaLnBrk="0" hangingPunct="0">
              <a:defRPr sz="3600">
                <a:solidFill>
                  <a:srgbClr val="FFFFFF"/>
                </a:solidFill>
                <a:latin typeface="Gill Sans" pitchFamily="-84" charset="0"/>
                <a:ea typeface="ヒラギノ角ゴ ProN W3" pitchFamily="-84" charset="-128"/>
                <a:sym typeface="Gill Sans" pitchFamily="-84" charset="0"/>
              </a:defRPr>
            </a:lvl2pPr>
            <a:lvl3pPr marL="1143000" indent="-228600" eaLnBrk="0" hangingPunct="0">
              <a:defRPr sz="3600">
                <a:solidFill>
                  <a:srgbClr val="FFFFFF"/>
                </a:solidFill>
                <a:latin typeface="Gill Sans" pitchFamily="-84" charset="0"/>
                <a:ea typeface="ヒラギノ角ゴ ProN W3" pitchFamily="-84" charset="-128"/>
                <a:sym typeface="Gill Sans" pitchFamily="-84" charset="0"/>
              </a:defRPr>
            </a:lvl3pPr>
            <a:lvl4pPr marL="1600200" indent="-228600" eaLnBrk="0" hangingPunct="0">
              <a:defRPr sz="3600">
                <a:solidFill>
                  <a:srgbClr val="FFFFFF"/>
                </a:solidFill>
                <a:latin typeface="Gill Sans" pitchFamily="-84" charset="0"/>
                <a:ea typeface="ヒラギノ角ゴ ProN W3" pitchFamily="-84" charset="-128"/>
                <a:sym typeface="Gill Sans" pitchFamily="-84" charset="0"/>
              </a:defRPr>
            </a:lvl4pPr>
            <a:lvl5pPr marL="2057400" indent="-228600" eaLnBrk="0" hangingPunct="0">
              <a:defRPr sz="3600">
                <a:solidFill>
                  <a:srgbClr val="FFFFFF"/>
                </a:solidFill>
                <a:latin typeface="Gill Sans" pitchFamily="-84" charset="0"/>
                <a:ea typeface="ヒラギノ角ゴ ProN W3" pitchFamily="-84" charset="-128"/>
                <a:sym typeface="Gill Sans" pitchFamily="-84" charset="0"/>
              </a:defRPr>
            </a:lvl5pPr>
            <a:lvl6pPr marL="25146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6pPr>
            <a:lvl7pPr marL="29718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7pPr>
            <a:lvl8pPr marL="34290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8pPr>
            <a:lvl9pPr marL="3886200" indent="-228600" algn="ctr" eaLnBrk="0" fontAlgn="base" hangingPunct="0">
              <a:spcBef>
                <a:spcPct val="0"/>
              </a:spcBef>
              <a:spcAft>
                <a:spcPct val="0"/>
              </a:spcAft>
              <a:defRPr sz="3600">
                <a:solidFill>
                  <a:srgbClr val="FFFFFF"/>
                </a:solidFill>
                <a:latin typeface="Gill Sans" pitchFamily="-84" charset="0"/>
                <a:ea typeface="ヒラギノ角ゴ ProN W3" pitchFamily="-84" charset="-128"/>
                <a:sym typeface="Gill Sans" pitchFamily="-84" charset="0"/>
              </a:defRPr>
            </a:lvl9pPr>
          </a:lstStyle>
          <a:p>
            <a:pPr eaLnBrk="1" hangingPunct="1"/>
            <a:r>
              <a:rPr lang="en-US" altLang="en-US" sz="1800" dirty="0">
                <a:solidFill>
                  <a:schemeClr val="tx1"/>
                </a:solidFill>
                <a:ea typeface="MS PGothic" pitchFamily="34" charset="-128"/>
              </a:rPr>
              <a:t>candy</a:t>
            </a:r>
          </a:p>
        </p:txBody>
      </p:sp>
    </p:spTree>
    <p:extLst>
      <p:ext uri="{BB962C8B-B14F-4D97-AF65-F5344CB8AC3E}">
        <p14:creationId xmlns:p14="http://schemas.microsoft.com/office/powerpoint/2010/main" val="2818256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82646" y="1600200"/>
            <a:ext cx="8365818" cy="4637112"/>
          </a:xfrm>
          <a:solidFill>
            <a:schemeClr val="bg1"/>
          </a:solidFill>
        </p:spPr>
        <p:txBody>
          <a:bodyPr>
            <a:normAutofit lnSpcReduction="10000"/>
          </a:bodyPr>
          <a:lstStyle/>
          <a:p>
            <a:pPr marL="129159" indent="0">
              <a:buNone/>
            </a:pPr>
            <a:endParaRPr lang="en-US" altLang="en-US" sz="16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Dictionaries are Python’</a:t>
            </a:r>
            <a:r>
              <a:rPr lang="en-US" altLang="ja-JP" sz="2400" dirty="0">
                <a:solidFill>
                  <a:srgbClr val="6600CC"/>
                </a:solidFill>
              </a:rPr>
              <a:t>s most powerful data collection.</a:t>
            </a:r>
            <a:endParaRPr lang="en-US" altLang="en-US" sz="2400" dirty="0">
              <a:solidFill>
                <a:srgbClr val="6600CC"/>
              </a:solidFill>
            </a:endParaRPr>
          </a:p>
          <a:p>
            <a:pPr marL="514350" lvl="1" indent="-396875" defTabSz="914363">
              <a:lnSpc>
                <a:spcPct val="90000"/>
              </a:lnSpc>
              <a:buSzPct val="100000"/>
              <a:buBlip>
                <a:blip r:embed="rId3"/>
              </a:buBlip>
            </a:pPr>
            <a:r>
              <a:rPr lang="en-US" altLang="en-US" sz="2400" dirty="0">
                <a:solidFill>
                  <a:srgbClr val="6600CC"/>
                </a:solidFill>
              </a:rPr>
              <a:t>Dictionaries allow us to do fast database-like operations in Python.</a:t>
            </a:r>
          </a:p>
          <a:p>
            <a:pPr marL="514350" lvl="1" indent="-396875" defTabSz="914363">
              <a:lnSpc>
                <a:spcPct val="90000"/>
              </a:lnSpc>
              <a:buSzPct val="100000"/>
              <a:buBlip>
                <a:blip r:embed="rId3"/>
              </a:buBlip>
            </a:pPr>
            <a:r>
              <a:rPr lang="en-US" altLang="en-US" sz="2400" dirty="0">
                <a:solidFill>
                  <a:srgbClr val="6600CC"/>
                </a:solidFill>
              </a:rPr>
              <a:t>Dictionaries have different names in different languages.</a:t>
            </a:r>
          </a:p>
          <a:p>
            <a:pPr marL="900000" lvl="1" indent="-396875" defTabSz="914363">
              <a:lnSpc>
                <a:spcPct val="90000"/>
              </a:lnSpc>
              <a:buSzPct val="120000"/>
              <a:buBlip>
                <a:blip r:embed="rId4"/>
              </a:buBlip>
            </a:pPr>
            <a:r>
              <a:rPr lang="en-US" altLang="en-US" sz="2000" dirty="0">
                <a:solidFill>
                  <a:srgbClr val="6600CC"/>
                </a:solidFill>
              </a:rPr>
              <a:t>Associative Arrays - Perl / PHP.</a:t>
            </a:r>
          </a:p>
          <a:p>
            <a:pPr marL="900000" lvl="1" indent="-396875" defTabSz="914363">
              <a:lnSpc>
                <a:spcPct val="90000"/>
              </a:lnSpc>
              <a:buSzPct val="120000"/>
              <a:buBlip>
                <a:blip r:embed="rId4"/>
              </a:buBlip>
            </a:pPr>
            <a:r>
              <a:rPr lang="en-US" altLang="en-US" sz="2000" dirty="0">
                <a:solidFill>
                  <a:srgbClr val="6600CC"/>
                </a:solidFill>
              </a:rPr>
              <a:t>Properties or Map or </a:t>
            </a:r>
            <a:r>
              <a:rPr lang="en-US" altLang="en-US" sz="2000" dirty="0" err="1">
                <a:solidFill>
                  <a:srgbClr val="6600CC"/>
                </a:solidFill>
              </a:rPr>
              <a:t>HashMap</a:t>
            </a:r>
            <a:r>
              <a:rPr lang="en-US" altLang="en-US" sz="2000" dirty="0">
                <a:solidFill>
                  <a:srgbClr val="6600CC"/>
                </a:solidFill>
              </a:rPr>
              <a:t> – Java.</a:t>
            </a:r>
          </a:p>
          <a:p>
            <a:pPr marL="900000" lvl="1" indent="-396875" defTabSz="914363">
              <a:lnSpc>
                <a:spcPct val="90000"/>
              </a:lnSpc>
              <a:buSzPct val="120000"/>
              <a:buBlip>
                <a:blip r:embed="rId4"/>
              </a:buBlip>
            </a:pPr>
            <a:r>
              <a:rPr lang="en-US" altLang="en-US" sz="2000" dirty="0">
                <a:solidFill>
                  <a:srgbClr val="6600CC"/>
                </a:solidFill>
              </a:rPr>
              <a:t>Property Bag - C# / . NET.</a:t>
            </a:r>
          </a:p>
          <a:p>
            <a:pPr marL="900000" lvl="1" indent="-396875" defTabSz="914363">
              <a:lnSpc>
                <a:spcPct val="90000"/>
              </a:lnSpc>
              <a:buSzPct val="120000"/>
              <a:buBlip>
                <a:blip r:embed="rId4"/>
              </a:buBlip>
            </a:pPr>
            <a:endParaRPr lang="en-IN" sz="2000" dirty="0">
              <a:solidFill>
                <a:srgbClr val="6600CC"/>
              </a:solidFill>
              <a:cs typeface="Vrinda" pitchFamily="34" charset="0"/>
            </a:endParaRPr>
          </a:p>
          <a:p>
            <a:pPr marL="514350" lvl="1" indent="-396875" defTabSz="914363">
              <a:lnSpc>
                <a:spcPct val="90000"/>
              </a:lnSpc>
              <a:buSzPct val="100000"/>
              <a:buBlip>
                <a:blip r:embed="rId3"/>
              </a:buBlip>
            </a:pPr>
            <a:r>
              <a:rPr lang="en-US" altLang="en-US" sz="2400" dirty="0">
                <a:solidFill>
                  <a:srgbClr val="6600CC"/>
                </a:solidFill>
              </a:rPr>
              <a:t>Dictionary Keys can be of any Python data type.</a:t>
            </a:r>
          </a:p>
          <a:p>
            <a:pPr marL="900000" lvl="1" indent="-396875" defTabSz="914363">
              <a:lnSpc>
                <a:spcPct val="90000"/>
              </a:lnSpc>
              <a:buSzPct val="120000"/>
              <a:buBlip>
                <a:blip r:embed="rId4"/>
              </a:buBlip>
            </a:pPr>
            <a:r>
              <a:rPr lang="en-US" altLang="en-US" sz="2000" dirty="0">
                <a:solidFill>
                  <a:srgbClr val="6600CC"/>
                </a:solidFill>
              </a:rPr>
              <a:t>Because keys are used for indexing, they should be immutable.</a:t>
            </a:r>
          </a:p>
          <a:p>
            <a:pPr marL="503125" lvl="1" indent="0" defTabSz="914363">
              <a:lnSpc>
                <a:spcPct val="90000"/>
              </a:lnSpc>
              <a:buSzPct val="120000"/>
              <a:buNone/>
            </a:pPr>
            <a:endParaRPr lang="en-IN" sz="2000" dirty="0">
              <a:solidFill>
                <a:srgbClr val="6600CC"/>
              </a:solidFill>
              <a:cs typeface="Vrinda" pitchFamily="34" charset="0"/>
            </a:endParaRPr>
          </a:p>
          <a:p>
            <a:pPr marL="514350" lvl="1" indent="-396875" defTabSz="914363">
              <a:lnSpc>
                <a:spcPct val="90000"/>
              </a:lnSpc>
              <a:buSzPct val="100000"/>
              <a:buBlip>
                <a:blip r:embed="rId3"/>
              </a:buBlip>
            </a:pPr>
            <a:r>
              <a:rPr lang="en-US" altLang="en-US" sz="2400" dirty="0">
                <a:solidFill>
                  <a:srgbClr val="6600CC"/>
                </a:solidFill>
              </a:rPr>
              <a:t>Dictionary Values can be of any Python data type.</a:t>
            </a:r>
          </a:p>
          <a:p>
            <a:pPr marL="900000" lvl="1" indent="-396875" defTabSz="914363">
              <a:lnSpc>
                <a:spcPct val="90000"/>
              </a:lnSpc>
              <a:buSzPct val="120000"/>
              <a:buBlip>
                <a:blip r:embed="rId4"/>
              </a:buBlip>
            </a:pPr>
            <a:r>
              <a:rPr lang="en-US" altLang="en-US" sz="2000" dirty="0">
                <a:solidFill>
                  <a:srgbClr val="6600CC"/>
                </a:solidFill>
              </a:rPr>
              <a:t>Values can be mutable or immutable.</a:t>
            </a:r>
            <a:endParaRPr lang="en-IN" sz="2000" dirty="0">
              <a:solidFill>
                <a:srgbClr val="6600CC"/>
              </a:solidFill>
              <a:cs typeface="Vrinda" pitchFamily="34" charset="0"/>
            </a:endParaRPr>
          </a:p>
          <a:p>
            <a:pPr marL="129159" indent="0">
              <a:buNone/>
            </a:pPr>
            <a:endParaRPr lang="en-US" altLang="en-US" sz="1600" dirty="0">
              <a:solidFill>
                <a:srgbClr val="6600CC"/>
              </a:solidFill>
            </a:endParaRPr>
          </a:p>
        </p:txBody>
      </p:sp>
      <p:sp>
        <p:nvSpPr>
          <p:cNvPr id="4" name="Rectangle 3"/>
          <p:cNvSpPr/>
          <p:nvPr/>
        </p:nvSpPr>
        <p:spPr>
          <a:xfrm>
            <a:off x="526662" y="544324"/>
            <a:ext cx="3829314" cy="830997"/>
          </a:xfrm>
          <a:prstGeom prst="rect">
            <a:avLst/>
          </a:prstGeom>
        </p:spPr>
        <p:txBody>
          <a:bodyPr wrap="square">
            <a:spAutoFit/>
          </a:bodyPr>
          <a:lstStyle/>
          <a:p>
            <a:pPr>
              <a:spcBef>
                <a:spcPct val="0"/>
              </a:spcBef>
              <a:defRPr/>
            </a:pPr>
            <a:r>
              <a:rPr lang="en-US" altLang="en-US" sz="2400" b="1" dirty="0">
                <a:solidFill>
                  <a:schemeClr val="bg1"/>
                </a:solidFill>
                <a:latin typeface="Vrinda" pitchFamily="34" charset="0"/>
                <a:ea typeface="+mj-ea"/>
                <a:cs typeface="Vrinda" pitchFamily="34" charset="0"/>
              </a:rPr>
              <a:t>Characteristics</a:t>
            </a:r>
            <a:r>
              <a:rPr lang="en-US" sz="2400" b="1" dirty="0">
                <a:solidFill>
                  <a:schemeClr val="bg1"/>
                </a:solidFill>
                <a:latin typeface="Vrinda" pitchFamily="34" charset="0"/>
                <a:ea typeface="+mj-ea"/>
                <a:cs typeface="Vrinda" pitchFamily="34" charset="0"/>
                <a:sym typeface="Gill Sans" charset="0"/>
              </a:rPr>
              <a:t> of Dictionary</a:t>
            </a:r>
            <a:endParaRPr lang="en-IN" sz="2400" b="1" dirty="0">
              <a:solidFill>
                <a:schemeClr val="bg1"/>
              </a:solidFill>
              <a:latin typeface="Vrinda" pitchFamily="34" charset="0"/>
              <a:ea typeface="+mj-ea"/>
              <a:cs typeface="Vrinda" pitchFamily="34" charset="0"/>
            </a:endParaRPr>
          </a:p>
        </p:txBody>
      </p:sp>
    </p:spTree>
    <p:extLst>
      <p:ext uri="{BB962C8B-B14F-4D97-AF65-F5344CB8AC3E}">
        <p14:creationId xmlns:p14="http://schemas.microsoft.com/office/powerpoint/2010/main" val="3505534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529208" y="404664"/>
            <a:ext cx="3034680" cy="724942"/>
          </a:xfrm>
        </p:spPr>
        <p:txBody>
          <a:bodyPr>
            <a:normAutofit/>
          </a:bodyPr>
          <a:lstStyle/>
          <a:p>
            <a:pPr algn="l">
              <a:defRPr/>
            </a:pPr>
            <a:r>
              <a:rPr lang="en-US" altLang="en-US" sz="2400" b="1" dirty="0">
                <a:solidFill>
                  <a:schemeClr val="bg1"/>
                </a:solidFill>
                <a:latin typeface="Vrinda" pitchFamily="34" charset="0"/>
                <a:cs typeface="Vrinda" pitchFamily="34" charset="0"/>
              </a:rPr>
              <a:t>Creating a Dictionary</a:t>
            </a:r>
            <a:endParaRPr lang="en-US" sz="2400" b="1" dirty="0">
              <a:solidFill>
                <a:schemeClr val="bg1"/>
              </a:solidFill>
              <a:latin typeface="Vrinda" pitchFamily="34" charset="0"/>
              <a:cs typeface="Vrinda" pitchFamily="34" charset="0"/>
              <a:sym typeface="Gill Sans" charset="0"/>
            </a:endParaRPr>
          </a:p>
        </p:txBody>
      </p:sp>
      <p:sp>
        <p:nvSpPr>
          <p:cNvPr id="27650" name="Rectangle 2"/>
          <p:cNvSpPr>
            <a:spLocks noGrp="1" noChangeArrowheads="1"/>
          </p:cNvSpPr>
          <p:nvPr>
            <p:ph type="body" idx="1"/>
          </p:nvPr>
        </p:nvSpPr>
        <p:spPr>
          <a:xfrm>
            <a:off x="395536" y="1514371"/>
            <a:ext cx="8424936" cy="1172870"/>
          </a:xfrm>
          <a:solidFill>
            <a:schemeClr val="bg1"/>
          </a:solidFill>
        </p:spPr>
        <p:txBody>
          <a:bodyPr>
            <a:normAutofit fontScale="62500" lnSpcReduction="20000"/>
          </a:bodyPr>
          <a:lstStyle/>
          <a:p>
            <a:pPr marL="472059">
              <a:buFont typeface="Gill Sans" charset="0"/>
              <a:buChar char="•"/>
              <a:defRPr/>
            </a:pPr>
            <a:endParaRPr lang="en-US" sz="2000" dirty="0">
              <a:solidFill>
                <a:srgbClr val="6600CC"/>
              </a:solidFill>
              <a:sym typeface="Gill Sans" charset="0"/>
            </a:endParaRPr>
          </a:p>
          <a:p>
            <a:pPr marL="514350" lvl="1" indent="-396875" defTabSz="914363">
              <a:lnSpc>
                <a:spcPct val="90000"/>
              </a:lnSpc>
              <a:buSzPct val="100000"/>
              <a:buBlip>
                <a:blip r:embed="rId3"/>
              </a:buBlip>
            </a:pPr>
            <a:r>
              <a:rPr lang="en-US" sz="3800" dirty="0">
                <a:solidFill>
                  <a:srgbClr val="6600CC"/>
                </a:solidFill>
                <a:sym typeface="Gill Sans" charset="0"/>
              </a:rPr>
              <a:t>Dictionary literals use curly braces and have a list of key-value pairs.</a:t>
            </a:r>
          </a:p>
          <a:p>
            <a:pPr marL="514350" lvl="1" indent="-396875" defTabSz="914363">
              <a:lnSpc>
                <a:spcPct val="90000"/>
              </a:lnSpc>
              <a:buSzPct val="100000"/>
              <a:buBlip>
                <a:blip r:embed="rId3"/>
              </a:buBlip>
            </a:pPr>
            <a:r>
              <a:rPr lang="en-US" sz="3800" dirty="0">
                <a:solidFill>
                  <a:srgbClr val="6600CC"/>
                </a:solidFill>
                <a:sym typeface="Gill Sans" charset="0"/>
              </a:rPr>
              <a:t>You can make an empty dictionary using empty curly braces</a:t>
            </a:r>
          </a:p>
          <a:p>
            <a:pPr marL="472059">
              <a:buFont typeface="Gill Sans" charset="0"/>
              <a:buChar char="•"/>
              <a:defRPr/>
            </a:pPr>
            <a:endParaRPr lang="en-US" sz="2000" dirty="0">
              <a:solidFill>
                <a:srgbClr val="6600CC"/>
              </a:solidFill>
              <a:sym typeface="Gill Sans"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789040"/>
            <a:ext cx="7677150" cy="192405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827583" y="3004165"/>
            <a:ext cx="2708114" cy="400110"/>
          </a:xfrm>
          <a:prstGeom prst="rect">
            <a:avLst/>
          </a:prstGeom>
          <a:noFill/>
        </p:spPr>
        <p:txBody>
          <a:bodyPr wrap="none" rtlCol="0">
            <a:spAutoFit/>
          </a:bodyPr>
          <a:lstStyle/>
          <a:p>
            <a:r>
              <a:rPr lang="en-US" sz="2000" b="1" dirty="0">
                <a:solidFill>
                  <a:srgbClr val="6600CC"/>
                </a:solidFill>
              </a:rPr>
              <a:t>Example of a Dictionary</a:t>
            </a:r>
          </a:p>
        </p:txBody>
      </p:sp>
    </p:spTree>
    <p:extLst>
      <p:ext uri="{BB962C8B-B14F-4D97-AF65-F5344CB8AC3E}">
        <p14:creationId xmlns:p14="http://schemas.microsoft.com/office/powerpoint/2010/main" val="3677915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29208" y="476672"/>
            <a:ext cx="3106688" cy="868958"/>
          </a:xfrm>
        </p:spPr>
        <p:txBody>
          <a:bodyPr>
            <a:normAutofit/>
          </a:bodyPr>
          <a:lstStyle/>
          <a:p>
            <a:pPr algn="l"/>
            <a:r>
              <a:rPr lang="en-US" altLang="en-US" sz="2400" b="1" dirty="0">
                <a:solidFill>
                  <a:schemeClr val="bg1"/>
                </a:solidFill>
                <a:latin typeface="Vrinda" pitchFamily="34" charset="0"/>
                <a:cs typeface="Vrinda" pitchFamily="34" charset="0"/>
              </a:rPr>
              <a:t>Creating a Dictionary</a:t>
            </a:r>
            <a:br>
              <a:rPr lang="en-US" altLang="en-US" sz="2400" b="1" dirty="0">
                <a:solidFill>
                  <a:schemeClr val="bg1"/>
                </a:solidFill>
                <a:latin typeface="Vrinda" pitchFamily="34" charset="0"/>
                <a:cs typeface="Vrinda" pitchFamily="34" charset="0"/>
              </a:rPr>
            </a:br>
            <a:r>
              <a:rPr lang="en-US" altLang="en-US" sz="2400" b="1" dirty="0">
                <a:solidFill>
                  <a:schemeClr val="bg1"/>
                </a:solidFill>
                <a:latin typeface="Vrinda" pitchFamily="34" charset="0"/>
                <a:cs typeface="Vrinda" pitchFamily="34" charset="0"/>
              </a:rPr>
              <a:t>(Contd.)</a:t>
            </a:r>
          </a:p>
        </p:txBody>
      </p:sp>
      <p:sp>
        <p:nvSpPr>
          <p:cNvPr id="3" name="Content Placeholder 2"/>
          <p:cNvSpPr>
            <a:spLocks noGrp="1"/>
          </p:cNvSpPr>
          <p:nvPr>
            <p:ph sz="quarter" idx="1"/>
          </p:nvPr>
        </p:nvSpPr>
        <p:spPr>
          <a:xfrm>
            <a:off x="395536" y="1628800"/>
            <a:ext cx="8352928" cy="3960440"/>
          </a:xfrm>
          <a:solidFill>
            <a:schemeClr val="bg1"/>
          </a:solidFill>
        </p:spPr>
        <p:txBody>
          <a:bodyPr>
            <a:normAutofit/>
          </a:bodyPr>
          <a:lstStyle/>
          <a:p>
            <a:pPr>
              <a:buFontTx/>
              <a:buChar char="•"/>
            </a:pPr>
            <a:endParaRPr lang="en-US" altLang="en-US" sz="1600" dirty="0">
              <a:solidFill>
                <a:srgbClr val="6600CC"/>
              </a:solidFill>
            </a:endParaRPr>
          </a:p>
          <a:p>
            <a:pPr marL="514350" lvl="1" indent="-396875" defTabSz="914363">
              <a:lnSpc>
                <a:spcPct val="90000"/>
              </a:lnSpc>
              <a:buSzPct val="100000"/>
              <a:buBlip>
                <a:blip r:embed="rId3"/>
              </a:buBlip>
            </a:pPr>
            <a:r>
              <a:rPr lang="en-US" altLang="en-US" sz="2000" dirty="0">
                <a:solidFill>
                  <a:srgbClr val="6600CC"/>
                </a:solidFill>
              </a:rPr>
              <a:t>Lists index their entries based on the position in the list.</a:t>
            </a:r>
          </a:p>
          <a:p>
            <a:pPr marL="514350" lvl="1" indent="-396875" defTabSz="914363">
              <a:lnSpc>
                <a:spcPct val="90000"/>
              </a:lnSpc>
              <a:buSzPct val="100000"/>
              <a:buBlip>
                <a:blip r:embed="rId3"/>
              </a:buBlip>
            </a:pPr>
            <a:r>
              <a:rPr lang="en-US" altLang="en-US" sz="2000" dirty="0">
                <a:solidFill>
                  <a:srgbClr val="6600CC"/>
                </a:solidFill>
              </a:rPr>
              <a:t>In general, the order of items in a dictionary is unpredictable.</a:t>
            </a:r>
          </a:p>
          <a:p>
            <a:pPr marL="514350" lvl="1" indent="-396875" defTabSz="914363">
              <a:lnSpc>
                <a:spcPct val="90000"/>
              </a:lnSpc>
              <a:buSzPct val="100000"/>
              <a:buBlip>
                <a:blip r:embed="rId3"/>
              </a:buBlip>
            </a:pPr>
            <a:r>
              <a:rPr lang="en-US" altLang="en-US" sz="2000" dirty="0">
                <a:solidFill>
                  <a:srgbClr val="6600CC"/>
                </a:solidFill>
              </a:rPr>
              <a:t>Dictionaries are indexed by keys.</a:t>
            </a:r>
          </a:p>
          <a:p>
            <a:pPr marL="0" indent="0">
              <a:buNone/>
            </a:pPr>
            <a:r>
              <a:rPr lang="en-US" altLang="en-US" sz="2400" dirty="0">
                <a:solidFill>
                  <a:srgbClr val="6600CC"/>
                </a:solidFill>
              </a:rPr>
              <a:t> </a:t>
            </a:r>
            <a:r>
              <a:rPr lang="en-US" altLang="en-US" sz="2000" b="1" dirty="0">
                <a:solidFill>
                  <a:srgbClr val="9900FF"/>
                </a:solidFill>
                <a:cs typeface="Courier New" pitchFamily="49" charset="0"/>
              </a:rPr>
              <a:t>Example: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486150"/>
            <a:ext cx="7524192" cy="2654051"/>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586774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529208" y="476672"/>
            <a:ext cx="3250704" cy="562074"/>
          </a:xfrm>
        </p:spPr>
        <p:txBody>
          <a:bodyPr>
            <a:normAutofit/>
          </a:bodyPr>
          <a:lstStyle/>
          <a:p>
            <a:pPr algn="l">
              <a:defRPr/>
            </a:pPr>
            <a:r>
              <a:rPr lang="en-US" altLang="en-US" sz="2400" b="1" dirty="0">
                <a:solidFill>
                  <a:schemeClr val="bg1"/>
                </a:solidFill>
                <a:latin typeface="Vrinda" pitchFamily="34" charset="0"/>
                <a:cs typeface="Vrinda" pitchFamily="34" charset="0"/>
              </a:rPr>
              <a:t>Methods of Dictionary</a:t>
            </a:r>
            <a:endParaRPr lang="en-US" sz="2400" b="1" dirty="0">
              <a:solidFill>
                <a:schemeClr val="bg1"/>
              </a:solidFill>
              <a:latin typeface="Vrinda" pitchFamily="34" charset="0"/>
              <a:cs typeface="Vrinda" pitchFamily="34" charset="0"/>
              <a:sym typeface="Gill Sans"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168819492"/>
              </p:ext>
            </p:extLst>
          </p:nvPr>
        </p:nvGraphicFramePr>
        <p:xfrm>
          <a:off x="755576" y="2060851"/>
          <a:ext cx="7560839" cy="3816421"/>
        </p:xfrm>
        <a:graphic>
          <a:graphicData uri="http://schemas.openxmlformats.org/drawingml/2006/table">
            <a:tbl>
              <a:tblPr>
                <a:tableStyleId>{E8B1032C-EA38-4F05-BA0D-38AFFFC7BED3}</a:tableStyleId>
              </a:tblPr>
              <a:tblGrid>
                <a:gridCol w="576064">
                  <a:extLst>
                    <a:ext uri="{9D8B030D-6E8A-4147-A177-3AD203B41FA5}">
                      <a16:colId xmlns:a16="http://schemas.microsoft.com/office/drawing/2014/main" val="20000"/>
                    </a:ext>
                  </a:extLst>
                </a:gridCol>
                <a:gridCol w="3118922">
                  <a:extLst>
                    <a:ext uri="{9D8B030D-6E8A-4147-A177-3AD203B41FA5}">
                      <a16:colId xmlns:a16="http://schemas.microsoft.com/office/drawing/2014/main" val="20001"/>
                    </a:ext>
                  </a:extLst>
                </a:gridCol>
                <a:gridCol w="3865853">
                  <a:extLst>
                    <a:ext uri="{9D8B030D-6E8A-4147-A177-3AD203B41FA5}">
                      <a16:colId xmlns:a16="http://schemas.microsoft.com/office/drawing/2014/main" val="20002"/>
                    </a:ext>
                  </a:extLst>
                </a:gridCol>
              </a:tblGrid>
              <a:tr h="311799">
                <a:tc>
                  <a:txBody>
                    <a:bodyPr/>
                    <a:lstStyle/>
                    <a:p>
                      <a:pPr algn="ctr" fontAlgn="t"/>
                      <a:r>
                        <a:rPr lang="en-IN" sz="1800" kern="1200" dirty="0" err="1"/>
                        <a:t>S.No</a:t>
                      </a:r>
                      <a:endParaRPr lang="en-IN" sz="1800" b="1" kern="1200" dirty="0">
                        <a:solidFill>
                          <a:schemeClr val="lt1"/>
                        </a:solidFill>
                        <a:latin typeface="+mn-lt"/>
                        <a:ea typeface="+mn-ea"/>
                        <a:cs typeface="+mn-cs"/>
                      </a:endParaRPr>
                    </a:p>
                  </a:txBody>
                  <a:tcPr marL="7620" marR="7620" marT="7620" marB="0"/>
                </a:tc>
                <a:tc>
                  <a:txBody>
                    <a:bodyPr/>
                    <a:lstStyle/>
                    <a:p>
                      <a:pPr algn="ctr" fontAlgn="t"/>
                      <a:r>
                        <a:rPr lang="en-IN" sz="1800" kern="1200" dirty="0"/>
                        <a:t>Method Name</a:t>
                      </a:r>
                      <a:endParaRPr lang="en-IN" sz="1800" b="1" kern="1200" dirty="0">
                        <a:solidFill>
                          <a:schemeClr val="lt1"/>
                        </a:solidFill>
                        <a:latin typeface="+mn-lt"/>
                        <a:ea typeface="+mn-ea"/>
                        <a:cs typeface="+mn-cs"/>
                      </a:endParaRPr>
                    </a:p>
                  </a:txBody>
                  <a:tcPr marL="7620" marR="7620" marT="7620" marB="0"/>
                </a:tc>
                <a:tc>
                  <a:txBody>
                    <a:bodyPr/>
                    <a:lstStyle/>
                    <a:p>
                      <a:pPr algn="ctr" fontAlgn="t"/>
                      <a:r>
                        <a:rPr lang="en-IN" sz="1800" kern="1200" dirty="0"/>
                        <a:t>Description</a:t>
                      </a:r>
                      <a:endParaRPr lang="en-IN" sz="1800" b="1" kern="1200" dirty="0">
                        <a:solidFill>
                          <a:schemeClr val="lt1"/>
                        </a:solidFill>
                        <a:latin typeface="+mn-lt"/>
                        <a:ea typeface="+mn-ea"/>
                        <a:cs typeface="+mn-cs"/>
                      </a:endParaRPr>
                    </a:p>
                  </a:txBody>
                  <a:tcPr marL="7620" marR="7620" marT="7620" marB="0"/>
                </a:tc>
                <a:extLst>
                  <a:ext uri="{0D108BD9-81ED-4DB2-BD59-A6C34878D82A}">
                    <a16:rowId xmlns:a16="http://schemas.microsoft.com/office/drawing/2014/main" val="10000"/>
                  </a:ext>
                </a:extLst>
              </a:tr>
              <a:tr h="299327">
                <a:tc>
                  <a:txBody>
                    <a:bodyPr/>
                    <a:lstStyle/>
                    <a:p>
                      <a:pPr algn="ctr" fontAlgn="t"/>
                      <a:r>
                        <a:rPr lang="en-IN" sz="1200" u="none" strike="noStrike" dirty="0">
                          <a:effectLst/>
                        </a:rPr>
                        <a:t>1</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dirty="0" err="1">
                          <a:effectLst/>
                          <a:hlinkClick r:id="rId3"/>
                        </a:rPr>
                        <a:t>dict.clear</a:t>
                      </a:r>
                      <a:r>
                        <a:rPr lang="en-IN" sz="1200" u="none" strike="noStrike" dirty="0">
                          <a:effectLst/>
                          <a:hlinkClick r:id="rId3"/>
                        </a:rPr>
                        <a:t>()</a:t>
                      </a:r>
                      <a:endParaRPr lang="en-IN" sz="1200" b="0" i="0" u="none" strike="noStrike" dirty="0">
                        <a:solidFill>
                          <a:sysClr val="windowText" lastClr="000000"/>
                        </a:solidFill>
                        <a:effectLst/>
                        <a:latin typeface="Calibri"/>
                      </a:endParaRPr>
                    </a:p>
                  </a:txBody>
                  <a:tcPr marL="7620" marR="7620" marT="7620" marB="0" anchor="b"/>
                </a:tc>
                <a:tc>
                  <a:txBody>
                    <a:bodyPr/>
                    <a:lstStyle/>
                    <a:p>
                      <a:pPr algn="l" fontAlgn="b"/>
                      <a:r>
                        <a:rPr lang="en-IN" sz="1200" u="none" strike="noStrike" dirty="0">
                          <a:effectLst/>
                        </a:rPr>
                        <a:t>Removes all elements of the dictionary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Calibri"/>
                      </a:endParaRPr>
                    </a:p>
                  </a:txBody>
                  <a:tcPr marL="7620" marR="7620" marT="7620" marB="0" anchor="b"/>
                </a:tc>
                <a:extLst>
                  <a:ext uri="{0D108BD9-81ED-4DB2-BD59-A6C34878D82A}">
                    <a16:rowId xmlns:a16="http://schemas.microsoft.com/office/drawing/2014/main" val="10001"/>
                  </a:ext>
                </a:extLst>
              </a:tr>
              <a:tr h="299327">
                <a:tc>
                  <a:txBody>
                    <a:bodyPr/>
                    <a:lstStyle/>
                    <a:p>
                      <a:pPr algn="ctr" fontAlgn="t"/>
                      <a:r>
                        <a:rPr lang="en-IN" sz="1200" u="none" strike="noStrike" dirty="0">
                          <a:effectLst/>
                        </a:rPr>
                        <a:t>2</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dirty="0" err="1">
                          <a:effectLst/>
                          <a:hlinkClick r:id="rId4"/>
                        </a:rPr>
                        <a:t>dict.copy</a:t>
                      </a:r>
                      <a:r>
                        <a:rPr lang="en-IN" sz="1200" u="none" strike="noStrike" dirty="0">
                          <a:effectLst/>
                          <a:hlinkClick r:id="rId4"/>
                        </a:rPr>
                        <a:t>()</a:t>
                      </a:r>
                      <a:endParaRPr lang="en-IN" sz="1200" b="0" i="0" u="none" strike="noStrike" dirty="0">
                        <a:solidFill>
                          <a:sysClr val="windowText" lastClr="000000"/>
                        </a:solidFill>
                        <a:effectLst/>
                        <a:latin typeface="Calibri"/>
                      </a:endParaRPr>
                    </a:p>
                  </a:txBody>
                  <a:tcPr marL="7620" marR="7620" marT="7620" marB="0" anchor="b"/>
                </a:tc>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IN" sz="1200" u="none" strike="noStrike" dirty="0">
                          <a:effectLst/>
                        </a:rPr>
                        <a:t>Returns a shallow copy of dictionary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mn-lt"/>
                      </a:endParaRPr>
                    </a:p>
                  </a:txBody>
                  <a:tcPr marL="7620" marR="7620" marT="7620" marB="0" anchor="ctr"/>
                </a:tc>
                <a:extLst>
                  <a:ext uri="{0D108BD9-81ED-4DB2-BD59-A6C34878D82A}">
                    <a16:rowId xmlns:a16="http://schemas.microsoft.com/office/drawing/2014/main" val="10002"/>
                  </a:ext>
                </a:extLst>
              </a:tr>
              <a:tr h="424047">
                <a:tc>
                  <a:txBody>
                    <a:bodyPr/>
                    <a:lstStyle/>
                    <a:p>
                      <a:pPr algn="ctr" fontAlgn="t"/>
                      <a:r>
                        <a:rPr lang="en-IN" sz="1200" u="none" strike="noStrike" dirty="0">
                          <a:effectLst/>
                        </a:rPr>
                        <a:t>3</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dirty="0" err="1">
                          <a:effectLst/>
                          <a:hlinkClick r:id="rId5"/>
                        </a:rPr>
                        <a:t>dict.fromkeys</a:t>
                      </a:r>
                      <a:r>
                        <a:rPr lang="en-IN" sz="1200" u="none" strike="noStrike" dirty="0">
                          <a:effectLst/>
                          <a:hlinkClick r:id="rId5"/>
                        </a:rPr>
                        <a:t>(</a:t>
                      </a:r>
                      <a:r>
                        <a:rPr lang="en-IN" sz="1200" dirty="0" err="1">
                          <a:effectLst/>
                        </a:rPr>
                        <a:t>seq</a:t>
                      </a:r>
                      <a:r>
                        <a:rPr lang="en-IN" sz="1200" dirty="0">
                          <a:effectLst/>
                        </a:rPr>
                        <a:t>[</a:t>
                      </a:r>
                      <a:r>
                        <a:rPr lang="en-IN" sz="1800" kern="1200" dirty="0">
                          <a:solidFill>
                            <a:schemeClr val="tx1"/>
                          </a:solidFill>
                          <a:effectLst/>
                          <a:latin typeface="+mn-lt"/>
                          <a:ea typeface="+mn-ea"/>
                          <a:cs typeface="+mn-cs"/>
                        </a:rPr>
                        <a:t>,</a:t>
                      </a:r>
                      <a:r>
                        <a:rPr lang="en-IN" sz="1200" dirty="0">
                          <a:effectLst/>
                        </a:rPr>
                        <a:t> value]</a:t>
                      </a:r>
                      <a:r>
                        <a:rPr lang="en-IN" sz="1200" u="none" strike="noStrike" dirty="0">
                          <a:effectLst/>
                          <a:hlinkClick r:id="rId5"/>
                        </a:rPr>
                        <a:t>)</a:t>
                      </a:r>
                      <a:endParaRPr lang="en-IN" sz="1200" b="0" i="0" u="none" strike="noStrike" dirty="0">
                        <a:solidFill>
                          <a:sysClr val="windowText" lastClr="000000"/>
                        </a:solidFill>
                        <a:effectLst/>
                        <a:latin typeface="Calibri"/>
                      </a:endParaRPr>
                    </a:p>
                  </a:txBody>
                  <a:tcPr marL="7620" marR="7620" marT="7620" marB="0" anchor="b"/>
                </a:tc>
                <a:tc>
                  <a:txBody>
                    <a:bodyPr/>
                    <a:lstStyle/>
                    <a:p>
                      <a:pPr algn="just" fontAlgn="ctr"/>
                      <a:r>
                        <a:rPr lang="en-IN" sz="1200" u="none" strike="noStrike" kern="1200" dirty="0">
                          <a:solidFill>
                            <a:schemeClr val="tx1"/>
                          </a:solidFill>
                          <a:effectLst/>
                          <a:latin typeface="+mn-lt"/>
                          <a:ea typeface="+mn-ea"/>
                          <a:cs typeface="+mn-cs"/>
                        </a:rPr>
                        <a:t>Returns a new dictionary with keys from a supplied </a:t>
                      </a:r>
                      <a:r>
                        <a:rPr lang="en-IN" sz="1200" u="none" strike="noStrike" kern="1200" dirty="0" err="1">
                          <a:solidFill>
                            <a:schemeClr val="tx1"/>
                          </a:solidFill>
                          <a:effectLst/>
                          <a:latin typeface="+mn-lt"/>
                          <a:ea typeface="+mn-ea"/>
                          <a:cs typeface="+mn-cs"/>
                        </a:rPr>
                        <a:t>seq</a:t>
                      </a:r>
                      <a:r>
                        <a:rPr lang="en-IN" sz="1200" u="none" strike="noStrike" kern="1200" dirty="0">
                          <a:solidFill>
                            <a:schemeClr val="tx1"/>
                          </a:solidFill>
                          <a:effectLst/>
                          <a:latin typeface="+mn-lt"/>
                          <a:ea typeface="+mn-ea"/>
                          <a:cs typeface="+mn-cs"/>
                        </a:rPr>
                        <a:t> and values all set to specified value</a:t>
                      </a:r>
                    </a:p>
                  </a:txBody>
                  <a:tcPr marL="7620" marR="7620" marT="7620" marB="0" anchor="ctr"/>
                </a:tc>
                <a:extLst>
                  <a:ext uri="{0D108BD9-81ED-4DB2-BD59-A6C34878D82A}">
                    <a16:rowId xmlns:a16="http://schemas.microsoft.com/office/drawing/2014/main" val="10003"/>
                  </a:ext>
                </a:extLst>
              </a:tr>
              <a:tr h="424047">
                <a:tc>
                  <a:txBody>
                    <a:bodyPr/>
                    <a:lstStyle/>
                    <a:p>
                      <a:pPr algn="ctr" fontAlgn="t"/>
                      <a:r>
                        <a:rPr lang="en-IN" sz="1200" u="none" strike="noStrike" dirty="0">
                          <a:effectLst/>
                        </a:rPr>
                        <a:t>4</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dirty="0" err="1">
                          <a:effectLst/>
                          <a:hlinkClick r:id="rId6"/>
                        </a:rPr>
                        <a:t>dict.get</a:t>
                      </a:r>
                      <a:r>
                        <a:rPr lang="en-IN" sz="1200" u="none" strike="noStrike" dirty="0">
                          <a:effectLst/>
                          <a:hlinkClick r:id="rId6"/>
                        </a:rPr>
                        <a:t>(key, default=None)</a:t>
                      </a:r>
                      <a:endParaRPr lang="en-IN" sz="1200" b="0" i="0" u="none" strike="noStrike" dirty="0">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Returns value of given key or returns default if key not in dictionary.</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4"/>
                  </a:ext>
                </a:extLst>
              </a:tr>
              <a:tr h="424047">
                <a:tc>
                  <a:txBody>
                    <a:bodyPr/>
                    <a:lstStyle/>
                    <a:p>
                      <a:pPr algn="ctr" fontAlgn="t"/>
                      <a:r>
                        <a:rPr lang="en-IN" sz="1200" u="none" strike="noStrike" dirty="0">
                          <a:effectLst/>
                        </a:rPr>
                        <a:t>5</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dirty="0" err="1">
                          <a:effectLst/>
                          <a:hlinkClick r:id="rId7"/>
                        </a:rPr>
                        <a:t>dict.has_key</a:t>
                      </a:r>
                      <a:r>
                        <a:rPr lang="en-IN" sz="1200" u="none" strike="noStrike" dirty="0">
                          <a:effectLst/>
                          <a:hlinkClick r:id="rId7"/>
                        </a:rPr>
                        <a:t>(key)</a:t>
                      </a:r>
                      <a:endParaRPr lang="en-IN" sz="1200" b="0" i="0" u="none" strike="noStrike" dirty="0">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Returns true if key in dictionary ”</a:t>
                      </a:r>
                      <a:r>
                        <a:rPr lang="en-IN" sz="1200" u="none" strike="noStrike" dirty="0" err="1">
                          <a:effectLst/>
                        </a:rPr>
                        <a:t>dict</a:t>
                      </a:r>
                      <a:r>
                        <a:rPr lang="en-IN" sz="1200" u="none" strike="noStrike" dirty="0">
                          <a:effectLst/>
                        </a:rPr>
                        <a:t>”</a:t>
                      </a:r>
                      <a:r>
                        <a:rPr lang="en-IN" sz="1200" u="none" strike="noStrike" baseline="0" dirty="0">
                          <a:effectLst/>
                        </a:rPr>
                        <a:t> </a:t>
                      </a:r>
                      <a:r>
                        <a:rPr lang="en-IN" sz="1200" u="none" strike="noStrike" dirty="0">
                          <a:effectLst/>
                        </a:rPr>
                        <a:t> false otherwise</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5"/>
                  </a:ext>
                </a:extLst>
              </a:tr>
              <a:tr h="299327">
                <a:tc>
                  <a:txBody>
                    <a:bodyPr/>
                    <a:lstStyle/>
                    <a:p>
                      <a:pPr algn="ctr" fontAlgn="t"/>
                      <a:r>
                        <a:rPr lang="en-IN" sz="1200" u="none" strike="noStrike" dirty="0">
                          <a:effectLst/>
                        </a:rPr>
                        <a:t>6</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a:effectLst/>
                          <a:hlinkClick r:id="rId8"/>
                        </a:rPr>
                        <a:t>dict.items()</a:t>
                      </a:r>
                      <a:endParaRPr lang="en-IN" sz="1200" b="0" i="0" u="none" strike="noStrike">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Returns a list of (key, value) tuple pairs from dictionary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6"/>
                  </a:ext>
                </a:extLst>
              </a:tr>
              <a:tr h="299327">
                <a:tc>
                  <a:txBody>
                    <a:bodyPr/>
                    <a:lstStyle/>
                    <a:p>
                      <a:pPr algn="ctr" fontAlgn="t"/>
                      <a:r>
                        <a:rPr lang="en-IN" sz="1200" u="none" strike="noStrike" dirty="0">
                          <a:effectLst/>
                        </a:rPr>
                        <a:t>7</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a:effectLst/>
                          <a:hlinkClick r:id="rId9"/>
                        </a:rPr>
                        <a:t>dict.keys()</a:t>
                      </a:r>
                      <a:endParaRPr lang="en-IN" sz="1200" b="0" i="0" u="none" strike="noStrike">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Returns list of keys from dictionary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7"/>
                  </a:ext>
                </a:extLst>
              </a:tr>
              <a:tr h="424047">
                <a:tc>
                  <a:txBody>
                    <a:bodyPr/>
                    <a:lstStyle/>
                    <a:p>
                      <a:pPr algn="ctr" fontAlgn="t"/>
                      <a:r>
                        <a:rPr lang="en-IN" sz="1200" u="none" strike="noStrike" dirty="0">
                          <a:effectLst/>
                        </a:rPr>
                        <a:t>8</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a:effectLst/>
                          <a:hlinkClick r:id="rId10"/>
                        </a:rPr>
                        <a:t>dict.setdefault(key, default=None)</a:t>
                      </a:r>
                      <a:endParaRPr lang="en-IN" sz="1200" b="0" i="0" u="none" strike="noStrike">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Similar to get(), but will set </a:t>
                      </a:r>
                      <a:r>
                        <a:rPr lang="en-IN" sz="1200" u="none" strike="noStrike" dirty="0" err="1">
                          <a:effectLst/>
                        </a:rPr>
                        <a:t>dict</a:t>
                      </a:r>
                      <a:r>
                        <a:rPr lang="en-IN" sz="1200" u="none" strike="noStrike" dirty="0">
                          <a:effectLst/>
                        </a:rPr>
                        <a:t>[key]=default if key is not already in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8"/>
                  </a:ext>
                </a:extLst>
              </a:tr>
              <a:tr h="299327">
                <a:tc>
                  <a:txBody>
                    <a:bodyPr/>
                    <a:lstStyle/>
                    <a:p>
                      <a:pPr algn="ctr" fontAlgn="t"/>
                      <a:r>
                        <a:rPr lang="en-IN" sz="1200" u="none" strike="noStrike" dirty="0">
                          <a:effectLst/>
                        </a:rPr>
                        <a:t>9</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a:effectLst/>
                          <a:hlinkClick r:id="rId11"/>
                        </a:rPr>
                        <a:t>dict.update(dict2)</a:t>
                      </a:r>
                      <a:endParaRPr lang="en-IN" sz="1200" b="0" i="0" u="none" strike="noStrike">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Adds dictionary ”dict2” key-values pairs to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09"/>
                  </a:ext>
                </a:extLst>
              </a:tr>
              <a:tr h="311799">
                <a:tc>
                  <a:txBody>
                    <a:bodyPr/>
                    <a:lstStyle/>
                    <a:p>
                      <a:pPr algn="ctr" fontAlgn="t"/>
                      <a:r>
                        <a:rPr lang="en-IN" sz="1200" u="none" strike="noStrike" dirty="0">
                          <a:effectLst/>
                        </a:rPr>
                        <a:t>10</a:t>
                      </a:r>
                      <a:endParaRPr lang="en-IN" sz="1200" b="0" i="0" u="none" strike="noStrike" dirty="0">
                        <a:solidFill>
                          <a:sysClr val="windowText" lastClr="000000"/>
                        </a:solidFill>
                        <a:effectLst/>
                        <a:latin typeface="Arial"/>
                      </a:endParaRPr>
                    </a:p>
                  </a:txBody>
                  <a:tcPr marL="7620" marR="7620" marT="7620" marB="0"/>
                </a:tc>
                <a:tc>
                  <a:txBody>
                    <a:bodyPr/>
                    <a:lstStyle/>
                    <a:p>
                      <a:pPr algn="l" fontAlgn="b"/>
                      <a:r>
                        <a:rPr lang="en-IN" sz="1200" u="none" strike="noStrike">
                          <a:effectLst/>
                          <a:hlinkClick r:id="rId12"/>
                        </a:rPr>
                        <a:t>dict.values()</a:t>
                      </a:r>
                      <a:endParaRPr lang="en-IN" sz="1200" b="0" i="0" u="none" strike="noStrike">
                        <a:solidFill>
                          <a:sysClr val="windowText" lastClr="000000"/>
                        </a:solidFill>
                        <a:effectLst/>
                        <a:latin typeface="Calibri"/>
                      </a:endParaRPr>
                    </a:p>
                  </a:txBody>
                  <a:tcPr marL="7620" marR="7620" marT="7620" marB="0" anchor="b"/>
                </a:tc>
                <a:tc>
                  <a:txBody>
                    <a:bodyPr/>
                    <a:lstStyle/>
                    <a:p>
                      <a:pPr algn="just" fontAlgn="ctr"/>
                      <a:r>
                        <a:rPr lang="en-IN" sz="1200" u="none" strike="noStrike" dirty="0">
                          <a:effectLst/>
                        </a:rPr>
                        <a:t>Returns list of values from dictionary ”</a:t>
                      </a:r>
                      <a:r>
                        <a:rPr lang="en-IN" sz="1200" u="none" strike="noStrike" dirty="0" err="1">
                          <a:effectLst/>
                        </a:rPr>
                        <a:t>dict</a:t>
                      </a:r>
                      <a:r>
                        <a:rPr lang="en-IN" sz="1200" u="none" strike="noStrike" dirty="0">
                          <a:effectLst/>
                        </a:rPr>
                        <a:t>”.</a:t>
                      </a:r>
                      <a:endParaRPr lang="en-IN" sz="1200" b="0" i="0" u="none" strike="noStrike" dirty="0">
                        <a:solidFill>
                          <a:sysClr val="windowText" lastClr="000000"/>
                        </a:solidFill>
                        <a:effectLst/>
                        <a:latin typeface="Arial"/>
                      </a:endParaRPr>
                    </a:p>
                  </a:txBody>
                  <a:tcPr marL="7620" marR="7620" marT="7620"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16531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29208" y="476672"/>
            <a:ext cx="2458616" cy="611511"/>
          </a:xfrm>
        </p:spPr>
        <p:txBody>
          <a:bodyPr>
            <a:normAutofit/>
          </a:bodyPr>
          <a:lstStyle/>
          <a:p>
            <a:pPr algn="l"/>
            <a:r>
              <a:rPr lang="en-US" altLang="en-US" sz="2400" b="1" dirty="0">
                <a:solidFill>
                  <a:schemeClr val="bg1"/>
                </a:solidFill>
                <a:latin typeface="Vrinda" pitchFamily="34" charset="0"/>
                <a:cs typeface="Vrinda" pitchFamily="34" charset="0"/>
              </a:rPr>
              <a:t>Keys and Values</a:t>
            </a:r>
          </a:p>
        </p:txBody>
      </p:sp>
      <p:sp>
        <p:nvSpPr>
          <p:cNvPr id="3" name="Content Placeholder 2"/>
          <p:cNvSpPr>
            <a:spLocks noGrp="1"/>
          </p:cNvSpPr>
          <p:nvPr>
            <p:ph sz="quarter" idx="1"/>
          </p:nvPr>
        </p:nvSpPr>
        <p:spPr>
          <a:solidFill>
            <a:schemeClr val="bg1"/>
          </a:solidFill>
        </p:spPr>
        <p:txBody>
          <a:bodyPr>
            <a:normAutofit/>
          </a:bodyPr>
          <a:lstStyle/>
          <a:p>
            <a:pPr marL="0" indent="0">
              <a:buNone/>
            </a:pPr>
            <a:r>
              <a:rPr lang="en-US" altLang="en-US" sz="2400" dirty="0">
                <a:solidFill>
                  <a:srgbClr val="9900FF"/>
                </a:solidFill>
              </a:rPr>
              <a:t>The </a:t>
            </a:r>
            <a:r>
              <a:rPr lang="en-US" altLang="en-US" sz="2400" dirty="0">
                <a:solidFill>
                  <a:srgbClr val="9900FF"/>
                </a:solidFill>
                <a:cs typeface="Courier New" pitchFamily="49" charset="0"/>
              </a:rPr>
              <a:t>keys()</a:t>
            </a:r>
            <a:r>
              <a:rPr lang="en-US" altLang="en-US" sz="2400" dirty="0">
                <a:solidFill>
                  <a:srgbClr val="9900FF"/>
                </a:solidFill>
              </a:rPr>
              <a:t> method returns a list of the keys in a dictionary.</a:t>
            </a:r>
          </a:p>
          <a:p>
            <a:pPr>
              <a:buFont typeface="Wingdings 2" pitchFamily="18" charset="2"/>
              <a:buNone/>
            </a:pPr>
            <a:endParaRPr lang="en-US" altLang="en-US" sz="1600" dirty="0">
              <a:cs typeface="Courier New" pitchFamily="49" charset="0"/>
            </a:endParaRPr>
          </a:p>
          <a:p>
            <a:pPr>
              <a:buFont typeface="Wingdings 2" pitchFamily="18" charset="2"/>
              <a:buNone/>
            </a:pPr>
            <a:endParaRPr lang="en-US" altLang="en-US" sz="1600" dirty="0">
              <a:cs typeface="Courier New" pitchFamily="49" charset="0"/>
            </a:endParaRPr>
          </a:p>
          <a:p>
            <a:pPr>
              <a:buFont typeface="Wingdings 2" pitchFamily="18" charset="2"/>
              <a:buNone/>
            </a:pPr>
            <a:endParaRPr lang="en-US" altLang="en-US" sz="1600" dirty="0">
              <a:cs typeface="Courier New" pitchFamily="49" charset="0"/>
            </a:endParaRPr>
          </a:p>
          <a:p>
            <a:pPr marL="0" indent="0">
              <a:buNone/>
            </a:pPr>
            <a:endParaRPr lang="en-US" altLang="en-US" sz="1600" dirty="0"/>
          </a:p>
          <a:p>
            <a:pPr marL="0" indent="0">
              <a:buNone/>
            </a:pPr>
            <a:r>
              <a:rPr lang="en-US" altLang="en-US" sz="2400" dirty="0">
                <a:solidFill>
                  <a:srgbClr val="9900FF"/>
                </a:solidFill>
              </a:rPr>
              <a:t>The </a:t>
            </a:r>
            <a:r>
              <a:rPr lang="en-US" altLang="en-US" sz="2400" dirty="0">
                <a:solidFill>
                  <a:srgbClr val="9900FF"/>
                </a:solidFill>
                <a:cs typeface="Courier New" pitchFamily="49" charset="0"/>
              </a:rPr>
              <a:t>values()</a:t>
            </a:r>
            <a:r>
              <a:rPr lang="en-US" altLang="en-US" sz="2400" dirty="0">
                <a:solidFill>
                  <a:srgbClr val="9900FF"/>
                </a:solidFill>
              </a:rPr>
              <a:t> method returns a list of the values.</a:t>
            </a:r>
          </a:p>
          <a:p>
            <a:pPr>
              <a:buFont typeface="Wingdings 2" pitchFamily="18" charset="2"/>
              <a:buNone/>
            </a:pPr>
            <a:endParaRPr lang="en-US" altLang="en-US" sz="1600" dirty="0">
              <a:cs typeface="Courier New" pitchFamily="49" charset="0"/>
            </a:endParaRPr>
          </a:p>
          <a:p>
            <a:pPr>
              <a:buFont typeface="Wingdings 2" pitchFamily="18" charset="2"/>
              <a:buNone/>
            </a:pPr>
            <a:endParaRPr lang="en-US" altLang="en-US" sz="1600" dirty="0">
              <a:cs typeface="Courier New" pitchFamily="49" charset="0"/>
            </a:endParaRPr>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66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9CCF0658-A221-4E7E-B18A-18497C1449D7}" type="slidenum">
              <a:rPr lang="en-US" altLang="en-US" sz="1400">
                <a:solidFill>
                  <a:srgbClr val="FFFFFF"/>
                </a:solidFill>
                <a:latin typeface="Verdana" pitchFamily="34" charset="0"/>
              </a:rPr>
              <a:pPr eaLnBrk="1" hangingPunct="1"/>
              <a:t>23</a:t>
            </a:fld>
            <a:endParaRPr lang="en-US" altLang="en-US" sz="1400">
              <a:solidFill>
                <a:srgbClr val="FFFFFF"/>
              </a:solidFill>
              <a:latin typeface="Verdana"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466" y="2276872"/>
            <a:ext cx="7639301" cy="942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142" y="3789040"/>
            <a:ext cx="7667625" cy="1543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69533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solidFill>
            <a:schemeClr val="bg1"/>
          </a:solidFill>
        </p:spPr>
        <p:txBody>
          <a:bodyPr>
            <a:normAutofit/>
          </a:bodyPr>
          <a:lstStyle/>
          <a:p>
            <a:pPr>
              <a:buFont typeface="Wingdings 2" pitchFamily="18" charset="2"/>
              <a:buNone/>
            </a:pPr>
            <a:endParaRPr lang="en-US" altLang="en-US" sz="1600" dirty="0">
              <a:cs typeface="Courier New" pitchFamily="49" charset="0"/>
            </a:endParaRPr>
          </a:p>
          <a:p>
            <a:pPr marL="0" indent="0" algn="just">
              <a:buNone/>
            </a:pPr>
            <a:r>
              <a:rPr lang="en-US" altLang="en-US" sz="2400" dirty="0">
                <a:solidFill>
                  <a:srgbClr val="9900FF"/>
                </a:solidFill>
              </a:rPr>
              <a:t>The </a:t>
            </a:r>
            <a:r>
              <a:rPr lang="en-US" altLang="en-US" sz="2400" dirty="0">
                <a:solidFill>
                  <a:srgbClr val="9900FF"/>
                </a:solidFill>
                <a:cs typeface="Courier New" pitchFamily="49" charset="0"/>
              </a:rPr>
              <a:t>items()</a:t>
            </a:r>
            <a:r>
              <a:rPr lang="en-US" altLang="en-US" sz="2400" dirty="0">
                <a:solidFill>
                  <a:srgbClr val="9900FF"/>
                </a:solidFill>
              </a:rPr>
              <a:t> method returns a list of  tuple pairs of the key-value pairs in a dictionary.</a:t>
            </a:r>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66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9CCF0658-A221-4E7E-B18A-18497C1449D7}" type="slidenum">
              <a:rPr lang="en-US" altLang="en-US" sz="1400">
                <a:solidFill>
                  <a:srgbClr val="FFFFFF"/>
                </a:solidFill>
                <a:latin typeface="Verdana" pitchFamily="34" charset="0"/>
              </a:rPr>
              <a:pPr eaLnBrk="1" hangingPunct="1"/>
              <a:t>24</a:t>
            </a:fld>
            <a:endParaRPr lang="en-US" altLang="en-US" sz="1400">
              <a:solidFill>
                <a:srgbClr val="FFFFFF"/>
              </a:solidFill>
              <a:latin typeface="Verdana"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2" y="2810619"/>
            <a:ext cx="7743825" cy="1914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9" name="Title 1"/>
          <p:cNvSpPr>
            <a:spLocks noGrp="1"/>
          </p:cNvSpPr>
          <p:nvPr>
            <p:ph type="title"/>
          </p:nvPr>
        </p:nvSpPr>
        <p:spPr>
          <a:xfrm>
            <a:off x="529208" y="476672"/>
            <a:ext cx="3610744" cy="611511"/>
          </a:xfrm>
        </p:spPr>
        <p:txBody>
          <a:bodyPr>
            <a:normAutofit/>
          </a:bodyPr>
          <a:lstStyle/>
          <a:p>
            <a:pPr algn="l"/>
            <a:r>
              <a:rPr lang="en-US" altLang="en-US" sz="2400" b="1" dirty="0">
                <a:solidFill>
                  <a:schemeClr val="bg1"/>
                </a:solidFill>
                <a:latin typeface="Vrinda" pitchFamily="34" charset="0"/>
                <a:cs typeface="Vrinda" pitchFamily="34" charset="0"/>
              </a:rPr>
              <a:t>Keys and Values (Contd.)</a:t>
            </a:r>
          </a:p>
        </p:txBody>
      </p:sp>
    </p:spTree>
    <p:extLst>
      <p:ext uri="{BB962C8B-B14F-4D97-AF65-F5344CB8AC3E}">
        <p14:creationId xmlns:p14="http://schemas.microsoft.com/office/powerpoint/2010/main" val="2259806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solidFill>
            <a:schemeClr val="bg1"/>
          </a:solidFill>
        </p:spPr>
        <p:txBody>
          <a:bodyPr>
            <a:normAutofit/>
          </a:bodyPr>
          <a:lstStyle/>
          <a:p>
            <a:pPr marL="0" indent="0" algn="just">
              <a:buNone/>
            </a:pPr>
            <a:endParaRPr lang="en-US" altLang="en-US" sz="1600" b="1" dirty="0">
              <a:solidFill>
                <a:srgbClr val="9900FF"/>
              </a:solidFill>
            </a:endParaRPr>
          </a:p>
          <a:p>
            <a:pPr marL="0" indent="0" algn="just">
              <a:buNone/>
            </a:pPr>
            <a:r>
              <a:rPr lang="en-US" altLang="en-US" sz="2400" dirty="0">
                <a:solidFill>
                  <a:srgbClr val="9900FF"/>
                </a:solidFill>
              </a:rPr>
              <a:t>To access dictionary elements, you can use the familiar square brackets along with the key to obtain its value.</a:t>
            </a:r>
          </a:p>
          <a:p>
            <a:pPr marL="0" indent="0" algn="just">
              <a:buNone/>
            </a:pPr>
            <a:endParaRPr lang="en-US" altLang="en-US" sz="1600" dirty="0">
              <a:solidFill>
                <a:srgbClr val="9900FF"/>
              </a:solidFill>
            </a:endParaRPr>
          </a:p>
          <a:p>
            <a:pPr marL="0" indent="0" algn="just">
              <a:buNone/>
            </a:pPr>
            <a:r>
              <a:rPr lang="en-US" altLang="en-US" sz="2000" b="1" dirty="0">
                <a:solidFill>
                  <a:srgbClr val="9900FF"/>
                </a:solidFill>
              </a:rPr>
              <a:t>Example:</a:t>
            </a:r>
          </a:p>
          <a:p>
            <a:pPr marL="0" indent="0" algn="just">
              <a:buNone/>
            </a:pPr>
            <a:endParaRPr lang="en-US" altLang="en-US" sz="1600" dirty="0">
              <a:solidFill>
                <a:srgbClr val="9900FF"/>
              </a:solidFill>
            </a:endParaRPr>
          </a:p>
          <a:p>
            <a:pPr marL="0" indent="0" algn="just">
              <a:buNone/>
            </a:pPr>
            <a:endParaRPr lang="en-US" altLang="en-US" sz="1600" dirty="0">
              <a:solidFill>
                <a:srgbClr val="9900FF"/>
              </a:solidFill>
            </a:endParaRPr>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66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9CCF0658-A221-4E7E-B18A-18497C1449D7}" type="slidenum">
              <a:rPr lang="en-US" altLang="en-US" sz="1400">
                <a:solidFill>
                  <a:srgbClr val="FFFFFF"/>
                </a:solidFill>
                <a:latin typeface="Verdana" pitchFamily="34" charset="0"/>
              </a:rPr>
              <a:pPr eaLnBrk="1" hangingPunct="1"/>
              <a:t>25</a:t>
            </a:fld>
            <a:endParaRPr lang="en-US" altLang="en-US" sz="1400">
              <a:solidFill>
                <a:srgbClr val="FFFFFF"/>
              </a:solidFill>
              <a:latin typeface="Verdana"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560043"/>
            <a:ext cx="7686675" cy="1381125"/>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9" name="Title 1"/>
          <p:cNvSpPr>
            <a:spLocks noGrp="1"/>
          </p:cNvSpPr>
          <p:nvPr>
            <p:ph type="title"/>
          </p:nvPr>
        </p:nvSpPr>
        <p:spPr>
          <a:xfrm>
            <a:off x="529208" y="476672"/>
            <a:ext cx="3610744" cy="611511"/>
          </a:xfrm>
        </p:spPr>
        <p:txBody>
          <a:bodyPr>
            <a:normAutofit/>
          </a:bodyPr>
          <a:lstStyle/>
          <a:p>
            <a:pPr algn="l"/>
            <a:r>
              <a:rPr lang="en-US" altLang="en-US" sz="2400" b="1" dirty="0">
                <a:solidFill>
                  <a:schemeClr val="bg1"/>
                </a:solidFill>
                <a:latin typeface="Vrinda" pitchFamily="34" charset="0"/>
                <a:cs typeface="Vrinda" pitchFamily="34" charset="0"/>
              </a:rPr>
              <a:t>Keys and Values (Contd.)</a:t>
            </a:r>
          </a:p>
        </p:txBody>
      </p:sp>
    </p:spTree>
    <p:extLst>
      <p:ext uri="{BB962C8B-B14F-4D97-AF65-F5344CB8AC3E}">
        <p14:creationId xmlns:p14="http://schemas.microsoft.com/office/powerpoint/2010/main" val="3741641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39552" y="476672"/>
            <a:ext cx="2458616" cy="580926"/>
          </a:xfrm>
        </p:spPr>
        <p:txBody>
          <a:bodyPr>
            <a:normAutofit/>
          </a:bodyPr>
          <a:lstStyle/>
          <a:p>
            <a:pPr algn="l"/>
            <a:r>
              <a:rPr lang="en-US" altLang="en-US" sz="2400" b="1" dirty="0">
                <a:solidFill>
                  <a:schemeClr val="bg1"/>
                </a:solidFill>
                <a:latin typeface="Vrinda" pitchFamily="34" charset="0"/>
                <a:cs typeface="Vrinda" pitchFamily="34" charset="0"/>
              </a:rPr>
              <a:t>Len() Function</a:t>
            </a:r>
          </a:p>
        </p:txBody>
      </p:sp>
      <p:sp>
        <p:nvSpPr>
          <p:cNvPr id="3" name="Content Placeholder 2"/>
          <p:cNvSpPr>
            <a:spLocks noGrp="1"/>
          </p:cNvSpPr>
          <p:nvPr>
            <p:ph sz="quarter" idx="1"/>
          </p:nvPr>
        </p:nvSpPr>
        <p:spPr>
          <a:solidFill>
            <a:schemeClr val="bg1"/>
          </a:solidFill>
        </p:spPr>
        <p:txBody>
          <a:bodyPr>
            <a:normAutofit/>
          </a:bodyPr>
          <a:lstStyle/>
          <a:p>
            <a:pPr marL="0" indent="0" algn="just">
              <a:buNone/>
            </a:pPr>
            <a:endParaRPr lang="en-US" altLang="en-US" sz="1600" b="1" dirty="0">
              <a:solidFill>
                <a:srgbClr val="9900FF"/>
              </a:solidFill>
            </a:endParaRPr>
          </a:p>
          <a:p>
            <a:pPr marL="514350" lvl="1" indent="-396875" defTabSz="914363">
              <a:lnSpc>
                <a:spcPct val="90000"/>
              </a:lnSpc>
              <a:buSzPct val="100000"/>
              <a:buBlip>
                <a:blip r:embed="rId3"/>
              </a:buBlip>
            </a:pPr>
            <a:r>
              <a:rPr lang="en-US" altLang="en-US" sz="2400" dirty="0">
                <a:solidFill>
                  <a:srgbClr val="9900FF"/>
                </a:solidFill>
              </a:rPr>
              <a:t>The </a:t>
            </a:r>
            <a:r>
              <a:rPr lang="en-US" altLang="en-US" sz="2400" dirty="0" err="1">
                <a:solidFill>
                  <a:srgbClr val="9900FF"/>
                </a:solidFill>
              </a:rPr>
              <a:t>len</a:t>
            </a:r>
            <a:r>
              <a:rPr lang="en-US" altLang="en-US" sz="2400" dirty="0">
                <a:solidFill>
                  <a:srgbClr val="9900FF"/>
                </a:solidFill>
              </a:rPr>
              <a:t>() function works on dictionaries. </a:t>
            </a:r>
          </a:p>
          <a:p>
            <a:pPr marL="514350" lvl="1" indent="-396875" defTabSz="914363">
              <a:lnSpc>
                <a:spcPct val="90000"/>
              </a:lnSpc>
              <a:buSzPct val="100000"/>
              <a:buBlip>
                <a:blip r:embed="rId3"/>
              </a:buBlip>
            </a:pPr>
            <a:r>
              <a:rPr lang="en-US" altLang="en-US" sz="2400" dirty="0">
                <a:solidFill>
                  <a:srgbClr val="9900FF"/>
                </a:solidFill>
              </a:rPr>
              <a:t>Len() returns the number of key-value pair.</a:t>
            </a:r>
          </a:p>
          <a:p>
            <a:pPr marL="0" indent="0" algn="just">
              <a:buNone/>
            </a:pPr>
            <a:endParaRPr lang="en-US" altLang="en-US" sz="1600" b="1" dirty="0">
              <a:solidFill>
                <a:srgbClr val="9900FF"/>
              </a:solidFill>
            </a:endParaRPr>
          </a:p>
          <a:p>
            <a:pPr marL="0" indent="0" algn="just">
              <a:buNone/>
            </a:pPr>
            <a:r>
              <a:rPr lang="en-US" altLang="en-US" sz="2400" b="1" dirty="0">
                <a:solidFill>
                  <a:srgbClr val="9900FF"/>
                </a:solidFill>
              </a:rPr>
              <a:t>   </a:t>
            </a:r>
            <a:r>
              <a:rPr lang="en-US" altLang="en-US" sz="2000" b="1" dirty="0">
                <a:solidFill>
                  <a:srgbClr val="9900FF"/>
                </a:solidFill>
              </a:rPr>
              <a:t>Example:</a:t>
            </a:r>
            <a:endParaRPr lang="en-US" altLang="en-US" sz="2000" dirty="0">
              <a:solidFill>
                <a:srgbClr val="9900FF"/>
              </a:solidFill>
            </a:endParaRPr>
          </a:p>
          <a:p>
            <a:pPr marL="0" indent="0" algn="just">
              <a:buNone/>
            </a:pPr>
            <a:endParaRPr lang="en-US" altLang="en-US" sz="1600" dirty="0">
              <a:solidFill>
                <a:srgbClr val="9900FF"/>
              </a:solidFill>
            </a:endParaRPr>
          </a:p>
        </p:txBody>
      </p:sp>
      <p:sp>
        <p:nvSpPr>
          <p:cNvPr id="2662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662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9CCF0658-A221-4E7E-B18A-18497C1449D7}" type="slidenum">
              <a:rPr lang="en-US" altLang="en-US" sz="1400">
                <a:solidFill>
                  <a:srgbClr val="FFFFFF"/>
                </a:solidFill>
                <a:latin typeface="Verdana" pitchFamily="34" charset="0"/>
              </a:rPr>
              <a:pPr eaLnBrk="1" hangingPunct="1"/>
              <a:t>26</a:t>
            </a:fld>
            <a:endParaRPr lang="en-US" altLang="en-US" sz="1400">
              <a:solidFill>
                <a:srgbClr val="FFFFFF"/>
              </a:solidFill>
              <a:latin typeface="Verdana" pitchFamily="34" charset="0"/>
            </a:endParaRP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62" y="3391644"/>
            <a:ext cx="7762875" cy="133350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8518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404664"/>
            <a:ext cx="2458616" cy="720080"/>
          </a:xfrm>
        </p:spPr>
        <p:txBody>
          <a:bodyPr>
            <a:normAutofit/>
          </a:bodyPr>
          <a:lstStyle/>
          <a:p>
            <a:pPr algn="l"/>
            <a:r>
              <a:rPr lang="en-US" altLang="en-US" sz="2400" b="1" dirty="0">
                <a:solidFill>
                  <a:schemeClr val="bg1"/>
                </a:solidFill>
              </a:rPr>
              <a:t> “</a:t>
            </a:r>
            <a:r>
              <a:rPr lang="en-US" altLang="en-US" sz="2400" b="1" dirty="0">
                <a:solidFill>
                  <a:schemeClr val="bg1"/>
                </a:solidFill>
                <a:latin typeface="Vrinda" pitchFamily="34" charset="0"/>
                <a:cs typeface="Vrinda" pitchFamily="34" charset="0"/>
              </a:rPr>
              <a:t>in” Operator</a:t>
            </a:r>
          </a:p>
        </p:txBody>
      </p:sp>
      <p:sp>
        <p:nvSpPr>
          <p:cNvPr id="3" name="Content Placeholder 2"/>
          <p:cNvSpPr>
            <a:spLocks noGrp="1"/>
          </p:cNvSpPr>
          <p:nvPr>
            <p:ph sz="quarter" idx="1"/>
          </p:nvPr>
        </p:nvSpPr>
        <p:spPr>
          <a:solidFill>
            <a:schemeClr val="bg1"/>
          </a:solidFill>
        </p:spPr>
        <p:txBody>
          <a:bodyPr>
            <a:normAutofit/>
          </a:bodyPr>
          <a:lstStyle/>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US" altLang="en-US" sz="2400" dirty="0">
                <a:solidFill>
                  <a:srgbClr val="9900FF"/>
                </a:solidFill>
                <a:cs typeface="Courier New" pitchFamily="49" charset="0"/>
              </a:rPr>
              <a:t>The </a:t>
            </a:r>
            <a:r>
              <a:rPr lang="en-US" altLang="en-US" sz="2400" b="1" dirty="0">
                <a:solidFill>
                  <a:srgbClr val="9900FF"/>
                </a:solidFill>
                <a:cs typeface="Courier New" pitchFamily="49" charset="0"/>
              </a:rPr>
              <a:t>“in” </a:t>
            </a:r>
            <a:r>
              <a:rPr lang="en-US" altLang="en-US" sz="2400" dirty="0">
                <a:solidFill>
                  <a:srgbClr val="9900FF"/>
                </a:solidFill>
                <a:cs typeface="Courier New" pitchFamily="49" charset="0"/>
              </a:rPr>
              <a:t>Operator works differently for dictionaries than for other sequences as below</a:t>
            </a:r>
          </a:p>
          <a:p>
            <a:pPr marL="514350" lvl="1" indent="-396875" defTabSz="914363">
              <a:lnSpc>
                <a:spcPct val="90000"/>
              </a:lnSpc>
              <a:buSzPct val="100000"/>
              <a:buBlip>
                <a:blip r:embed="rId3"/>
              </a:buBlip>
            </a:pPr>
            <a:endParaRPr lang="en-IN" sz="2000" dirty="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altLang="en-US" sz="2000" dirty="0">
                <a:solidFill>
                  <a:srgbClr val="9900FF"/>
                </a:solidFill>
                <a:cs typeface="Courier New" pitchFamily="49" charset="0"/>
              </a:rPr>
              <a:t>It tells whether data appears as a key in the dictionary.</a:t>
            </a:r>
          </a:p>
          <a:p>
            <a:pPr marL="900000" lvl="1" indent="-396875" defTabSz="914363">
              <a:lnSpc>
                <a:spcPct val="90000"/>
              </a:lnSpc>
              <a:buSzPct val="120000"/>
              <a:buBlip>
                <a:blip r:embed="rId4"/>
              </a:buBlip>
            </a:pPr>
            <a:r>
              <a:rPr lang="en-US" altLang="en-US" sz="2000" dirty="0">
                <a:solidFill>
                  <a:srgbClr val="9900FF"/>
                </a:solidFill>
                <a:cs typeface="Courier New" pitchFamily="49" charset="0"/>
              </a:rPr>
              <a:t>It can be used to check whether a value exists in a dictionary.</a:t>
            </a:r>
          </a:p>
          <a:p>
            <a:pPr marL="0" indent="0" algn="just">
              <a:buNone/>
            </a:pPr>
            <a:endParaRPr lang="en-US" altLang="en-US" sz="1600" b="1" i="1" dirty="0">
              <a:solidFill>
                <a:srgbClr val="9900FF"/>
              </a:solidFill>
              <a:cs typeface="Courier New" pitchFamily="49" charset="0"/>
            </a:endParaRPr>
          </a:p>
          <a:p>
            <a:pPr marL="0" indent="0" algn="just">
              <a:buNone/>
            </a:pPr>
            <a:r>
              <a:rPr lang="en-US" altLang="en-US" sz="2400" b="1" dirty="0">
                <a:solidFill>
                  <a:srgbClr val="9900FF"/>
                </a:solidFill>
                <a:cs typeface="Courier New" pitchFamily="49" charset="0"/>
              </a:rPr>
              <a:t>values() </a:t>
            </a:r>
            <a:r>
              <a:rPr lang="en-US" altLang="en-US" sz="2400" dirty="0">
                <a:solidFill>
                  <a:srgbClr val="9900FF"/>
                </a:solidFill>
                <a:cs typeface="Courier New" pitchFamily="49" charset="0"/>
              </a:rPr>
              <a:t>method</a:t>
            </a:r>
          </a:p>
          <a:p>
            <a:pPr marL="503125" lvl="1" indent="0" defTabSz="914363">
              <a:lnSpc>
                <a:spcPct val="90000"/>
              </a:lnSpc>
              <a:buSzPct val="120000"/>
              <a:buNone/>
            </a:pPr>
            <a:endParaRPr lang="en-US" altLang="en-US" sz="1800" dirty="0">
              <a:solidFill>
                <a:srgbClr val="9900FF"/>
              </a:solidFill>
              <a:cs typeface="Courier New" pitchFamily="49" charset="0"/>
            </a:endParaRPr>
          </a:p>
          <a:p>
            <a:pPr marL="900000" lvl="1" indent="-396875" defTabSz="914363">
              <a:lnSpc>
                <a:spcPct val="90000"/>
              </a:lnSpc>
              <a:buSzPct val="120000"/>
              <a:buBlip>
                <a:blip r:embed="rId4"/>
              </a:buBlip>
            </a:pPr>
            <a:r>
              <a:rPr lang="en-US" altLang="en-US" sz="2000" dirty="0">
                <a:solidFill>
                  <a:srgbClr val="9900FF"/>
                </a:solidFill>
                <a:cs typeface="Courier New" pitchFamily="49" charset="0"/>
              </a:rPr>
              <a:t>It checks the values existing in a dictionary.</a:t>
            </a:r>
          </a:p>
          <a:p>
            <a:pPr marL="900000" lvl="1" indent="-396875" defTabSz="914363">
              <a:lnSpc>
                <a:spcPct val="90000"/>
              </a:lnSpc>
              <a:buSzPct val="120000"/>
              <a:buBlip>
                <a:blip r:embed="rId4"/>
              </a:buBlip>
            </a:pPr>
            <a:r>
              <a:rPr lang="en-US" altLang="en-US" sz="2000" dirty="0">
                <a:solidFill>
                  <a:srgbClr val="9900FF"/>
                </a:solidFill>
                <a:cs typeface="Courier New" pitchFamily="49" charset="0"/>
              </a:rPr>
              <a:t>It will return the result as a List.</a:t>
            </a:r>
          </a:p>
          <a:p>
            <a:pPr algn="just"/>
            <a:endParaRPr lang="en-US" altLang="en-US" sz="1600" dirty="0">
              <a:solidFill>
                <a:srgbClr val="9900FF"/>
              </a:solidFill>
              <a:cs typeface="Courier New" pitchFamily="49" charset="0"/>
            </a:endParaRPr>
          </a:p>
          <a:p>
            <a:pPr algn="just">
              <a:buFontTx/>
              <a:buChar char="•"/>
            </a:pPr>
            <a:endParaRPr lang="en-US" altLang="en-US" sz="1600" dirty="0">
              <a:solidFill>
                <a:srgbClr val="9900FF"/>
              </a:solidFill>
              <a:cs typeface="Courier New" pitchFamily="49" charset="0"/>
            </a:endParaRPr>
          </a:p>
        </p:txBody>
      </p:sp>
      <p:sp>
        <p:nvSpPr>
          <p:cNvPr id="2560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560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33787C07-7BD6-4493-A949-5A73DBEC5981}" type="slidenum">
              <a:rPr lang="en-US" altLang="en-US" sz="1400">
                <a:solidFill>
                  <a:srgbClr val="FFFFFF"/>
                </a:solidFill>
                <a:latin typeface="Verdana" pitchFamily="34" charset="0"/>
              </a:rPr>
              <a:pPr eaLnBrk="1" hangingPunct="1"/>
              <a:t>27</a:t>
            </a:fld>
            <a:endParaRPr lang="en-US" altLang="en-US" sz="1400">
              <a:solidFill>
                <a:srgbClr val="FFFFFF"/>
              </a:solidFill>
              <a:latin typeface="Verdana" pitchFamily="34" charset="0"/>
            </a:endParaRPr>
          </a:p>
        </p:txBody>
      </p:sp>
    </p:spTree>
    <p:extLst>
      <p:ext uri="{BB962C8B-B14F-4D97-AF65-F5344CB8AC3E}">
        <p14:creationId xmlns:p14="http://schemas.microsoft.com/office/powerpoint/2010/main" val="2082519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solidFill>
            <a:schemeClr val="bg1"/>
          </a:solidFill>
        </p:spPr>
        <p:txBody>
          <a:bodyPr>
            <a:normAutofit/>
          </a:bodyPr>
          <a:lstStyle/>
          <a:p>
            <a:pPr marL="0" indent="0" algn="just">
              <a:buNone/>
            </a:pPr>
            <a:endParaRPr lang="en-US" altLang="en-US" sz="1600" dirty="0">
              <a:solidFill>
                <a:srgbClr val="9900FF"/>
              </a:solidFill>
              <a:cs typeface="Courier New" pitchFamily="49" charset="0"/>
            </a:endParaRPr>
          </a:p>
          <a:p>
            <a:pPr marL="0" indent="0" algn="just">
              <a:buNone/>
            </a:pPr>
            <a:r>
              <a:rPr lang="en-US" altLang="en-US" sz="2000" b="1" dirty="0">
                <a:solidFill>
                  <a:srgbClr val="9900FF"/>
                </a:solidFill>
                <a:cs typeface="Courier New" pitchFamily="49" charset="0"/>
              </a:rPr>
              <a:t>Example:</a:t>
            </a:r>
          </a:p>
        </p:txBody>
      </p:sp>
      <p:sp>
        <p:nvSpPr>
          <p:cNvPr id="2560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a:solidFill>
                  <a:schemeClr val="tx2"/>
                </a:solidFill>
                <a:latin typeface="Verdana" pitchFamily="34" charset="0"/>
              </a:rPr>
              <a:t>5/10/09</a:t>
            </a:r>
          </a:p>
        </p:txBody>
      </p:sp>
      <p:sp>
        <p:nvSpPr>
          <p:cNvPr id="2560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altLang="en-US" sz="1200" dirty="0">
                <a:solidFill>
                  <a:schemeClr val="tx2"/>
                </a:solidFill>
                <a:latin typeface="Verdana" pitchFamily="34" charset="0"/>
              </a:rPr>
              <a:t>Python Mini-Course: Lesson 16</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33787C07-7BD6-4493-A949-5A73DBEC5981}" type="slidenum">
              <a:rPr lang="en-US" altLang="en-US" sz="1400">
                <a:solidFill>
                  <a:srgbClr val="FFFFFF"/>
                </a:solidFill>
                <a:latin typeface="Verdana" pitchFamily="34" charset="0"/>
              </a:rPr>
              <a:pPr eaLnBrk="1" hangingPunct="1"/>
              <a:t>28</a:t>
            </a:fld>
            <a:endParaRPr lang="en-US" altLang="en-US" sz="1400">
              <a:solidFill>
                <a:srgbClr val="FFFFFF"/>
              </a:solidFill>
              <a:latin typeface="Verdana"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526010"/>
            <a:ext cx="7992888" cy="234315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9" name="Title 1"/>
          <p:cNvSpPr>
            <a:spLocks noGrp="1"/>
          </p:cNvSpPr>
          <p:nvPr>
            <p:ph type="title"/>
          </p:nvPr>
        </p:nvSpPr>
        <p:spPr>
          <a:xfrm>
            <a:off x="457200" y="404664"/>
            <a:ext cx="3610744" cy="720080"/>
          </a:xfrm>
        </p:spPr>
        <p:txBody>
          <a:bodyPr>
            <a:normAutofit/>
          </a:bodyPr>
          <a:lstStyle/>
          <a:p>
            <a:pPr algn="l"/>
            <a:r>
              <a:rPr lang="en-US" altLang="en-US" sz="2400" b="1" dirty="0">
                <a:solidFill>
                  <a:schemeClr val="bg1"/>
                </a:solidFill>
              </a:rPr>
              <a:t> “</a:t>
            </a:r>
            <a:r>
              <a:rPr lang="en-US" altLang="en-US" sz="2400" b="1" dirty="0">
                <a:solidFill>
                  <a:schemeClr val="bg1"/>
                </a:solidFill>
                <a:latin typeface="Vrinda" pitchFamily="34" charset="0"/>
                <a:cs typeface="Vrinda" pitchFamily="34" charset="0"/>
              </a:rPr>
              <a:t>in” Operator (Contd.)</a:t>
            </a:r>
          </a:p>
        </p:txBody>
      </p:sp>
    </p:spTree>
    <p:extLst>
      <p:ext uri="{BB962C8B-B14F-4D97-AF65-F5344CB8AC3E}">
        <p14:creationId xmlns:p14="http://schemas.microsoft.com/office/powerpoint/2010/main" val="1537020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529208" y="471810"/>
            <a:ext cx="4186808" cy="652934"/>
          </a:xfrm>
        </p:spPr>
        <p:txBody>
          <a:bodyPr/>
          <a:lstStyle/>
          <a:p>
            <a:pPr algn="l" eaLnBrk="1" hangingPunct="1">
              <a:defRPr/>
            </a:pPr>
            <a:r>
              <a:rPr lang="en-US" sz="2400" dirty="0">
                <a:solidFill>
                  <a:schemeClr val="bg1"/>
                </a:solidFill>
                <a:sym typeface="Gill Sans" charset="0"/>
              </a:rPr>
              <a:t>“</a:t>
            </a:r>
            <a:r>
              <a:rPr lang="en-US" sz="2400" b="1" dirty="0">
                <a:solidFill>
                  <a:schemeClr val="bg1"/>
                </a:solidFill>
                <a:latin typeface="Vrinda" pitchFamily="34" charset="0"/>
                <a:cs typeface="Vrinda" pitchFamily="34" charset="0"/>
                <a:sym typeface="Gill Sans" charset="0"/>
              </a:rPr>
              <a:t>get()” Method for Dictionary</a:t>
            </a:r>
          </a:p>
        </p:txBody>
      </p:sp>
      <p:sp>
        <p:nvSpPr>
          <p:cNvPr id="34818" name="Rectangle 2"/>
          <p:cNvSpPr>
            <a:spLocks noGrp="1" noChangeArrowheads="1"/>
          </p:cNvSpPr>
          <p:nvPr>
            <p:ph type="body" idx="1"/>
          </p:nvPr>
        </p:nvSpPr>
        <p:spPr>
          <a:xfrm>
            <a:off x="395536" y="1744563"/>
            <a:ext cx="7954368" cy="4492749"/>
          </a:xfrm>
          <a:solidFill>
            <a:schemeClr val="bg1"/>
          </a:solidFill>
        </p:spPr>
        <p:txBody>
          <a:bodyPr>
            <a:normAutofit/>
          </a:bodyPr>
          <a:lstStyle/>
          <a:p>
            <a:pPr marL="514350" lvl="1" indent="-396875" defTabSz="914363">
              <a:lnSpc>
                <a:spcPct val="90000"/>
              </a:lnSpc>
              <a:buSzPct val="100000"/>
              <a:buBlip>
                <a:blip r:embed="rId3"/>
              </a:buBlip>
              <a:defRPr/>
            </a:pPr>
            <a:r>
              <a:rPr lang="en-US" sz="2400" dirty="0">
                <a:solidFill>
                  <a:srgbClr val="9900FF"/>
                </a:solidFill>
                <a:cs typeface="Courier New" pitchFamily="49" charset="0"/>
                <a:sym typeface="Gill Sans" charset="0"/>
              </a:rPr>
              <a:t>The method get() returns a value for the given key. </a:t>
            </a:r>
          </a:p>
          <a:p>
            <a:pPr marL="514350" lvl="1" indent="-396875" defTabSz="914363">
              <a:lnSpc>
                <a:spcPct val="90000"/>
              </a:lnSpc>
              <a:buSzPct val="100000"/>
              <a:buBlip>
                <a:blip r:embed="rId3"/>
              </a:buBlip>
              <a:defRPr/>
            </a:pPr>
            <a:r>
              <a:rPr lang="en-US" sz="2400" dirty="0">
                <a:solidFill>
                  <a:srgbClr val="9900FF"/>
                </a:solidFill>
                <a:cs typeface="Courier New" pitchFamily="49" charset="0"/>
                <a:sym typeface="Gill Sans" charset="0"/>
              </a:rPr>
              <a:t>If key is not available, it returns default value “None”.</a:t>
            </a:r>
          </a:p>
          <a:p>
            <a:pPr marL="914400" lvl="2" indent="-396875" defTabSz="914363">
              <a:lnSpc>
                <a:spcPct val="90000"/>
              </a:lnSpc>
              <a:buSzPct val="100000"/>
              <a:buBlip>
                <a:blip r:embed="rId3"/>
              </a:buBlip>
              <a:defRPr/>
            </a:pPr>
            <a:r>
              <a:rPr lang="en-US" sz="2000" dirty="0">
                <a:solidFill>
                  <a:srgbClr val="9900FF"/>
                </a:solidFill>
                <a:cs typeface="Courier New" pitchFamily="49" charset="0"/>
                <a:sym typeface="Gill Sans" charset="0"/>
              </a:rPr>
              <a:t>key- This is the key to be searched in the dictionary.</a:t>
            </a:r>
          </a:p>
          <a:p>
            <a:pPr marL="914400" lvl="2" indent="-396875" defTabSz="914363">
              <a:lnSpc>
                <a:spcPct val="90000"/>
              </a:lnSpc>
              <a:buSzPct val="100000"/>
              <a:buBlip>
                <a:blip r:embed="rId3"/>
              </a:buBlip>
              <a:defRPr/>
            </a:pPr>
            <a:r>
              <a:rPr lang="en-US" sz="2000" dirty="0">
                <a:solidFill>
                  <a:srgbClr val="9900FF"/>
                </a:solidFill>
                <a:cs typeface="Courier New" pitchFamily="49" charset="0"/>
                <a:sym typeface="Gill Sans" charset="0"/>
              </a:rPr>
              <a:t>default - This is the value to be returned in case key does not exist.</a:t>
            </a:r>
          </a:p>
          <a:p>
            <a:pPr marL="586359" lvl="1" indent="0">
              <a:buNone/>
              <a:defRPr/>
            </a:pPr>
            <a:endParaRPr lang="en-US" sz="1600" dirty="0">
              <a:solidFill>
                <a:srgbClr val="9900FF"/>
              </a:solidFill>
              <a:cs typeface="Courier New" pitchFamily="49" charset="0"/>
              <a:sym typeface="Gill Sans" charset="0"/>
            </a:endParaRPr>
          </a:p>
          <a:p>
            <a:pPr marL="129159" indent="0">
              <a:buNone/>
              <a:defRPr/>
            </a:pPr>
            <a:r>
              <a:rPr lang="en-US" sz="2000" b="1" dirty="0">
                <a:solidFill>
                  <a:srgbClr val="9900FF"/>
                </a:solidFill>
                <a:cs typeface="Courier New" pitchFamily="49" charset="0"/>
                <a:sym typeface="Gill Sans" charset="0"/>
              </a:rPr>
              <a:t>Example:</a:t>
            </a:r>
          </a:p>
          <a:p>
            <a:pPr marL="472059">
              <a:buFont typeface="Gill Sans" charset="0"/>
              <a:buChar char="•"/>
              <a:defRPr/>
            </a:pPr>
            <a:endParaRPr lang="en-US" sz="1600" dirty="0">
              <a:solidFill>
                <a:srgbClr val="9900FF"/>
              </a:solidFill>
              <a:cs typeface="Courier New" pitchFamily="49" charset="0"/>
              <a:sym typeface="Gill Sans" charset="0"/>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4009231"/>
            <a:ext cx="7734300" cy="1724025"/>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65323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p:cNvSpPr>
            <a:spLocks noGrp="1" noChangeArrowheads="1"/>
          </p:cNvSpPr>
          <p:nvPr>
            <p:ph type="title"/>
          </p:nvPr>
        </p:nvSpPr>
        <p:spPr>
          <a:xfrm>
            <a:off x="529208" y="476672"/>
            <a:ext cx="3394720" cy="724942"/>
          </a:xfrm>
        </p:spPr>
        <p:txBody>
          <a:bodyPr>
            <a:normAutofit/>
          </a:bodyPr>
          <a:lstStyle/>
          <a:p>
            <a:pPr algn="l">
              <a:defRPr/>
            </a:pPr>
            <a:r>
              <a:rPr lang="en-US" sz="2400" b="1" dirty="0">
                <a:solidFill>
                  <a:schemeClr val="bg1"/>
                </a:solidFill>
                <a:latin typeface="Vrinda" pitchFamily="34" charset="0"/>
                <a:cs typeface="Vrinda" pitchFamily="34" charset="0"/>
              </a:rPr>
              <a:t>Traversing a Dictionary</a:t>
            </a:r>
            <a:endParaRPr lang="en-US" sz="2400" b="1" dirty="0">
              <a:solidFill>
                <a:schemeClr val="bg1"/>
              </a:solidFill>
              <a:latin typeface="Vrinda" pitchFamily="34" charset="0"/>
              <a:cs typeface="Vrinda" pitchFamily="34" charset="0"/>
              <a:sym typeface="Gill Sans" charset="0"/>
            </a:endParaRPr>
          </a:p>
        </p:txBody>
      </p:sp>
      <p:sp>
        <p:nvSpPr>
          <p:cNvPr id="43010" name="Rectangle 2"/>
          <p:cNvSpPr>
            <a:spLocks noGrp="1" noChangeArrowheads="1"/>
          </p:cNvSpPr>
          <p:nvPr>
            <p:ph type="body" idx="1"/>
          </p:nvPr>
        </p:nvSpPr>
        <p:spPr>
          <a:xfrm>
            <a:off x="395536" y="1628800"/>
            <a:ext cx="8352928" cy="2088232"/>
          </a:xfrm>
          <a:solidFill>
            <a:schemeClr val="bg1"/>
          </a:solidFill>
        </p:spPr>
        <p:txBody>
          <a:bodyPr>
            <a:normAutofit fontScale="70000" lnSpcReduction="20000"/>
          </a:bodyPr>
          <a:lstStyle/>
          <a:p>
            <a:pPr marL="472059" algn="just">
              <a:buFont typeface="Gill Sans" charset="0"/>
              <a:buChar char="•"/>
              <a:defRPr/>
            </a:pPr>
            <a:endParaRPr lang="en-US" sz="1700" dirty="0">
              <a:solidFill>
                <a:srgbClr val="6600CC"/>
              </a:solidFill>
              <a:sym typeface="Gill Sans" charset="0"/>
            </a:endParaRPr>
          </a:p>
          <a:p>
            <a:pPr marL="514350" lvl="1" indent="-396875" defTabSz="914363">
              <a:lnSpc>
                <a:spcPct val="90000"/>
              </a:lnSpc>
              <a:buSzPct val="100000"/>
              <a:buBlip>
                <a:blip r:embed="rId3"/>
              </a:buBlip>
            </a:pPr>
            <a:r>
              <a:rPr lang="en-US" sz="3100" dirty="0">
                <a:solidFill>
                  <a:srgbClr val="6600CC"/>
                </a:solidFill>
                <a:sym typeface="Gill Sans" charset="0"/>
              </a:rPr>
              <a:t>We can write a “for” loop that goes through all the entries in a dictionary, such as keys and values.</a:t>
            </a:r>
          </a:p>
          <a:p>
            <a:pPr marL="514350" lvl="1" indent="-396875" defTabSz="914363">
              <a:lnSpc>
                <a:spcPct val="90000"/>
              </a:lnSpc>
              <a:buSzPct val="100000"/>
              <a:buBlip>
                <a:blip r:embed="rId3"/>
              </a:buBlip>
            </a:pPr>
            <a:r>
              <a:rPr lang="en-US" sz="3100" dirty="0">
                <a:solidFill>
                  <a:srgbClr val="6600CC"/>
                </a:solidFill>
                <a:sym typeface="Gill Sans" charset="0"/>
              </a:rPr>
              <a:t>If a dictionary uses in a “for” statement, it traverses the keys of the dictionary. </a:t>
            </a:r>
          </a:p>
          <a:p>
            <a:pPr marL="514350" lvl="1" indent="-396875" defTabSz="914363">
              <a:lnSpc>
                <a:spcPct val="90000"/>
              </a:lnSpc>
              <a:buSzPct val="100000"/>
              <a:buBlip>
                <a:blip r:embed="rId3"/>
              </a:buBlip>
            </a:pPr>
            <a:r>
              <a:rPr lang="en-US" sz="3100" dirty="0">
                <a:solidFill>
                  <a:srgbClr val="6600CC"/>
                </a:solidFill>
                <a:sym typeface="Gill Sans" charset="0"/>
              </a:rPr>
              <a:t>This loop prints each key and the corresponding value.</a:t>
            </a:r>
            <a:endParaRPr lang="en-IN" sz="3100" dirty="0">
              <a:solidFill>
                <a:srgbClr val="6600CC"/>
              </a:solidFill>
              <a:cs typeface="Vrinda" pitchFamily="34" charset="0"/>
            </a:endParaRPr>
          </a:p>
          <a:p>
            <a:pPr marL="472059" algn="just">
              <a:buFont typeface="Gill Sans" charset="0"/>
              <a:buChar char="•"/>
              <a:defRPr/>
            </a:pPr>
            <a:endParaRPr lang="en-US" sz="1600" dirty="0">
              <a:solidFill>
                <a:srgbClr val="6600CC"/>
              </a:solidFill>
              <a:sym typeface="Gill Sans" charset="0"/>
            </a:endParaRPr>
          </a:p>
          <a:p>
            <a:pPr marL="129159" indent="0" algn="just">
              <a:buNone/>
              <a:defRPr/>
            </a:pPr>
            <a:r>
              <a:rPr lang="en-US" sz="2600" b="1" dirty="0">
                <a:solidFill>
                  <a:srgbClr val="6600CC"/>
                </a:solidFill>
                <a:sym typeface="Gill Sans" charset="0"/>
              </a:rPr>
              <a:t>Example: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851730"/>
            <a:ext cx="7734300" cy="234315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806211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Grp="1" noChangeArrowheads="1"/>
          </p:cNvSpPr>
          <p:nvPr>
            <p:ph type="title"/>
          </p:nvPr>
        </p:nvSpPr>
        <p:spPr>
          <a:xfrm>
            <a:off x="529208" y="543818"/>
            <a:ext cx="3106688" cy="580926"/>
          </a:xfrm>
        </p:spPr>
        <p:txBody>
          <a:bodyPr>
            <a:normAutofit/>
          </a:bodyPr>
          <a:lstStyle/>
          <a:p>
            <a:pPr algn="l" eaLnBrk="1" hangingPunct="1">
              <a:defRPr/>
            </a:pPr>
            <a:r>
              <a:rPr lang="en-US" sz="2400" b="1" dirty="0">
                <a:solidFill>
                  <a:schemeClr val="bg1"/>
                </a:solidFill>
                <a:latin typeface="Vrinda" pitchFamily="34" charset="0"/>
                <a:cs typeface="Vrinda" pitchFamily="34" charset="0"/>
                <a:sym typeface="Gill Sans" charset="0"/>
              </a:rPr>
              <a:t>Dictionary Traceback</a:t>
            </a:r>
          </a:p>
        </p:txBody>
      </p:sp>
      <p:sp>
        <p:nvSpPr>
          <p:cNvPr id="32770" name="Rectangle 2"/>
          <p:cNvSpPr>
            <a:spLocks noGrp="1" noChangeArrowheads="1"/>
          </p:cNvSpPr>
          <p:nvPr>
            <p:ph type="body" idx="1"/>
          </p:nvPr>
        </p:nvSpPr>
        <p:spPr>
          <a:xfrm>
            <a:off x="395536" y="1637159"/>
            <a:ext cx="8352928" cy="1647825"/>
          </a:xfrm>
          <a:solidFill>
            <a:schemeClr val="bg1"/>
          </a:solidFill>
        </p:spPr>
        <p:txBody>
          <a:bodyPr>
            <a:normAutofit fontScale="92500" lnSpcReduction="20000"/>
          </a:bodyPr>
          <a:lstStyle/>
          <a:p>
            <a:pPr marL="472059">
              <a:buFont typeface="Gill Sans" charset="0"/>
              <a:buChar char="•"/>
              <a:defRPr/>
            </a:pPr>
            <a:endParaRPr lang="en-US" sz="1600" dirty="0">
              <a:solidFill>
                <a:srgbClr val="6600CC"/>
              </a:solidFill>
              <a:sym typeface="Gill Sans" charset="0"/>
            </a:endParaRPr>
          </a:p>
          <a:p>
            <a:pPr marL="514350" lvl="1" indent="-396875" defTabSz="914363">
              <a:lnSpc>
                <a:spcPct val="90000"/>
              </a:lnSpc>
              <a:buSzPct val="100000"/>
              <a:buBlip>
                <a:blip r:embed="rId3"/>
              </a:buBlip>
            </a:pPr>
            <a:r>
              <a:rPr lang="en-US" sz="2600" dirty="0">
                <a:solidFill>
                  <a:srgbClr val="6600CC"/>
                </a:solidFill>
                <a:sym typeface="Gill Sans" charset="0"/>
              </a:rPr>
              <a:t>It is an error to reference a key which is not in the dictionary.</a:t>
            </a:r>
          </a:p>
          <a:p>
            <a:pPr marL="117475" lvl="1" indent="0" defTabSz="914363">
              <a:lnSpc>
                <a:spcPct val="90000"/>
              </a:lnSpc>
              <a:buSzPct val="100000"/>
              <a:buNone/>
            </a:pPr>
            <a:endParaRPr lang="en-US" sz="2600" dirty="0">
              <a:solidFill>
                <a:srgbClr val="6600CC"/>
              </a:solidFill>
              <a:sym typeface="Gill Sans" charset="0"/>
            </a:endParaRPr>
          </a:p>
          <a:p>
            <a:pPr marL="514350" lvl="1" indent="-396875" defTabSz="914363">
              <a:lnSpc>
                <a:spcPct val="90000"/>
              </a:lnSpc>
              <a:buSzPct val="100000"/>
              <a:buBlip>
                <a:blip r:embed="rId3"/>
              </a:buBlip>
            </a:pPr>
            <a:r>
              <a:rPr lang="en-US" sz="2600" dirty="0">
                <a:solidFill>
                  <a:srgbClr val="6600CC"/>
                </a:solidFill>
                <a:sym typeface="Gill Sans" charset="0"/>
              </a:rPr>
              <a:t>We can use the “in” operator to see if a key is in the dictionary.</a:t>
            </a:r>
          </a:p>
          <a:p>
            <a:pPr marL="472059">
              <a:buFont typeface="Gill Sans" charset="0"/>
              <a:buChar char="•"/>
              <a:defRPr/>
            </a:pPr>
            <a:endParaRPr lang="en-US" sz="1600" dirty="0">
              <a:solidFill>
                <a:srgbClr val="6600CC"/>
              </a:solidFill>
              <a:sym typeface="Gill Sans"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25" y="3797399"/>
            <a:ext cx="7677150" cy="196215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48392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p:nvPr>
        </p:nvSpPr>
        <p:spPr>
          <a:xfrm>
            <a:off x="529208" y="476672"/>
            <a:ext cx="2746648" cy="652934"/>
          </a:xfrm>
        </p:spPr>
        <p:txBody>
          <a:bodyPr>
            <a:normAutofit/>
          </a:bodyPr>
          <a:lstStyle/>
          <a:p>
            <a:pPr algn="l">
              <a:defRPr/>
            </a:pPr>
            <a:r>
              <a:rPr lang="en-US" sz="2400" b="1" dirty="0">
                <a:solidFill>
                  <a:schemeClr val="bg1"/>
                </a:solidFill>
                <a:latin typeface="Vrinda" pitchFamily="34" charset="0"/>
                <a:cs typeface="Vrinda" pitchFamily="34" charset="0"/>
                <a:sym typeface="Gill Sans" charset="0"/>
              </a:rPr>
              <a:t>List vs Dictionary</a:t>
            </a:r>
          </a:p>
        </p:txBody>
      </p:sp>
      <p:graphicFrame>
        <p:nvGraphicFramePr>
          <p:cNvPr id="3" name="Table 2"/>
          <p:cNvGraphicFramePr>
            <a:graphicFrameLocks noGrp="1"/>
          </p:cNvGraphicFramePr>
          <p:nvPr>
            <p:extLst>
              <p:ext uri="{D42A27DB-BD31-4B8C-83A1-F6EECF244321}">
                <p14:modId xmlns:p14="http://schemas.microsoft.com/office/powerpoint/2010/main" val="2983709268"/>
              </p:ext>
            </p:extLst>
          </p:nvPr>
        </p:nvGraphicFramePr>
        <p:xfrm>
          <a:off x="899592" y="2132856"/>
          <a:ext cx="7416824" cy="1302797"/>
        </p:xfrm>
        <a:graphic>
          <a:graphicData uri="http://schemas.openxmlformats.org/drawingml/2006/table">
            <a:tbl>
              <a:tblPr>
                <a:tableStyleId>{8A107856-5554-42FB-B03E-39F5DBC370BA}</a:tableStyleId>
              </a:tblPr>
              <a:tblGrid>
                <a:gridCol w="3335951">
                  <a:extLst>
                    <a:ext uri="{9D8B030D-6E8A-4147-A177-3AD203B41FA5}">
                      <a16:colId xmlns:a16="http://schemas.microsoft.com/office/drawing/2014/main" val="20000"/>
                    </a:ext>
                  </a:extLst>
                </a:gridCol>
                <a:gridCol w="4080873">
                  <a:extLst>
                    <a:ext uri="{9D8B030D-6E8A-4147-A177-3AD203B41FA5}">
                      <a16:colId xmlns:a16="http://schemas.microsoft.com/office/drawing/2014/main" val="20001"/>
                    </a:ext>
                  </a:extLst>
                </a:gridCol>
              </a:tblGrid>
              <a:tr h="275287">
                <a:tc>
                  <a:txBody>
                    <a:bodyPr/>
                    <a:lstStyle/>
                    <a:p>
                      <a:pPr algn="ctr" fontAlgn="b"/>
                      <a:r>
                        <a:rPr lang="en-US" sz="1800" b="1" u="none" strike="noStrike" dirty="0">
                          <a:effectLst/>
                        </a:rPr>
                        <a:t>LIST</a:t>
                      </a:r>
                      <a:endParaRPr lang="en-US" sz="1800" b="1" i="0" u="none" strike="noStrike" dirty="0">
                        <a:solidFill>
                          <a:schemeClr val="bg1"/>
                        </a:solidFill>
                        <a:effectLst/>
                        <a:latin typeface="Calibri"/>
                      </a:endParaRPr>
                    </a:p>
                  </a:txBody>
                  <a:tcPr marL="7620" marR="7620" marT="7620" marB="0" anchor="b"/>
                </a:tc>
                <a:tc>
                  <a:txBody>
                    <a:bodyPr/>
                    <a:lstStyle/>
                    <a:p>
                      <a:pPr algn="ctr" fontAlgn="b"/>
                      <a:r>
                        <a:rPr lang="en-US" sz="1800" b="1" u="none" strike="noStrike" dirty="0">
                          <a:effectLst/>
                        </a:rPr>
                        <a:t>DICTIONARY</a:t>
                      </a:r>
                      <a:endParaRPr lang="en-US" sz="1800" b="1" i="0" u="none" strike="noStrike" dirty="0">
                        <a:solidFill>
                          <a:schemeClr val="bg1"/>
                        </a:solidFill>
                        <a:effectLst/>
                        <a:latin typeface="Calibri"/>
                      </a:endParaRPr>
                    </a:p>
                  </a:txBody>
                  <a:tcPr marL="7620" marR="7620" marT="7620" marB="0" anchor="b"/>
                </a:tc>
                <a:extLst>
                  <a:ext uri="{0D108BD9-81ED-4DB2-BD59-A6C34878D82A}">
                    <a16:rowId xmlns:a16="http://schemas.microsoft.com/office/drawing/2014/main" val="10000"/>
                  </a:ext>
                </a:extLst>
              </a:tr>
              <a:tr h="504693">
                <a:tc>
                  <a:txBody>
                    <a:bodyPr/>
                    <a:lstStyle/>
                    <a:p>
                      <a:pPr algn="l" fontAlgn="b"/>
                      <a:r>
                        <a:rPr lang="en-US" sz="1600" b="1" u="none" strike="noStrike">
                          <a:effectLst/>
                        </a:rPr>
                        <a:t>List is list of values. Starting from zero.</a:t>
                      </a:r>
                      <a:endParaRPr lang="en-US" sz="1600" b="1" i="0" u="none" strike="noStrike">
                        <a:solidFill>
                          <a:srgbClr val="000000"/>
                        </a:solidFill>
                        <a:effectLst/>
                        <a:latin typeface="Calibri"/>
                      </a:endParaRPr>
                    </a:p>
                  </a:txBody>
                  <a:tcPr marL="7620" marR="7620" marT="7620" marB="0" anchor="b"/>
                </a:tc>
                <a:tc>
                  <a:txBody>
                    <a:bodyPr/>
                    <a:lstStyle/>
                    <a:p>
                      <a:pPr algn="l" fontAlgn="b"/>
                      <a:r>
                        <a:rPr lang="en-US" sz="1600" b="1" u="none" strike="noStrike" dirty="0">
                          <a:effectLst/>
                        </a:rPr>
                        <a:t>It is an index of words and each of them has a definition.</a:t>
                      </a:r>
                      <a:endParaRPr lang="en-US" sz="1600" b="1" i="0" u="none" strike="noStrike" dirty="0">
                        <a:solidFill>
                          <a:srgbClr val="000000"/>
                        </a:solidFill>
                        <a:effectLst/>
                        <a:latin typeface="Calibri"/>
                      </a:endParaRPr>
                    </a:p>
                  </a:txBody>
                  <a:tcPr marL="7620" marR="7620" marT="7620" marB="0" anchor="b"/>
                </a:tc>
                <a:extLst>
                  <a:ext uri="{0D108BD9-81ED-4DB2-BD59-A6C34878D82A}">
                    <a16:rowId xmlns:a16="http://schemas.microsoft.com/office/drawing/2014/main" val="10001"/>
                  </a:ext>
                </a:extLst>
              </a:tr>
              <a:tr h="516164">
                <a:tc>
                  <a:txBody>
                    <a:bodyPr/>
                    <a:lstStyle/>
                    <a:p>
                      <a:pPr algn="l" fontAlgn="b"/>
                      <a:r>
                        <a:rPr lang="en-US" sz="1600" b="1" u="none" strike="noStrike" dirty="0">
                          <a:effectLst/>
                        </a:rPr>
                        <a:t>We can add the element index wise.</a:t>
                      </a:r>
                      <a:endParaRPr lang="en-US" sz="1600" b="1" i="0" u="none" strike="noStrike" dirty="0">
                        <a:solidFill>
                          <a:srgbClr val="000000"/>
                        </a:solidFill>
                        <a:effectLst/>
                        <a:latin typeface="Calibri"/>
                      </a:endParaRPr>
                    </a:p>
                  </a:txBody>
                  <a:tcPr marL="7620" marR="7620" marT="7620" marB="0" anchor="b"/>
                </a:tc>
                <a:tc>
                  <a:txBody>
                    <a:bodyPr/>
                    <a:lstStyle/>
                    <a:p>
                      <a:pPr algn="l" fontAlgn="b"/>
                      <a:r>
                        <a:rPr lang="en-US" altLang="en-US" sz="1600" b="1" u="none" strike="noStrike" kern="1200" dirty="0">
                          <a:solidFill>
                            <a:schemeClr val="dk1"/>
                          </a:solidFill>
                          <a:effectLst/>
                          <a:latin typeface="+mn-lt"/>
                          <a:ea typeface="+mn-ea"/>
                          <a:cs typeface="+mn-cs"/>
                        </a:rPr>
                        <a:t>Element</a:t>
                      </a:r>
                      <a:r>
                        <a:rPr lang="en-US" altLang="en-US" sz="1600" b="1" u="none" strike="noStrike" kern="1200" baseline="0" dirty="0">
                          <a:solidFill>
                            <a:schemeClr val="dk1"/>
                          </a:solidFill>
                          <a:effectLst/>
                          <a:latin typeface="+mn-lt"/>
                          <a:ea typeface="+mn-ea"/>
                          <a:cs typeface="+mn-cs"/>
                        </a:rPr>
                        <a:t> </a:t>
                      </a:r>
                      <a:r>
                        <a:rPr lang="en-US" altLang="en-US" sz="1600" b="1" u="none" strike="noStrike" kern="1200" dirty="0">
                          <a:solidFill>
                            <a:schemeClr val="dk1"/>
                          </a:solidFill>
                          <a:effectLst/>
                          <a:latin typeface="+mn-lt"/>
                          <a:ea typeface="+mn-ea"/>
                          <a:cs typeface="+mn-cs"/>
                        </a:rPr>
                        <a:t>can be added in Dictionary in the form of key-value pair.</a:t>
                      </a:r>
                      <a:endParaRPr lang="en-US" sz="1600" b="1" u="none" strike="noStrike" kern="1200" dirty="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10002"/>
                  </a:ext>
                </a:extLst>
              </a:tr>
            </a:tbl>
          </a:graphicData>
        </a:graphic>
      </p:graphicFrame>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99" y="3717032"/>
            <a:ext cx="3312369" cy="2209365"/>
          </a:xfrm>
          <a:prstGeom prst="rect">
            <a:avLst/>
          </a:prstGeom>
          <a:ln>
            <a:solidFill>
              <a:srgbClr val="FF0000"/>
            </a:solid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3728" y="3753035"/>
            <a:ext cx="3384376" cy="2137358"/>
          </a:xfrm>
          <a:prstGeom prst="rect">
            <a:avLst/>
          </a:prstGeom>
          <a:ln>
            <a:solidFill>
              <a:srgbClr val="FF0000"/>
            </a:solid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605205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00808"/>
            <a:ext cx="7632848" cy="4425355"/>
          </a:xfrm>
        </p:spPr>
      </p:pic>
      <p:sp>
        <p:nvSpPr>
          <p:cNvPr id="5"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solidFill>
                  <a:schemeClr val="bg1"/>
                </a:solidFill>
                <a:latin typeface="Vrinda" pitchFamily="34" charset="0"/>
                <a:cs typeface="Vrinda" pitchFamily="34" charset="0"/>
              </a:rPr>
              <a:t>Just a Minute</a:t>
            </a:r>
          </a:p>
        </p:txBody>
      </p:sp>
      <p:sp>
        <p:nvSpPr>
          <p:cNvPr id="8" name="Oval Callout 7"/>
          <p:cNvSpPr/>
          <p:nvPr/>
        </p:nvSpPr>
        <p:spPr>
          <a:xfrm flipH="1">
            <a:off x="1187624" y="2209800"/>
            <a:ext cx="4627862" cy="2227312"/>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dirty="0">
                <a:solidFill>
                  <a:schemeClr val="bg1"/>
                </a:solidFill>
              </a:rPr>
              <a:t>Predict the output of the following Code:</a:t>
            </a:r>
          </a:p>
          <a:p>
            <a:pPr marL="117475" defTabSz="914363">
              <a:lnSpc>
                <a:spcPct val="90000"/>
              </a:lnSpc>
              <a:spcBef>
                <a:spcPct val="20000"/>
              </a:spcBef>
              <a:buSzPct val="100000"/>
            </a:pPr>
            <a:endParaRPr lang="en-US" dirty="0">
              <a:solidFill>
                <a:schemeClr val="bg1"/>
              </a:solidFill>
            </a:endParaRPr>
          </a:p>
          <a:p>
            <a:pPr marL="117475" defTabSz="914363">
              <a:lnSpc>
                <a:spcPct val="90000"/>
              </a:lnSpc>
              <a:spcBef>
                <a:spcPct val="20000"/>
              </a:spcBef>
              <a:buSzPct val="100000"/>
            </a:pPr>
            <a:r>
              <a:rPr lang="en-US" dirty="0">
                <a:solidFill>
                  <a:schemeClr val="bg1"/>
                </a:solidFill>
              </a:rPr>
              <a:t>Data={‘</a:t>
            </a:r>
            <a:r>
              <a:rPr lang="en-US" dirty="0" err="1">
                <a:solidFill>
                  <a:schemeClr val="bg1"/>
                </a:solidFill>
              </a:rPr>
              <a:t>Apple’,’Orange’,’Grapes</a:t>
            </a:r>
            <a:r>
              <a:rPr lang="en-US" dirty="0">
                <a:solidFill>
                  <a:schemeClr val="bg1"/>
                </a:solidFill>
              </a:rPr>
              <a:t>’}</a:t>
            </a:r>
          </a:p>
          <a:p>
            <a:pPr marL="117475" defTabSz="914363">
              <a:lnSpc>
                <a:spcPct val="90000"/>
              </a:lnSpc>
              <a:spcBef>
                <a:spcPct val="20000"/>
              </a:spcBef>
              <a:buSzPct val="100000"/>
            </a:pPr>
            <a:r>
              <a:rPr lang="en-US" dirty="0">
                <a:solidFill>
                  <a:schemeClr val="bg1"/>
                </a:solidFill>
              </a:rPr>
              <a:t>‘Apple’ in Data</a:t>
            </a:r>
          </a:p>
          <a:p>
            <a:pPr marL="117475" defTabSz="914363">
              <a:lnSpc>
                <a:spcPct val="90000"/>
              </a:lnSpc>
              <a:spcBef>
                <a:spcPct val="20000"/>
              </a:spcBef>
              <a:buSzPct val="100000"/>
            </a:pPr>
            <a:endParaRPr lang="en-US" sz="1600" b="1" dirty="0">
              <a:solidFill>
                <a:schemeClr val="bg1"/>
              </a:solidFill>
            </a:endParaRPr>
          </a:p>
        </p:txBody>
      </p:sp>
    </p:spTree>
    <p:extLst>
      <p:ext uri="{BB962C8B-B14F-4D97-AF65-F5344CB8AC3E}">
        <p14:creationId xmlns:p14="http://schemas.microsoft.com/office/powerpoint/2010/main" val="3483154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00808"/>
            <a:ext cx="7632848" cy="4425355"/>
          </a:xfrm>
        </p:spPr>
      </p:pic>
      <p:sp>
        <p:nvSpPr>
          <p:cNvPr id="5"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solidFill>
                  <a:schemeClr val="bg1"/>
                </a:solidFill>
                <a:latin typeface="Vrinda" pitchFamily="34" charset="0"/>
                <a:cs typeface="Vrinda" pitchFamily="34" charset="0"/>
              </a:rPr>
              <a:t>Just a Minute</a:t>
            </a:r>
          </a:p>
        </p:txBody>
      </p:sp>
      <p:sp>
        <p:nvSpPr>
          <p:cNvPr id="8" name="Oval Callout 7"/>
          <p:cNvSpPr/>
          <p:nvPr/>
        </p:nvSpPr>
        <p:spPr>
          <a:xfrm flipH="1">
            <a:off x="1187624" y="2209800"/>
            <a:ext cx="4627862" cy="2227312"/>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marL="117475" defTabSz="914363">
              <a:lnSpc>
                <a:spcPct val="90000"/>
              </a:lnSpc>
              <a:spcBef>
                <a:spcPct val="20000"/>
              </a:spcBef>
              <a:buSzPct val="100000"/>
            </a:pPr>
            <a:r>
              <a:rPr lang="en-US" dirty="0">
                <a:solidFill>
                  <a:schemeClr val="bg1"/>
                </a:solidFill>
              </a:rPr>
              <a:t>Predict the output of the following Code:</a:t>
            </a:r>
          </a:p>
          <a:p>
            <a:pPr marL="117475" defTabSz="914363">
              <a:lnSpc>
                <a:spcPct val="90000"/>
              </a:lnSpc>
              <a:spcBef>
                <a:spcPct val="20000"/>
              </a:spcBef>
              <a:buSzPct val="100000"/>
            </a:pPr>
            <a:endParaRPr lang="en-US" dirty="0">
              <a:solidFill>
                <a:schemeClr val="bg1"/>
              </a:solidFill>
            </a:endParaRPr>
          </a:p>
          <a:p>
            <a:pPr marL="117475" defTabSz="914363">
              <a:lnSpc>
                <a:spcPct val="90000"/>
              </a:lnSpc>
              <a:spcBef>
                <a:spcPct val="20000"/>
              </a:spcBef>
              <a:buSzPct val="100000"/>
            </a:pPr>
            <a:r>
              <a:rPr lang="en-US" dirty="0">
                <a:solidFill>
                  <a:schemeClr val="bg1"/>
                </a:solidFill>
              </a:rPr>
              <a:t>Data={‘</a:t>
            </a:r>
            <a:r>
              <a:rPr lang="en-US" dirty="0" err="1">
                <a:solidFill>
                  <a:schemeClr val="bg1"/>
                </a:solidFill>
              </a:rPr>
              <a:t>Apple’,’Orange’,’Grapes</a:t>
            </a:r>
            <a:r>
              <a:rPr lang="en-US" dirty="0">
                <a:solidFill>
                  <a:schemeClr val="bg1"/>
                </a:solidFill>
              </a:rPr>
              <a:t>’}</a:t>
            </a:r>
          </a:p>
          <a:p>
            <a:pPr marL="117475" defTabSz="914363">
              <a:lnSpc>
                <a:spcPct val="90000"/>
              </a:lnSpc>
              <a:spcBef>
                <a:spcPct val="20000"/>
              </a:spcBef>
              <a:buSzPct val="100000"/>
            </a:pPr>
            <a:r>
              <a:rPr lang="en-US" dirty="0">
                <a:solidFill>
                  <a:schemeClr val="bg1"/>
                </a:solidFill>
              </a:rPr>
              <a:t>‘Apple’ in Data</a:t>
            </a:r>
          </a:p>
          <a:p>
            <a:pPr marL="117475" defTabSz="914363">
              <a:lnSpc>
                <a:spcPct val="90000"/>
              </a:lnSpc>
              <a:spcBef>
                <a:spcPct val="20000"/>
              </a:spcBef>
              <a:buSzPct val="100000"/>
            </a:pPr>
            <a:endParaRPr lang="en-US" sz="1600" b="1" dirty="0">
              <a:solidFill>
                <a:schemeClr val="bg1"/>
              </a:solidFill>
            </a:endParaRPr>
          </a:p>
        </p:txBody>
      </p:sp>
      <p:grpSp>
        <p:nvGrpSpPr>
          <p:cNvPr id="6" name="Group 5"/>
          <p:cNvGrpSpPr/>
          <p:nvPr/>
        </p:nvGrpSpPr>
        <p:grpSpPr>
          <a:xfrm>
            <a:off x="2733802" y="4974021"/>
            <a:ext cx="3946773" cy="977946"/>
            <a:chOff x="304808" y="5638800"/>
            <a:chExt cx="2488567" cy="914400"/>
          </a:xfrm>
        </p:grpSpPr>
        <p:grpSp>
          <p:nvGrpSpPr>
            <p:cNvPr id="7" name="Group 6"/>
            <p:cNvGrpSpPr/>
            <p:nvPr/>
          </p:nvGrpSpPr>
          <p:grpSpPr>
            <a:xfrm>
              <a:off x="304808" y="5638800"/>
              <a:ext cx="2488567" cy="914400"/>
              <a:chOff x="6019800" y="1143000"/>
              <a:chExt cx="585545" cy="533400"/>
            </a:xfrm>
          </p:grpSpPr>
          <p:sp>
            <p:nvSpPr>
              <p:cNvPr id="11" name="Oval 10"/>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2" name="Oval 11"/>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9" name="Rectangle 8"/>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a:solidFill>
                    <a:schemeClr val="bg1"/>
                  </a:solidFill>
                  <a:cs typeface="Vrinda" pitchFamily="34" charset="0"/>
                </a:rPr>
                <a:t>True</a:t>
              </a:r>
            </a:p>
          </p:txBody>
        </p:sp>
        <p:sp>
          <p:nvSpPr>
            <p:cNvPr id="10" name="Rectangle 9"/>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107052275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a:solidFill>
                  <a:schemeClr val="bg1"/>
                </a:solidFill>
                <a:latin typeface="Vrinda" pitchFamily="34" charset="0"/>
                <a:cs typeface="Vrinda" pitchFamily="34" charset="0"/>
              </a:rPr>
              <a:t>Activity</a:t>
            </a: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a:solidFill>
                  <a:srgbClr val="6600CC"/>
                </a:solidFill>
                <a:latin typeface="Vrinda" panose="020B0502040204020203" pitchFamily="34" charset="0"/>
                <a:ea typeface="Calibri" panose="020F0502020204030204" pitchFamily="34" charset="0"/>
                <a:cs typeface="Vrinda" panose="020B0502040204020203" pitchFamily="34" charset="0"/>
              </a:rPr>
              <a:t>Activity : Implementing Dictionary Collection</a:t>
            </a:r>
            <a:endParaRPr lang="en-US" sz="2400" dirty="0">
              <a:solidFill>
                <a:srgbClr val="6600CC"/>
              </a:solidFill>
              <a:effectLst/>
              <a:latin typeface="Vrinda" panose="020B0502040204020203" pitchFamily="34" charset="0"/>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88704" y="2132856"/>
            <a:ext cx="7848872" cy="3170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6600CC"/>
                </a:solidFill>
                <a:effectLst/>
                <a:latin typeface="+mj-l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6600CC"/>
              </a:solidFill>
              <a:effectLst/>
            </a:endParaRPr>
          </a:p>
          <a:p>
            <a:r>
              <a:rPr lang="en-US" sz="1600" dirty="0">
                <a:solidFill>
                  <a:srgbClr val="6600CC"/>
                </a:solidFill>
              </a:rPr>
              <a:t>Write a program to  create two dictionary objects named states and cities with the following items:</a:t>
            </a:r>
          </a:p>
          <a:p>
            <a:r>
              <a:rPr lang="en-US" sz="1600" dirty="0">
                <a:solidFill>
                  <a:srgbClr val="6600CC"/>
                </a:solidFill>
              </a:rPr>
              <a:t>States :			Cities :	</a:t>
            </a:r>
          </a:p>
          <a:p>
            <a:r>
              <a:rPr lang="en-US" sz="1600" dirty="0">
                <a:solidFill>
                  <a:srgbClr val="6600CC"/>
                </a:solidFill>
              </a:rPr>
              <a:t>'Oregon': 'OR'		'CA': 'San Francisco'</a:t>
            </a:r>
          </a:p>
          <a:p>
            <a:r>
              <a:rPr lang="en-US" sz="1600" dirty="0">
                <a:solidFill>
                  <a:srgbClr val="6600CC"/>
                </a:solidFill>
              </a:rPr>
              <a:t>'Florida': 'FL'		'MI': 'Detroit'</a:t>
            </a:r>
          </a:p>
          <a:p>
            <a:r>
              <a:rPr lang="en-US" sz="1600" dirty="0">
                <a:solidFill>
                  <a:srgbClr val="6600CC"/>
                </a:solidFill>
              </a:rPr>
              <a:t>'California': 'CA'		'FL': 'Jacksonville'</a:t>
            </a:r>
          </a:p>
          <a:p>
            <a:r>
              <a:rPr lang="en-US" sz="1600" dirty="0">
                <a:solidFill>
                  <a:srgbClr val="6600CC"/>
                </a:solidFill>
              </a:rPr>
              <a:t>'New York': 'NY'</a:t>
            </a:r>
          </a:p>
          <a:p>
            <a:r>
              <a:rPr lang="en-US" sz="1600" dirty="0">
                <a:solidFill>
                  <a:srgbClr val="6600CC"/>
                </a:solidFill>
              </a:rPr>
              <a:t>'Michigan': 'MI' </a:t>
            </a:r>
          </a:p>
          <a:p>
            <a:r>
              <a:rPr lang="en-US" sz="1600" dirty="0">
                <a:solidFill>
                  <a:srgbClr val="6600CC"/>
                </a:solidFill>
              </a:rPr>
              <a:t>In addition add more two items to the cities dictionary(NY-New York, OR-Portland). Then print the details available in cities dictionary using keys and values.</a:t>
            </a:r>
          </a:p>
        </p:txBody>
      </p:sp>
    </p:spTree>
    <p:extLst>
      <p:ext uri="{BB962C8B-B14F-4D97-AF65-F5344CB8AC3E}">
        <p14:creationId xmlns:p14="http://schemas.microsoft.com/office/powerpoint/2010/main" val="567924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208" y="476672"/>
            <a:ext cx="2314600" cy="576064"/>
          </a:xfrm>
        </p:spPr>
        <p:txBody>
          <a:bodyPr>
            <a:normAutofit/>
          </a:bodyPr>
          <a:lstStyle/>
          <a:p>
            <a:pPr algn="l">
              <a:defRPr/>
            </a:pPr>
            <a:r>
              <a:rPr lang="en-IN" sz="2400" b="1" dirty="0">
                <a:solidFill>
                  <a:schemeClr val="bg1"/>
                </a:solidFill>
                <a:latin typeface="Vrinda" pitchFamily="34" charset="0"/>
                <a:cs typeface="Vrinda" pitchFamily="34" charset="0"/>
              </a:rPr>
              <a:t>Summary</a:t>
            </a:r>
          </a:p>
        </p:txBody>
      </p:sp>
      <p:sp>
        <p:nvSpPr>
          <p:cNvPr id="3" name="Content Placeholder 2"/>
          <p:cNvSpPr>
            <a:spLocks noGrp="1"/>
          </p:cNvSpPr>
          <p:nvPr>
            <p:ph idx="1"/>
          </p:nvPr>
        </p:nvSpPr>
        <p:spPr>
          <a:solidFill>
            <a:schemeClr val="bg1"/>
          </a:solidFill>
        </p:spPr>
        <p:txBody>
          <a:bodyPr>
            <a:normAutofit/>
          </a:bodyPr>
          <a:lstStyle/>
          <a:p>
            <a:pPr>
              <a:buFont typeface="Wingdings" panose="05000000000000000000" pitchFamily="2" charset="2"/>
              <a:buChar char="q"/>
            </a:pPr>
            <a:r>
              <a:rPr lang="en-IN" sz="2400" dirty="0">
                <a:solidFill>
                  <a:srgbClr val="9900FF"/>
                </a:solidFill>
              </a:rPr>
              <a:t>In this session we have learned:</a:t>
            </a:r>
          </a:p>
          <a:p>
            <a:pPr lvl="1">
              <a:buFont typeface="Wingdings" panose="05000000000000000000" pitchFamily="2" charset="2"/>
              <a:buChar char="q"/>
            </a:pPr>
            <a:r>
              <a:rPr lang="en-US" altLang="en-US" sz="2000" dirty="0">
                <a:solidFill>
                  <a:srgbClr val="9900FF"/>
                </a:solidFill>
              </a:rPr>
              <a:t>Parsing means dividing a string into tokens based on some delimiters.</a:t>
            </a:r>
          </a:p>
          <a:p>
            <a:pPr lvl="1">
              <a:buFont typeface="Wingdings" panose="05000000000000000000" pitchFamily="2" charset="2"/>
              <a:buChar char="q"/>
            </a:pPr>
            <a:r>
              <a:rPr lang="en-US" altLang="en-US" sz="2000" dirty="0">
                <a:solidFill>
                  <a:srgbClr val="9900FF"/>
                </a:solidFill>
              </a:rPr>
              <a:t>An object comprises both data members (class variables and instance variables) and methods.</a:t>
            </a:r>
          </a:p>
          <a:p>
            <a:pPr lvl="1">
              <a:buFont typeface="Wingdings" panose="05000000000000000000" pitchFamily="2" charset="2"/>
              <a:buChar char="q"/>
            </a:pPr>
            <a:r>
              <a:rPr lang="en-US" altLang="en-US" sz="2000" dirty="0">
                <a:solidFill>
                  <a:srgbClr val="9900FF"/>
                </a:solidFill>
              </a:rPr>
              <a:t>An object with more than one reference has more than one name and hence the object is said to be aliased.</a:t>
            </a:r>
          </a:p>
          <a:p>
            <a:pPr lvl="1">
              <a:buFont typeface="Wingdings" panose="05000000000000000000" pitchFamily="2" charset="2"/>
              <a:buChar char="q"/>
            </a:pPr>
            <a:r>
              <a:rPr lang="en-IN" sz="2000" dirty="0">
                <a:solidFill>
                  <a:srgbClr val="9900FF"/>
                </a:solidFill>
              </a:rPr>
              <a:t>Creating  a dictionary.</a:t>
            </a:r>
          </a:p>
          <a:p>
            <a:pPr lvl="1">
              <a:buFont typeface="Wingdings" panose="05000000000000000000" pitchFamily="2" charset="2"/>
              <a:buChar char="q"/>
            </a:pPr>
            <a:r>
              <a:rPr lang="en-IN" sz="2000" dirty="0">
                <a:solidFill>
                  <a:srgbClr val="9900FF"/>
                </a:solidFill>
              </a:rPr>
              <a:t>Different methods in a dictionary.</a:t>
            </a:r>
          </a:p>
          <a:p>
            <a:pPr lvl="1">
              <a:buFont typeface="Wingdings" panose="05000000000000000000" pitchFamily="2" charset="2"/>
              <a:buChar char="q"/>
            </a:pPr>
            <a:r>
              <a:rPr lang="en-IN" sz="2000" dirty="0">
                <a:solidFill>
                  <a:srgbClr val="9900FF"/>
                </a:solidFill>
              </a:rPr>
              <a:t>“in” operator for checking the keys existing in dictionary.</a:t>
            </a:r>
          </a:p>
          <a:p>
            <a:pPr lvl="1">
              <a:buFont typeface="Wingdings" panose="05000000000000000000" pitchFamily="2" charset="2"/>
              <a:buChar char="q"/>
            </a:pPr>
            <a:r>
              <a:rPr lang="en-IN" sz="2000" dirty="0">
                <a:solidFill>
                  <a:srgbClr val="9900FF"/>
                </a:solidFill>
              </a:rPr>
              <a:t>Traversing through the Dictionary.</a:t>
            </a:r>
          </a:p>
          <a:p>
            <a:pPr lvl="1">
              <a:buFont typeface="Wingdings" panose="05000000000000000000" pitchFamily="2" charset="2"/>
              <a:buChar char="q"/>
            </a:pPr>
            <a:r>
              <a:rPr lang="en-IN" sz="2000" dirty="0">
                <a:solidFill>
                  <a:srgbClr val="9900FF"/>
                </a:solidFill>
              </a:rPr>
              <a:t>Differences between List and Dictionary.</a:t>
            </a:r>
          </a:p>
          <a:p>
            <a:pPr lvl="1"/>
            <a:endParaRPr lang="en-IN" sz="2000" dirty="0">
              <a:solidFill>
                <a:srgbClr val="9900FF"/>
              </a:solidFill>
            </a:endParaRPr>
          </a:p>
          <a:p>
            <a:pPr lvl="1"/>
            <a:endParaRPr lang="en-IN" sz="1600" dirty="0">
              <a:solidFill>
                <a:srgbClr val="9900FF"/>
              </a:solidFill>
            </a:endParaRPr>
          </a:p>
          <a:p>
            <a:pPr lvl="1"/>
            <a:endParaRPr lang="en-IN" sz="1600" dirty="0">
              <a:solidFill>
                <a:srgbClr val="9900FF"/>
              </a:solidFill>
            </a:endParaRPr>
          </a:p>
          <a:p>
            <a:pPr lvl="1"/>
            <a:endParaRPr lang="en-IN" sz="1600" dirty="0">
              <a:solidFill>
                <a:srgbClr val="9900FF"/>
              </a:solidFill>
            </a:endParaRPr>
          </a:p>
        </p:txBody>
      </p:sp>
    </p:spTree>
    <p:extLst>
      <p:ext uri="{BB962C8B-B14F-4D97-AF65-F5344CB8AC3E}">
        <p14:creationId xmlns:p14="http://schemas.microsoft.com/office/powerpoint/2010/main" val="2721628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10498</TotalTime>
  <Words>6076</Words>
  <Application>Microsoft Office PowerPoint</Application>
  <PresentationFormat>On-screen Show (4:3)</PresentationFormat>
  <Paragraphs>814</Paragraphs>
  <Slides>36</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Gill Sans</vt:lpstr>
      <vt:lpstr>Verdana</vt:lpstr>
      <vt:lpstr>Vrinda</vt:lpstr>
      <vt:lpstr>Wingdings</vt:lpstr>
      <vt:lpstr>Wingdings 2</vt:lpstr>
      <vt:lpstr>Office Theme</vt:lpstr>
      <vt:lpstr>List and Dictionaries</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Introduction to Dictionary</vt:lpstr>
      <vt:lpstr>PowerPoint Presentation</vt:lpstr>
      <vt:lpstr>Creating a Dictionary</vt:lpstr>
      <vt:lpstr>Creating a Dictionary (Contd.)</vt:lpstr>
      <vt:lpstr>Methods of Dictionary</vt:lpstr>
      <vt:lpstr>Keys and Values</vt:lpstr>
      <vt:lpstr>Keys and Values (Contd.)</vt:lpstr>
      <vt:lpstr>Keys and Values (Contd.)</vt:lpstr>
      <vt:lpstr>Len() Function</vt:lpstr>
      <vt:lpstr> “in” Operator</vt:lpstr>
      <vt:lpstr> “in” Operator (Contd.)</vt:lpstr>
      <vt:lpstr>“get()” Method for Dictionary</vt:lpstr>
      <vt:lpstr>Traversing a Dictionary</vt:lpstr>
      <vt:lpstr>Dictionary Traceback</vt:lpstr>
      <vt:lpstr>List vs Dictionary</vt:lpstr>
      <vt:lpstr>PowerPoint Presentation</vt:lpstr>
      <vt:lpstr>PowerPoint Presentation</vt:lpstr>
      <vt:lpstr>Activity</vt:lpstr>
      <vt:lpstr>Summary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Habeeb Mufutau</cp:lastModifiedBy>
  <cp:revision>784</cp:revision>
  <dcterms:created xsi:type="dcterms:W3CDTF">2012-02-06T03:44:02Z</dcterms:created>
  <dcterms:modified xsi:type="dcterms:W3CDTF">2023-11-14T13:24:20Z</dcterms:modified>
</cp:coreProperties>
</file>