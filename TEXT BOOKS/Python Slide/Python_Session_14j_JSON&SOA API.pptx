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2.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3.xml" ContentType="application/vnd.openxmlformats-officedocument.themeOverr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44" r:id="rId2"/>
    <p:sldMasterId id="2147483756" r:id="rId3"/>
  </p:sldMasterIdLst>
  <p:notesMasterIdLst>
    <p:notesMasterId r:id="rId31"/>
  </p:notesMasterIdLst>
  <p:sldIdLst>
    <p:sldId id="256" r:id="rId4"/>
    <p:sldId id="257" r:id="rId5"/>
    <p:sldId id="365" r:id="rId6"/>
    <p:sldId id="366" r:id="rId7"/>
    <p:sldId id="335" r:id="rId8"/>
    <p:sldId id="382" r:id="rId9"/>
    <p:sldId id="385" r:id="rId10"/>
    <p:sldId id="272" r:id="rId11"/>
    <p:sldId id="373" r:id="rId12"/>
    <p:sldId id="376" r:id="rId13"/>
    <p:sldId id="374" r:id="rId14"/>
    <p:sldId id="348" r:id="rId15"/>
    <p:sldId id="273" r:id="rId16"/>
    <p:sldId id="370" r:id="rId17"/>
    <p:sldId id="375" r:id="rId18"/>
    <p:sldId id="371" r:id="rId19"/>
    <p:sldId id="372" r:id="rId20"/>
    <p:sldId id="383" r:id="rId21"/>
    <p:sldId id="386" r:id="rId22"/>
    <p:sldId id="388" r:id="rId23"/>
    <p:sldId id="377" r:id="rId24"/>
    <p:sldId id="378" r:id="rId25"/>
    <p:sldId id="379" r:id="rId26"/>
    <p:sldId id="384" r:id="rId27"/>
    <p:sldId id="387" r:id="rId28"/>
    <p:sldId id="389" r:id="rId29"/>
    <p:sldId id="362" r:id="rId30"/>
  </p:sldIdLst>
  <p:sldSz cx="9144000" cy="6858000" type="screen4x3"/>
  <p:notesSz cx="6858000" cy="9144000"/>
  <p:custDataLst>
    <p:tags r:id="rId3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CC"/>
    <a:srgbClr val="9900FF"/>
    <a:srgbClr val="0005CA"/>
    <a:srgbClr val="1D6D6B"/>
    <a:srgbClr val="000099"/>
    <a:srgbClr val="C60477"/>
    <a:srgbClr val="C60269"/>
    <a:srgbClr val="88064A"/>
    <a:srgbClr val="EE0000"/>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721" autoAdjust="0"/>
    <p:restoredTop sz="75922" autoAdjust="0"/>
  </p:normalViewPr>
  <p:slideViewPr>
    <p:cSldViewPr>
      <p:cViewPr varScale="1">
        <p:scale>
          <a:sx n="101" d="100"/>
          <a:sy n="101" d="100"/>
        </p:scale>
        <p:origin x="-763" y="-6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gs" Target="tags/tag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4073C2E-51A6-420F-8788-9A3EAC99032A}" type="datetimeFigureOut">
              <a:rPr lang="en-US" smtClean="0"/>
              <a:pPr/>
              <a:t>10/8/2015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091714-3304-44AF-AABA-9711959465C3}" type="slidenum">
              <a:rPr lang="en-US" smtClean="0"/>
              <a:pPr/>
              <a:t>‹#›</a:t>
            </a:fld>
            <a:endParaRPr lang="en-US" dirty="0"/>
          </a:p>
        </p:txBody>
      </p:sp>
    </p:spTree>
    <p:extLst>
      <p:ext uri="{BB962C8B-B14F-4D97-AF65-F5344CB8AC3E}">
        <p14:creationId xmlns:p14="http://schemas.microsoft.com/office/powerpoint/2010/main" val="3151996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2</a:t>
            </a:fld>
            <a:endParaRPr lang="en-US" dirty="0"/>
          </a:p>
        </p:txBody>
      </p:sp>
    </p:spTree>
    <p:extLst>
      <p:ext uri="{BB962C8B-B14F-4D97-AF65-F5344CB8AC3E}">
        <p14:creationId xmlns:p14="http://schemas.microsoft.com/office/powerpoint/2010/main" val="3727141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7475" lvl="1" indent="0" algn="l" defTabSz="914363">
              <a:lnSpc>
                <a:spcPct val="90000"/>
              </a:lnSpc>
              <a:buSzPct val="100000"/>
              <a:buNone/>
            </a:pPr>
            <a:r>
              <a:rPr lang="en-US" sz="2000" dirty="0" smtClean="0">
                <a:solidFill>
                  <a:srgbClr val="6600CC"/>
                </a:solidFill>
                <a:latin typeface="Vrinda" pitchFamily="34" charset="0"/>
                <a:cs typeface="Vrinda" pitchFamily="34" charset="0"/>
              </a:rPr>
              <a:t>JSON</a:t>
            </a:r>
            <a:r>
              <a:rPr lang="en-US" sz="2000" baseline="0" dirty="0" smtClean="0">
                <a:solidFill>
                  <a:srgbClr val="6600CC"/>
                </a:solidFill>
                <a:latin typeface="Vrinda" pitchFamily="34" charset="0"/>
                <a:cs typeface="Vrinda" pitchFamily="34" charset="0"/>
              </a:rPr>
              <a:t> is a f</a:t>
            </a:r>
            <a:r>
              <a:rPr lang="en-US" sz="2000" dirty="0" smtClean="0">
                <a:solidFill>
                  <a:srgbClr val="6600CC"/>
                </a:solidFill>
                <a:latin typeface="Vrinda" pitchFamily="34" charset="0"/>
                <a:cs typeface="Vrinda" pitchFamily="34" charset="0"/>
              </a:rPr>
              <a:t>ormat that allows for the markup of structured data based on the syntax of JavaScript Objects.</a:t>
            </a:r>
            <a:r>
              <a:rPr lang="en-US" sz="2000" baseline="0" dirty="0" smtClean="0">
                <a:solidFill>
                  <a:srgbClr val="6600CC"/>
                </a:solidFill>
                <a:latin typeface="Vrinda" pitchFamily="34" charset="0"/>
                <a:cs typeface="Vrinda" pitchFamily="34" charset="0"/>
              </a:rPr>
              <a:t> The f</a:t>
            </a:r>
            <a:r>
              <a:rPr lang="en-US" sz="2000" dirty="0" smtClean="0">
                <a:solidFill>
                  <a:srgbClr val="6600CC"/>
                </a:solidFill>
                <a:latin typeface="Vrinda" pitchFamily="34" charset="0"/>
                <a:cs typeface="Vrinda" pitchFamily="34" charset="0"/>
              </a:rPr>
              <a:t>ormat of JSON is nearly identical to a combination of Python lists and dictionaries.</a:t>
            </a:r>
            <a:r>
              <a:rPr lang="en-US" sz="2000" baseline="0" dirty="0" smtClean="0">
                <a:solidFill>
                  <a:srgbClr val="6600CC"/>
                </a:solidFill>
                <a:latin typeface="Vrinda" pitchFamily="34" charset="0"/>
                <a:cs typeface="Vrinda" pitchFamily="34" charset="0"/>
              </a:rPr>
              <a:t> </a:t>
            </a:r>
            <a:r>
              <a:rPr lang="en-US" sz="2000" dirty="0" smtClean="0">
                <a:solidFill>
                  <a:srgbClr val="6600CC"/>
                </a:solidFill>
                <a:latin typeface="Vrinda" pitchFamily="34" charset="0"/>
                <a:cs typeface="Vrinda" pitchFamily="34" charset="0"/>
              </a:rPr>
              <a:t>JSON is a very natural format of data exchange between applications.</a:t>
            </a:r>
            <a:r>
              <a:rPr lang="en-US" sz="2000" baseline="0" dirty="0" smtClean="0">
                <a:solidFill>
                  <a:srgbClr val="6600CC"/>
                </a:solidFill>
                <a:latin typeface="Vrinda" pitchFamily="34" charset="0"/>
                <a:cs typeface="Vrinda" pitchFamily="34" charset="0"/>
              </a:rPr>
              <a:t> </a:t>
            </a:r>
            <a:r>
              <a:rPr lang="en-US" sz="2000" dirty="0" smtClean="0">
                <a:solidFill>
                  <a:srgbClr val="6600CC"/>
                </a:solidFill>
                <a:latin typeface="Vrinda" pitchFamily="34" charset="0"/>
                <a:cs typeface="Vrinda" pitchFamily="34" charset="0"/>
              </a:rPr>
              <a:t>JSON structure has key-value pairs.</a:t>
            </a:r>
            <a:r>
              <a:rPr lang="en-US" sz="2000" baseline="0" dirty="0" smtClean="0">
                <a:solidFill>
                  <a:srgbClr val="6600CC"/>
                </a:solidFill>
                <a:latin typeface="Vrinda" pitchFamily="34" charset="0"/>
                <a:cs typeface="Vrinda" pitchFamily="34" charset="0"/>
              </a:rPr>
              <a:t> </a:t>
            </a:r>
            <a:r>
              <a:rPr lang="en-US" sz="2000" dirty="0" smtClean="0">
                <a:solidFill>
                  <a:srgbClr val="6600CC"/>
                </a:solidFill>
                <a:latin typeface="Vrinda" pitchFamily="34" charset="0"/>
                <a:cs typeface="Vrinda" pitchFamily="34" charset="0"/>
              </a:rPr>
              <a:t>In place of tag in XML, JSON has a set of outer curly-braces.</a:t>
            </a:r>
          </a:p>
          <a:p>
            <a:pPr marL="117475" lvl="1" indent="0" defTabSz="914363">
              <a:lnSpc>
                <a:spcPct val="90000"/>
              </a:lnSpc>
              <a:buSzPct val="100000"/>
              <a:buNone/>
            </a:pPr>
            <a:r>
              <a:rPr lang="en-US" sz="1200" b="0" i="0" u="none" strike="noStrike" kern="1200" baseline="0" dirty="0" smtClean="0">
                <a:solidFill>
                  <a:schemeClr val="tx1"/>
                </a:solidFill>
                <a:latin typeface="+mn-lt"/>
                <a:ea typeface="+mn-ea"/>
                <a:cs typeface="+mn-cs"/>
              </a:rPr>
              <a:t>The JSON format was inspired by the object and array format used in the JavaScript language. But since Python was invented before JavaScript, Python’s syntax for dictionaries and lists influenced the syntax of JSON. So the format of JSON is nearly identical to a combination of Python lists and dictionaries.</a:t>
            </a:r>
            <a:endParaRPr lang="en-US" sz="2400" dirty="0" smtClean="0">
              <a:solidFill>
                <a:srgbClr val="6600CC"/>
              </a:solidFill>
              <a:latin typeface="Vrinda" pitchFamily="34" charset="0"/>
              <a:cs typeface="Vrinda" pitchFamily="34" charset="0"/>
            </a:endParaRPr>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3</a:t>
            </a:fld>
            <a:endParaRPr lang="en-US"/>
          </a:p>
        </p:txBody>
      </p:sp>
    </p:spTree>
    <p:extLst>
      <p:ext uri="{BB962C8B-B14F-4D97-AF65-F5344CB8AC3E}">
        <p14:creationId xmlns:p14="http://schemas.microsoft.com/office/powerpoint/2010/main" val="1842308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We construct JSON by nesting dictionaries (objects) and lists as needed</a:t>
            </a:r>
          </a:p>
        </p:txBody>
      </p:sp>
      <p:sp>
        <p:nvSpPr>
          <p:cNvPr id="4" name="Slide Number Placeholder 3"/>
          <p:cNvSpPr>
            <a:spLocks noGrp="1"/>
          </p:cNvSpPr>
          <p:nvPr>
            <p:ph type="sldNum" sz="quarter" idx="10"/>
          </p:nvPr>
        </p:nvSpPr>
        <p:spPr/>
        <p:txBody>
          <a:bodyPr/>
          <a:lstStyle/>
          <a:p>
            <a:fld id="{35091714-3304-44AF-AABA-9711959465C3}" type="slidenum">
              <a:rPr lang="en-US" smtClean="0"/>
              <a:pPr/>
              <a:t>4</a:t>
            </a:fld>
            <a:endParaRPr lang="en-US"/>
          </a:p>
        </p:txBody>
      </p:sp>
    </p:spTree>
    <p:extLst>
      <p:ext uri="{BB962C8B-B14F-4D97-AF65-F5344CB8AC3E}">
        <p14:creationId xmlns:p14="http://schemas.microsoft.com/office/powerpoint/2010/main" val="12834847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In the above program, we use the built-in json library parse the JSON and read through the data</a:t>
            </a:r>
          </a:p>
          <a:p>
            <a:r>
              <a:rPr lang="en-US" sz="1200" b="0" i="0" u="none" strike="noStrike" kern="1200" baseline="0" dirty="0" smtClean="0">
                <a:solidFill>
                  <a:schemeClr val="tx1"/>
                </a:solidFill>
                <a:latin typeface="+mn-lt"/>
                <a:ea typeface="+mn-ea"/>
                <a:cs typeface="+mn-cs"/>
              </a:rPr>
              <a:t>If you compare the code to extract data from the parsed JSON and XML you will see that what we get from json.loads() is a Python list which we traverse with a for loop and each item within that list is a Python dictionary which we use the Python index operator to extract the various bits of each user. </a:t>
            </a:r>
          </a:p>
          <a:p>
            <a:r>
              <a:rPr lang="en-US" sz="1200" b="0" i="0" u="none" strike="noStrike" kern="1200" baseline="0" dirty="0" smtClean="0">
                <a:solidFill>
                  <a:schemeClr val="tx1"/>
                </a:solidFill>
                <a:latin typeface="+mn-lt"/>
                <a:ea typeface="+mn-ea"/>
                <a:cs typeface="+mn-cs"/>
              </a:rPr>
              <a:t>Once the JSON has been parsed - we simply have native Python objects and structures. We don’t have to use the JSON library to dig through the parsed JSON since the returned data is simply native Python structures.</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5</a:t>
            </a:fld>
            <a:endParaRPr lang="en-US"/>
          </a:p>
        </p:txBody>
      </p:sp>
    </p:spTree>
    <p:extLst>
      <p:ext uri="{BB962C8B-B14F-4D97-AF65-F5344CB8AC3E}">
        <p14:creationId xmlns:p14="http://schemas.microsoft.com/office/powerpoint/2010/main" val="36456917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5091714-3304-44AF-AABA-9711959465C3}" type="slidenum">
              <a:rPr lang="en-US" smtClean="0"/>
              <a:t>6</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Solution:</a:t>
            </a:r>
          </a:p>
          <a:p>
            <a:r>
              <a:rPr lang="en-US" dirty="0" smtClean="0"/>
              <a:t>Key-Value</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7</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7475" lvl="1" indent="0" defTabSz="914363">
              <a:lnSpc>
                <a:spcPct val="90000"/>
              </a:lnSpc>
              <a:spcBef>
                <a:spcPct val="20000"/>
              </a:spcBef>
              <a:buSzPct val="100000"/>
              <a:buFont typeface="Arial" panose="020B0604020202020204" pitchFamily="34" charset="0"/>
              <a:buNone/>
            </a:pPr>
            <a:r>
              <a:rPr lang="en-US" sz="2000" dirty="0" smtClean="0">
                <a:solidFill>
                  <a:srgbClr val="6600CC"/>
                </a:solidFill>
                <a:latin typeface="Vrinda" pitchFamily="34" charset="0"/>
                <a:cs typeface="Vrinda" pitchFamily="34" charset="0"/>
              </a:rPr>
              <a:t>API is a contract between applications that deﬁnes the patterns of interaction between two application components.</a:t>
            </a:r>
          </a:p>
          <a:p>
            <a:r>
              <a:rPr lang="en-US" sz="1200" b="0" i="0" u="none" strike="noStrike" kern="1200" baseline="0" dirty="0" smtClean="0">
                <a:solidFill>
                  <a:schemeClr val="tx1"/>
                </a:solidFill>
                <a:latin typeface="+mn-lt"/>
                <a:ea typeface="+mn-ea"/>
                <a:cs typeface="+mn-cs"/>
              </a:rPr>
              <a:t>When we use an API, generally one program makes a set of services available for use by other applications and publishes the APIs (i.e. the “rules”) that must be followed to access the services </a:t>
            </a:r>
            <a:r>
              <a:rPr lang="en-US" sz="800" b="0" i="0" u="none" strike="noStrike" kern="1200" baseline="0" dirty="0" smtClean="0">
                <a:solidFill>
                  <a:schemeClr val="tx1"/>
                </a:solidFill>
                <a:latin typeface="+mn-lt"/>
                <a:ea typeface="+mn-ea"/>
                <a:cs typeface="+mn-cs"/>
              </a:rPr>
              <a:t>provided by the program.</a:t>
            </a:r>
            <a:r>
              <a:rPr lang="en-US" sz="1200" baseline="0" dirty="0" smtClean="0">
                <a:solidFill>
                  <a:srgbClr val="6600CC"/>
                </a:solidFill>
                <a:latin typeface="Vrinda" pitchFamily="34" charset="0"/>
                <a:cs typeface="Vrinda" pitchFamily="34" charset="0"/>
              </a:rPr>
              <a:t>. </a:t>
            </a:r>
            <a:r>
              <a:rPr lang="en-US" sz="1200" dirty="0" smtClean="0">
                <a:solidFill>
                  <a:srgbClr val="6600CC"/>
                </a:solidFill>
                <a:latin typeface="Vrinda" pitchFamily="34" charset="0"/>
                <a:cs typeface="Vrinda" pitchFamily="34" charset="0"/>
              </a:rPr>
              <a:t>When an application makes a set of services in its API available over the web, which is call web services.</a:t>
            </a:r>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8</a:t>
            </a:fld>
            <a:endParaRPr lang="en-US"/>
          </a:p>
        </p:txBody>
      </p:sp>
    </p:spTree>
    <p:extLst>
      <p:ext uri="{BB962C8B-B14F-4D97-AF65-F5344CB8AC3E}">
        <p14:creationId xmlns:p14="http://schemas.microsoft.com/office/powerpoint/2010/main" val="1884474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When we begin to build our programs where the functionality of our program includes access to services provided by other programs, we call the approach a</a:t>
            </a:r>
          </a:p>
          <a:p>
            <a:r>
              <a:rPr lang="en-US" sz="1200" b="0" i="0" u="none" strike="noStrike" kern="1200" baseline="0" dirty="0" smtClean="0">
                <a:solidFill>
                  <a:schemeClr val="tx1"/>
                </a:solidFill>
                <a:latin typeface="+mn-lt"/>
                <a:ea typeface="+mn-ea"/>
                <a:cs typeface="+mn-cs"/>
              </a:rPr>
              <a:t>Service-Oriented Architecture or SOA. A SOA approach is one where our overall application makes use of the services of other applications. A non-SOA approach is where the application is a single stand-alone application which contains all of the code necessary to implement the application.</a:t>
            </a:r>
            <a:endParaRPr lang="en-IN" dirty="0" smtClean="0">
              <a:solidFill>
                <a:srgbClr val="6600CC"/>
              </a:solidFill>
              <a:latin typeface="Vrinda" pitchFamily="34" charset="0"/>
              <a:cs typeface="Vrinda" pitchFamily="34" charset="0"/>
            </a:endParaRPr>
          </a:p>
          <a:p>
            <a:endParaRPr lang="en-US" dirty="0" smtClean="0"/>
          </a:p>
          <a:p>
            <a:r>
              <a:rPr lang="en-US" sz="1200" b="0" i="0" u="none" strike="noStrike" kern="1200" baseline="0" dirty="0" smtClean="0">
                <a:solidFill>
                  <a:schemeClr val="tx1"/>
                </a:solidFill>
                <a:latin typeface="+mn-lt"/>
                <a:ea typeface="+mn-ea"/>
                <a:cs typeface="+mn-cs"/>
              </a:rPr>
              <a:t>We see many examples of SOA when we use the web. We can go to a single web site and book air travel, hotels, and automobiles all from a single site. The data for hotels is not stored on the airline computers. Instead, the airline computers contact the services on the hotel computers and retrieve the hotel data and present it to the user. When the user agrees to make a hotel reservation using the airline site, the airline site uses another web service on the hotel systems to actually make the reservation. And when it comes to charge your credit card for the whole transaction, still other computers become involved in the process.</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9</a:t>
            </a:fld>
            <a:endParaRPr lang="en-US"/>
          </a:p>
        </p:txBody>
      </p:sp>
    </p:spTree>
    <p:extLst>
      <p:ext uri="{BB962C8B-B14F-4D97-AF65-F5344CB8AC3E}">
        <p14:creationId xmlns:p14="http://schemas.microsoft.com/office/powerpoint/2010/main" val="20928548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SOA Architecture</a:t>
            </a:r>
            <a:r>
              <a:rPr lang="en-US" baseline="0" dirty="0" smtClean="0"/>
              <a:t> Consist of Three Building Blocks:</a:t>
            </a:r>
          </a:p>
          <a:p>
            <a:endParaRPr lang="en-US" baseline="0" dirty="0" smtClean="0"/>
          </a:p>
          <a:p>
            <a:r>
              <a:rPr lang="en-US" baseline="0" dirty="0" smtClean="0"/>
              <a:t>Service Provider : Publishes a service and registers it .</a:t>
            </a:r>
          </a:p>
          <a:p>
            <a:r>
              <a:rPr lang="en-US" baseline="0" dirty="0" smtClean="0"/>
              <a:t>Service Broker : Enables the Service Consumers to find a service provider that offers the service required by the customer. </a:t>
            </a:r>
          </a:p>
          <a:p>
            <a:r>
              <a:rPr lang="en-US" baseline="0" dirty="0" smtClean="0"/>
              <a:t>Service Consumer : Finds the service according to the requirement through service broker and then accesses the service provided by one or more service providers.</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10</a:t>
            </a:fld>
            <a:endParaRPr lang="en-US"/>
          </a:p>
        </p:txBody>
      </p:sp>
    </p:spTree>
    <p:extLst>
      <p:ext uri="{BB962C8B-B14F-4D97-AF65-F5344CB8AC3E}">
        <p14:creationId xmlns:p14="http://schemas.microsoft.com/office/powerpoint/2010/main" val="2627177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A Service-Oriented Architecture has many advantages including: We always maintain only one copy of data - this is particularly important for things like hotel reservations where we do not want to over-commit the owners of the data can set the rules about the use of their data. With these advantages, a SOA system must be carefully designed to have good performance and meet the user’s needs.</a:t>
            </a:r>
          </a:p>
        </p:txBody>
      </p:sp>
      <p:sp>
        <p:nvSpPr>
          <p:cNvPr id="4" name="Slide Number Placeholder 3"/>
          <p:cNvSpPr>
            <a:spLocks noGrp="1"/>
          </p:cNvSpPr>
          <p:nvPr>
            <p:ph type="sldNum" sz="quarter" idx="10"/>
          </p:nvPr>
        </p:nvSpPr>
        <p:spPr/>
        <p:txBody>
          <a:bodyPr/>
          <a:lstStyle/>
          <a:p>
            <a:fld id="{35091714-3304-44AF-AABA-9711959465C3}" type="slidenum">
              <a:rPr lang="en-US" smtClean="0"/>
              <a:pPr/>
              <a:t>11</a:t>
            </a:fld>
            <a:endParaRPr lang="en-US"/>
          </a:p>
        </p:txBody>
      </p:sp>
    </p:spTree>
    <p:extLst>
      <p:ext uri="{BB962C8B-B14F-4D97-AF65-F5344CB8AC3E}">
        <p14:creationId xmlns:p14="http://schemas.microsoft.com/office/powerpoint/2010/main" val="28251831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dirty="0" smtClean="0">
                <a:solidFill>
                  <a:srgbClr val="6600CC"/>
                </a:solidFill>
                <a:latin typeface="Vrinda" pitchFamily="34" charset="0"/>
                <a:cs typeface="Vrinda" pitchFamily="34" charset="0"/>
              </a:rPr>
              <a:t>Google has an excellent web service that allows to make use of their large database of geographic information.</a:t>
            </a:r>
            <a:r>
              <a:rPr lang="en-US" sz="2000" baseline="0" dirty="0" smtClean="0">
                <a:solidFill>
                  <a:srgbClr val="6600CC"/>
                </a:solidFill>
                <a:latin typeface="Vrinda" pitchFamily="34" charset="0"/>
                <a:cs typeface="Vrinda" pitchFamily="34" charset="0"/>
              </a:rPr>
              <a:t> </a:t>
            </a:r>
            <a:r>
              <a:rPr lang="en-US" sz="2000" dirty="0" smtClean="0">
                <a:solidFill>
                  <a:srgbClr val="6600CC"/>
                </a:solidFill>
                <a:latin typeface="Vrinda" pitchFamily="34" charset="0"/>
                <a:cs typeface="Vrinda" pitchFamily="34" charset="0"/>
              </a:rPr>
              <a:t>Geocoding refer searching string of online documentation from web services.</a:t>
            </a:r>
            <a:r>
              <a:rPr lang="en-US" sz="2000" baseline="0" dirty="0" smtClean="0">
                <a:solidFill>
                  <a:srgbClr val="6600CC"/>
                </a:solidFill>
                <a:latin typeface="Vrinda" pitchFamily="34" charset="0"/>
                <a:cs typeface="Vrinda" pitchFamily="34" charset="0"/>
              </a:rPr>
              <a:t> </a:t>
            </a:r>
            <a:r>
              <a:rPr lang="en-US" sz="1200" b="0" i="0" u="none" strike="noStrike" kern="1200" baseline="0" dirty="0" smtClean="0">
                <a:solidFill>
                  <a:schemeClr val="tx1"/>
                </a:solidFill>
                <a:latin typeface="+mn-lt"/>
                <a:ea typeface="+mn-ea"/>
                <a:cs typeface="+mn-cs"/>
              </a:rPr>
              <a:t>The geocoding service is free but rate limited so you cannot make unlimited use of the API in a commercial application. But if you have some survey data where</a:t>
            </a:r>
            <a:r>
              <a:rPr lang="en-IN" dirty="0" smtClean="0">
                <a:solidFill>
                  <a:srgbClr val="6600CC"/>
                </a:solidFill>
                <a:latin typeface="Vrinda" pitchFamily="34" charset="0"/>
                <a:cs typeface="Vrinda" pitchFamily="34" charset="0"/>
              </a:rPr>
              <a:t> </a:t>
            </a:r>
            <a:r>
              <a:rPr lang="en-US" sz="1200" b="0" i="0" u="none" strike="noStrike" kern="1200" baseline="0" dirty="0" smtClean="0">
                <a:solidFill>
                  <a:schemeClr val="tx1"/>
                </a:solidFill>
                <a:latin typeface="+mn-lt"/>
                <a:ea typeface="+mn-ea"/>
                <a:cs typeface="+mn-cs"/>
              </a:rPr>
              <a:t>an end-user has entered a location in a free-format input box, you can use this API to clean up your data quite nicely.</a:t>
            </a:r>
            <a:r>
              <a:rPr lang="en-IN" dirty="0" smtClean="0">
                <a:solidFill>
                  <a:srgbClr val="6600CC"/>
                </a:solidFill>
                <a:latin typeface="Vrinda" pitchFamily="34" charset="0"/>
                <a:cs typeface="Vrinda" pitchFamily="34" charset="0"/>
              </a:rPr>
              <a:t>    </a:t>
            </a:r>
          </a:p>
          <a:p>
            <a:endParaRPr lang="en-US" dirty="0" smtClean="0"/>
          </a:p>
          <a:p>
            <a:r>
              <a:rPr lang="en-US" sz="1200" b="0" i="0" u="none" strike="noStrike" kern="1200" baseline="0" dirty="0" smtClean="0">
                <a:solidFill>
                  <a:schemeClr val="tx1"/>
                </a:solidFill>
                <a:latin typeface="+mn-lt"/>
                <a:ea typeface="+mn-ea"/>
                <a:cs typeface="+mn-cs"/>
              </a:rPr>
              <a:t>“</a:t>
            </a:r>
            <a:r>
              <a:rPr lang="en-US" sz="1200" b="0" i="1" u="none" strike="noStrike" kern="1200" baseline="0" dirty="0" smtClean="0">
                <a:solidFill>
                  <a:schemeClr val="tx1"/>
                </a:solidFill>
                <a:latin typeface="+mn-lt"/>
                <a:ea typeface="+mn-ea"/>
                <a:cs typeface="+mn-cs"/>
              </a:rPr>
              <a:t>When you are using a free API like Google’s geocoding API, you need to be spectful in your use of these resources. If too many people abuse the service, Google might drop or significantly curtail its free service.”</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12</a:t>
            </a:fld>
            <a:endParaRPr lang="en-US" dirty="0"/>
          </a:p>
        </p:txBody>
      </p:sp>
    </p:spTree>
    <p:extLst>
      <p:ext uri="{BB962C8B-B14F-4D97-AF65-F5344CB8AC3E}">
        <p14:creationId xmlns:p14="http://schemas.microsoft.com/office/powerpoint/2010/main" val="33034868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13</a:t>
            </a:fld>
            <a:endParaRPr lang="en-US"/>
          </a:p>
        </p:txBody>
      </p:sp>
    </p:spTree>
    <p:extLst>
      <p:ext uri="{BB962C8B-B14F-4D97-AF65-F5344CB8AC3E}">
        <p14:creationId xmlns:p14="http://schemas.microsoft.com/office/powerpoint/2010/main" val="16749463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program takes the search string and constructs a URL with the search string as a properly encoded parameter and then uses urllib to retrieve the text from the Google geocoding API. Unlike a fixed web page, the data we get depends on the parameters we send and the geographical data stored in Google’s servers.</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Once we retrieve the JSON data, we parse it with the JSON library and do a few checks to make sure that we received good data and then extract the information that we are looking for.</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14</a:t>
            </a:fld>
            <a:endParaRPr lang="en-US"/>
          </a:p>
        </p:txBody>
      </p:sp>
    </p:spTree>
    <p:extLst>
      <p:ext uri="{BB962C8B-B14F-4D97-AF65-F5344CB8AC3E}">
        <p14:creationId xmlns:p14="http://schemas.microsoft.com/office/powerpoint/2010/main" val="13345156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15</a:t>
            </a:fld>
            <a:endParaRPr lang="en-US"/>
          </a:p>
        </p:txBody>
      </p:sp>
    </p:spTree>
    <p:extLst>
      <p:ext uri="{BB962C8B-B14F-4D97-AF65-F5344CB8AC3E}">
        <p14:creationId xmlns:p14="http://schemas.microsoft.com/office/powerpoint/2010/main" val="13345156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You can download www.py4inf.com/code/geojson.py and www.py4inf.com/code/geoxml.py to explore the JSON and XML variants of the Google geocoding</a:t>
            </a:r>
          </a:p>
          <a:p>
            <a:r>
              <a:rPr lang="en-US" sz="1200" b="0" i="0" u="none" strike="noStrike" kern="1200" baseline="0" dirty="0" smtClean="0">
                <a:solidFill>
                  <a:schemeClr val="tx1"/>
                </a:solidFill>
                <a:latin typeface="+mn-lt"/>
                <a:ea typeface="+mn-ea"/>
                <a:cs typeface="+mn-cs"/>
              </a:rPr>
              <a:t>API.</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16</a:t>
            </a:fld>
            <a:endParaRPr lang="en-US"/>
          </a:p>
        </p:txBody>
      </p:sp>
    </p:spTree>
    <p:extLst>
      <p:ext uri="{BB962C8B-B14F-4D97-AF65-F5344CB8AC3E}">
        <p14:creationId xmlns:p14="http://schemas.microsoft.com/office/powerpoint/2010/main" val="23138902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7475" lvl="1" indent="0" defTabSz="914363">
              <a:lnSpc>
                <a:spcPct val="90000"/>
              </a:lnSpc>
              <a:spcBef>
                <a:spcPct val="20000"/>
              </a:spcBef>
              <a:buSzPct val="100000"/>
              <a:buFont typeface="Arial" panose="020B0604020202020204" pitchFamily="34" charset="0"/>
              <a:buNone/>
            </a:pPr>
            <a:r>
              <a:rPr lang="en-US" sz="2000" dirty="0" smtClean="0">
                <a:solidFill>
                  <a:srgbClr val="6600CC"/>
                </a:solidFill>
                <a:latin typeface="Vrinda" pitchFamily="34" charset="0"/>
                <a:cs typeface="Vrinda" pitchFamily="34" charset="0"/>
              </a:rPr>
              <a:t>“API key” is needed to make use of a vendor’s API to understand who is using their services and how much each user is using.</a:t>
            </a:r>
            <a:r>
              <a:rPr lang="en-US" sz="2000" baseline="0" dirty="0" smtClean="0">
                <a:solidFill>
                  <a:srgbClr val="6600CC"/>
                </a:solidFill>
                <a:latin typeface="Vrinda" pitchFamily="34" charset="0"/>
                <a:cs typeface="Vrinda" pitchFamily="34" charset="0"/>
              </a:rPr>
              <a:t> </a:t>
            </a:r>
            <a:r>
              <a:rPr lang="en-US" sz="2000" dirty="0" smtClean="0">
                <a:solidFill>
                  <a:srgbClr val="6600CC"/>
                </a:solidFill>
                <a:latin typeface="Vrinda" pitchFamily="34" charset="0"/>
                <a:cs typeface="Vrinda" pitchFamily="34" charset="0"/>
              </a:rPr>
              <a:t>Sometimes API key is available with the key as part of POST data or perhaps as a parameter on the URL when calling the API.</a:t>
            </a:r>
          </a:p>
          <a:p>
            <a:pPr marL="117475" lvl="1" indent="0" defTabSz="914363">
              <a:lnSpc>
                <a:spcPct val="90000"/>
              </a:lnSpc>
              <a:spcBef>
                <a:spcPct val="20000"/>
              </a:spcBef>
              <a:buSzPct val="100000"/>
              <a:buFont typeface="Arial" panose="020B0604020202020204" pitchFamily="34" charset="0"/>
              <a:buNone/>
            </a:pPr>
            <a:endParaRPr lang="en-US" sz="2000" dirty="0" smtClean="0">
              <a:solidFill>
                <a:srgbClr val="6600CC"/>
              </a:solidFill>
              <a:latin typeface="Vrinda" pitchFamily="34" charset="0"/>
              <a:cs typeface="Vrinda" pitchFamily="34" charset="0"/>
            </a:endParaRPr>
          </a:p>
          <a:p>
            <a:pPr marL="117475" lvl="1" indent="0" defTabSz="914363">
              <a:lnSpc>
                <a:spcPct val="90000"/>
              </a:lnSpc>
              <a:spcBef>
                <a:spcPct val="20000"/>
              </a:spcBef>
              <a:buSzPct val="100000"/>
              <a:buFont typeface="Arial" panose="020B0604020202020204" pitchFamily="34" charset="0"/>
              <a:buNone/>
            </a:pPr>
            <a:r>
              <a:rPr lang="en-US" sz="2000" dirty="0" smtClean="0">
                <a:solidFill>
                  <a:srgbClr val="6600CC"/>
                </a:solidFill>
                <a:latin typeface="Vrinda" pitchFamily="34" charset="0"/>
                <a:cs typeface="Vrinda" pitchFamily="34" charset="0"/>
              </a:rPr>
              <a:t>Some times the vendor wants increased assurance of the source of the requests and so they add expect your service to send cryptographically signed messages using shared keys and secrets. </a:t>
            </a:r>
          </a:p>
          <a:p>
            <a:pPr marL="117475" lvl="1" indent="0" defTabSz="914363">
              <a:lnSpc>
                <a:spcPct val="90000"/>
              </a:lnSpc>
              <a:spcBef>
                <a:spcPct val="20000"/>
              </a:spcBef>
              <a:buSzPct val="100000"/>
              <a:buFont typeface="Arial" panose="020B0604020202020204" pitchFamily="34" charset="0"/>
              <a:buNone/>
            </a:pPr>
            <a:endParaRPr lang="en-US" sz="2000" dirty="0" smtClean="0">
              <a:solidFill>
                <a:srgbClr val="6600CC"/>
              </a:solidFill>
              <a:latin typeface="Vrinda" pitchFamily="34" charset="0"/>
              <a:cs typeface="Vrinda" pitchFamily="34" charset="0"/>
            </a:endParaRPr>
          </a:p>
          <a:p>
            <a:pPr marL="117475" lvl="1" indent="0" defTabSz="914363">
              <a:lnSpc>
                <a:spcPct val="90000"/>
              </a:lnSpc>
              <a:spcBef>
                <a:spcPct val="20000"/>
              </a:spcBef>
              <a:buSzPct val="100000"/>
              <a:buFont typeface="Arial" panose="020B0604020202020204" pitchFamily="34" charset="0"/>
              <a:buNone/>
            </a:pPr>
            <a:r>
              <a:rPr lang="en-US" sz="2000" dirty="0" smtClean="0">
                <a:solidFill>
                  <a:srgbClr val="6600CC"/>
                </a:solidFill>
                <a:latin typeface="Vrinda" pitchFamily="34" charset="0"/>
                <a:cs typeface="Vrinda" pitchFamily="34" charset="0"/>
              </a:rPr>
              <a:t>A very common technology that is used to sign requests over the Internet is called OAuth.</a:t>
            </a:r>
            <a:r>
              <a:rPr lang="en-US" sz="2000" baseline="0" dirty="0" smtClean="0">
                <a:solidFill>
                  <a:srgbClr val="6600CC"/>
                </a:solidFill>
                <a:latin typeface="Vrinda" pitchFamily="34" charset="0"/>
                <a:cs typeface="Vrinda" pitchFamily="34" charset="0"/>
              </a:rPr>
              <a:t> </a:t>
            </a:r>
            <a:r>
              <a:rPr lang="en-US" sz="2000" dirty="0" smtClean="0">
                <a:solidFill>
                  <a:srgbClr val="6600CC"/>
                </a:solidFill>
                <a:latin typeface="Vrinda" pitchFamily="34" charset="0"/>
                <a:cs typeface="Vrinda" pitchFamily="34" charset="0"/>
              </a:rPr>
              <a:t>To avoid writing an OAuth implementation from scratch by reading the speciﬁcation, download various OAuth libraries from OAuth website.</a:t>
            </a:r>
            <a:endParaRPr lang="en-IN" sz="2000" dirty="0" smtClean="0">
              <a:solidFill>
                <a:srgbClr val="6600CC"/>
              </a:solidFill>
              <a:latin typeface="Vrinda" pitchFamily="34" charset="0"/>
              <a:cs typeface="Vrinda" pitchFamily="34" charset="0"/>
            </a:endParaRPr>
          </a:p>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17</a:t>
            </a:fld>
            <a:endParaRPr lang="en-US"/>
          </a:p>
        </p:txBody>
      </p:sp>
    </p:spTree>
    <p:extLst>
      <p:ext uri="{BB962C8B-B14F-4D97-AF65-F5344CB8AC3E}">
        <p14:creationId xmlns:p14="http://schemas.microsoft.com/office/powerpoint/2010/main" val="18740329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5091714-3304-44AF-AABA-9711959465C3}" type="slidenum">
              <a:rPr lang="en-US" smtClean="0"/>
              <a:t>18</a:t>
            </a:fld>
            <a:endParaRPr lang="en-US"/>
          </a:p>
        </p:txBody>
      </p:sp>
    </p:spTree>
    <p:extLst>
      <p:ext uri="{BB962C8B-B14F-4D97-AF65-F5344CB8AC3E}">
        <p14:creationId xmlns:p14="http://schemas.microsoft.com/office/powerpoint/2010/main" val="2596889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Solution:</a:t>
            </a:r>
          </a:p>
          <a:p>
            <a:r>
              <a:rPr lang="en-US" dirty="0" smtClean="0"/>
              <a:t>API</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19</a:t>
            </a:fld>
            <a:endParaRPr lang="en-US" dirty="0"/>
          </a:p>
        </p:txBody>
      </p:sp>
    </p:spTree>
    <p:extLst>
      <p:ext uri="{BB962C8B-B14F-4D97-AF65-F5344CB8AC3E}">
        <p14:creationId xmlns:p14="http://schemas.microsoft.com/office/powerpoint/2010/main" val="2596889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1" dirty="0" smtClean="0">
                <a:latin typeface="Calibri" panose="020F0502020204030204" pitchFamily="34" charset="0"/>
                <a:ea typeface="Calibri" panose="020F0502020204030204" pitchFamily="34" charset="0"/>
                <a:cs typeface="Times New Roman" panose="02020603050405020304" pitchFamily="18" charset="0"/>
              </a:rPr>
              <a:t>Solution:</a:t>
            </a:r>
          </a:p>
          <a:p>
            <a:endParaRPr lang="en-US" sz="1600" b="1" dirty="0" smtClean="0">
              <a:latin typeface="Calibri" panose="020F0502020204030204" pitchFamily="34" charset="0"/>
              <a:ea typeface="Calibri" panose="020F0502020204030204" pitchFamily="34" charset="0"/>
              <a:cs typeface="Times New Roman" panose="02020603050405020304" pitchFamily="18" charset="0"/>
            </a:endParaRPr>
          </a:p>
          <a:p>
            <a:r>
              <a:rPr lang="en-US" sz="1600" b="1" dirty="0" smtClean="0">
                <a:latin typeface="Calibri" panose="020F0502020204030204" pitchFamily="34" charset="0"/>
                <a:ea typeface="Calibri" panose="020F0502020204030204" pitchFamily="34" charset="0"/>
                <a:cs typeface="Times New Roman" panose="02020603050405020304" pitchFamily="18" charset="0"/>
              </a:rPr>
              <a:t>Prerequisite: </a:t>
            </a:r>
            <a:r>
              <a:rPr lang="en-US" sz="1600" dirty="0" smtClean="0"/>
              <a:t>For this activity you need to use </a:t>
            </a:r>
            <a:r>
              <a:rPr lang="en-US" sz="1600" b="1" dirty="0" err="1" smtClean="0"/>
              <a:t>myjson.json</a:t>
            </a:r>
            <a:r>
              <a:rPr lang="en-US" sz="1600" dirty="0" smtClean="0"/>
              <a:t> which is available with </a:t>
            </a:r>
            <a:r>
              <a:rPr lang="en-US" sz="1600" b="1" dirty="0" err="1" smtClean="0"/>
              <a:t>Data_File_For_Students</a:t>
            </a:r>
            <a:endParaRPr lang="en-US" sz="1600" b="1" dirty="0" smtClean="0">
              <a:latin typeface="Calibri" panose="020F0502020204030204" pitchFamily="34" charset="0"/>
              <a:ea typeface="Calibri" panose="020F0502020204030204" pitchFamily="34" charset="0"/>
              <a:cs typeface="Times New Roman" panose="02020603050405020304" pitchFamily="18" charset="0"/>
            </a:endParaRPr>
          </a:p>
          <a:p>
            <a:endParaRPr lang="en-US" sz="1600" b="1" dirty="0" smtClean="0">
              <a:latin typeface="Calibri" panose="020F0502020204030204" pitchFamily="34" charset="0"/>
              <a:ea typeface="Calibri" panose="020F0502020204030204" pitchFamily="34" charset="0"/>
              <a:cs typeface="Times New Roman" panose="02020603050405020304" pitchFamily="18" charset="0"/>
            </a:endParaRPr>
          </a:p>
          <a:p>
            <a:r>
              <a:rPr lang="en-US" sz="1200" dirty="0" smtClean="0"/>
              <a:t>In order to do this activity, you need to perform the following tasks:</a:t>
            </a:r>
          </a:p>
          <a:p>
            <a:pPr marL="342900" lvl="0" indent="-342900">
              <a:buFont typeface="+mj-lt"/>
              <a:buAutoNum type="arabicPeriod"/>
            </a:pPr>
            <a:r>
              <a:rPr lang="en-US" sz="1200" dirty="0" smtClean="0"/>
              <a:t>Create a</a:t>
            </a:r>
            <a:r>
              <a:rPr lang="en-US" sz="1200" baseline="0" dirty="0" smtClean="0"/>
              <a:t> P</a:t>
            </a:r>
            <a:r>
              <a:rPr lang="en-US" sz="1200" dirty="0" smtClean="0"/>
              <a:t>ython empty project.</a:t>
            </a:r>
          </a:p>
          <a:p>
            <a:pPr marL="342900" lvl="0" indent="-342900">
              <a:buFont typeface="+mj-lt"/>
              <a:buAutoNum type="arabicPeriod"/>
            </a:pPr>
            <a:r>
              <a:rPr lang="en-US" sz="1200" dirty="0" smtClean="0"/>
              <a:t>Use </a:t>
            </a:r>
            <a:r>
              <a:rPr lang="en-US" sz="1200" b="1" dirty="0" err="1" smtClean="0"/>
              <a:t>json</a:t>
            </a:r>
            <a:r>
              <a:rPr lang="en-US" sz="1200" b="1" dirty="0" smtClean="0"/>
              <a:t> </a:t>
            </a:r>
            <a:r>
              <a:rPr lang="en-US" sz="1200" dirty="0" smtClean="0"/>
              <a:t>library to use </a:t>
            </a:r>
            <a:r>
              <a:rPr lang="en-US" sz="1200" b="1" dirty="0" smtClean="0"/>
              <a:t>load()</a:t>
            </a:r>
            <a:r>
              <a:rPr lang="en-US" sz="1200" dirty="0" smtClean="0"/>
              <a:t> to parse the </a:t>
            </a:r>
            <a:r>
              <a:rPr lang="en-US" sz="1200" dirty="0" err="1" smtClean="0"/>
              <a:t>json</a:t>
            </a:r>
            <a:r>
              <a:rPr lang="en-US" sz="1200" dirty="0" smtClean="0"/>
              <a:t> data.</a:t>
            </a:r>
          </a:p>
          <a:p>
            <a:endParaRPr lang="en-US" dirty="0" smtClean="0"/>
          </a:p>
          <a:p>
            <a:r>
              <a:rPr lang="en-US" sz="1600" b="1" dirty="0" smtClean="0"/>
              <a:t>Task 1</a:t>
            </a:r>
            <a:r>
              <a:rPr lang="en-US" sz="1600" dirty="0" smtClean="0"/>
              <a:t>: Create a Python empty project:</a:t>
            </a:r>
          </a:p>
          <a:p>
            <a:r>
              <a:rPr lang="en-US" sz="1200" dirty="0" smtClean="0"/>
              <a:t>Step 1: Open </a:t>
            </a:r>
            <a:r>
              <a:rPr lang="en-US" sz="1200" b="1" dirty="0" smtClean="0"/>
              <a:t>NetBeans 8.0.2</a:t>
            </a:r>
            <a:r>
              <a:rPr lang="en-US" sz="120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2: Click </a:t>
            </a:r>
            <a:r>
              <a:rPr lang="en-US" sz="1200" b="1" dirty="0" smtClean="0"/>
              <a:t>File</a:t>
            </a:r>
            <a:r>
              <a:rPr lang="en-US" sz="1200" dirty="0" smtClean="0"/>
              <a:t> menu.</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3: Select </a:t>
            </a:r>
            <a:r>
              <a:rPr lang="en-US" sz="1200" b="1" dirty="0" smtClean="0"/>
              <a:t>New Project</a:t>
            </a:r>
            <a:r>
              <a:rPr lang="en-US" sz="1200" b="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smtClean="0"/>
              <a:t>Step 4:</a:t>
            </a:r>
            <a:r>
              <a:rPr lang="en-US" sz="1200" dirty="0" smtClean="0"/>
              <a:t> Select </a:t>
            </a:r>
            <a:r>
              <a:rPr lang="en-US" sz="1200" b="1" dirty="0" smtClean="0"/>
              <a:t>Python</a:t>
            </a:r>
            <a:r>
              <a:rPr lang="en-US" sz="1200" dirty="0" smtClean="0"/>
              <a:t> from Categories list and </a:t>
            </a:r>
            <a:r>
              <a:rPr lang="en-US" sz="1200" b="1" dirty="0" smtClean="0"/>
              <a:t>Python Project</a:t>
            </a:r>
            <a:r>
              <a:rPr lang="en-US" sz="1200" dirty="0" smtClean="0"/>
              <a:t> from Projects list.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5: Click </a:t>
            </a:r>
            <a:r>
              <a:rPr lang="en-US" sz="1200" b="1" dirty="0" smtClean="0"/>
              <a:t>Next</a:t>
            </a:r>
            <a:r>
              <a:rPr lang="en-US" sz="1200" dirty="0" smtClean="0"/>
              <a:t> button.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6: On New Python Project dialog box set the Project Name as </a:t>
            </a:r>
            <a:r>
              <a:rPr lang="en-US" sz="1200" b="1" dirty="0" smtClean="0"/>
              <a:t>CR_Session16_Activity01</a:t>
            </a:r>
            <a:r>
              <a:rPr lang="en-US" sz="1200" b="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smtClean="0"/>
              <a:t>Step</a:t>
            </a:r>
            <a:r>
              <a:rPr lang="en-US" sz="1200" b="0" baseline="0" dirty="0" smtClean="0"/>
              <a:t> 7:</a:t>
            </a:r>
            <a:r>
              <a:rPr lang="en-US" sz="1200" dirty="0" smtClean="0"/>
              <a:t> Select project Location by clicking </a:t>
            </a:r>
            <a:r>
              <a:rPr lang="en-US" sz="1200" b="1" dirty="0" smtClean="0"/>
              <a:t>Browse</a:t>
            </a:r>
            <a:r>
              <a:rPr lang="en-US" sz="1200" dirty="0" smtClean="0"/>
              <a:t> button.</a:t>
            </a:r>
          </a:p>
          <a:p>
            <a:r>
              <a:rPr lang="en-US" sz="1050" dirty="0" smtClean="0"/>
              <a:t>Step</a:t>
            </a:r>
            <a:r>
              <a:rPr lang="en-US" sz="1050" baseline="0" dirty="0" smtClean="0"/>
              <a:t> 8</a:t>
            </a:r>
            <a:r>
              <a:rPr lang="en-US" sz="1050" dirty="0" smtClean="0"/>
              <a:t>: Click </a:t>
            </a:r>
            <a:r>
              <a:rPr lang="en-US" sz="1050" b="1" dirty="0" smtClean="0"/>
              <a:t>Finish</a:t>
            </a:r>
            <a:r>
              <a:rPr lang="en-US" sz="1050" dirty="0" smtClean="0"/>
              <a:t> button.</a:t>
            </a:r>
          </a:p>
          <a:p>
            <a:endParaRPr lang="en-US" sz="1050" dirty="0" smtClean="0"/>
          </a:p>
          <a:p>
            <a:pPr lvl="0"/>
            <a:r>
              <a:rPr lang="en-US" sz="1200" b="1" dirty="0" smtClean="0"/>
              <a:t>Task 2</a:t>
            </a:r>
            <a:r>
              <a:rPr lang="en-US" sz="1200" dirty="0" smtClean="0"/>
              <a:t>: Use </a:t>
            </a:r>
            <a:r>
              <a:rPr lang="en-US" sz="1200" b="1" dirty="0" err="1" smtClean="0"/>
              <a:t>json</a:t>
            </a:r>
            <a:r>
              <a:rPr lang="en-US" sz="1200" b="1" dirty="0" smtClean="0"/>
              <a:t> </a:t>
            </a:r>
            <a:r>
              <a:rPr lang="en-US" sz="1200" dirty="0" smtClean="0"/>
              <a:t>library to use </a:t>
            </a:r>
            <a:r>
              <a:rPr lang="en-US" sz="1200" b="1" dirty="0" smtClean="0"/>
              <a:t>load()</a:t>
            </a:r>
            <a:r>
              <a:rPr lang="en-US" sz="1200" dirty="0" smtClean="0"/>
              <a:t> to parse the </a:t>
            </a:r>
            <a:r>
              <a:rPr lang="en-US" sz="1200" dirty="0" err="1" smtClean="0"/>
              <a:t>json</a:t>
            </a:r>
            <a:r>
              <a:rPr lang="en-US" sz="1200" dirty="0" smtClean="0"/>
              <a:t> data:</a:t>
            </a:r>
          </a:p>
          <a:p>
            <a:pPr lvl="0"/>
            <a:r>
              <a:rPr lang="en-US" altLang="en-US" sz="1200" dirty="0" smtClean="0">
                <a:latin typeface="+mn-lt"/>
              </a:rPr>
              <a:t>Step 1: Type the following code:</a:t>
            </a:r>
          </a:p>
          <a:p>
            <a:pPr lvl="0"/>
            <a:endParaRPr lang="en-US" altLang="en-US" sz="1200" dirty="0" smtClean="0">
              <a:latin typeface="+mn-lt"/>
            </a:endParaRPr>
          </a:p>
          <a:p>
            <a:r>
              <a:rPr lang="en-US" sz="1200" dirty="0" smtClean="0"/>
              <a:t>	</a:t>
            </a:r>
            <a:r>
              <a:rPr lang="en-US" sz="1200" dirty="0" smtClean="0">
                <a:latin typeface="+mn-lt"/>
              </a:rPr>
              <a:t>import </a:t>
            </a:r>
            <a:r>
              <a:rPr lang="en-US" sz="1200" dirty="0" err="1" smtClean="0">
                <a:latin typeface="+mn-lt"/>
              </a:rPr>
              <a:t>json</a:t>
            </a:r>
            <a:endParaRPr lang="en-US" sz="1200" dirty="0" smtClean="0">
              <a:latin typeface="+mn-lt"/>
            </a:endParaRPr>
          </a:p>
          <a:p>
            <a:endParaRPr lang="en-US" sz="1200" dirty="0" smtClean="0">
              <a:latin typeface="+mn-lt"/>
            </a:endParaRPr>
          </a:p>
          <a:p>
            <a:pPr lvl="2"/>
            <a:r>
              <a:rPr lang="en-US" sz="1200" dirty="0" smtClean="0">
                <a:latin typeface="+mn-lt"/>
              </a:rPr>
              <a:t>with open('</a:t>
            </a:r>
            <a:r>
              <a:rPr lang="en-US" sz="1200" dirty="0" err="1" smtClean="0">
                <a:latin typeface="+mn-lt"/>
              </a:rPr>
              <a:t>myjson.json</a:t>
            </a:r>
            <a:r>
              <a:rPr lang="en-US" sz="1200" dirty="0" smtClean="0">
                <a:latin typeface="+mn-lt"/>
              </a:rPr>
              <a:t>') as </a:t>
            </a:r>
            <a:r>
              <a:rPr lang="en-US" sz="1200" dirty="0" err="1" smtClean="0">
                <a:latin typeface="+mn-lt"/>
              </a:rPr>
              <a:t>data_file</a:t>
            </a:r>
            <a:r>
              <a:rPr lang="en-US" sz="1200" dirty="0" smtClean="0">
                <a:latin typeface="+mn-lt"/>
              </a:rPr>
              <a:t>:</a:t>
            </a:r>
          </a:p>
          <a:p>
            <a:pPr lvl="2"/>
            <a:r>
              <a:rPr lang="en-US" sz="1200" dirty="0" smtClean="0">
                <a:latin typeface="+mn-lt"/>
              </a:rPr>
              <a:t>    data=</a:t>
            </a:r>
            <a:r>
              <a:rPr lang="en-US" sz="1200" dirty="0" err="1" smtClean="0">
                <a:latin typeface="+mn-lt"/>
              </a:rPr>
              <a:t>json.load</a:t>
            </a:r>
            <a:r>
              <a:rPr lang="en-US" sz="1200" dirty="0" smtClean="0">
                <a:latin typeface="+mn-lt"/>
              </a:rPr>
              <a:t>(</a:t>
            </a:r>
            <a:r>
              <a:rPr lang="en-US" sz="1200" dirty="0" err="1" smtClean="0">
                <a:latin typeface="+mn-lt"/>
              </a:rPr>
              <a:t>data_file</a:t>
            </a:r>
            <a:r>
              <a:rPr lang="en-US" sz="1200" dirty="0" smtClean="0">
                <a:latin typeface="+mn-lt"/>
              </a:rPr>
              <a:t>)</a:t>
            </a:r>
          </a:p>
          <a:p>
            <a:pPr lvl="2"/>
            <a:r>
              <a:rPr lang="en-US" sz="1200" dirty="0" smtClean="0">
                <a:latin typeface="+mn-lt"/>
              </a:rPr>
              <a:t>    for item in data:</a:t>
            </a:r>
          </a:p>
          <a:p>
            <a:pPr lvl="2"/>
            <a:r>
              <a:rPr lang="en-US" sz="1200" dirty="0" smtClean="0">
                <a:latin typeface="+mn-lt"/>
              </a:rPr>
              <a:t>        print('Name: '+ item['name'])</a:t>
            </a:r>
          </a:p>
          <a:p>
            <a:pPr lvl="2"/>
            <a:r>
              <a:rPr lang="en-US" sz="1200" dirty="0" smtClean="0">
                <a:latin typeface="+mn-lt"/>
              </a:rPr>
              <a:t>        print('Id: '+ item['id'])</a:t>
            </a:r>
          </a:p>
          <a:p>
            <a:pPr lvl="2"/>
            <a:r>
              <a:rPr lang="en-US" sz="1200" dirty="0" smtClean="0">
                <a:latin typeface="+mn-lt"/>
              </a:rPr>
              <a:t>        print('Attribute: '+ item['x'])</a:t>
            </a:r>
          </a:p>
          <a:p>
            <a:pPr lvl="2"/>
            <a:endParaRPr lang="en-US" altLang="en-US" sz="1200" dirty="0" smtClean="0">
              <a:latin typeface="+mn-lt"/>
            </a:endParaRPr>
          </a:p>
          <a:p>
            <a:pPr marR="0" lvl="0" indent="0" eaLnBrk="1" fontAlgn="base"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altLang="en-US" sz="1200" dirty="0" smtClean="0">
                <a:latin typeface="+mn-lt"/>
              </a:rPr>
              <a:t>Step</a:t>
            </a:r>
            <a:r>
              <a:rPr lang="en-US" altLang="en-US" sz="1200" baseline="0" dirty="0" smtClean="0">
                <a:latin typeface="+mn-lt"/>
              </a:rPr>
              <a:t> 2</a:t>
            </a:r>
            <a:r>
              <a:rPr lang="en-US" altLang="en-US" sz="1200" dirty="0" smtClean="0">
                <a:latin typeface="+mn-lt"/>
              </a:rPr>
              <a:t>: Run the program.</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lvl="0" indent="0">
              <a:buFont typeface="+mj-lt"/>
              <a:buNone/>
            </a:pPr>
            <a:endParaRPr lang="en-US" sz="1200" dirty="0" smtClean="0"/>
          </a:p>
        </p:txBody>
      </p:sp>
      <p:sp>
        <p:nvSpPr>
          <p:cNvPr id="4" name="Slide Number Placeholder 3"/>
          <p:cNvSpPr>
            <a:spLocks noGrp="1"/>
          </p:cNvSpPr>
          <p:nvPr>
            <p:ph type="sldNum" sz="quarter" idx="10"/>
          </p:nvPr>
        </p:nvSpPr>
        <p:spPr/>
        <p:txBody>
          <a:bodyPr/>
          <a:lstStyle/>
          <a:p>
            <a:fld id="{35091714-3304-44AF-AABA-9711959465C3}" type="slidenum">
              <a:rPr lang="en-US" smtClean="0"/>
              <a:t>20</a:t>
            </a:fld>
            <a:endParaRPr lang="en-US"/>
          </a:p>
        </p:txBody>
      </p:sp>
    </p:spTree>
    <p:extLst>
      <p:ext uri="{BB962C8B-B14F-4D97-AF65-F5344CB8AC3E}">
        <p14:creationId xmlns:p14="http://schemas.microsoft.com/office/powerpoint/2010/main" val="5558935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21</a:t>
            </a:fld>
            <a:endParaRPr lang="en-US" dirty="0"/>
          </a:p>
        </p:txBody>
      </p:sp>
    </p:spTree>
    <p:extLst>
      <p:ext uri="{BB962C8B-B14F-4D97-AF65-F5344CB8AC3E}">
        <p14:creationId xmlns:p14="http://schemas.microsoft.com/office/powerpoint/2010/main" val="18740329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A database is a file that is organized for storing data. Most databases are organized like a dictionary in the sense that they map from keys to values. The biggest</a:t>
            </a:r>
          </a:p>
          <a:p>
            <a:r>
              <a:rPr lang="en-US" sz="1200" b="0" i="0" u="none" strike="noStrike" kern="1200" baseline="0" dirty="0" smtClean="0">
                <a:solidFill>
                  <a:schemeClr val="tx1"/>
                </a:solidFill>
                <a:latin typeface="+mn-lt"/>
                <a:ea typeface="+mn-ea"/>
                <a:cs typeface="+mn-cs"/>
              </a:rPr>
              <a:t>difference is that the database is on disk (or other permanent storage), so it persists after the program ends. Because a database is stored on permanent storage, it can</a:t>
            </a:r>
          </a:p>
          <a:p>
            <a:r>
              <a:rPr lang="en-US" sz="1200" b="0" i="0" u="none" strike="noStrike" kern="1200" baseline="0" dirty="0" smtClean="0">
                <a:solidFill>
                  <a:schemeClr val="tx1"/>
                </a:solidFill>
                <a:latin typeface="+mn-lt"/>
                <a:ea typeface="+mn-ea"/>
                <a:cs typeface="+mn-cs"/>
              </a:rPr>
              <a:t>store far more data than a dictionary, which is limited to the size of the memory in the computer.</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Database software maintains its performance by building indexes as data is added to the database to allow the computer to jump quickly to a particular entry.</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There are many different database systems which are used for a wide variety of purposes including: Oracle, MySQL, Microsoft SQL Server, PostgreSQL, and</a:t>
            </a:r>
          </a:p>
          <a:p>
            <a:r>
              <a:rPr lang="en-US" sz="1200" b="0" i="0" u="none" strike="noStrike" kern="1200" baseline="0" dirty="0" smtClean="0">
                <a:solidFill>
                  <a:schemeClr val="tx1"/>
                </a:solidFill>
                <a:latin typeface="+mn-lt"/>
                <a:ea typeface="+mn-ea"/>
                <a:cs typeface="+mn-cs"/>
              </a:rPr>
              <a:t>SQLite. We focus on SQLite in this book because it is a very common database and is already built into Python. SQLite is designed to be </a:t>
            </a:r>
            <a:r>
              <a:rPr lang="en-US" sz="1200" b="0" i="1" u="none" strike="noStrike" kern="1200" baseline="0" dirty="0" smtClean="0">
                <a:solidFill>
                  <a:schemeClr val="tx1"/>
                </a:solidFill>
                <a:latin typeface="+mn-lt"/>
                <a:ea typeface="+mn-ea"/>
                <a:cs typeface="+mn-cs"/>
              </a:rPr>
              <a:t>embedded  </a:t>
            </a:r>
            <a:r>
              <a:rPr lang="en-US" sz="1200" b="0" i="0" u="none" strike="noStrike" kern="1200" baseline="0" dirty="0" smtClean="0">
                <a:solidFill>
                  <a:schemeClr val="tx1"/>
                </a:solidFill>
                <a:latin typeface="+mn-lt"/>
                <a:ea typeface="+mn-ea"/>
                <a:cs typeface="+mn-cs"/>
              </a:rPr>
              <a:t>into other</a:t>
            </a:r>
          </a:p>
          <a:p>
            <a:r>
              <a:rPr lang="en-US" sz="1200" b="0" i="0" u="none" strike="noStrike" kern="1200" baseline="0" dirty="0" smtClean="0">
                <a:solidFill>
                  <a:schemeClr val="tx1"/>
                </a:solidFill>
                <a:latin typeface="+mn-lt"/>
                <a:ea typeface="+mn-ea"/>
                <a:cs typeface="+mn-cs"/>
              </a:rPr>
              <a:t>applications to provide database support within the application</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22</a:t>
            </a:fld>
            <a:endParaRPr lang="en-US" dirty="0"/>
          </a:p>
        </p:txBody>
      </p:sp>
    </p:spTree>
    <p:extLst>
      <p:ext uri="{BB962C8B-B14F-4D97-AF65-F5344CB8AC3E}">
        <p14:creationId xmlns:p14="http://schemas.microsoft.com/office/powerpoint/2010/main" val="18740329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When you first look at a database it looks like a spreadsheet with multiple sheets.</a:t>
            </a:r>
          </a:p>
          <a:p>
            <a:r>
              <a:rPr lang="en-US" sz="1200" b="0" i="0" u="none" strike="noStrike" kern="1200" baseline="0" dirty="0" smtClean="0">
                <a:solidFill>
                  <a:schemeClr val="tx1"/>
                </a:solidFill>
                <a:latin typeface="+mn-lt"/>
                <a:ea typeface="+mn-ea"/>
                <a:cs typeface="+mn-cs"/>
              </a:rPr>
              <a:t>The primary data structures in a database are: tables, rows, and columns.</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In technical descriptions of relational databases the concepts of table, row, and column are more formally referred to as relation, tuple, and attribute, respectively</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pPr/>
              <a:t>23</a:t>
            </a:fld>
            <a:endParaRPr lang="en-US" dirty="0"/>
          </a:p>
        </p:txBody>
      </p:sp>
    </p:spTree>
    <p:extLst>
      <p:ext uri="{BB962C8B-B14F-4D97-AF65-F5344CB8AC3E}">
        <p14:creationId xmlns:p14="http://schemas.microsoft.com/office/powerpoint/2010/main" val="18740329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24</a:t>
            </a:fld>
            <a:endParaRPr lang="en-US" dirty="0"/>
          </a:p>
        </p:txBody>
      </p:sp>
    </p:spTree>
    <p:extLst>
      <p:ext uri="{BB962C8B-B14F-4D97-AF65-F5344CB8AC3E}">
        <p14:creationId xmlns:p14="http://schemas.microsoft.com/office/powerpoint/2010/main" val="2596889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Solution:</a:t>
            </a:r>
          </a:p>
          <a:p>
            <a:r>
              <a:rPr lang="en-US" dirty="0" smtClean="0"/>
              <a:t>Relation</a:t>
            </a:r>
            <a:endParaRPr lang="en-US" dirty="0"/>
          </a:p>
        </p:txBody>
      </p:sp>
      <p:sp>
        <p:nvSpPr>
          <p:cNvPr id="4" name="Slide Number Placeholder 3"/>
          <p:cNvSpPr>
            <a:spLocks noGrp="1"/>
          </p:cNvSpPr>
          <p:nvPr>
            <p:ph type="sldNum" sz="quarter" idx="10"/>
          </p:nvPr>
        </p:nvSpPr>
        <p:spPr/>
        <p:txBody>
          <a:bodyPr/>
          <a:lstStyle/>
          <a:p>
            <a:fld id="{35091714-3304-44AF-AABA-9711959465C3}" type="slidenum">
              <a:rPr lang="en-US" smtClean="0"/>
              <a:t>25</a:t>
            </a:fld>
            <a:endParaRPr lang="en-US" dirty="0"/>
          </a:p>
        </p:txBody>
      </p:sp>
    </p:spTree>
    <p:extLst>
      <p:ext uri="{BB962C8B-B14F-4D97-AF65-F5344CB8AC3E}">
        <p14:creationId xmlns:p14="http://schemas.microsoft.com/office/powerpoint/2010/main" val="2596889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1" dirty="0" smtClean="0">
                <a:latin typeface="Calibri" panose="020F0502020204030204" pitchFamily="34" charset="0"/>
                <a:ea typeface="Calibri" panose="020F0502020204030204" pitchFamily="34" charset="0"/>
                <a:cs typeface="Times New Roman" panose="02020603050405020304" pitchFamily="18" charset="0"/>
              </a:rPr>
              <a:t>Solution:</a:t>
            </a:r>
          </a:p>
          <a:p>
            <a:endParaRPr lang="en-US" sz="1600" b="1" dirty="0" smtClean="0">
              <a:latin typeface="Calibri" panose="020F0502020204030204" pitchFamily="34" charset="0"/>
              <a:ea typeface="Calibri" panose="020F0502020204030204" pitchFamily="34" charset="0"/>
              <a:cs typeface="Times New Roman" panose="02020603050405020304" pitchFamily="18" charset="0"/>
            </a:endParaRPr>
          </a:p>
          <a:p>
            <a:r>
              <a:rPr lang="en-US" sz="1200" dirty="0" smtClean="0"/>
              <a:t>In order to do this activity, you need to perform the following tasks:</a:t>
            </a:r>
          </a:p>
          <a:p>
            <a:pPr marL="342900" lvl="0" indent="-342900">
              <a:buFont typeface="+mj-lt"/>
              <a:buAutoNum type="arabicPeriod"/>
            </a:pPr>
            <a:r>
              <a:rPr lang="en-US" sz="1200" dirty="0" smtClean="0"/>
              <a:t>Create a</a:t>
            </a:r>
            <a:r>
              <a:rPr lang="en-US" sz="1200" baseline="0" dirty="0" smtClean="0"/>
              <a:t> P</a:t>
            </a:r>
            <a:r>
              <a:rPr lang="en-US" sz="1200" dirty="0" smtClean="0"/>
              <a:t>ython empty project.</a:t>
            </a:r>
          </a:p>
          <a:p>
            <a:pPr marL="342900" lvl="0" indent="-342900">
              <a:buFont typeface="+mj-lt"/>
              <a:buAutoNum type="arabicPeriod"/>
            </a:pPr>
            <a:r>
              <a:rPr lang="en-US" sz="1200" dirty="0" smtClean="0"/>
              <a:t>Use </a:t>
            </a:r>
            <a:r>
              <a:rPr lang="en-US" sz="1200" b="1" dirty="0" err="1" smtClean="0"/>
              <a:t>urllib</a:t>
            </a:r>
            <a:r>
              <a:rPr lang="en-US" sz="1200" dirty="0" smtClean="0"/>
              <a:t> and </a:t>
            </a:r>
            <a:r>
              <a:rPr lang="en-US" sz="1200" b="1" dirty="0" smtClean="0"/>
              <a:t>JSON</a:t>
            </a:r>
            <a:r>
              <a:rPr lang="en-US" sz="1200" dirty="0" smtClean="0"/>
              <a:t> library to avail service URL API.</a:t>
            </a:r>
          </a:p>
          <a:p>
            <a:endParaRPr lang="en-US" dirty="0" smtClean="0"/>
          </a:p>
          <a:p>
            <a:r>
              <a:rPr lang="en-US" sz="1600" b="1" dirty="0" smtClean="0"/>
              <a:t>Task 1</a:t>
            </a:r>
            <a:r>
              <a:rPr lang="en-US" sz="1600" dirty="0" smtClean="0"/>
              <a:t>: Create a Python empty project:</a:t>
            </a:r>
          </a:p>
          <a:p>
            <a:r>
              <a:rPr lang="en-US" sz="1200" dirty="0" smtClean="0"/>
              <a:t>Step 1: Open </a:t>
            </a:r>
            <a:r>
              <a:rPr lang="en-US" sz="1200" b="1" dirty="0" smtClean="0"/>
              <a:t>NetBeans 8.0.2</a:t>
            </a:r>
            <a:r>
              <a:rPr lang="en-US" sz="120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2: Click </a:t>
            </a:r>
            <a:r>
              <a:rPr lang="en-US" sz="1200" b="1" dirty="0" smtClean="0"/>
              <a:t>File</a:t>
            </a:r>
            <a:r>
              <a:rPr lang="en-US" sz="1200" dirty="0" smtClean="0"/>
              <a:t> menu.</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3: Select </a:t>
            </a:r>
            <a:r>
              <a:rPr lang="en-US" sz="1200" b="1" dirty="0" smtClean="0"/>
              <a:t>New Project</a:t>
            </a:r>
            <a:r>
              <a:rPr lang="en-US" sz="1200" b="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smtClean="0"/>
              <a:t>Step 4:</a:t>
            </a:r>
            <a:r>
              <a:rPr lang="en-US" sz="1200" dirty="0" smtClean="0"/>
              <a:t> Select </a:t>
            </a:r>
            <a:r>
              <a:rPr lang="en-US" sz="1200" b="1" dirty="0" smtClean="0"/>
              <a:t>Python</a:t>
            </a:r>
            <a:r>
              <a:rPr lang="en-US" sz="1200" dirty="0" smtClean="0"/>
              <a:t> from Categories list and </a:t>
            </a:r>
            <a:r>
              <a:rPr lang="en-US" sz="1200" b="1" dirty="0" smtClean="0"/>
              <a:t>Python Project</a:t>
            </a:r>
            <a:r>
              <a:rPr lang="en-US" sz="1200" dirty="0" smtClean="0"/>
              <a:t> from Projects list.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5: Click </a:t>
            </a:r>
            <a:r>
              <a:rPr lang="en-US" sz="1200" b="1" dirty="0" smtClean="0"/>
              <a:t>Next</a:t>
            </a:r>
            <a:r>
              <a:rPr lang="en-US" sz="1200" dirty="0" smtClean="0"/>
              <a:t> button.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Step 6: On New Python Project dialog box set the Project Name as </a:t>
            </a:r>
            <a:r>
              <a:rPr lang="en-US" sz="1200" b="1" dirty="0" smtClean="0"/>
              <a:t>CR_Session16_Activity02</a:t>
            </a:r>
            <a:r>
              <a:rPr lang="en-US" sz="1200" b="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smtClean="0"/>
              <a:t>Step</a:t>
            </a:r>
            <a:r>
              <a:rPr lang="en-US" sz="1200" b="0" baseline="0" dirty="0" smtClean="0"/>
              <a:t> 7:</a:t>
            </a:r>
            <a:r>
              <a:rPr lang="en-US" sz="1200" dirty="0" smtClean="0"/>
              <a:t> Select project Location by clicking </a:t>
            </a:r>
            <a:r>
              <a:rPr lang="en-US" sz="1200" b="1" dirty="0" smtClean="0"/>
              <a:t>Browse</a:t>
            </a:r>
            <a:r>
              <a:rPr lang="en-US" sz="1200" dirty="0" smtClean="0"/>
              <a:t> button.</a:t>
            </a:r>
          </a:p>
          <a:p>
            <a:r>
              <a:rPr lang="en-US" sz="1050" dirty="0" smtClean="0"/>
              <a:t>Step</a:t>
            </a:r>
            <a:r>
              <a:rPr lang="en-US" sz="1050" baseline="0" dirty="0" smtClean="0"/>
              <a:t> 8</a:t>
            </a:r>
            <a:r>
              <a:rPr lang="en-US" sz="1050" dirty="0" smtClean="0"/>
              <a:t>: Click </a:t>
            </a:r>
            <a:r>
              <a:rPr lang="en-US" sz="1050" b="1" dirty="0" smtClean="0"/>
              <a:t>Finish</a:t>
            </a:r>
            <a:r>
              <a:rPr lang="en-US" sz="1050" dirty="0" smtClean="0"/>
              <a:t> button.</a:t>
            </a:r>
          </a:p>
          <a:p>
            <a:endParaRPr lang="en-US" sz="1050" dirty="0" smtClean="0"/>
          </a:p>
          <a:p>
            <a:pPr lvl="0"/>
            <a:r>
              <a:rPr lang="en-US" sz="1200" b="1" dirty="0" smtClean="0"/>
              <a:t>Task 2</a:t>
            </a:r>
            <a:r>
              <a:rPr lang="en-US" sz="1200" dirty="0" smtClean="0"/>
              <a:t>: Use </a:t>
            </a:r>
            <a:r>
              <a:rPr lang="en-US" sz="1200" b="1" dirty="0" err="1" smtClean="0"/>
              <a:t>urllib</a:t>
            </a:r>
            <a:r>
              <a:rPr lang="en-US" sz="1200" b="1" dirty="0" smtClean="0"/>
              <a:t> </a:t>
            </a:r>
            <a:r>
              <a:rPr lang="en-US" sz="1200" dirty="0" smtClean="0"/>
              <a:t>and</a:t>
            </a:r>
            <a:r>
              <a:rPr lang="en-US" sz="1200" b="1" dirty="0" smtClean="0"/>
              <a:t> JSON</a:t>
            </a:r>
            <a:r>
              <a:rPr lang="en-US" sz="1200" dirty="0" smtClean="0"/>
              <a:t> library to avail service URL API:</a:t>
            </a:r>
          </a:p>
          <a:p>
            <a:pPr lvl="0"/>
            <a:r>
              <a:rPr lang="en-US" altLang="en-US" sz="1200" dirty="0" smtClean="0">
                <a:latin typeface="+mn-lt"/>
              </a:rPr>
              <a:t>Step 1: Type the following code:</a:t>
            </a:r>
          </a:p>
          <a:p>
            <a:pPr lvl="0"/>
            <a:endParaRPr lang="en-US" altLang="en-US" sz="1200" dirty="0" smtClean="0">
              <a:latin typeface="+mn-lt"/>
            </a:endParaRPr>
          </a:p>
          <a:p>
            <a:r>
              <a:rPr lang="en-US" sz="1200" dirty="0" smtClean="0"/>
              <a:t>	</a:t>
            </a:r>
            <a:r>
              <a:rPr lang="en-US" sz="1200" dirty="0" smtClean="0">
                <a:latin typeface="+mn-lt"/>
              </a:rPr>
              <a:t>import </a:t>
            </a:r>
            <a:r>
              <a:rPr lang="en-US" sz="1200" dirty="0" err="1" smtClean="0">
                <a:latin typeface="+mn-lt"/>
              </a:rPr>
              <a:t>urllib</a:t>
            </a:r>
            <a:endParaRPr lang="en-US" sz="1200" dirty="0" smtClean="0">
              <a:latin typeface="+mn-lt"/>
            </a:endParaRPr>
          </a:p>
          <a:p>
            <a:r>
              <a:rPr lang="en-US" sz="1200" dirty="0" smtClean="0">
                <a:latin typeface="+mn-lt"/>
              </a:rPr>
              <a:t>	import </a:t>
            </a:r>
            <a:r>
              <a:rPr lang="en-US" sz="1200" dirty="0" err="1" smtClean="0">
                <a:latin typeface="+mn-lt"/>
              </a:rPr>
              <a:t>json</a:t>
            </a:r>
            <a:endParaRPr lang="en-US" sz="1200" dirty="0" smtClean="0">
              <a:latin typeface="+mn-lt"/>
            </a:endParaRPr>
          </a:p>
          <a:p>
            <a:r>
              <a:rPr lang="en-US" sz="1200" dirty="0" smtClean="0">
                <a:latin typeface="+mn-lt"/>
              </a:rPr>
              <a:t> </a:t>
            </a:r>
          </a:p>
          <a:p>
            <a:r>
              <a:rPr lang="en-US" sz="1200" dirty="0" smtClean="0">
                <a:latin typeface="+mn-lt"/>
              </a:rPr>
              <a:t>	</a:t>
            </a:r>
            <a:r>
              <a:rPr lang="en-US" sz="1200" dirty="0" err="1" smtClean="0">
                <a:latin typeface="+mn-lt"/>
              </a:rPr>
              <a:t>serviceurl</a:t>
            </a:r>
            <a:r>
              <a:rPr lang="en-US" sz="1200" dirty="0" smtClean="0">
                <a:latin typeface="+mn-lt"/>
              </a:rPr>
              <a:t> = "http://maps.googleapis.com/maps/</a:t>
            </a:r>
            <a:r>
              <a:rPr lang="en-US" sz="1200" dirty="0" err="1" smtClean="0">
                <a:latin typeface="+mn-lt"/>
              </a:rPr>
              <a:t>api</a:t>
            </a:r>
            <a:r>
              <a:rPr lang="en-US" sz="1200" dirty="0" smtClean="0">
                <a:latin typeface="+mn-lt"/>
              </a:rPr>
              <a:t>/geocode/</a:t>
            </a:r>
            <a:r>
              <a:rPr lang="en-US" sz="1200" dirty="0" err="1" smtClean="0">
                <a:latin typeface="+mn-lt"/>
              </a:rPr>
              <a:t>json</a:t>
            </a:r>
            <a:r>
              <a:rPr lang="en-US" sz="1200" dirty="0" smtClean="0">
                <a:latin typeface="+mn-lt"/>
              </a:rPr>
              <a:t>?“</a:t>
            </a:r>
          </a:p>
          <a:p>
            <a:r>
              <a:rPr lang="en-US" sz="1200" dirty="0" smtClean="0">
                <a:latin typeface="+mn-lt"/>
              </a:rPr>
              <a:t>	while True:</a:t>
            </a:r>
          </a:p>
          <a:p>
            <a:r>
              <a:rPr lang="en-US" sz="1200" dirty="0" smtClean="0">
                <a:latin typeface="+mn-lt"/>
              </a:rPr>
              <a:t>   		address = </a:t>
            </a:r>
            <a:r>
              <a:rPr lang="en-US" sz="1200" dirty="0" err="1" smtClean="0">
                <a:latin typeface="+mn-lt"/>
              </a:rPr>
              <a:t>raw_input</a:t>
            </a:r>
            <a:r>
              <a:rPr lang="en-US" sz="1200" dirty="0" smtClean="0">
                <a:latin typeface="+mn-lt"/>
              </a:rPr>
              <a:t>("Enter location: ")</a:t>
            </a:r>
          </a:p>
          <a:p>
            <a:r>
              <a:rPr lang="en-US" sz="1200" dirty="0" smtClean="0">
                <a:latin typeface="+mn-lt"/>
              </a:rPr>
              <a:t>    		if </a:t>
            </a:r>
            <a:r>
              <a:rPr lang="en-US" sz="1200" dirty="0" err="1" smtClean="0">
                <a:latin typeface="+mn-lt"/>
              </a:rPr>
              <a:t>len</a:t>
            </a:r>
            <a:r>
              <a:rPr lang="en-US" sz="1200" dirty="0" smtClean="0">
                <a:latin typeface="+mn-lt"/>
              </a:rPr>
              <a:t>(address) &lt; 1 : break</a:t>
            </a:r>
          </a:p>
          <a:p>
            <a:r>
              <a:rPr lang="en-US" sz="1200" dirty="0" smtClean="0">
                <a:latin typeface="+mn-lt"/>
              </a:rPr>
              <a:t>    		</a:t>
            </a:r>
            <a:r>
              <a:rPr lang="en-US" sz="1200" dirty="0" err="1" smtClean="0">
                <a:latin typeface="+mn-lt"/>
              </a:rPr>
              <a:t>url</a:t>
            </a:r>
            <a:r>
              <a:rPr lang="en-US" sz="1200" dirty="0" smtClean="0">
                <a:latin typeface="+mn-lt"/>
              </a:rPr>
              <a:t> = </a:t>
            </a:r>
            <a:r>
              <a:rPr lang="en-US" sz="1200" dirty="0" err="1" smtClean="0">
                <a:latin typeface="+mn-lt"/>
              </a:rPr>
              <a:t>serviceurl</a:t>
            </a:r>
            <a:r>
              <a:rPr lang="en-US" sz="1200" dirty="0" smtClean="0">
                <a:latin typeface="+mn-lt"/>
              </a:rPr>
              <a:t> +  </a:t>
            </a:r>
            <a:r>
              <a:rPr lang="en-US" sz="1200" dirty="0" err="1" smtClean="0">
                <a:latin typeface="+mn-lt"/>
              </a:rPr>
              <a:t>urllib.urlencode</a:t>
            </a:r>
            <a:r>
              <a:rPr lang="en-US" sz="1200" dirty="0" smtClean="0">
                <a:latin typeface="+mn-lt"/>
              </a:rPr>
              <a:t>({"</a:t>
            </a:r>
            <a:r>
              <a:rPr lang="en-US" sz="1200" dirty="0" err="1" smtClean="0">
                <a:latin typeface="+mn-lt"/>
              </a:rPr>
              <a:t>sensor":"false</a:t>
            </a:r>
            <a:r>
              <a:rPr lang="en-US" sz="1200" dirty="0" smtClean="0">
                <a:latin typeface="+mn-lt"/>
              </a:rPr>
              <a:t>", "address": address})</a:t>
            </a:r>
          </a:p>
          <a:p>
            <a:r>
              <a:rPr lang="en-US" sz="1200" dirty="0" smtClean="0">
                <a:latin typeface="+mn-lt"/>
              </a:rPr>
              <a:t>    		print("Retrieving"+ </a:t>
            </a:r>
            <a:r>
              <a:rPr lang="en-US" sz="1200" dirty="0" err="1" smtClean="0">
                <a:latin typeface="+mn-lt"/>
              </a:rPr>
              <a:t>url</a:t>
            </a:r>
            <a:r>
              <a:rPr lang="en-US" sz="1200" dirty="0" smtClean="0">
                <a:latin typeface="+mn-lt"/>
              </a:rPr>
              <a:t>)</a:t>
            </a:r>
          </a:p>
          <a:p>
            <a:r>
              <a:rPr lang="en-US" sz="1200" dirty="0" smtClean="0">
                <a:latin typeface="+mn-lt"/>
              </a:rPr>
              <a:t>    		uh = </a:t>
            </a:r>
            <a:r>
              <a:rPr lang="en-US" sz="1200" dirty="0" err="1" smtClean="0">
                <a:latin typeface="+mn-lt"/>
              </a:rPr>
              <a:t>urllib.urlopen</a:t>
            </a:r>
            <a:r>
              <a:rPr lang="en-US" sz="1200" dirty="0" smtClean="0">
                <a:latin typeface="+mn-lt"/>
              </a:rPr>
              <a:t>(</a:t>
            </a:r>
            <a:r>
              <a:rPr lang="en-US" sz="1200" dirty="0" err="1" smtClean="0">
                <a:latin typeface="+mn-lt"/>
              </a:rPr>
              <a:t>url</a:t>
            </a:r>
            <a:r>
              <a:rPr lang="en-US" sz="1200" dirty="0" smtClean="0">
                <a:latin typeface="+mn-lt"/>
              </a:rPr>
              <a:t>)</a:t>
            </a:r>
          </a:p>
          <a:p>
            <a:r>
              <a:rPr lang="en-US" sz="1200" dirty="0" smtClean="0">
                <a:latin typeface="+mn-lt"/>
              </a:rPr>
              <a:t>    		data = </a:t>
            </a:r>
            <a:r>
              <a:rPr lang="en-US" sz="1200" dirty="0" err="1" smtClean="0">
                <a:latin typeface="+mn-lt"/>
              </a:rPr>
              <a:t>uh.read</a:t>
            </a:r>
            <a:r>
              <a:rPr lang="en-US" sz="1200" dirty="0" smtClean="0">
                <a:latin typeface="+mn-lt"/>
              </a:rPr>
              <a:t>()</a:t>
            </a:r>
          </a:p>
          <a:p>
            <a:r>
              <a:rPr lang="en-US" sz="1200" dirty="0" smtClean="0">
                <a:latin typeface="+mn-lt"/>
              </a:rPr>
              <a:t>    		print("Retrieved"+</a:t>
            </a:r>
            <a:r>
              <a:rPr lang="en-US" sz="1200" dirty="0" err="1" smtClean="0">
                <a:latin typeface="+mn-lt"/>
              </a:rPr>
              <a:t>str</a:t>
            </a:r>
            <a:r>
              <a:rPr lang="en-US" sz="1200" dirty="0" smtClean="0">
                <a:latin typeface="+mn-lt"/>
              </a:rPr>
              <a:t>(</a:t>
            </a:r>
            <a:r>
              <a:rPr lang="en-US" sz="1200" dirty="0" err="1" smtClean="0">
                <a:latin typeface="+mn-lt"/>
              </a:rPr>
              <a:t>len</a:t>
            </a:r>
            <a:r>
              <a:rPr lang="en-US" sz="1200" dirty="0" smtClean="0">
                <a:latin typeface="+mn-lt"/>
              </a:rPr>
              <a:t>(data))+"characters")</a:t>
            </a:r>
          </a:p>
          <a:p>
            <a:r>
              <a:rPr lang="en-US" sz="1200" dirty="0" smtClean="0">
                <a:latin typeface="+mn-lt"/>
              </a:rPr>
              <a:t> </a:t>
            </a:r>
          </a:p>
          <a:p>
            <a:r>
              <a:rPr lang="en-US" sz="1200" dirty="0" smtClean="0">
                <a:latin typeface="+mn-lt"/>
              </a:rPr>
              <a:t>    		try: </a:t>
            </a:r>
          </a:p>
          <a:p>
            <a:r>
              <a:rPr lang="en-US" sz="1200" dirty="0" smtClean="0">
                <a:latin typeface="+mn-lt"/>
              </a:rPr>
              <a:t>			</a:t>
            </a:r>
            <a:r>
              <a:rPr lang="en-US" sz="1200" dirty="0" err="1" smtClean="0">
                <a:latin typeface="+mn-lt"/>
              </a:rPr>
              <a:t>js</a:t>
            </a:r>
            <a:r>
              <a:rPr lang="en-US" sz="1200" dirty="0" smtClean="0">
                <a:latin typeface="+mn-lt"/>
              </a:rPr>
              <a:t> = </a:t>
            </a:r>
            <a:r>
              <a:rPr lang="en-US" sz="1200" dirty="0" err="1" smtClean="0">
                <a:latin typeface="+mn-lt"/>
              </a:rPr>
              <a:t>json.loads</a:t>
            </a:r>
            <a:r>
              <a:rPr lang="en-US" sz="1200" dirty="0" smtClean="0">
                <a:latin typeface="+mn-lt"/>
              </a:rPr>
              <a:t>(</a:t>
            </a:r>
            <a:r>
              <a:rPr lang="en-US" sz="1200" dirty="0" err="1" smtClean="0">
                <a:latin typeface="+mn-lt"/>
              </a:rPr>
              <a:t>str</a:t>
            </a:r>
            <a:r>
              <a:rPr lang="en-US" sz="1200" dirty="0" smtClean="0">
                <a:latin typeface="+mn-lt"/>
              </a:rPr>
              <a:t>(data))</a:t>
            </a:r>
          </a:p>
          <a:p>
            <a:r>
              <a:rPr lang="en-US" sz="1200" dirty="0" smtClean="0">
                <a:latin typeface="+mn-lt"/>
              </a:rPr>
              <a:t>    		except: </a:t>
            </a:r>
          </a:p>
          <a:p>
            <a:r>
              <a:rPr lang="en-US" sz="1200" dirty="0" smtClean="0">
                <a:latin typeface="+mn-lt"/>
              </a:rPr>
              <a:t>			</a:t>
            </a:r>
            <a:r>
              <a:rPr lang="en-US" sz="1200" dirty="0" err="1" smtClean="0">
                <a:latin typeface="+mn-lt"/>
              </a:rPr>
              <a:t>js</a:t>
            </a:r>
            <a:r>
              <a:rPr lang="en-US" sz="1200" dirty="0" smtClean="0">
                <a:latin typeface="+mn-lt"/>
              </a:rPr>
              <a:t> = None</a:t>
            </a:r>
          </a:p>
          <a:p>
            <a:r>
              <a:rPr lang="en-US" sz="1200" dirty="0" smtClean="0">
                <a:latin typeface="+mn-lt"/>
              </a:rPr>
              <a:t>    		if 'status' not in </a:t>
            </a:r>
            <a:r>
              <a:rPr lang="en-US" sz="1200" dirty="0" err="1" smtClean="0">
                <a:latin typeface="+mn-lt"/>
              </a:rPr>
              <a:t>js</a:t>
            </a:r>
            <a:r>
              <a:rPr lang="en-US" sz="1200" dirty="0" smtClean="0">
                <a:latin typeface="+mn-lt"/>
              </a:rPr>
              <a:t> or </a:t>
            </a:r>
            <a:r>
              <a:rPr lang="en-US" sz="1200" dirty="0" err="1" smtClean="0">
                <a:latin typeface="+mn-lt"/>
              </a:rPr>
              <a:t>js</a:t>
            </a:r>
            <a:r>
              <a:rPr lang="en-US" sz="1200" dirty="0" smtClean="0">
                <a:latin typeface="+mn-lt"/>
              </a:rPr>
              <a:t>['status'] != 'OK':</a:t>
            </a:r>
          </a:p>
          <a:p>
            <a:r>
              <a:rPr lang="en-US" sz="1200" dirty="0" smtClean="0">
                <a:latin typeface="+mn-lt"/>
              </a:rPr>
              <a:t>        		print("==== Failure To Retrieve ====")</a:t>
            </a:r>
          </a:p>
          <a:p>
            <a:r>
              <a:rPr lang="en-US" sz="1200" dirty="0" smtClean="0">
                <a:latin typeface="+mn-lt"/>
              </a:rPr>
              <a:t>        		print(data)</a:t>
            </a:r>
          </a:p>
          <a:p>
            <a:endParaRPr lang="en-US" sz="1200" dirty="0" smtClean="0">
              <a:latin typeface="+mn-lt"/>
            </a:endParaRPr>
          </a:p>
          <a:p>
            <a:r>
              <a:rPr lang="en-US" altLang="en-US" sz="1200" dirty="0" smtClean="0">
                <a:latin typeface="+mn-lt"/>
              </a:rPr>
              <a:t>		</a:t>
            </a:r>
            <a:r>
              <a:rPr lang="en-US" sz="1200" dirty="0" smtClean="0">
                <a:latin typeface="+mn-lt"/>
              </a:rPr>
              <a:t>continue</a:t>
            </a:r>
          </a:p>
          <a:p>
            <a:r>
              <a:rPr lang="en-US" sz="1200" dirty="0" smtClean="0">
                <a:latin typeface="+mn-lt"/>
              </a:rPr>
              <a:t> </a:t>
            </a:r>
          </a:p>
          <a:p>
            <a:r>
              <a:rPr lang="en-US" sz="1200" dirty="0" smtClean="0">
                <a:latin typeface="+mn-lt"/>
              </a:rPr>
              <a:t>    	print(</a:t>
            </a:r>
            <a:r>
              <a:rPr lang="en-US" sz="1200" dirty="0" err="1" smtClean="0">
                <a:latin typeface="+mn-lt"/>
              </a:rPr>
              <a:t>json.dumps</a:t>
            </a:r>
            <a:r>
              <a:rPr lang="en-US" sz="1200" dirty="0" smtClean="0">
                <a:latin typeface="+mn-lt"/>
              </a:rPr>
              <a:t>(</a:t>
            </a:r>
            <a:r>
              <a:rPr lang="en-US" sz="1200" dirty="0" err="1" smtClean="0">
                <a:latin typeface="+mn-lt"/>
              </a:rPr>
              <a:t>js</a:t>
            </a:r>
            <a:r>
              <a:rPr lang="en-US" sz="1200" dirty="0" smtClean="0">
                <a:latin typeface="+mn-lt"/>
              </a:rPr>
              <a:t>, indent=4))</a:t>
            </a:r>
          </a:p>
          <a:p>
            <a:r>
              <a:rPr lang="en-US" sz="1200" dirty="0" smtClean="0">
                <a:latin typeface="+mn-lt"/>
              </a:rPr>
              <a:t> </a:t>
            </a:r>
          </a:p>
          <a:p>
            <a:r>
              <a:rPr lang="en-US" sz="1200" dirty="0" smtClean="0">
                <a:latin typeface="+mn-lt"/>
              </a:rPr>
              <a:t>    	</a:t>
            </a:r>
            <a:r>
              <a:rPr lang="en-US" sz="1200" dirty="0" err="1" smtClean="0">
                <a:latin typeface="+mn-lt"/>
              </a:rPr>
              <a:t>lat</a:t>
            </a:r>
            <a:r>
              <a:rPr lang="en-US" sz="1200" dirty="0" smtClean="0">
                <a:latin typeface="+mn-lt"/>
              </a:rPr>
              <a:t> = </a:t>
            </a:r>
            <a:r>
              <a:rPr lang="en-US" sz="1200" dirty="0" err="1" smtClean="0">
                <a:latin typeface="+mn-lt"/>
              </a:rPr>
              <a:t>js</a:t>
            </a:r>
            <a:r>
              <a:rPr lang="en-US" sz="1200" dirty="0" smtClean="0">
                <a:latin typeface="+mn-lt"/>
              </a:rPr>
              <a:t>["results"][0]["geometry"]["location"]["</a:t>
            </a:r>
            <a:r>
              <a:rPr lang="en-US" sz="1200" dirty="0" err="1" smtClean="0">
                <a:latin typeface="+mn-lt"/>
              </a:rPr>
              <a:t>lat</a:t>
            </a:r>
            <a:r>
              <a:rPr lang="en-US" sz="1200" dirty="0" smtClean="0">
                <a:latin typeface="+mn-lt"/>
              </a:rPr>
              <a:t>"]</a:t>
            </a:r>
          </a:p>
          <a:p>
            <a:r>
              <a:rPr lang="en-US" sz="1200" dirty="0" smtClean="0">
                <a:latin typeface="+mn-lt"/>
              </a:rPr>
              <a:t>    	</a:t>
            </a:r>
            <a:r>
              <a:rPr lang="en-US" sz="1200" dirty="0" err="1" smtClean="0">
                <a:latin typeface="+mn-lt"/>
              </a:rPr>
              <a:t>lng</a:t>
            </a:r>
            <a:r>
              <a:rPr lang="en-US" sz="1200" dirty="0" smtClean="0">
                <a:latin typeface="+mn-lt"/>
              </a:rPr>
              <a:t> = </a:t>
            </a:r>
            <a:r>
              <a:rPr lang="en-US" sz="1200" dirty="0" err="1" smtClean="0">
                <a:latin typeface="+mn-lt"/>
              </a:rPr>
              <a:t>js</a:t>
            </a:r>
            <a:r>
              <a:rPr lang="en-US" sz="1200" dirty="0" smtClean="0">
                <a:latin typeface="+mn-lt"/>
              </a:rPr>
              <a:t>["results"][0]["geometry"]["location"]["</a:t>
            </a:r>
            <a:r>
              <a:rPr lang="en-US" sz="1200" dirty="0" err="1" smtClean="0">
                <a:latin typeface="+mn-lt"/>
              </a:rPr>
              <a:t>lng</a:t>
            </a:r>
            <a:r>
              <a:rPr lang="en-US" sz="1200" dirty="0" smtClean="0">
                <a:latin typeface="+mn-lt"/>
              </a:rPr>
              <a:t>"]</a:t>
            </a:r>
          </a:p>
          <a:p>
            <a:r>
              <a:rPr lang="en-US" sz="1200" dirty="0" smtClean="0">
                <a:latin typeface="+mn-lt"/>
              </a:rPr>
              <a:t>    	print("</a:t>
            </a:r>
            <a:r>
              <a:rPr lang="en-US" sz="1200" dirty="0" err="1" smtClean="0">
                <a:latin typeface="+mn-lt"/>
              </a:rPr>
              <a:t>lat</a:t>
            </a:r>
            <a:r>
              <a:rPr lang="en-US" sz="1200" dirty="0" smtClean="0">
                <a:latin typeface="+mn-lt"/>
              </a:rPr>
              <a:t>"+</a:t>
            </a:r>
            <a:r>
              <a:rPr lang="en-US" sz="1200" dirty="0" err="1" smtClean="0">
                <a:latin typeface="+mn-lt"/>
              </a:rPr>
              <a:t>str</a:t>
            </a:r>
            <a:r>
              <a:rPr lang="en-US" sz="1200" dirty="0" smtClean="0">
                <a:latin typeface="+mn-lt"/>
              </a:rPr>
              <a:t>(</a:t>
            </a:r>
            <a:r>
              <a:rPr lang="en-US" sz="1200" dirty="0" err="1" smtClean="0">
                <a:latin typeface="+mn-lt"/>
              </a:rPr>
              <a:t>lat</a:t>
            </a:r>
            <a:r>
              <a:rPr lang="en-US" sz="1200" dirty="0" smtClean="0">
                <a:latin typeface="+mn-lt"/>
              </a:rPr>
              <a:t>)+"</a:t>
            </a:r>
            <a:r>
              <a:rPr lang="en-US" sz="1200" dirty="0" err="1" smtClean="0">
                <a:latin typeface="+mn-lt"/>
              </a:rPr>
              <a:t>lng</a:t>
            </a:r>
            <a:r>
              <a:rPr lang="en-US" sz="1200" dirty="0" smtClean="0">
                <a:latin typeface="+mn-lt"/>
              </a:rPr>
              <a:t>"+</a:t>
            </a:r>
            <a:r>
              <a:rPr lang="en-US" sz="1200" dirty="0" err="1" smtClean="0">
                <a:latin typeface="+mn-lt"/>
              </a:rPr>
              <a:t>str</a:t>
            </a:r>
            <a:r>
              <a:rPr lang="en-US" sz="1200" dirty="0" smtClean="0">
                <a:latin typeface="+mn-lt"/>
              </a:rPr>
              <a:t>(</a:t>
            </a:r>
            <a:r>
              <a:rPr lang="en-US" sz="1200" dirty="0" err="1" smtClean="0">
                <a:latin typeface="+mn-lt"/>
              </a:rPr>
              <a:t>lng</a:t>
            </a:r>
            <a:r>
              <a:rPr lang="en-US" sz="1200" dirty="0" smtClean="0">
                <a:latin typeface="+mn-lt"/>
              </a:rPr>
              <a:t>))</a:t>
            </a:r>
          </a:p>
          <a:p>
            <a:r>
              <a:rPr lang="en-US" sz="1200" dirty="0" smtClean="0">
                <a:latin typeface="+mn-lt"/>
              </a:rPr>
              <a:t>    	location = </a:t>
            </a:r>
            <a:r>
              <a:rPr lang="en-US" sz="1200" dirty="0" err="1" smtClean="0">
                <a:latin typeface="+mn-lt"/>
              </a:rPr>
              <a:t>js</a:t>
            </a:r>
            <a:r>
              <a:rPr lang="en-US" sz="1200" dirty="0" smtClean="0">
                <a:latin typeface="+mn-lt"/>
              </a:rPr>
              <a:t>['results'][0]['</a:t>
            </a:r>
            <a:r>
              <a:rPr lang="en-US" sz="1200" dirty="0" err="1" smtClean="0">
                <a:latin typeface="+mn-lt"/>
              </a:rPr>
              <a:t>formatted_address</a:t>
            </a:r>
            <a:r>
              <a:rPr lang="en-US" sz="1200" dirty="0" smtClean="0">
                <a:latin typeface="+mn-lt"/>
              </a:rPr>
              <a:t>']</a:t>
            </a:r>
          </a:p>
          <a:p>
            <a:r>
              <a:rPr lang="en-US" sz="1200" dirty="0" smtClean="0">
                <a:latin typeface="+mn-lt"/>
              </a:rPr>
              <a:t>    	print(location)</a:t>
            </a:r>
          </a:p>
          <a:p>
            <a:endParaRPr lang="en-US" altLang="en-US" sz="1200" dirty="0" smtClean="0">
              <a:latin typeface="+mn-lt"/>
            </a:endParaRPr>
          </a:p>
          <a:p>
            <a:pPr marR="0" lvl="0" indent="0" eaLnBrk="1" fontAlgn="base"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altLang="en-US" sz="1200" dirty="0" smtClean="0">
                <a:latin typeface="+mn-lt"/>
              </a:rPr>
              <a:t>Step</a:t>
            </a:r>
            <a:r>
              <a:rPr lang="en-US" altLang="en-US" sz="1200" baseline="0" dirty="0" smtClean="0">
                <a:latin typeface="+mn-lt"/>
              </a:rPr>
              <a:t> 2</a:t>
            </a:r>
            <a:r>
              <a:rPr lang="en-US" altLang="en-US" sz="1200" dirty="0" smtClean="0">
                <a:latin typeface="+mn-lt"/>
              </a:rPr>
              <a:t>: Run the program.</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lvl="0" indent="0">
              <a:buFont typeface="+mj-lt"/>
              <a:buNone/>
            </a:pPr>
            <a:endParaRPr lang="en-US" sz="1200" dirty="0" smtClean="0"/>
          </a:p>
        </p:txBody>
      </p:sp>
      <p:sp>
        <p:nvSpPr>
          <p:cNvPr id="4" name="Slide Number Placeholder 3"/>
          <p:cNvSpPr>
            <a:spLocks noGrp="1"/>
          </p:cNvSpPr>
          <p:nvPr>
            <p:ph type="sldNum" sz="quarter" idx="10"/>
          </p:nvPr>
        </p:nvSpPr>
        <p:spPr/>
        <p:txBody>
          <a:bodyPr/>
          <a:lstStyle/>
          <a:p>
            <a:fld id="{35091714-3304-44AF-AABA-9711959465C3}" type="slidenum">
              <a:rPr lang="en-US" smtClean="0"/>
              <a:t>26</a:t>
            </a:fld>
            <a:endParaRPr lang="en-US"/>
          </a:p>
        </p:txBody>
      </p:sp>
    </p:spTree>
    <p:extLst>
      <p:ext uri="{BB962C8B-B14F-4D97-AF65-F5344CB8AC3E}">
        <p14:creationId xmlns:p14="http://schemas.microsoft.com/office/powerpoint/2010/main" val="9477397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C862BE6-9897-48DF-A539-0D6DA8099BAA}" type="datetimeFigureOut">
              <a:rPr lang="en-US" smtClean="0"/>
              <a:pPr/>
              <a:t>10/8/2015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6F7C62-785B-4A6A-BA6E-4ECCE5259ECC}" type="slidenum">
              <a:rPr lang="en-US" smtClean="0"/>
              <a:pPr/>
              <a:t>‹#›</a:t>
            </a:fld>
            <a:endParaRPr lang="en-US" dirty="0"/>
          </a:p>
        </p:txBody>
      </p:sp>
    </p:spTree>
    <p:extLst>
      <p:ext uri="{BB962C8B-B14F-4D97-AF65-F5344CB8AC3E}">
        <p14:creationId xmlns:p14="http://schemas.microsoft.com/office/powerpoint/2010/main" val="178906743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smtClean="0"/>
              <a:pPr/>
              <a:t>10/8/2015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6F7C62-785B-4A6A-BA6E-4ECCE5259ECC}" type="slidenum">
              <a:rPr lang="en-US" smtClean="0"/>
              <a:pPr/>
              <a:t>‹#›</a:t>
            </a:fld>
            <a:endParaRPr lang="en-US" dirty="0"/>
          </a:p>
        </p:txBody>
      </p:sp>
    </p:spTree>
    <p:extLst>
      <p:ext uri="{BB962C8B-B14F-4D97-AF65-F5344CB8AC3E}">
        <p14:creationId xmlns:p14="http://schemas.microsoft.com/office/powerpoint/2010/main" val="23036920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C862BE6-9897-48DF-A539-0D6DA8099BAA}" type="datetimeFigureOut">
              <a:rPr lang="en-US" smtClean="0"/>
              <a:pPr/>
              <a:t>10/8/2015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6F7C62-785B-4A6A-BA6E-4ECCE5259ECC}" type="slidenum">
              <a:rPr lang="en-US" smtClean="0"/>
              <a:pPr/>
              <a:t>‹#›</a:t>
            </a:fld>
            <a:endParaRPr lang="en-US" dirty="0"/>
          </a:p>
        </p:txBody>
      </p:sp>
    </p:spTree>
    <p:extLst>
      <p:ext uri="{BB962C8B-B14F-4D97-AF65-F5344CB8AC3E}">
        <p14:creationId xmlns:p14="http://schemas.microsoft.com/office/powerpoint/2010/main" val="2318555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C862BE6-9897-48DF-A539-0D6DA8099BAA}" type="datetimeFigureOut">
              <a:rPr lang="en-US" smtClean="0"/>
              <a:pPr/>
              <a:t>10/8/2015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6F7C62-785B-4A6A-BA6E-4ECCE5259ECC}" type="slidenum">
              <a:rPr lang="en-US" smtClean="0"/>
              <a:pPr/>
              <a:t>‹#›</a:t>
            </a:fld>
            <a:endParaRPr lang="en-US" dirty="0"/>
          </a:p>
        </p:txBody>
      </p:sp>
    </p:spTree>
    <p:extLst>
      <p:ext uri="{BB962C8B-B14F-4D97-AF65-F5344CB8AC3E}">
        <p14:creationId xmlns:p14="http://schemas.microsoft.com/office/powerpoint/2010/main" val="3297139171"/>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862BE6-9897-48DF-A539-0D6DA8099BAA}" type="datetimeFigureOut">
              <a:rPr lang="en-US" smtClean="0"/>
              <a:pPr/>
              <a:t>10/8/2015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6F7C62-785B-4A6A-BA6E-4ECCE5259ECC}" type="slidenum">
              <a:rPr lang="en-US" smtClean="0"/>
              <a:pPr/>
              <a:t>‹#›</a:t>
            </a:fld>
            <a:endParaRPr lang="en-US" dirty="0"/>
          </a:p>
        </p:txBody>
      </p:sp>
    </p:spTree>
    <p:extLst>
      <p:ext uri="{BB962C8B-B14F-4D97-AF65-F5344CB8AC3E}">
        <p14:creationId xmlns:p14="http://schemas.microsoft.com/office/powerpoint/2010/main" val="328710979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C862BE6-9897-48DF-A539-0D6DA8099BAA}" type="datetimeFigureOut">
              <a:rPr lang="en-US" smtClean="0"/>
              <a:pPr/>
              <a:t>10/8/2015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6F7C62-785B-4A6A-BA6E-4ECCE5259ECC}" type="slidenum">
              <a:rPr lang="en-US" smtClean="0"/>
              <a:pPr/>
              <a:t>‹#›</a:t>
            </a:fld>
            <a:endParaRPr lang="en-US" dirty="0"/>
          </a:p>
        </p:txBody>
      </p:sp>
    </p:spTree>
    <p:extLst>
      <p:ext uri="{BB962C8B-B14F-4D97-AF65-F5344CB8AC3E}">
        <p14:creationId xmlns:p14="http://schemas.microsoft.com/office/powerpoint/2010/main" val="899343602"/>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862BE6-9897-48DF-A539-0D6DA8099BAA}" type="datetimeFigureOut">
              <a:rPr lang="en-US" smtClean="0"/>
              <a:pPr/>
              <a:t>10/8/2015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6F7C62-785B-4A6A-BA6E-4ECCE5259ECC}" type="slidenum">
              <a:rPr lang="en-US" smtClean="0"/>
              <a:pPr/>
              <a:t>‹#›</a:t>
            </a:fld>
            <a:endParaRPr lang="en-US" dirty="0"/>
          </a:p>
        </p:txBody>
      </p:sp>
    </p:spTree>
    <p:extLst>
      <p:ext uri="{BB962C8B-B14F-4D97-AF65-F5344CB8AC3E}">
        <p14:creationId xmlns:p14="http://schemas.microsoft.com/office/powerpoint/2010/main" val="371325988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smtClean="0"/>
              <a:pPr/>
              <a:t>10/8/2015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6F7C62-785B-4A6A-BA6E-4ECCE5259ECC}" type="slidenum">
              <a:rPr lang="en-US" smtClean="0"/>
              <a:pPr/>
              <a:t>‹#›</a:t>
            </a:fld>
            <a:endParaRPr lang="en-US" dirty="0"/>
          </a:p>
        </p:txBody>
      </p:sp>
    </p:spTree>
    <p:extLst>
      <p:ext uri="{BB962C8B-B14F-4D97-AF65-F5344CB8AC3E}">
        <p14:creationId xmlns:p14="http://schemas.microsoft.com/office/powerpoint/2010/main" val="297901466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smtClean="0"/>
              <a:pPr/>
              <a:t>10/8/2015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6F7C62-785B-4A6A-BA6E-4ECCE5259ECC}" type="slidenum">
              <a:rPr lang="en-US" smtClean="0"/>
              <a:pPr/>
              <a:t>‹#›</a:t>
            </a:fld>
            <a:endParaRPr lang="en-US" dirty="0"/>
          </a:p>
        </p:txBody>
      </p:sp>
    </p:spTree>
    <p:extLst>
      <p:ext uri="{BB962C8B-B14F-4D97-AF65-F5344CB8AC3E}">
        <p14:creationId xmlns:p14="http://schemas.microsoft.com/office/powerpoint/2010/main" val="125810308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smtClean="0"/>
              <a:pPr/>
              <a:t>10/8/2015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6F7C62-785B-4A6A-BA6E-4ECCE5259ECC}" type="slidenum">
              <a:rPr lang="en-US" smtClean="0"/>
              <a:pPr/>
              <a:t>‹#›</a:t>
            </a:fld>
            <a:endParaRPr lang="en-US" dirty="0"/>
          </a:p>
        </p:txBody>
      </p:sp>
    </p:spTree>
    <p:extLst>
      <p:ext uri="{BB962C8B-B14F-4D97-AF65-F5344CB8AC3E}">
        <p14:creationId xmlns:p14="http://schemas.microsoft.com/office/powerpoint/2010/main" val="27448313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smtClean="0"/>
              <a:pPr/>
              <a:t>10/8/2015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6F7C62-785B-4A6A-BA6E-4ECCE5259ECC}" type="slidenum">
              <a:rPr lang="en-US" smtClean="0"/>
              <a:pPr/>
              <a:t>‹#›</a:t>
            </a:fld>
            <a:endParaRPr lang="en-US" dirty="0"/>
          </a:p>
        </p:txBody>
      </p:sp>
    </p:spTree>
    <p:extLst>
      <p:ext uri="{BB962C8B-B14F-4D97-AF65-F5344CB8AC3E}">
        <p14:creationId xmlns:p14="http://schemas.microsoft.com/office/powerpoint/2010/main" val="388481159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73034833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715684684"/>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99388716"/>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02090421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981562852"/>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845903111"/>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21001529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413830275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09669666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409888222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6794281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93360882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70035339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272420542"/>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263532462"/>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512461276"/>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65676993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36522436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425531920"/>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081432647"/>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42910761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862BE6-9897-48DF-A539-0D6DA8099BAA}" type="datetimeFigureOut">
              <a:rPr lang="en-US">
                <a:solidFill>
                  <a:prstClr val="black">
                    <a:tint val="75000"/>
                  </a:prstClr>
                </a:solidFill>
              </a:rPr>
              <a:pPr/>
              <a:t>10/8/2015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66F7C62-785B-4A6A-BA6E-4ECCE5259ECC}" type="slidenum">
              <a:rPr lang="en-US">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73506078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2.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a:blipFill>
            <a:blip r:embed="rId14"/>
            <a:tile tx="0" ty="0" sx="100000" sy="100000" flip="none" algn="tl"/>
          </a:blipFill>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862BE6-9897-48DF-A539-0D6DA8099BAA}" type="datetimeFigureOut">
              <a:rPr lang="en-US" smtClean="0"/>
              <a:pPr/>
              <a:t>10/8/2015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6F7C62-785B-4A6A-BA6E-4ECCE5259ECC}" type="slidenum">
              <a:rPr lang="en-US" smtClean="0"/>
              <a:pPr/>
              <a:t>‹#›</a:t>
            </a:fld>
            <a:endParaRPr lang="en-US" dirty="0"/>
          </a:p>
        </p:txBody>
      </p:sp>
    </p:spTree>
    <p:extLst>
      <p:ext uri="{BB962C8B-B14F-4D97-AF65-F5344CB8AC3E}">
        <p14:creationId xmlns:p14="http://schemas.microsoft.com/office/powerpoint/2010/main" val="3851785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862BE6-9897-48DF-A539-0D6DA8099BAA}" type="datetimeFigureOut">
              <a:rPr lang="en-US">
                <a:solidFill>
                  <a:prstClr val="black">
                    <a:tint val="75000"/>
                  </a:prstClr>
                </a:solidFill>
              </a:rPr>
              <a:pPr/>
              <a:t>10/8/2015</a:t>
            </a:fld>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6F7C62-785B-4A6A-BA6E-4ECCE5259ECC}" type="slidenum">
              <a:rPr lang="en-US">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476410498"/>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862BE6-9897-48DF-A539-0D6DA8099BAA}" type="datetimeFigureOut">
              <a:rPr lang="en-US">
                <a:solidFill>
                  <a:prstClr val="black">
                    <a:tint val="75000"/>
                  </a:prstClr>
                </a:solidFill>
              </a:rPr>
              <a:pPr/>
              <a:t>10/8/2015</a:t>
            </a:fld>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6F7C62-785B-4A6A-BA6E-4ECCE5259ECC}" type="slidenum">
              <a:rPr lang="en-US">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529028028"/>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hemeOverride" Target="../theme/themeOverride2.xml"/><Relationship Id="rId5" Type="http://schemas.openxmlformats.org/officeDocument/2006/relationships/image" Target="../media/image5.jpe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image" Target="../media/image5.jpe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5.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5.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1.jpg"/><Relationship Id="rId4" Type="http://schemas.openxmlformats.org/officeDocument/2006/relationships/image" Target="../media/image5.jpe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5.jpeg"/></Relationships>
</file>

<file path=ppt/slides/_rels/slide2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0000" y="1260000"/>
            <a:ext cx="6480000" cy="1800000"/>
          </a:xfrm>
        </p:spPr>
        <p:txBody>
          <a:bodyPr>
            <a:normAutofit/>
          </a:bodyPr>
          <a:lstStyle/>
          <a:p>
            <a:r>
              <a:rPr lang="en-IN" dirty="0" smtClean="0">
                <a:solidFill>
                  <a:schemeClr val="bg1"/>
                </a:solidFill>
              </a:rPr>
              <a:t>JSON </a:t>
            </a:r>
            <a:r>
              <a:rPr lang="en-IN" dirty="0">
                <a:solidFill>
                  <a:schemeClr val="bg1"/>
                </a:solidFill>
              </a:rPr>
              <a:t>and SOA API </a:t>
            </a:r>
            <a:r>
              <a:rPr lang="en-IN" dirty="0" smtClean="0">
                <a:solidFill>
                  <a:schemeClr val="bg1"/>
                </a:solidFill>
              </a:rPr>
              <a:t>Programming</a:t>
            </a:r>
            <a:endParaRPr lang="en-US"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3407237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00" y="540000"/>
            <a:ext cx="3960000" cy="900000"/>
          </a:xfrm>
        </p:spPr>
        <p:txBody>
          <a:bodyPr anchor="t" anchorCtr="0">
            <a:normAutofit/>
          </a:bodyPr>
          <a:lstStyle/>
          <a:p>
            <a:pPr algn="l"/>
            <a:r>
              <a:rPr lang="en-US" sz="2400" b="1" dirty="0">
                <a:solidFill>
                  <a:schemeClr val="bg1"/>
                </a:solidFill>
                <a:latin typeface="Vrinda" pitchFamily="34" charset="0"/>
                <a:cs typeface="Vrinda" pitchFamily="34" charset="0"/>
              </a:rPr>
              <a:t>Objectives</a:t>
            </a:r>
          </a:p>
        </p:txBody>
      </p:sp>
      <p:sp>
        <p:nvSpPr>
          <p:cNvPr id="5" name="Content Placeholder 2"/>
          <p:cNvSpPr txBox="1">
            <a:spLocks/>
          </p:cNvSpPr>
          <p:nvPr/>
        </p:nvSpPr>
        <p:spPr>
          <a:xfrm>
            <a:off x="381000" y="1600200"/>
            <a:ext cx="8382000" cy="4648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60375" lvl="1" indent="-342900" defTabSz="914363">
              <a:lnSpc>
                <a:spcPct val="90000"/>
              </a:lnSpc>
              <a:buSzPct val="100000"/>
              <a:buFont typeface="Arial" panose="020B0604020202020204" pitchFamily="34" charset="0"/>
              <a:buChar char="•"/>
            </a:pPr>
            <a:endParaRPr lang="en-IN" sz="2000" dirty="0" smtClean="0">
              <a:solidFill>
                <a:srgbClr val="6600CC"/>
              </a:solidFill>
              <a:latin typeface="+mj-lt"/>
              <a:cs typeface="Vrinda" pitchFamily="34" charset="0"/>
            </a:endParaRPr>
          </a:p>
          <a:p>
            <a:pPr marL="514350" lvl="1" indent="-396875" defTabSz="914363">
              <a:lnSpc>
                <a:spcPct val="90000"/>
              </a:lnSpc>
              <a:buSzPct val="100000"/>
              <a:buBlip>
                <a:blip r:embed="rId3"/>
              </a:buBlip>
            </a:pPr>
            <a:r>
              <a:rPr lang="en-IN" sz="2400" dirty="0" smtClean="0">
                <a:solidFill>
                  <a:srgbClr val="6600CC"/>
                </a:solidFill>
                <a:cs typeface="Vrinda" pitchFamily="34" charset="0"/>
              </a:rPr>
              <a:t>In </a:t>
            </a:r>
            <a:r>
              <a:rPr lang="en-IN" sz="2400" dirty="0">
                <a:solidFill>
                  <a:srgbClr val="6600CC"/>
                </a:solidFill>
                <a:cs typeface="Vrinda" pitchFamily="34" charset="0"/>
              </a:rPr>
              <a:t>this session, you will learn to:</a:t>
            </a:r>
          </a:p>
          <a:p>
            <a:pPr marL="63500" lvl="1" indent="0" defTabSz="914363">
              <a:lnSpc>
                <a:spcPct val="90000"/>
              </a:lnSpc>
              <a:buSzPct val="100000"/>
              <a:buNone/>
            </a:pPr>
            <a:endParaRPr lang="en-IN" sz="2000" dirty="0">
              <a:solidFill>
                <a:srgbClr val="6600CC"/>
              </a:solidFill>
              <a:latin typeface="Vrinda" pitchFamily="34" charset="0"/>
              <a:cs typeface="Vrinda" pitchFamily="34" charset="0"/>
            </a:endParaRPr>
          </a:p>
          <a:p>
            <a:pPr marL="900000" lvl="1" indent="-396875" defTabSz="914363">
              <a:lnSpc>
                <a:spcPct val="90000"/>
              </a:lnSpc>
              <a:buSzPct val="120000"/>
              <a:buFont typeface="Arial" pitchFamily="34" charset="0"/>
              <a:buBlip>
                <a:blip r:embed="rId4"/>
              </a:buBlip>
            </a:pPr>
            <a:r>
              <a:rPr lang="en-IN" sz="2000" dirty="0">
                <a:solidFill>
                  <a:srgbClr val="6600CC"/>
                </a:solidFill>
                <a:cs typeface="Vrinda" pitchFamily="34" charset="0"/>
              </a:rPr>
              <a:t>Implement JavaScript Object Notation – JSON.</a:t>
            </a:r>
          </a:p>
          <a:p>
            <a:pPr marL="900000" lvl="1" indent="-396875" defTabSz="914363">
              <a:lnSpc>
                <a:spcPct val="90000"/>
              </a:lnSpc>
              <a:buSzPct val="120000"/>
              <a:buFont typeface="Arial" pitchFamily="34" charset="0"/>
              <a:buBlip>
                <a:blip r:embed="rId4"/>
              </a:buBlip>
            </a:pPr>
            <a:r>
              <a:rPr lang="en-IN" sz="2000" dirty="0">
                <a:solidFill>
                  <a:srgbClr val="6600CC"/>
                </a:solidFill>
                <a:cs typeface="Vrinda" pitchFamily="34" charset="0"/>
              </a:rPr>
              <a:t>Understand </a:t>
            </a:r>
            <a:r>
              <a:rPr lang="en-IN" sz="2000" dirty="0" smtClean="0">
                <a:solidFill>
                  <a:srgbClr val="6600CC"/>
                </a:solidFill>
                <a:cs typeface="Vrinda" pitchFamily="34" charset="0"/>
              </a:rPr>
              <a:t>and implement Application </a:t>
            </a:r>
            <a:r>
              <a:rPr lang="en-IN" sz="2000" dirty="0">
                <a:solidFill>
                  <a:srgbClr val="6600CC"/>
                </a:solidFill>
                <a:cs typeface="Vrinda" pitchFamily="34" charset="0"/>
              </a:rPr>
              <a:t>Programming </a:t>
            </a:r>
            <a:r>
              <a:rPr lang="en-IN" sz="2000" dirty="0" smtClean="0">
                <a:solidFill>
                  <a:srgbClr val="6600CC"/>
                </a:solidFill>
                <a:cs typeface="Vrinda" pitchFamily="34" charset="0"/>
              </a:rPr>
              <a:t>Interfaces.</a:t>
            </a:r>
          </a:p>
          <a:p>
            <a:pPr marL="900000" lvl="1" indent="-396875" defTabSz="914363">
              <a:lnSpc>
                <a:spcPct val="90000"/>
              </a:lnSpc>
              <a:buSzPct val="120000"/>
              <a:buFont typeface="Arial" pitchFamily="34" charset="0"/>
              <a:buBlip>
                <a:blip r:embed="rId4"/>
              </a:buBlip>
            </a:pPr>
            <a:r>
              <a:rPr lang="en-IN" sz="2000" dirty="0" smtClean="0">
                <a:solidFill>
                  <a:srgbClr val="6600CC"/>
                </a:solidFill>
                <a:cs typeface="Vrinda" pitchFamily="34" charset="0"/>
              </a:rPr>
              <a:t>Implement </a:t>
            </a:r>
            <a:r>
              <a:rPr lang="en-IN" sz="2000" dirty="0">
                <a:solidFill>
                  <a:srgbClr val="6600CC"/>
                </a:solidFill>
                <a:cs typeface="Vrinda" pitchFamily="34" charset="0"/>
              </a:rPr>
              <a:t>Google Geocoding with </a:t>
            </a:r>
            <a:r>
              <a:rPr lang="en-IN" sz="2000" dirty="0" smtClean="0">
                <a:solidFill>
                  <a:srgbClr val="6600CC"/>
                </a:solidFill>
                <a:cs typeface="Vrinda" pitchFamily="34" charset="0"/>
              </a:rPr>
              <a:t>Web </a:t>
            </a:r>
            <a:r>
              <a:rPr lang="en-IN" sz="2000" dirty="0">
                <a:solidFill>
                  <a:srgbClr val="6600CC"/>
                </a:solidFill>
                <a:cs typeface="Vrinda" pitchFamily="34" charset="0"/>
              </a:rPr>
              <a:t>S</a:t>
            </a:r>
            <a:r>
              <a:rPr lang="en-IN" sz="2000" dirty="0" smtClean="0">
                <a:solidFill>
                  <a:srgbClr val="6600CC"/>
                </a:solidFill>
                <a:cs typeface="Vrinda" pitchFamily="34" charset="0"/>
              </a:rPr>
              <a:t>ervice</a:t>
            </a:r>
            <a:r>
              <a:rPr lang="en-IN" sz="2000" dirty="0">
                <a:solidFill>
                  <a:srgbClr val="6600CC"/>
                </a:solidFill>
                <a:cs typeface="Vrinda" pitchFamily="34" charset="0"/>
              </a:rPr>
              <a:t>.</a:t>
            </a:r>
          </a:p>
          <a:p>
            <a:pPr marL="900000" lvl="1" indent="-396875" defTabSz="914363">
              <a:lnSpc>
                <a:spcPct val="90000"/>
              </a:lnSpc>
              <a:buSzPct val="120000"/>
              <a:buFont typeface="Arial" pitchFamily="34" charset="0"/>
              <a:buBlip>
                <a:blip r:embed="rId4"/>
              </a:buBlip>
            </a:pPr>
            <a:r>
              <a:rPr lang="en-IN" sz="2000" dirty="0">
                <a:solidFill>
                  <a:srgbClr val="6600CC"/>
                </a:solidFill>
                <a:cs typeface="Vrinda" pitchFamily="34" charset="0"/>
              </a:rPr>
              <a:t>Understand Security and Security API </a:t>
            </a:r>
            <a:r>
              <a:rPr lang="en-IN" sz="2000" dirty="0" smtClean="0">
                <a:solidFill>
                  <a:srgbClr val="6600CC"/>
                </a:solidFill>
                <a:cs typeface="Vrinda" pitchFamily="34" charset="0"/>
              </a:rPr>
              <a:t>Usage</a:t>
            </a:r>
            <a:r>
              <a:rPr lang="en-IN" sz="2000" dirty="0">
                <a:solidFill>
                  <a:srgbClr val="6600CC"/>
                </a:solidFill>
                <a:cs typeface="Vrinda" pitchFamily="34" charset="0"/>
              </a:rPr>
              <a:t>.</a:t>
            </a:r>
          </a:p>
          <a:p>
            <a:pPr marL="900000" lvl="1" indent="-396875" defTabSz="914363">
              <a:lnSpc>
                <a:spcPct val="90000"/>
              </a:lnSpc>
              <a:buSzPct val="120000"/>
              <a:buFont typeface="Arial" pitchFamily="34" charset="0"/>
              <a:buBlip>
                <a:blip r:embed="rId4"/>
              </a:buBlip>
            </a:pPr>
            <a:r>
              <a:rPr lang="en-IN" sz="2000" dirty="0">
                <a:solidFill>
                  <a:srgbClr val="6600CC"/>
                </a:solidFill>
                <a:cs typeface="Vrinda" pitchFamily="34" charset="0"/>
              </a:rPr>
              <a:t>Understand the </a:t>
            </a:r>
            <a:r>
              <a:rPr lang="en-IN" sz="2000" dirty="0" smtClean="0">
                <a:solidFill>
                  <a:srgbClr val="6600CC"/>
                </a:solidFill>
                <a:cs typeface="Vrinda" pitchFamily="34" charset="0"/>
              </a:rPr>
              <a:t>Need </a:t>
            </a:r>
            <a:r>
              <a:rPr lang="en-IN" sz="2000" dirty="0">
                <a:solidFill>
                  <a:srgbClr val="6600CC"/>
                </a:solidFill>
                <a:cs typeface="Vrinda" pitchFamily="34" charset="0"/>
              </a:rPr>
              <a:t>of </a:t>
            </a:r>
            <a:r>
              <a:rPr lang="en-IN" sz="2000" dirty="0" smtClean="0">
                <a:solidFill>
                  <a:srgbClr val="6600CC"/>
                </a:solidFill>
                <a:cs typeface="Vrinda" pitchFamily="34" charset="0"/>
              </a:rPr>
              <a:t>Database</a:t>
            </a:r>
            <a:r>
              <a:rPr lang="en-IN" sz="2000" dirty="0">
                <a:solidFill>
                  <a:srgbClr val="6600CC"/>
                </a:solidFill>
                <a:cs typeface="Vrinda" pitchFamily="34" charset="0"/>
              </a:rPr>
              <a:t>.</a:t>
            </a:r>
          </a:p>
        </p:txBody>
      </p:sp>
    </p:spTree>
    <p:extLst>
      <p:ext uri="{BB962C8B-B14F-4D97-AF65-F5344CB8AC3E}">
        <p14:creationId xmlns:p14="http://schemas.microsoft.com/office/powerpoint/2010/main" val="2642496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JavaScript Object Notation - JSON</a:t>
            </a:r>
            <a:endParaRPr lang="en-US" sz="2400" b="1" dirty="0">
              <a:solidFill>
                <a:schemeClr val="bg1"/>
              </a:solidFill>
              <a:latin typeface="Vrinda" pitchFamily="34" charset="0"/>
              <a:cs typeface="Vrinda" pitchFamily="34" charset="0"/>
            </a:endParaRPr>
          </a:p>
        </p:txBody>
      </p:sp>
      <p:sp>
        <p:nvSpPr>
          <p:cNvPr id="7" name="Content Placeholder 2"/>
          <p:cNvSpPr txBox="1">
            <a:spLocks/>
          </p:cNvSpPr>
          <p:nvPr/>
        </p:nvSpPr>
        <p:spPr>
          <a:xfrm>
            <a:off x="381000" y="1676400"/>
            <a:ext cx="85344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1" indent="-396875" defTabSz="914363">
              <a:lnSpc>
                <a:spcPct val="90000"/>
              </a:lnSpc>
              <a:buSzPct val="100000"/>
              <a:buBlip>
                <a:blip r:embed="rId3"/>
              </a:buBlip>
            </a:pPr>
            <a:r>
              <a:rPr lang="en-US" sz="2400" dirty="0">
                <a:solidFill>
                  <a:srgbClr val="6600CC"/>
                </a:solidFill>
                <a:cs typeface="Vrinda" pitchFamily="34" charset="0"/>
              </a:rPr>
              <a:t>JSON</a:t>
            </a:r>
          </a:p>
          <a:p>
            <a:pPr marL="900000" lvl="1" indent="-396875" defTabSz="914363">
              <a:lnSpc>
                <a:spcPct val="90000"/>
              </a:lnSpc>
              <a:buSzPct val="120000"/>
              <a:buBlip>
                <a:blip r:embed="rId4"/>
              </a:buBlip>
            </a:pPr>
            <a:r>
              <a:rPr lang="en-US" sz="2000" dirty="0" smtClean="0">
                <a:solidFill>
                  <a:srgbClr val="6600CC"/>
                </a:solidFill>
                <a:cs typeface="Vrinda" pitchFamily="34" charset="0"/>
              </a:rPr>
              <a:t>A </a:t>
            </a:r>
            <a:r>
              <a:rPr lang="en-US" sz="2000" dirty="0">
                <a:solidFill>
                  <a:srgbClr val="6600CC"/>
                </a:solidFill>
                <a:cs typeface="Vrinda" pitchFamily="34" charset="0"/>
              </a:rPr>
              <a:t>markup of structured data, based on the syntax of JavaScript Objects.</a:t>
            </a:r>
          </a:p>
          <a:p>
            <a:pPr marL="900000" lvl="1" indent="-396875" defTabSz="914363">
              <a:lnSpc>
                <a:spcPct val="90000"/>
              </a:lnSpc>
              <a:buSzPct val="120000"/>
              <a:buBlip>
                <a:blip r:embed="rId4"/>
              </a:buBlip>
            </a:pPr>
            <a:r>
              <a:rPr lang="en-US" sz="2000" dirty="0">
                <a:solidFill>
                  <a:srgbClr val="6600CC"/>
                </a:solidFill>
                <a:cs typeface="Vrinda" pitchFamily="34" charset="0"/>
              </a:rPr>
              <a:t>Its format identical to a combination of Python lists and </a:t>
            </a:r>
            <a:r>
              <a:rPr lang="en-US" sz="2000" dirty="0" smtClean="0">
                <a:solidFill>
                  <a:srgbClr val="6600CC"/>
                </a:solidFill>
                <a:cs typeface="Vrinda" pitchFamily="34" charset="0"/>
              </a:rPr>
              <a:t>dictionaries.</a:t>
            </a:r>
          </a:p>
          <a:p>
            <a:pPr marL="900000" lvl="1" indent="-396875" defTabSz="914363">
              <a:lnSpc>
                <a:spcPct val="90000"/>
              </a:lnSpc>
              <a:buSzPct val="120000"/>
              <a:buBlip>
                <a:blip r:embed="rId4"/>
              </a:buBlip>
            </a:pPr>
            <a:r>
              <a:rPr lang="en-US" sz="2000" dirty="0">
                <a:solidFill>
                  <a:srgbClr val="6600CC"/>
                </a:solidFill>
                <a:cs typeface="Vrinda" pitchFamily="34" charset="0"/>
              </a:rPr>
              <a:t>Used for data exchange between applications.</a:t>
            </a:r>
          </a:p>
          <a:p>
            <a:pPr marL="900000" lvl="1" indent="-396875" defTabSz="914363">
              <a:lnSpc>
                <a:spcPct val="90000"/>
              </a:lnSpc>
              <a:buSzPct val="120000"/>
              <a:buBlip>
                <a:blip r:embed="rId4"/>
              </a:buBlip>
            </a:pPr>
            <a:r>
              <a:rPr lang="en-US" sz="2000" dirty="0">
                <a:solidFill>
                  <a:srgbClr val="6600CC"/>
                </a:solidFill>
                <a:cs typeface="Vrinda" pitchFamily="34" charset="0"/>
              </a:rPr>
              <a:t>Its structure has </a:t>
            </a:r>
            <a:r>
              <a:rPr lang="en-US" sz="2000" b="1" dirty="0">
                <a:solidFill>
                  <a:srgbClr val="6600CC"/>
                </a:solidFill>
                <a:cs typeface="Vrinda" pitchFamily="34" charset="0"/>
              </a:rPr>
              <a:t>key-value</a:t>
            </a:r>
            <a:r>
              <a:rPr lang="en-US" sz="2000" dirty="0">
                <a:solidFill>
                  <a:srgbClr val="6600CC"/>
                </a:solidFill>
                <a:cs typeface="Vrinda" pitchFamily="34" charset="0"/>
              </a:rPr>
              <a:t> pairs.</a:t>
            </a:r>
          </a:p>
          <a:p>
            <a:pPr marL="900000" lvl="1" indent="-396875" defTabSz="914363">
              <a:lnSpc>
                <a:spcPct val="90000"/>
              </a:lnSpc>
              <a:buSzPct val="120000"/>
              <a:buBlip>
                <a:blip r:embed="rId4"/>
              </a:buBlip>
            </a:pPr>
            <a:r>
              <a:rPr lang="en-US" sz="2000" dirty="0">
                <a:solidFill>
                  <a:srgbClr val="6600CC"/>
                </a:solidFill>
                <a:cs typeface="Vrinda" pitchFamily="34" charset="0"/>
              </a:rPr>
              <a:t>In place of tag in XML, JSON has a set of outer curly-braces</a:t>
            </a:r>
            <a:endParaRPr lang="en-IN" sz="2000" dirty="0">
              <a:solidFill>
                <a:srgbClr val="6600CC"/>
              </a:solidFill>
              <a:cs typeface="Vrinda" pitchFamily="34" charset="0"/>
            </a:endParaRPr>
          </a:p>
          <a:p>
            <a:pPr marL="514350" lvl="1" indent="-396875" defTabSz="914363">
              <a:lnSpc>
                <a:spcPct val="90000"/>
              </a:lnSpc>
              <a:buSzPct val="100000"/>
              <a:buFont typeface="Arial" panose="020B0604020202020204" pitchFamily="34" charset="0"/>
              <a:buChar char="•"/>
            </a:pPr>
            <a:endParaRPr lang="en-US" sz="1600" dirty="0" smtClean="0">
              <a:solidFill>
                <a:srgbClr val="6600CC"/>
              </a:solidFill>
              <a:cs typeface="Vrinda" pitchFamily="34" charset="0"/>
            </a:endParaRPr>
          </a:p>
          <a:p>
            <a:pPr marL="514350" lvl="1" indent="-396875" defTabSz="914363">
              <a:lnSpc>
                <a:spcPct val="90000"/>
              </a:lnSpc>
              <a:buSzPct val="100000"/>
              <a:buNone/>
            </a:pPr>
            <a:endParaRPr lang="en-US" sz="2000" dirty="0" smtClean="0">
              <a:solidFill>
                <a:srgbClr val="6600CC"/>
              </a:solidFill>
              <a:latin typeface="Vrinda" pitchFamily="34" charset="0"/>
              <a:cs typeface="Vrinda" pitchFamily="34" charset="0"/>
            </a:endParaRPr>
          </a:p>
          <a:p>
            <a:pPr marL="103075" indent="0" defTabSz="914363">
              <a:lnSpc>
                <a:spcPct val="90000"/>
              </a:lnSpc>
              <a:buSzPct val="120000"/>
              <a:buNone/>
            </a:pPr>
            <a:endParaRPr lang="en-IN" sz="2000" dirty="0" smtClean="0">
              <a:solidFill>
                <a:srgbClr val="6600CC"/>
              </a:solidFill>
              <a:latin typeface="Vrinda" pitchFamily="34" charset="0"/>
              <a:cs typeface="Vrinda" pitchFamily="34" charset="0"/>
            </a:endParaRPr>
          </a:p>
          <a:p>
            <a:pPr marL="503125" lvl="1" indent="0" defTabSz="914363">
              <a:lnSpc>
                <a:spcPct val="90000"/>
              </a:lnSpc>
              <a:buSzPct val="120000"/>
              <a:buNone/>
            </a:pPr>
            <a:r>
              <a:rPr lang="en-IN" sz="1800" dirty="0" smtClean="0">
                <a:solidFill>
                  <a:srgbClr val="6600CC"/>
                </a:solidFill>
                <a:latin typeface="Vrinda" pitchFamily="34" charset="0"/>
                <a:cs typeface="Vrinda" pitchFamily="34" charset="0"/>
              </a:rPr>
              <a:t> </a:t>
            </a:r>
            <a:endParaRPr lang="en-IN" sz="1800" dirty="0">
              <a:solidFill>
                <a:srgbClr val="6600CC"/>
              </a:solidFill>
              <a:latin typeface="Vrinda" pitchFamily="34" charset="0"/>
              <a:cs typeface="Vrinda" pitchFamily="34" charset="0"/>
            </a:endParaRPr>
          </a:p>
        </p:txBody>
      </p:sp>
      <p:sp>
        <p:nvSpPr>
          <p:cNvPr id="5" name="TextBox 4"/>
          <p:cNvSpPr txBox="1"/>
          <p:nvPr/>
        </p:nvSpPr>
        <p:spPr>
          <a:xfrm>
            <a:off x="1676400" y="3886164"/>
            <a:ext cx="5562600" cy="2209836"/>
          </a:xfrm>
          <a:prstGeom prst="rect">
            <a:avLst/>
          </a:prstGeom>
          <a:ln w="57150">
            <a:solidFill>
              <a:srgbClr val="FF0000"/>
            </a:solidFill>
          </a:ln>
        </p:spPr>
        <p:style>
          <a:lnRef idx="1">
            <a:schemeClr val="dk1"/>
          </a:lnRef>
          <a:fillRef idx="3">
            <a:schemeClr val="dk1"/>
          </a:fillRef>
          <a:effectRef idx="2">
            <a:schemeClr val="dk1"/>
          </a:effectRef>
          <a:fontRef idx="minor">
            <a:schemeClr val="lt1"/>
          </a:fontRef>
        </p:style>
        <p:txBody>
          <a:bodyPr wrap="square" rtlCol="0">
            <a:spAutoFit/>
          </a:bodyPr>
          <a:lstStyle/>
          <a:p>
            <a:pPr marL="796925" indent="-396875" algn="just" defTabSz="914363">
              <a:lnSpc>
                <a:spcPct val="90000"/>
              </a:lnSpc>
              <a:spcBef>
                <a:spcPct val="20000"/>
              </a:spcBef>
              <a:buSzPct val="120000"/>
            </a:pPr>
            <a:r>
              <a:rPr lang="en-US" sz="1600" b="1" dirty="0" smtClean="0">
                <a:solidFill>
                  <a:schemeClr val="bg1"/>
                </a:solidFill>
                <a:cs typeface="Vrinda" pitchFamily="34" charset="0"/>
              </a:rPr>
              <a:t>{</a:t>
            </a:r>
          </a:p>
          <a:p>
            <a:pPr marL="796925" indent="-396875" algn="just" defTabSz="914363">
              <a:lnSpc>
                <a:spcPct val="90000"/>
              </a:lnSpc>
              <a:spcBef>
                <a:spcPct val="20000"/>
              </a:spcBef>
              <a:buSzPct val="120000"/>
            </a:pPr>
            <a:r>
              <a:rPr lang="en-US" sz="1600" b="1" dirty="0" smtClean="0">
                <a:solidFill>
                  <a:schemeClr val="bg1"/>
                </a:solidFill>
                <a:cs typeface="Vrinda" pitchFamily="34" charset="0"/>
              </a:rPr>
              <a:t>"name" : "Chuck", </a:t>
            </a:r>
          </a:p>
          <a:p>
            <a:pPr marL="796925" indent="-396875" algn="just" defTabSz="914363">
              <a:lnSpc>
                <a:spcPct val="90000"/>
              </a:lnSpc>
              <a:spcBef>
                <a:spcPct val="20000"/>
              </a:spcBef>
              <a:buSzPct val="120000"/>
            </a:pPr>
            <a:r>
              <a:rPr lang="en-US" sz="1600" b="1" dirty="0" smtClean="0">
                <a:solidFill>
                  <a:schemeClr val="bg1"/>
                </a:solidFill>
                <a:cs typeface="Vrinda" pitchFamily="34" charset="0"/>
              </a:rPr>
              <a:t>"phone" : { "type" : "</a:t>
            </a:r>
            <a:r>
              <a:rPr lang="en-US" sz="1600" b="1" dirty="0" err="1" smtClean="0">
                <a:solidFill>
                  <a:schemeClr val="bg1"/>
                </a:solidFill>
                <a:cs typeface="Vrinda" pitchFamily="34" charset="0"/>
              </a:rPr>
              <a:t>intl</a:t>
            </a:r>
            <a:r>
              <a:rPr lang="en-US" sz="1600" b="1" dirty="0" smtClean="0">
                <a:solidFill>
                  <a:schemeClr val="bg1"/>
                </a:solidFill>
                <a:cs typeface="Vrinda" pitchFamily="34" charset="0"/>
              </a:rPr>
              <a:t>",</a:t>
            </a:r>
          </a:p>
          <a:p>
            <a:pPr marL="796925" indent="-396875" algn="just" defTabSz="914363">
              <a:lnSpc>
                <a:spcPct val="90000"/>
              </a:lnSpc>
              <a:spcBef>
                <a:spcPct val="20000"/>
              </a:spcBef>
              <a:buSzPct val="120000"/>
            </a:pPr>
            <a:r>
              <a:rPr lang="en-US" sz="1600" b="1" dirty="0" smtClean="0">
                <a:solidFill>
                  <a:schemeClr val="bg1"/>
                </a:solidFill>
                <a:cs typeface="Vrinda" pitchFamily="34" charset="0"/>
              </a:rPr>
              <a:t>"number" : "+1 734 303 4456" </a:t>
            </a:r>
          </a:p>
          <a:p>
            <a:pPr marL="796925" indent="-396875" algn="just" defTabSz="914363">
              <a:lnSpc>
                <a:spcPct val="90000"/>
              </a:lnSpc>
              <a:spcBef>
                <a:spcPct val="20000"/>
              </a:spcBef>
              <a:buSzPct val="120000"/>
            </a:pPr>
            <a:r>
              <a:rPr lang="en-US" sz="1600" b="1" dirty="0" smtClean="0">
                <a:solidFill>
                  <a:schemeClr val="bg1"/>
                </a:solidFill>
                <a:cs typeface="Vrinda" pitchFamily="34" charset="0"/>
              </a:rPr>
              <a:t>}, </a:t>
            </a:r>
          </a:p>
          <a:p>
            <a:pPr marL="796925" indent="-396875" algn="just" defTabSz="914363">
              <a:lnSpc>
                <a:spcPct val="90000"/>
              </a:lnSpc>
              <a:spcBef>
                <a:spcPct val="20000"/>
              </a:spcBef>
              <a:buSzPct val="120000"/>
            </a:pPr>
            <a:r>
              <a:rPr lang="en-US" sz="1600" b="1" dirty="0" smtClean="0">
                <a:solidFill>
                  <a:schemeClr val="bg1"/>
                </a:solidFill>
                <a:cs typeface="Vrinda" pitchFamily="34" charset="0"/>
              </a:rPr>
              <a:t>"email" : { </a:t>
            </a:r>
          </a:p>
          <a:p>
            <a:pPr marL="796925" indent="-396875" algn="just" defTabSz="914363">
              <a:lnSpc>
                <a:spcPct val="90000"/>
              </a:lnSpc>
              <a:spcBef>
                <a:spcPct val="20000"/>
              </a:spcBef>
              <a:buSzPct val="120000"/>
            </a:pPr>
            <a:r>
              <a:rPr lang="en-US" sz="1600" b="1" dirty="0" smtClean="0">
                <a:solidFill>
                  <a:schemeClr val="bg1"/>
                </a:solidFill>
                <a:cs typeface="Vrinda" pitchFamily="34" charset="0"/>
              </a:rPr>
              <a:t>	"hide" : "yes“ }</a:t>
            </a:r>
          </a:p>
          <a:p>
            <a:pPr marL="796925" indent="-396875" algn="just" defTabSz="914363">
              <a:lnSpc>
                <a:spcPct val="90000"/>
              </a:lnSpc>
              <a:spcBef>
                <a:spcPct val="20000"/>
              </a:spcBef>
              <a:buSzPct val="120000"/>
            </a:pPr>
            <a:r>
              <a:rPr lang="en-US" sz="1600" b="1" dirty="0" smtClean="0">
                <a:solidFill>
                  <a:schemeClr val="bg1"/>
                </a:solidFill>
                <a:cs typeface="Vrinda" pitchFamily="34" charset="0"/>
              </a:rPr>
              <a:t>}</a:t>
            </a:r>
          </a:p>
        </p:txBody>
      </p:sp>
    </p:spTree>
    <p:extLst>
      <p:ext uri="{BB962C8B-B14F-4D97-AF65-F5344CB8AC3E}">
        <p14:creationId xmlns:p14="http://schemas.microsoft.com/office/powerpoint/2010/main" val="2374450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Parsing JSON</a:t>
            </a:r>
            <a:endParaRPr lang="en-US" sz="2400" b="1" dirty="0">
              <a:solidFill>
                <a:schemeClr val="bg1"/>
              </a:solidFill>
              <a:latin typeface="Vrinda" pitchFamily="34" charset="0"/>
              <a:cs typeface="Vrinda" pitchFamily="34" charset="0"/>
            </a:endParaRPr>
          </a:p>
        </p:txBody>
      </p:sp>
      <p:sp>
        <p:nvSpPr>
          <p:cNvPr id="7" name="Content Placeholder 2"/>
          <p:cNvSpPr txBox="1">
            <a:spLocks/>
          </p:cNvSpPr>
          <p:nvPr/>
        </p:nvSpPr>
        <p:spPr>
          <a:xfrm>
            <a:off x="381000" y="1676400"/>
            <a:ext cx="78486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1" indent="-396875" defTabSz="914363">
              <a:lnSpc>
                <a:spcPct val="90000"/>
              </a:lnSpc>
              <a:buSzPct val="100000"/>
              <a:buBlip>
                <a:blip r:embed="rId3"/>
              </a:buBlip>
            </a:pPr>
            <a:r>
              <a:rPr lang="en-US" sz="2400" dirty="0">
                <a:solidFill>
                  <a:srgbClr val="6600CC"/>
                </a:solidFill>
                <a:cs typeface="Vrinda" pitchFamily="34" charset="0"/>
              </a:rPr>
              <a:t>Parsing</a:t>
            </a:r>
          </a:p>
          <a:p>
            <a:pPr marL="900000" lvl="1" indent="-396875" defTabSz="914363">
              <a:lnSpc>
                <a:spcPct val="90000"/>
              </a:lnSpc>
              <a:buSzPct val="120000"/>
              <a:buBlip>
                <a:blip r:embed="rId4"/>
              </a:buBlip>
            </a:pPr>
            <a:r>
              <a:rPr lang="en-US" sz="2000" dirty="0">
                <a:solidFill>
                  <a:srgbClr val="6600CC"/>
                </a:solidFill>
                <a:cs typeface="Vrinda" pitchFamily="34" charset="0"/>
              </a:rPr>
              <a:t>Parsing is constructed by nesting dictionaries (objects) and lists as needed</a:t>
            </a:r>
            <a:r>
              <a:rPr lang="en-US" sz="2000" dirty="0" smtClean="0">
                <a:solidFill>
                  <a:srgbClr val="6600CC"/>
                </a:solidFill>
                <a:cs typeface="Vrinda" pitchFamily="34" charset="0"/>
              </a:rPr>
              <a:t>.</a:t>
            </a:r>
          </a:p>
          <a:p>
            <a:pPr marL="900000" lvl="1" indent="-396875" defTabSz="914363">
              <a:lnSpc>
                <a:spcPct val="90000"/>
              </a:lnSpc>
              <a:buSzPct val="120000"/>
              <a:buBlip>
                <a:blip r:embed="rId4"/>
              </a:buBlip>
            </a:pPr>
            <a:endParaRPr lang="en-US" sz="2400" dirty="0">
              <a:solidFill>
                <a:srgbClr val="6600CC"/>
              </a:solidFill>
              <a:cs typeface="Vrinda" pitchFamily="34" charset="0"/>
            </a:endParaRPr>
          </a:p>
          <a:p>
            <a:pPr marL="900000" lvl="1" indent="-396875" defTabSz="914363">
              <a:lnSpc>
                <a:spcPct val="90000"/>
              </a:lnSpc>
              <a:buSzPct val="120000"/>
              <a:buBlip>
                <a:blip r:embed="rId4"/>
              </a:buBlip>
            </a:pPr>
            <a:r>
              <a:rPr lang="en-US" sz="2000" dirty="0">
                <a:solidFill>
                  <a:srgbClr val="6600CC"/>
                </a:solidFill>
                <a:cs typeface="Vrinda" pitchFamily="34" charset="0"/>
              </a:rPr>
              <a:t>Parsing and data extraction code are usually simpler and more direct when using </a:t>
            </a:r>
            <a:r>
              <a:rPr lang="en-US" sz="2000" dirty="0" smtClean="0">
                <a:solidFill>
                  <a:srgbClr val="6600CC"/>
                </a:solidFill>
                <a:cs typeface="Vrinda" pitchFamily="34" charset="0"/>
              </a:rPr>
              <a:t>JSON. </a:t>
            </a:r>
          </a:p>
          <a:p>
            <a:pPr marL="900000" lvl="1" indent="-396875" defTabSz="914363">
              <a:lnSpc>
                <a:spcPct val="90000"/>
              </a:lnSpc>
              <a:buSzPct val="120000"/>
              <a:buBlip>
                <a:blip r:embed="rId4"/>
              </a:buBlip>
            </a:pPr>
            <a:endParaRPr lang="en-US" sz="2000" dirty="0">
              <a:solidFill>
                <a:srgbClr val="6600CC"/>
              </a:solidFill>
              <a:cs typeface="Vrinda" pitchFamily="34" charset="0"/>
            </a:endParaRPr>
          </a:p>
          <a:p>
            <a:pPr marL="900000" lvl="1" indent="-396875" defTabSz="914363">
              <a:lnSpc>
                <a:spcPct val="90000"/>
              </a:lnSpc>
              <a:buSzPct val="120000"/>
              <a:buBlip>
                <a:blip r:embed="rId4"/>
              </a:buBlip>
            </a:pPr>
            <a:r>
              <a:rPr lang="en-US" sz="2000" dirty="0">
                <a:solidFill>
                  <a:srgbClr val="6600CC"/>
                </a:solidFill>
                <a:cs typeface="Vrinda" pitchFamily="34" charset="0"/>
              </a:rPr>
              <a:t>Parsed JSON is represented as native Python objects and structures. </a:t>
            </a:r>
          </a:p>
          <a:p>
            <a:pPr marL="514350" lvl="1" indent="-396875" defTabSz="914363">
              <a:lnSpc>
                <a:spcPct val="90000"/>
              </a:lnSpc>
              <a:buSzPct val="100000"/>
              <a:buFont typeface="Arial" panose="020B0604020202020204" pitchFamily="34" charset="0"/>
              <a:buChar char="•"/>
            </a:pPr>
            <a:endParaRPr lang="en-US" sz="2000" dirty="0" smtClean="0">
              <a:solidFill>
                <a:srgbClr val="6600CC"/>
              </a:solidFill>
              <a:latin typeface="Vrinda" pitchFamily="34" charset="0"/>
              <a:cs typeface="Vrinda" pitchFamily="34" charset="0"/>
            </a:endParaRPr>
          </a:p>
          <a:p>
            <a:pPr marL="900000" lvl="1" indent="-396875" defTabSz="914363">
              <a:lnSpc>
                <a:spcPct val="90000"/>
              </a:lnSpc>
              <a:buSzPct val="120000"/>
              <a:buBlip>
                <a:blip r:embed="rId4"/>
              </a:buBlip>
            </a:pPr>
            <a:endParaRPr lang="en-US" sz="1800" dirty="0" smtClean="0">
              <a:solidFill>
                <a:srgbClr val="6600CC"/>
              </a:solidFill>
              <a:latin typeface="Vrinda" pitchFamily="34" charset="0"/>
              <a:cs typeface="Vrinda" pitchFamily="34" charset="0"/>
            </a:endParaRPr>
          </a:p>
          <a:p>
            <a:pPr marL="900000" lvl="1" indent="-396875" defTabSz="914363">
              <a:lnSpc>
                <a:spcPct val="90000"/>
              </a:lnSpc>
              <a:buSzPct val="120000"/>
              <a:buBlip>
                <a:blip r:embed="rId4"/>
              </a:buBlip>
            </a:pPr>
            <a:endParaRPr lang="en-US" sz="1800" dirty="0" smtClean="0">
              <a:solidFill>
                <a:srgbClr val="6600CC"/>
              </a:solidFill>
              <a:latin typeface="Vrinda" pitchFamily="34" charset="0"/>
              <a:cs typeface="Vrinda" pitchFamily="34" charset="0"/>
            </a:endParaRPr>
          </a:p>
          <a:p>
            <a:pPr marL="900000" lvl="1" indent="-396875" defTabSz="914363">
              <a:lnSpc>
                <a:spcPct val="90000"/>
              </a:lnSpc>
              <a:buSzPct val="120000"/>
              <a:buBlip>
                <a:blip r:embed="rId4"/>
              </a:buBlip>
            </a:pPr>
            <a:endParaRPr lang="en-US" sz="1800" dirty="0" smtClean="0">
              <a:solidFill>
                <a:srgbClr val="6600CC"/>
              </a:solidFill>
              <a:latin typeface="Vrinda" pitchFamily="34" charset="0"/>
              <a:cs typeface="Vrinda" pitchFamily="34" charset="0"/>
            </a:endParaRPr>
          </a:p>
          <a:p>
            <a:pPr marL="900000" lvl="1" indent="-396875" defTabSz="914363">
              <a:lnSpc>
                <a:spcPct val="90000"/>
              </a:lnSpc>
              <a:buSzPct val="120000"/>
              <a:buNone/>
            </a:pPr>
            <a:endParaRPr lang="en-US" sz="1800" dirty="0" smtClean="0">
              <a:solidFill>
                <a:srgbClr val="6600CC"/>
              </a:solidFill>
              <a:latin typeface="Vrinda" pitchFamily="34" charset="0"/>
              <a:cs typeface="Vrinda" pitchFamily="34" charset="0"/>
            </a:endParaRPr>
          </a:p>
        </p:txBody>
      </p:sp>
    </p:spTree>
    <p:extLst>
      <p:ext uri="{BB962C8B-B14F-4D97-AF65-F5344CB8AC3E}">
        <p14:creationId xmlns:p14="http://schemas.microsoft.com/office/powerpoint/2010/main" val="4003064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Parsing JSON (Contd.) </a:t>
            </a:r>
            <a:endParaRPr lang="en-US" sz="2400" b="1" dirty="0">
              <a:solidFill>
                <a:schemeClr val="bg1"/>
              </a:solidFill>
              <a:latin typeface="Vrinda" pitchFamily="34" charset="0"/>
              <a:cs typeface="Vrinda" pitchFamily="34" charset="0"/>
            </a:endParaRPr>
          </a:p>
        </p:txBody>
      </p:sp>
      <p:sp>
        <p:nvSpPr>
          <p:cNvPr id="5" name="Content Placeholder 2"/>
          <p:cNvSpPr txBox="1">
            <a:spLocks/>
          </p:cNvSpPr>
          <p:nvPr/>
        </p:nvSpPr>
        <p:spPr>
          <a:xfrm>
            <a:off x="720000" y="1852200"/>
            <a:ext cx="79200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900000" lvl="1" indent="-396875" defTabSz="914363">
              <a:lnSpc>
                <a:spcPct val="90000"/>
              </a:lnSpc>
              <a:buSzPct val="120000"/>
              <a:buNone/>
            </a:pPr>
            <a:endParaRPr lang="en-IN" sz="1800" dirty="0" smtClean="0">
              <a:solidFill>
                <a:srgbClr val="6600CC"/>
              </a:solidFill>
              <a:latin typeface="Vrinda" pitchFamily="34" charset="0"/>
              <a:cs typeface="Vrinda" pitchFamily="34" charset="0"/>
            </a:endParaRPr>
          </a:p>
        </p:txBody>
      </p:sp>
      <p:sp>
        <p:nvSpPr>
          <p:cNvPr id="6" name="Right Arrow 5"/>
          <p:cNvSpPr/>
          <p:nvPr/>
        </p:nvSpPr>
        <p:spPr>
          <a:xfrm>
            <a:off x="4267200" y="3805922"/>
            <a:ext cx="978408" cy="484632"/>
          </a:xfrm>
          <a:prstGeom prst="rightArrow">
            <a:avLst/>
          </a:prstGeom>
        </p:spPr>
        <p:txBody>
          <a:bodyPr wrap="square" rtlCol="0" anchor="ctr">
            <a:spAutoFit/>
          </a:bodyPr>
          <a:lstStyle/>
          <a:p>
            <a:pPr marL="514350" indent="-396875" algn="ctr" defTabSz="914363">
              <a:lnSpc>
                <a:spcPct val="90000"/>
              </a:lnSpc>
              <a:spcBef>
                <a:spcPct val="20000"/>
              </a:spcBef>
              <a:buSzPct val="100000"/>
              <a:buBlip>
                <a:blip r:embed="rId4"/>
              </a:buBlip>
            </a:pPr>
            <a:endParaRPr lang="en-US" sz="2000" dirty="0">
              <a:solidFill>
                <a:srgbClr val="6600CC"/>
              </a:solidFill>
              <a:latin typeface="Vrinda" pitchFamily="34" charset="0"/>
              <a:cs typeface="Vrinda" pitchFamily="34" charset="0"/>
            </a:endParaRPr>
          </a:p>
        </p:txBody>
      </p:sp>
      <p:sp>
        <p:nvSpPr>
          <p:cNvPr id="8" name="Right Arrow 7"/>
          <p:cNvSpPr/>
          <p:nvPr/>
        </p:nvSpPr>
        <p:spPr>
          <a:xfrm>
            <a:off x="4191000" y="3429000"/>
            <a:ext cx="2057400" cy="484632"/>
          </a:xfrm>
          <a:prstGeom prst="rightArrow">
            <a:avLst/>
          </a:prstGeom>
        </p:spPr>
        <p:txBody>
          <a:bodyPr wrap="square" rtlCol="0" anchor="ctr">
            <a:spAutoFit/>
          </a:bodyPr>
          <a:lstStyle/>
          <a:p>
            <a:pPr marL="514350" indent="-396875" algn="ctr" defTabSz="914363">
              <a:lnSpc>
                <a:spcPct val="90000"/>
              </a:lnSpc>
              <a:spcBef>
                <a:spcPct val="20000"/>
              </a:spcBef>
              <a:buSzPct val="100000"/>
              <a:buBlip>
                <a:blip r:embed="rId4"/>
              </a:buBlip>
            </a:pPr>
            <a:endParaRPr lang="en-US" sz="2000" dirty="0">
              <a:solidFill>
                <a:srgbClr val="6600CC"/>
              </a:solidFill>
              <a:latin typeface="Vrinda" pitchFamily="34" charset="0"/>
              <a:cs typeface="Vrinda" pitchFamily="34" charset="0"/>
            </a:endParaRPr>
          </a:p>
        </p:txBody>
      </p:sp>
      <p:sp>
        <p:nvSpPr>
          <p:cNvPr id="9" name="Curved Down Arrow 8"/>
          <p:cNvSpPr/>
          <p:nvPr/>
        </p:nvSpPr>
        <p:spPr>
          <a:xfrm>
            <a:off x="4038600" y="1852200"/>
            <a:ext cx="641400" cy="1348200"/>
          </a:xfrm>
          <a:prstGeom prst="curvedDownArrow">
            <a:avLst/>
          </a:prstGeom>
        </p:spPr>
        <p:txBody>
          <a:bodyPr wrap="square" rtlCol="0" anchor="ctr">
            <a:spAutoFit/>
          </a:bodyPr>
          <a:lstStyle/>
          <a:p>
            <a:pPr marL="514350" indent="-396875" algn="ctr" defTabSz="914363">
              <a:lnSpc>
                <a:spcPct val="90000"/>
              </a:lnSpc>
              <a:spcBef>
                <a:spcPct val="20000"/>
              </a:spcBef>
              <a:buSzPct val="100000"/>
              <a:buBlip>
                <a:blip r:embed="rId4"/>
              </a:buBlip>
            </a:pPr>
            <a:endParaRPr lang="en-US" sz="2000" dirty="0">
              <a:solidFill>
                <a:srgbClr val="6600CC"/>
              </a:solidFill>
              <a:latin typeface="Vrinda" pitchFamily="34" charset="0"/>
              <a:cs typeface="Vrinda" pitchFamily="34" charset="0"/>
            </a:endParaRPr>
          </a:p>
        </p:txBody>
      </p:sp>
      <p:sp>
        <p:nvSpPr>
          <p:cNvPr id="11" name="Striped Right Arrow 10"/>
          <p:cNvSpPr/>
          <p:nvPr/>
        </p:nvSpPr>
        <p:spPr>
          <a:xfrm>
            <a:off x="3581400" y="4290554"/>
            <a:ext cx="3200400" cy="484632"/>
          </a:xfrm>
          <a:prstGeom prst="stripedRightArrow">
            <a:avLst/>
          </a:prstGeom>
        </p:spPr>
        <p:txBody>
          <a:bodyPr wrap="square" rtlCol="0" anchor="ctr">
            <a:spAutoFit/>
          </a:bodyPr>
          <a:lstStyle/>
          <a:p>
            <a:pPr marL="514350" indent="-396875" algn="ctr" defTabSz="914363">
              <a:lnSpc>
                <a:spcPct val="90000"/>
              </a:lnSpc>
              <a:spcBef>
                <a:spcPct val="20000"/>
              </a:spcBef>
              <a:buSzPct val="100000"/>
              <a:buBlip>
                <a:blip r:embed="rId4"/>
              </a:buBlip>
            </a:pPr>
            <a:endParaRPr lang="en-US" sz="2000" dirty="0">
              <a:solidFill>
                <a:srgbClr val="6600CC"/>
              </a:solidFill>
              <a:latin typeface="Vrinda" pitchFamily="34" charset="0"/>
              <a:cs typeface="Vrinda" pitchFamily="34" charset="0"/>
            </a:endParaRPr>
          </a:p>
        </p:txBody>
      </p:sp>
      <p:sp>
        <p:nvSpPr>
          <p:cNvPr id="12" name="TextBox 11"/>
          <p:cNvSpPr txBox="1"/>
          <p:nvPr/>
        </p:nvSpPr>
        <p:spPr>
          <a:xfrm>
            <a:off x="720000" y="1803696"/>
            <a:ext cx="4036404" cy="4368504"/>
          </a:xfrm>
          <a:prstGeom prst="rect">
            <a:avLst/>
          </a:prstGeom>
          <a:ln/>
        </p:spPr>
        <p:style>
          <a:lnRef idx="1">
            <a:schemeClr val="accent1"/>
          </a:lnRef>
          <a:fillRef idx="2">
            <a:schemeClr val="accent1"/>
          </a:fillRef>
          <a:effectRef idx="1">
            <a:schemeClr val="accent1"/>
          </a:effectRef>
          <a:fontRef idx="minor">
            <a:schemeClr val="dk1"/>
          </a:fontRef>
        </p:style>
        <p:txBody>
          <a:bodyPr wrap="square" rtlCol="0">
            <a:spAutoFit/>
          </a:bodyPr>
          <a:lstStyle/>
          <a:p>
            <a:pPr marL="796925" indent="-396875" defTabSz="914363">
              <a:lnSpc>
                <a:spcPct val="90000"/>
              </a:lnSpc>
              <a:spcBef>
                <a:spcPct val="20000"/>
              </a:spcBef>
              <a:buSzPct val="120000"/>
            </a:pPr>
            <a:r>
              <a:rPr lang="en-US" sz="1500" b="1" dirty="0" smtClean="0">
                <a:solidFill>
                  <a:srgbClr val="6600CC"/>
                </a:solidFill>
                <a:latin typeface="Vrinda" pitchFamily="34" charset="0"/>
                <a:cs typeface="Vrinda" pitchFamily="34" charset="0"/>
              </a:rPr>
              <a:t>import json</a:t>
            </a:r>
          </a:p>
          <a:p>
            <a:pPr marL="796925" indent="-396875" defTabSz="914363">
              <a:lnSpc>
                <a:spcPct val="90000"/>
              </a:lnSpc>
              <a:spcBef>
                <a:spcPct val="20000"/>
              </a:spcBef>
              <a:buSzPct val="120000"/>
            </a:pPr>
            <a:r>
              <a:rPr lang="en-US" sz="1500" b="1" dirty="0" smtClean="0">
                <a:solidFill>
                  <a:srgbClr val="6600CC"/>
                </a:solidFill>
                <a:latin typeface="Vrinda" pitchFamily="34" charset="0"/>
                <a:cs typeface="Vrinda" pitchFamily="34" charset="0"/>
              </a:rPr>
              <a:t>input = ''' [ { </a:t>
            </a:r>
          </a:p>
          <a:p>
            <a:pPr marL="796925" indent="-396875" defTabSz="914363">
              <a:lnSpc>
                <a:spcPct val="90000"/>
              </a:lnSpc>
              <a:spcBef>
                <a:spcPct val="20000"/>
              </a:spcBef>
              <a:buSzPct val="120000"/>
            </a:pPr>
            <a:r>
              <a:rPr lang="en-US" sz="1500" b="1" dirty="0" smtClean="0">
                <a:solidFill>
                  <a:srgbClr val="6600CC"/>
                </a:solidFill>
                <a:latin typeface="Vrinda" pitchFamily="34" charset="0"/>
                <a:cs typeface="Vrinda" pitchFamily="34" charset="0"/>
              </a:rPr>
              <a:t>	"id" : "001", </a:t>
            </a:r>
          </a:p>
          <a:p>
            <a:pPr marL="796925" indent="-396875" defTabSz="914363">
              <a:lnSpc>
                <a:spcPct val="90000"/>
              </a:lnSpc>
              <a:spcBef>
                <a:spcPct val="20000"/>
              </a:spcBef>
              <a:buSzPct val="120000"/>
            </a:pPr>
            <a:r>
              <a:rPr lang="en-US" sz="1500" b="1" dirty="0" smtClean="0">
                <a:solidFill>
                  <a:srgbClr val="6600CC"/>
                </a:solidFill>
                <a:latin typeface="Vrinda" pitchFamily="34" charset="0"/>
                <a:cs typeface="Vrinda" pitchFamily="34" charset="0"/>
              </a:rPr>
              <a:t>	"x" : "2", </a:t>
            </a:r>
          </a:p>
          <a:p>
            <a:pPr marL="796925" indent="-396875" defTabSz="914363">
              <a:lnSpc>
                <a:spcPct val="90000"/>
              </a:lnSpc>
              <a:spcBef>
                <a:spcPct val="20000"/>
              </a:spcBef>
              <a:buSzPct val="120000"/>
            </a:pPr>
            <a:r>
              <a:rPr lang="en-US" sz="1500" b="1" dirty="0" smtClean="0">
                <a:solidFill>
                  <a:srgbClr val="6600CC"/>
                </a:solidFill>
                <a:latin typeface="Vrinda" pitchFamily="34" charset="0"/>
                <a:cs typeface="Vrinda" pitchFamily="34" charset="0"/>
              </a:rPr>
              <a:t>	"name" : "Chuck" </a:t>
            </a:r>
          </a:p>
          <a:p>
            <a:pPr marL="796925" indent="-396875" defTabSz="914363">
              <a:lnSpc>
                <a:spcPct val="90000"/>
              </a:lnSpc>
              <a:spcBef>
                <a:spcPct val="20000"/>
              </a:spcBef>
              <a:buSzPct val="120000"/>
            </a:pPr>
            <a:r>
              <a:rPr lang="en-US" sz="1500" b="1" dirty="0" smtClean="0">
                <a:solidFill>
                  <a:srgbClr val="6600CC"/>
                </a:solidFill>
                <a:latin typeface="Vrinda" pitchFamily="34" charset="0"/>
                <a:cs typeface="Vrinda" pitchFamily="34" charset="0"/>
              </a:rPr>
              <a:t>} , </a:t>
            </a:r>
          </a:p>
          <a:p>
            <a:pPr marL="796925" indent="-396875" defTabSz="914363">
              <a:lnSpc>
                <a:spcPct val="90000"/>
              </a:lnSpc>
              <a:spcBef>
                <a:spcPct val="20000"/>
              </a:spcBef>
              <a:buSzPct val="120000"/>
            </a:pPr>
            <a:r>
              <a:rPr lang="en-US" sz="1500" b="1" dirty="0" smtClean="0">
                <a:solidFill>
                  <a:srgbClr val="6600CC"/>
                </a:solidFill>
                <a:latin typeface="Vrinda" pitchFamily="34" charset="0"/>
                <a:cs typeface="Vrinda" pitchFamily="34" charset="0"/>
              </a:rPr>
              <a:t>{ </a:t>
            </a:r>
          </a:p>
          <a:p>
            <a:pPr marL="796925" indent="-396875" defTabSz="914363">
              <a:lnSpc>
                <a:spcPct val="90000"/>
              </a:lnSpc>
              <a:spcBef>
                <a:spcPct val="20000"/>
              </a:spcBef>
              <a:buSzPct val="120000"/>
            </a:pPr>
            <a:r>
              <a:rPr lang="en-US" sz="1500" b="1" dirty="0" smtClean="0">
                <a:solidFill>
                  <a:srgbClr val="6600CC"/>
                </a:solidFill>
                <a:latin typeface="Vrinda" pitchFamily="34" charset="0"/>
                <a:cs typeface="Vrinda" pitchFamily="34" charset="0"/>
              </a:rPr>
              <a:t>"id" : "009", </a:t>
            </a:r>
          </a:p>
          <a:p>
            <a:pPr marL="796925" indent="-396875" defTabSz="914363">
              <a:lnSpc>
                <a:spcPct val="90000"/>
              </a:lnSpc>
              <a:spcBef>
                <a:spcPct val="20000"/>
              </a:spcBef>
              <a:buSzPct val="120000"/>
            </a:pPr>
            <a:r>
              <a:rPr lang="en-US" sz="1500" b="1" dirty="0" smtClean="0">
                <a:solidFill>
                  <a:srgbClr val="6600CC"/>
                </a:solidFill>
                <a:latin typeface="Vrinda" pitchFamily="34" charset="0"/>
                <a:cs typeface="Vrinda" pitchFamily="34" charset="0"/>
              </a:rPr>
              <a:t>"x" : "7",</a:t>
            </a:r>
          </a:p>
          <a:p>
            <a:pPr marL="796925" indent="-396875" defTabSz="914363">
              <a:lnSpc>
                <a:spcPct val="90000"/>
              </a:lnSpc>
              <a:spcBef>
                <a:spcPct val="20000"/>
              </a:spcBef>
              <a:buSzPct val="120000"/>
            </a:pPr>
            <a:r>
              <a:rPr lang="en-US" sz="1500" b="1" dirty="0" smtClean="0">
                <a:solidFill>
                  <a:srgbClr val="6600CC"/>
                </a:solidFill>
                <a:latin typeface="Vrinda" pitchFamily="34" charset="0"/>
                <a:cs typeface="Vrinda" pitchFamily="34" charset="0"/>
              </a:rPr>
              <a:t> "name" : "Chuck" </a:t>
            </a:r>
          </a:p>
          <a:p>
            <a:pPr marL="796925" indent="-396875" defTabSz="914363">
              <a:lnSpc>
                <a:spcPct val="90000"/>
              </a:lnSpc>
              <a:spcBef>
                <a:spcPct val="20000"/>
              </a:spcBef>
              <a:buSzPct val="120000"/>
            </a:pPr>
            <a:r>
              <a:rPr lang="en-US" sz="1500" b="1" dirty="0" smtClean="0">
                <a:solidFill>
                  <a:srgbClr val="6600CC"/>
                </a:solidFill>
                <a:latin typeface="Vrinda" pitchFamily="34" charset="0"/>
                <a:cs typeface="Vrinda" pitchFamily="34" charset="0"/>
              </a:rPr>
              <a:t>} ]'''</a:t>
            </a:r>
          </a:p>
          <a:p>
            <a:pPr marL="796925" indent="-396875" defTabSz="914363">
              <a:lnSpc>
                <a:spcPct val="90000"/>
              </a:lnSpc>
              <a:spcBef>
                <a:spcPct val="20000"/>
              </a:spcBef>
              <a:buSzPct val="120000"/>
            </a:pPr>
            <a:r>
              <a:rPr lang="en-US" sz="1500" b="1" dirty="0" smtClean="0">
                <a:solidFill>
                  <a:srgbClr val="6600CC"/>
                </a:solidFill>
                <a:latin typeface="Vrinda" pitchFamily="34" charset="0"/>
                <a:cs typeface="Vrinda" pitchFamily="34" charset="0"/>
              </a:rPr>
              <a:t>info = </a:t>
            </a:r>
            <a:r>
              <a:rPr lang="en-US" sz="1500" b="1" dirty="0" err="1" smtClean="0">
                <a:solidFill>
                  <a:srgbClr val="6600CC"/>
                </a:solidFill>
                <a:latin typeface="Vrinda" pitchFamily="34" charset="0"/>
                <a:cs typeface="Vrinda" pitchFamily="34" charset="0"/>
              </a:rPr>
              <a:t>json.loads</a:t>
            </a:r>
            <a:r>
              <a:rPr lang="en-US" sz="1500" b="1" dirty="0" smtClean="0">
                <a:solidFill>
                  <a:srgbClr val="6600CC"/>
                </a:solidFill>
                <a:latin typeface="Vrinda" pitchFamily="34" charset="0"/>
                <a:cs typeface="Vrinda" pitchFamily="34" charset="0"/>
              </a:rPr>
              <a:t>(input) </a:t>
            </a:r>
          </a:p>
          <a:p>
            <a:pPr marL="796925" indent="-396875" defTabSz="914363">
              <a:lnSpc>
                <a:spcPct val="90000"/>
              </a:lnSpc>
              <a:spcBef>
                <a:spcPct val="20000"/>
              </a:spcBef>
              <a:buSzPct val="120000"/>
            </a:pPr>
            <a:r>
              <a:rPr lang="en-US" sz="1500" b="1" dirty="0" smtClean="0">
                <a:solidFill>
                  <a:srgbClr val="6600CC"/>
                </a:solidFill>
                <a:latin typeface="Vrinda" pitchFamily="34" charset="0"/>
                <a:cs typeface="Vrinda" pitchFamily="34" charset="0"/>
              </a:rPr>
              <a:t>print '</a:t>
            </a:r>
            <a:r>
              <a:rPr lang="en-US" sz="1500" b="1" dirty="0" err="1" smtClean="0">
                <a:solidFill>
                  <a:srgbClr val="6600CC"/>
                </a:solidFill>
                <a:latin typeface="Vrinda" pitchFamily="34" charset="0"/>
                <a:cs typeface="Vrinda" pitchFamily="34" charset="0"/>
              </a:rPr>
              <a:t>Usercount:',len</a:t>
            </a:r>
            <a:r>
              <a:rPr lang="en-US" sz="1500" b="1" dirty="0" smtClean="0">
                <a:solidFill>
                  <a:srgbClr val="6600CC"/>
                </a:solidFill>
                <a:latin typeface="Vrinda" pitchFamily="34" charset="0"/>
                <a:cs typeface="Vrinda" pitchFamily="34" charset="0"/>
              </a:rPr>
              <a:t>(info)</a:t>
            </a:r>
          </a:p>
          <a:p>
            <a:pPr marL="796925" indent="-396875" defTabSz="914363">
              <a:lnSpc>
                <a:spcPct val="90000"/>
              </a:lnSpc>
              <a:spcBef>
                <a:spcPct val="20000"/>
              </a:spcBef>
              <a:buSzPct val="120000"/>
            </a:pPr>
            <a:r>
              <a:rPr lang="en-US" sz="1500" b="1" dirty="0" smtClean="0">
                <a:solidFill>
                  <a:srgbClr val="6600CC"/>
                </a:solidFill>
                <a:latin typeface="Vrinda" pitchFamily="34" charset="0"/>
                <a:cs typeface="Vrinda" pitchFamily="34" charset="0"/>
              </a:rPr>
              <a:t>for item in info:</a:t>
            </a:r>
          </a:p>
          <a:p>
            <a:pPr marL="796925" indent="-396875" defTabSz="914363">
              <a:lnSpc>
                <a:spcPct val="90000"/>
              </a:lnSpc>
              <a:spcBef>
                <a:spcPct val="20000"/>
              </a:spcBef>
              <a:buSzPct val="120000"/>
            </a:pPr>
            <a:r>
              <a:rPr lang="en-US" sz="1500" b="1" dirty="0" smtClean="0">
                <a:solidFill>
                  <a:srgbClr val="6600CC"/>
                </a:solidFill>
                <a:latin typeface="Vrinda" pitchFamily="34" charset="0"/>
                <a:cs typeface="Vrinda" pitchFamily="34" charset="0"/>
              </a:rPr>
              <a:t>print '</a:t>
            </a:r>
            <a:r>
              <a:rPr lang="en-US" sz="1500" b="1" dirty="0" err="1" smtClean="0">
                <a:solidFill>
                  <a:srgbClr val="6600CC"/>
                </a:solidFill>
                <a:latin typeface="Vrinda" pitchFamily="34" charset="0"/>
                <a:cs typeface="Vrinda" pitchFamily="34" charset="0"/>
              </a:rPr>
              <a:t>Name',item</a:t>
            </a:r>
            <a:r>
              <a:rPr lang="en-US" sz="1500" b="1" dirty="0" smtClean="0">
                <a:solidFill>
                  <a:srgbClr val="6600CC"/>
                </a:solidFill>
                <a:latin typeface="Vrinda" pitchFamily="34" charset="0"/>
                <a:cs typeface="Vrinda" pitchFamily="34" charset="0"/>
              </a:rPr>
              <a:t>['name'] </a:t>
            </a:r>
          </a:p>
          <a:p>
            <a:pPr marL="796925" indent="-396875" defTabSz="914363">
              <a:lnSpc>
                <a:spcPct val="90000"/>
              </a:lnSpc>
              <a:spcBef>
                <a:spcPct val="20000"/>
              </a:spcBef>
              <a:buSzPct val="120000"/>
            </a:pPr>
            <a:r>
              <a:rPr lang="en-US" sz="1500" b="1" dirty="0" smtClean="0">
                <a:solidFill>
                  <a:srgbClr val="6600CC"/>
                </a:solidFill>
                <a:latin typeface="Vrinda" pitchFamily="34" charset="0"/>
                <a:cs typeface="Vrinda" pitchFamily="34" charset="0"/>
              </a:rPr>
              <a:t>print '</a:t>
            </a:r>
            <a:r>
              <a:rPr lang="en-US" sz="1500" b="1" dirty="0" err="1" smtClean="0">
                <a:solidFill>
                  <a:srgbClr val="6600CC"/>
                </a:solidFill>
                <a:latin typeface="Vrinda" pitchFamily="34" charset="0"/>
                <a:cs typeface="Vrinda" pitchFamily="34" charset="0"/>
              </a:rPr>
              <a:t>Id',item</a:t>
            </a:r>
            <a:r>
              <a:rPr lang="en-US" sz="1500" b="1" dirty="0" smtClean="0">
                <a:solidFill>
                  <a:srgbClr val="6600CC"/>
                </a:solidFill>
                <a:latin typeface="Vrinda" pitchFamily="34" charset="0"/>
                <a:cs typeface="Vrinda" pitchFamily="34" charset="0"/>
              </a:rPr>
              <a:t>['id'] </a:t>
            </a:r>
          </a:p>
          <a:p>
            <a:pPr marL="796925" indent="-396875" defTabSz="914363">
              <a:lnSpc>
                <a:spcPct val="90000"/>
              </a:lnSpc>
              <a:spcBef>
                <a:spcPct val="20000"/>
              </a:spcBef>
              <a:buSzPct val="120000"/>
            </a:pPr>
            <a:r>
              <a:rPr lang="en-US" sz="1500" b="1" dirty="0" smtClean="0">
                <a:solidFill>
                  <a:srgbClr val="6600CC"/>
                </a:solidFill>
                <a:latin typeface="Vrinda" pitchFamily="34" charset="0"/>
                <a:cs typeface="Vrinda" pitchFamily="34" charset="0"/>
              </a:rPr>
              <a:t>print '</a:t>
            </a:r>
            <a:r>
              <a:rPr lang="en-US" sz="1500" b="1" dirty="0" err="1" smtClean="0">
                <a:solidFill>
                  <a:srgbClr val="6600CC"/>
                </a:solidFill>
                <a:latin typeface="Vrinda" pitchFamily="34" charset="0"/>
                <a:cs typeface="Vrinda" pitchFamily="34" charset="0"/>
              </a:rPr>
              <a:t>Attribute',item</a:t>
            </a:r>
            <a:r>
              <a:rPr lang="en-US" sz="1500" b="1" dirty="0" smtClean="0">
                <a:solidFill>
                  <a:srgbClr val="6600CC"/>
                </a:solidFill>
                <a:latin typeface="Vrinda" pitchFamily="34" charset="0"/>
                <a:cs typeface="Vrinda" pitchFamily="34" charset="0"/>
              </a:rPr>
              <a:t>['x']</a:t>
            </a:r>
          </a:p>
        </p:txBody>
      </p:sp>
      <p:sp>
        <p:nvSpPr>
          <p:cNvPr id="13" name="TextBox 12"/>
          <p:cNvSpPr txBox="1"/>
          <p:nvPr/>
        </p:nvSpPr>
        <p:spPr>
          <a:xfrm>
            <a:off x="5486400" y="2894076"/>
            <a:ext cx="2667000" cy="2308324"/>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b="1" i="1" dirty="0" smtClean="0"/>
              <a:t>Output:</a:t>
            </a:r>
          </a:p>
          <a:p>
            <a:r>
              <a:rPr lang="en-US" dirty="0" smtClean="0"/>
              <a:t>User </a:t>
            </a:r>
            <a:r>
              <a:rPr lang="en-US" dirty="0"/>
              <a:t>count: 2</a:t>
            </a:r>
          </a:p>
          <a:p>
            <a:r>
              <a:rPr lang="en-US" dirty="0"/>
              <a:t>Name Chuck</a:t>
            </a:r>
          </a:p>
          <a:p>
            <a:r>
              <a:rPr lang="en-US" dirty="0"/>
              <a:t>Id 001</a:t>
            </a:r>
          </a:p>
          <a:p>
            <a:r>
              <a:rPr lang="en-US" dirty="0"/>
              <a:t>Attribute 2</a:t>
            </a:r>
          </a:p>
          <a:p>
            <a:r>
              <a:rPr lang="en-US" dirty="0"/>
              <a:t>Name Brent</a:t>
            </a:r>
          </a:p>
          <a:p>
            <a:r>
              <a:rPr lang="en-US" dirty="0"/>
              <a:t>Id 009</a:t>
            </a:r>
          </a:p>
          <a:p>
            <a:r>
              <a:rPr lang="en-US" dirty="0"/>
              <a:t>Attribute 7</a:t>
            </a:r>
          </a:p>
        </p:txBody>
      </p:sp>
      <p:sp>
        <p:nvSpPr>
          <p:cNvPr id="3" name="Circular Arrow 2"/>
          <p:cNvSpPr/>
          <p:nvPr/>
        </p:nvSpPr>
        <p:spPr>
          <a:xfrm>
            <a:off x="4756404" y="2341404"/>
            <a:ext cx="1568400" cy="978408"/>
          </a:xfrm>
          <a:prstGeom prst="circularArrow">
            <a:avLst/>
          </a:prstGeom>
        </p:spPr>
        <p:style>
          <a:lnRef idx="2">
            <a:schemeClr val="accent4"/>
          </a:lnRef>
          <a:fillRef idx="1">
            <a:schemeClr val="lt1"/>
          </a:fillRef>
          <a:effectRef idx="0">
            <a:schemeClr val="accent4"/>
          </a:effectRef>
          <a:fontRef idx="minor">
            <a:schemeClr val="dk1"/>
          </a:fontRef>
        </p:style>
        <p:txBody>
          <a:bodyPr wrap="square" rtlCol="0" anchor="ctr">
            <a:spAutoFit/>
          </a:bodyPr>
          <a:lstStyle/>
          <a:p>
            <a:pPr marL="514350" indent="-396875" algn="ctr" defTabSz="914363">
              <a:lnSpc>
                <a:spcPct val="90000"/>
              </a:lnSpc>
              <a:spcBef>
                <a:spcPct val="20000"/>
              </a:spcBef>
              <a:buSzPct val="100000"/>
              <a:buBlip>
                <a:blip r:embed="rId4"/>
              </a:buBlip>
            </a:pPr>
            <a:endParaRPr lang="en-US" sz="2000" dirty="0">
              <a:solidFill>
                <a:srgbClr val="6600CC"/>
              </a:solidFill>
              <a:latin typeface="Vrinda" pitchFamily="34" charset="0"/>
              <a:cs typeface="Vrinda" pitchFamily="34" charset="0"/>
            </a:endParaRPr>
          </a:p>
        </p:txBody>
      </p:sp>
    </p:spTree>
    <p:extLst>
      <p:ext uri="{BB962C8B-B14F-4D97-AF65-F5344CB8AC3E}">
        <p14:creationId xmlns:p14="http://schemas.microsoft.com/office/powerpoint/2010/main" val="17718679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sp>
        <p:nvSpPr>
          <p:cNvPr id="8" name="Oval Callout 7"/>
          <p:cNvSpPr/>
          <p:nvPr/>
        </p:nvSpPr>
        <p:spPr>
          <a:xfrm flipH="1">
            <a:off x="1219200" y="2667000"/>
            <a:ext cx="5069160" cy="1600200"/>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endParaRPr lang="en-IN" sz="1600" dirty="0" smtClean="0"/>
          </a:p>
          <a:p>
            <a:endParaRPr lang="en-IN" sz="1600" dirty="0"/>
          </a:p>
          <a:p>
            <a:r>
              <a:rPr lang="en-IN" dirty="0" smtClean="0"/>
              <a:t>The </a:t>
            </a:r>
            <a:r>
              <a:rPr lang="en-IN" dirty="0"/>
              <a:t>structure of JSON contains ________</a:t>
            </a:r>
            <a:r>
              <a:rPr lang="en-IN" dirty="0" smtClean="0"/>
              <a:t>pair.</a:t>
            </a:r>
            <a:endParaRPr lang="en-IN" dirty="0"/>
          </a:p>
          <a:p>
            <a:endParaRPr lang="en-US" sz="1600" dirty="0"/>
          </a:p>
          <a:p>
            <a:pPr algn="ctr"/>
            <a:endParaRPr lang="en-IN" sz="1600" dirty="0" smtClean="0"/>
          </a:p>
          <a:p>
            <a:pPr algn="ctr"/>
            <a:endParaRPr lang="en-US" sz="1600" dirty="0"/>
          </a:p>
        </p:txBody>
      </p:sp>
    </p:spTree>
    <p:extLst>
      <p:ext uri="{BB962C8B-B14F-4D97-AF65-F5344CB8AC3E}">
        <p14:creationId xmlns:p14="http://schemas.microsoft.com/office/powerpoint/2010/main" val="874392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br>
              <a:rPr lang="en-IN" sz="2400" b="1" dirty="0" smtClean="0">
                <a:solidFill>
                  <a:schemeClr val="bg1"/>
                </a:solidFill>
                <a:latin typeface="Vrinda" pitchFamily="34" charset="0"/>
                <a:cs typeface="Vrinda" pitchFamily="34" charset="0"/>
              </a:rPr>
            </a:b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533400" y="1676400"/>
            <a:ext cx="8153400" cy="4419600"/>
          </a:xfrm>
        </p:spPr>
      </p:pic>
      <p:grpSp>
        <p:nvGrpSpPr>
          <p:cNvPr id="5" name="Group 4"/>
          <p:cNvGrpSpPr/>
          <p:nvPr/>
        </p:nvGrpSpPr>
        <p:grpSpPr>
          <a:xfrm>
            <a:off x="2733802" y="4974021"/>
            <a:ext cx="4208257" cy="977946"/>
            <a:chOff x="304808" y="5638800"/>
            <a:chExt cx="2653441" cy="914400"/>
          </a:xfrm>
        </p:grpSpPr>
        <p:grpSp>
          <p:nvGrpSpPr>
            <p:cNvPr id="9" name="Group 8"/>
            <p:cNvGrpSpPr/>
            <p:nvPr/>
          </p:nvGrpSpPr>
          <p:grpSpPr>
            <a:xfrm>
              <a:off x="304808" y="5638800"/>
              <a:ext cx="2488567" cy="914400"/>
              <a:chOff x="6019800" y="1143000"/>
              <a:chExt cx="585545" cy="533400"/>
            </a:xfrm>
          </p:grpSpPr>
          <p:sp>
            <p:nvSpPr>
              <p:cNvPr id="12" name="Oval 11"/>
              <p:cNvSpPr/>
              <p:nvPr/>
            </p:nvSpPr>
            <p:spPr>
              <a:xfrm>
                <a:off x="6019800" y="1143000"/>
                <a:ext cx="457200" cy="533400"/>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solidFill>
                    <a:schemeClr val="bg1"/>
                  </a:solidFill>
                </a:endParaRPr>
              </a:p>
            </p:txBody>
          </p:sp>
          <p:sp>
            <p:nvSpPr>
              <p:cNvPr id="13" name="Oval 12"/>
              <p:cNvSpPr/>
              <p:nvPr/>
            </p:nvSpPr>
            <p:spPr>
              <a:xfrm>
                <a:off x="6220973" y="1267686"/>
                <a:ext cx="384372" cy="408714"/>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solidFill>
                    <a:schemeClr val="bg1"/>
                  </a:solidFill>
                </a:endParaRPr>
              </a:p>
            </p:txBody>
          </p:sp>
        </p:grpSp>
        <p:sp>
          <p:nvSpPr>
            <p:cNvPr id="10" name="Rectangle 9"/>
            <p:cNvSpPr/>
            <p:nvPr/>
          </p:nvSpPr>
          <p:spPr>
            <a:xfrm>
              <a:off x="1537568" y="6048403"/>
              <a:ext cx="1420681" cy="299289"/>
            </a:xfrm>
            <a:prstGeom prst="rect">
              <a:avLst/>
            </a:prstGeom>
            <a:ln>
              <a:noFill/>
            </a:ln>
            <a:effectLst>
              <a:glow rad="63500">
                <a:schemeClr val="accent3">
                  <a:satMod val="175000"/>
                  <a:alpha val="40000"/>
                </a:schemeClr>
              </a:glow>
            </a:effectLst>
          </p:spPr>
          <p:txBody>
            <a:bodyPr wrap="square">
              <a:spAutoFit/>
            </a:bodyPr>
            <a:lstStyle/>
            <a:p>
              <a:pPr marL="117475" indent="0" defTabSz="914363">
                <a:lnSpc>
                  <a:spcPct val="90000"/>
                </a:lnSpc>
                <a:spcBef>
                  <a:spcPct val="20000"/>
                </a:spcBef>
                <a:buSzPct val="100000"/>
                <a:buFont typeface="Arial" pitchFamily="34" charset="0"/>
                <a:buNone/>
              </a:pPr>
              <a:r>
                <a:rPr lang="en-IN" sz="1600" dirty="0" smtClean="0">
                  <a:solidFill>
                    <a:schemeClr val="bg1"/>
                  </a:solidFill>
                  <a:latin typeface="Vrinda" pitchFamily="34" charset="0"/>
                  <a:cs typeface="Vrinda" pitchFamily="34" charset="0"/>
                </a:rPr>
                <a:t>key-value</a:t>
              </a:r>
              <a:endParaRPr lang="en-IN" sz="1600" dirty="0">
                <a:solidFill>
                  <a:schemeClr val="bg1"/>
                </a:solidFill>
                <a:latin typeface="Vrinda" pitchFamily="34" charset="0"/>
                <a:cs typeface="Vrinda" pitchFamily="34" charset="0"/>
              </a:endParaRPr>
            </a:p>
          </p:txBody>
        </p:sp>
        <p:sp>
          <p:nvSpPr>
            <p:cNvPr id="11" name="Rectangle 10"/>
            <p:cNvSpPr/>
            <p:nvPr/>
          </p:nvSpPr>
          <p:spPr>
            <a:xfrm>
              <a:off x="588818" y="5963799"/>
              <a:ext cx="1287878" cy="316555"/>
            </a:xfrm>
            <a:prstGeom prst="rect">
              <a:avLst/>
            </a:prstGeom>
            <a:ln>
              <a:noFill/>
            </a:ln>
            <a:effectLst>
              <a:glow rad="63500">
                <a:schemeClr val="accent3">
                  <a:satMod val="175000"/>
                  <a:alpha val="40000"/>
                </a:schemeClr>
              </a:glow>
            </a:effectLst>
          </p:spPr>
          <p:txBody>
            <a:bodyPr wrap="square">
              <a:spAutoFit/>
            </a:bodyPr>
            <a:lstStyle/>
            <a:p>
              <a:pPr>
                <a:defRPr/>
              </a:pPr>
              <a:r>
                <a:rPr lang="en-US" sz="1600" dirty="0" smtClean="0">
                  <a:solidFill>
                    <a:schemeClr val="bg1"/>
                  </a:solidFill>
                  <a:latin typeface="+mn-lt"/>
                  <a:cs typeface="Arial" charset="0"/>
                </a:rPr>
                <a:t>Answer:</a:t>
              </a:r>
              <a:endParaRPr lang="en-US" sz="1600" dirty="0">
                <a:solidFill>
                  <a:schemeClr val="bg1"/>
                </a:solidFill>
                <a:latin typeface="+mn-lt"/>
              </a:endParaRPr>
            </a:p>
          </p:txBody>
        </p:sp>
      </p:grpSp>
      <p:sp>
        <p:nvSpPr>
          <p:cNvPr id="14" name="Oval Callout 13"/>
          <p:cNvSpPr/>
          <p:nvPr/>
        </p:nvSpPr>
        <p:spPr>
          <a:xfrm flipH="1">
            <a:off x="1219200" y="2667000"/>
            <a:ext cx="5069160" cy="1600200"/>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endParaRPr lang="en-IN" sz="1600" dirty="0" smtClean="0"/>
          </a:p>
          <a:p>
            <a:endParaRPr lang="en-IN" sz="1600" dirty="0"/>
          </a:p>
          <a:p>
            <a:r>
              <a:rPr lang="en-IN" dirty="0" smtClean="0"/>
              <a:t>The </a:t>
            </a:r>
            <a:r>
              <a:rPr lang="en-IN" dirty="0"/>
              <a:t>structure of JSON contains ________</a:t>
            </a:r>
            <a:r>
              <a:rPr lang="en-IN" dirty="0" smtClean="0"/>
              <a:t>pair.</a:t>
            </a:r>
            <a:endParaRPr lang="en-IN" dirty="0"/>
          </a:p>
          <a:p>
            <a:endParaRPr lang="en-US" sz="1600" dirty="0"/>
          </a:p>
          <a:p>
            <a:pPr algn="ctr"/>
            <a:endParaRPr lang="en-IN" sz="1600" dirty="0" smtClean="0"/>
          </a:p>
          <a:p>
            <a:pPr algn="ctr"/>
            <a:endParaRPr lang="en-US" sz="1600" dirty="0"/>
          </a:p>
        </p:txBody>
      </p:sp>
    </p:spTree>
    <p:extLst>
      <p:ext uri="{BB962C8B-B14F-4D97-AF65-F5344CB8AC3E}">
        <p14:creationId xmlns:p14="http://schemas.microsoft.com/office/powerpoint/2010/main" val="1968737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81000" y="1600200"/>
            <a:ext cx="8077200" cy="3280898"/>
          </a:xfrm>
          <a:prstGeom prst="rect">
            <a:avLst/>
          </a:prstGeom>
          <a:noFill/>
        </p:spPr>
        <p:txBody>
          <a:bodyPr wrap="square" rtlCol="0">
            <a:spAutoFit/>
          </a:bodyPr>
          <a:lstStyle/>
          <a:p>
            <a:pPr marL="514350" lvl="1" indent="-396875" defTabSz="914363">
              <a:lnSpc>
                <a:spcPct val="90000"/>
              </a:lnSpc>
              <a:spcBef>
                <a:spcPct val="20000"/>
              </a:spcBef>
              <a:buSzPct val="100000"/>
              <a:buBlip>
                <a:blip r:embed="rId4"/>
              </a:buBlip>
            </a:pPr>
            <a:r>
              <a:rPr lang="en-US" sz="2400" dirty="0" smtClean="0">
                <a:solidFill>
                  <a:srgbClr val="6600CC"/>
                </a:solidFill>
                <a:cs typeface="Vrinda" pitchFamily="34" charset="0"/>
              </a:rPr>
              <a:t>API</a:t>
            </a:r>
            <a:endParaRPr lang="en-US" sz="2400" dirty="0">
              <a:solidFill>
                <a:srgbClr val="6600CC"/>
              </a:solidFill>
              <a:cs typeface="Vrinda" pitchFamily="34" charset="0"/>
            </a:endParaRPr>
          </a:p>
          <a:p>
            <a:pPr marL="900000" lvl="1" indent="-396875" defTabSz="914363">
              <a:lnSpc>
                <a:spcPct val="90000"/>
              </a:lnSpc>
              <a:spcBef>
                <a:spcPct val="20000"/>
              </a:spcBef>
              <a:buSzPct val="120000"/>
              <a:buBlip>
                <a:blip r:embed="rId5"/>
              </a:buBlip>
            </a:pPr>
            <a:r>
              <a:rPr lang="en-US" sz="2000" dirty="0">
                <a:solidFill>
                  <a:srgbClr val="6600CC"/>
                </a:solidFill>
                <a:cs typeface="Vrinda" pitchFamily="34" charset="0"/>
              </a:rPr>
              <a:t>API is a contract between applications that deﬁne the patterns of interaction between two application components.</a:t>
            </a:r>
          </a:p>
          <a:p>
            <a:pPr marL="514350" lvl="1" indent="-396875" defTabSz="914363">
              <a:lnSpc>
                <a:spcPct val="90000"/>
              </a:lnSpc>
              <a:buSzPct val="100000"/>
              <a:buBlip>
                <a:blip r:embed="rId4"/>
              </a:buBlip>
            </a:pPr>
            <a:endParaRPr lang="en-US" sz="2400" dirty="0">
              <a:solidFill>
                <a:srgbClr val="6600CC"/>
              </a:solidFill>
              <a:cs typeface="Vrinda" pitchFamily="34" charset="0"/>
            </a:endParaRPr>
          </a:p>
          <a:p>
            <a:pPr marL="900000" lvl="1" indent="-396875" defTabSz="914363">
              <a:lnSpc>
                <a:spcPct val="90000"/>
              </a:lnSpc>
              <a:spcBef>
                <a:spcPct val="20000"/>
              </a:spcBef>
              <a:buSzPct val="120000"/>
              <a:buBlip>
                <a:blip r:embed="rId5"/>
              </a:buBlip>
            </a:pPr>
            <a:r>
              <a:rPr lang="en-US" sz="2000" dirty="0">
                <a:solidFill>
                  <a:srgbClr val="6600CC"/>
                </a:solidFill>
                <a:cs typeface="Vrinda" pitchFamily="34" charset="0"/>
              </a:rPr>
              <a:t>In a Program we can create set of services and make it available for other programs, by publishing the API.</a:t>
            </a:r>
          </a:p>
          <a:p>
            <a:pPr marL="900000" lvl="1" indent="-396875" defTabSz="914363">
              <a:lnSpc>
                <a:spcPct val="90000"/>
              </a:lnSpc>
              <a:spcBef>
                <a:spcPct val="20000"/>
              </a:spcBef>
              <a:buSzPct val="120000"/>
              <a:buBlip>
                <a:blip r:embed="rId5"/>
              </a:buBlip>
            </a:pPr>
            <a:endParaRPr lang="en-US" sz="2000" dirty="0">
              <a:solidFill>
                <a:srgbClr val="6600CC"/>
              </a:solidFill>
              <a:cs typeface="Vrinda" pitchFamily="34" charset="0"/>
            </a:endParaRPr>
          </a:p>
          <a:p>
            <a:pPr marL="900000" lvl="1" indent="-396875" defTabSz="914363">
              <a:lnSpc>
                <a:spcPct val="90000"/>
              </a:lnSpc>
              <a:spcBef>
                <a:spcPct val="20000"/>
              </a:spcBef>
              <a:buSzPct val="120000"/>
              <a:buBlip>
                <a:blip r:embed="rId5"/>
              </a:buBlip>
            </a:pPr>
            <a:r>
              <a:rPr lang="en-US" sz="2000" dirty="0">
                <a:solidFill>
                  <a:srgbClr val="6600CC"/>
                </a:solidFill>
                <a:cs typeface="Vrinda" pitchFamily="34" charset="0"/>
              </a:rPr>
              <a:t>Set of services are available over the web of API, which is also called as Web Services.</a:t>
            </a:r>
          </a:p>
          <a:p>
            <a:pPr marL="460375" lvl="1" indent="-342900" defTabSz="914363">
              <a:lnSpc>
                <a:spcPct val="90000"/>
              </a:lnSpc>
              <a:spcBef>
                <a:spcPct val="20000"/>
              </a:spcBef>
              <a:buSzPct val="100000"/>
              <a:buFont typeface="Arial" panose="020B0604020202020204" pitchFamily="34" charset="0"/>
              <a:buChar char="•"/>
            </a:pPr>
            <a:endParaRPr lang="en-US" sz="2000" dirty="0" smtClean="0">
              <a:solidFill>
                <a:srgbClr val="6600CC"/>
              </a:solidFill>
              <a:latin typeface="Vrinda" pitchFamily="34" charset="0"/>
              <a:cs typeface="Vrinda" pitchFamily="34" charset="0"/>
            </a:endParaRPr>
          </a:p>
        </p:txBody>
      </p:sp>
      <p:sp>
        <p:nvSpPr>
          <p:cNvPr id="7" name="Title 1"/>
          <p:cNvSpPr>
            <a:spLocks noGrp="1"/>
          </p:cNvSpPr>
          <p:nvPr>
            <p:ph type="title"/>
          </p:nvPr>
        </p:nvSpPr>
        <p:spPr>
          <a:xfrm>
            <a:off x="540000" y="540000"/>
            <a:ext cx="396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Application Programming Interfaces (API)</a:t>
            </a:r>
          </a:p>
        </p:txBody>
      </p:sp>
    </p:spTree>
    <p:extLst>
      <p:ext uri="{BB962C8B-B14F-4D97-AF65-F5344CB8AC3E}">
        <p14:creationId xmlns:p14="http://schemas.microsoft.com/office/powerpoint/2010/main" val="6264247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540000" y="540000"/>
            <a:ext cx="396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Application Programming Interfaces (API) (Contd.)</a:t>
            </a:r>
          </a:p>
        </p:txBody>
      </p:sp>
      <p:pic>
        <p:nvPicPr>
          <p:cNvPr id="1026" name="Picture 2"/>
          <p:cNvPicPr>
            <a:picLocks noChangeAspect="1" noChangeArrowheads="1"/>
          </p:cNvPicPr>
          <p:nvPr/>
        </p:nvPicPr>
        <p:blipFill>
          <a:blip r:embed="rId3"/>
          <a:srcRect/>
          <a:stretch>
            <a:fillRect/>
          </a:stretch>
        </p:blipFill>
        <p:spPr bwMode="auto">
          <a:xfrm>
            <a:off x="1508760" y="3048000"/>
            <a:ext cx="5943600" cy="2895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Rectangle 4"/>
          <p:cNvSpPr/>
          <p:nvPr/>
        </p:nvSpPr>
        <p:spPr>
          <a:xfrm>
            <a:off x="441960" y="1585358"/>
            <a:ext cx="8077200" cy="1317284"/>
          </a:xfrm>
          <a:prstGeom prst="rect">
            <a:avLst/>
          </a:prstGeom>
        </p:spPr>
        <p:txBody>
          <a:bodyPr wrap="square">
            <a:spAutoFit/>
          </a:bodyPr>
          <a:lstStyle/>
          <a:p>
            <a:pPr marL="514350" lvl="1" indent="-396875" defTabSz="914363">
              <a:lnSpc>
                <a:spcPct val="90000"/>
              </a:lnSpc>
              <a:spcBef>
                <a:spcPct val="20000"/>
              </a:spcBef>
              <a:buSzPct val="100000"/>
              <a:buBlip>
                <a:blip r:embed="rId4"/>
              </a:buBlip>
            </a:pPr>
            <a:r>
              <a:rPr lang="en-US" sz="2400" dirty="0">
                <a:solidFill>
                  <a:srgbClr val="6600CC"/>
                </a:solidFill>
                <a:cs typeface="Vrinda" pitchFamily="34" charset="0"/>
              </a:rPr>
              <a:t>Service Oriented Architecture (SOA)</a:t>
            </a:r>
          </a:p>
          <a:p>
            <a:pPr marL="900000" lvl="1" indent="-396875" defTabSz="914363">
              <a:lnSpc>
                <a:spcPct val="90000"/>
              </a:lnSpc>
              <a:spcBef>
                <a:spcPct val="20000"/>
              </a:spcBef>
              <a:buSzPct val="120000"/>
              <a:buBlip>
                <a:blip r:embed="rId5"/>
              </a:buBlip>
            </a:pPr>
            <a:r>
              <a:rPr lang="en-US" sz="2000" dirty="0">
                <a:solidFill>
                  <a:srgbClr val="6600CC"/>
                </a:solidFill>
                <a:cs typeface="Vrinda" pitchFamily="34" charset="0"/>
              </a:rPr>
              <a:t>Is used where all the applications make use of the services of the other applications.</a:t>
            </a:r>
          </a:p>
          <a:p>
            <a:pPr marL="285750" indent="-285750">
              <a:buFont typeface="Arial" panose="020B0604020202020204" pitchFamily="34" charset="0"/>
              <a:buChar char="•"/>
            </a:pPr>
            <a:endParaRPr lang="en-US" b="1" i="1" dirty="0" smtClean="0">
              <a:solidFill>
                <a:srgbClr val="9900FF"/>
              </a:solidFill>
              <a:cs typeface="Vrinda" pitchFamily="34" charset="0"/>
            </a:endParaRPr>
          </a:p>
        </p:txBody>
      </p:sp>
    </p:spTree>
    <p:extLst>
      <p:ext uri="{BB962C8B-B14F-4D97-AF65-F5344CB8AC3E}">
        <p14:creationId xmlns:p14="http://schemas.microsoft.com/office/powerpoint/2010/main" val="626424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400" b="1" dirty="0">
                <a:solidFill>
                  <a:schemeClr val="bg1"/>
                </a:solidFill>
                <a:latin typeface="Vrinda" pitchFamily="34" charset="0"/>
                <a:cs typeface="Vrinda" pitchFamily="34" charset="0"/>
              </a:rPr>
              <a:t>Application Programming </a:t>
            </a:r>
            <a:r>
              <a:rPr lang="en-US" sz="2400" b="1" dirty="0" smtClean="0">
                <a:solidFill>
                  <a:schemeClr val="bg1"/>
                </a:solidFill>
                <a:latin typeface="Vrinda" pitchFamily="34" charset="0"/>
                <a:cs typeface="Vrinda" pitchFamily="34" charset="0"/>
              </a:rPr>
              <a:t/>
            </a:r>
            <a:br>
              <a:rPr lang="en-US" sz="2400" b="1" dirty="0" smtClean="0">
                <a:solidFill>
                  <a:schemeClr val="bg1"/>
                </a:solidFill>
                <a:latin typeface="Vrinda" pitchFamily="34" charset="0"/>
                <a:cs typeface="Vrinda" pitchFamily="34" charset="0"/>
              </a:rPr>
            </a:br>
            <a:r>
              <a:rPr lang="en-US" sz="2400" b="1" dirty="0" smtClean="0">
                <a:solidFill>
                  <a:schemeClr val="bg1"/>
                </a:solidFill>
                <a:latin typeface="Vrinda" pitchFamily="34" charset="0"/>
                <a:cs typeface="Vrinda" pitchFamily="34" charset="0"/>
              </a:rPr>
              <a:t>Interfaces </a:t>
            </a:r>
            <a:r>
              <a:rPr lang="en-US" sz="2400" b="1" dirty="0">
                <a:solidFill>
                  <a:schemeClr val="bg1"/>
                </a:solidFill>
                <a:latin typeface="Vrinda" pitchFamily="34" charset="0"/>
                <a:cs typeface="Vrinda" pitchFamily="34" charset="0"/>
              </a:rPr>
              <a:t>(API) (Contd.)</a:t>
            </a:r>
            <a:endParaRPr lang="en-US" sz="2400"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8238" y="1795463"/>
            <a:ext cx="6867525" cy="3843337"/>
          </a:xfrm>
          <a:prstGeom prst="rect">
            <a:avLst/>
          </a:prstGeom>
          <a:noFill/>
          <a:ln w="9525">
            <a:solidFill>
              <a:schemeClr val="tx1"/>
            </a:solidFill>
            <a:miter lim="800000"/>
            <a:headEnd/>
            <a:tailEnd/>
          </a:ln>
          <a:effectLst>
            <a:glow rad="63500">
              <a:schemeClr val="accent2">
                <a:satMod val="175000"/>
                <a:alpha val="40000"/>
              </a:schemeClr>
            </a:glo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475336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600200"/>
            <a:ext cx="8229600" cy="4525963"/>
          </a:xfrm>
        </p:spPr>
        <p:txBody>
          <a:bodyPr/>
          <a:lstStyle/>
          <a:p>
            <a:pPr marL="0" lvl="1" indent="0" defTabSz="914363">
              <a:lnSpc>
                <a:spcPct val="90000"/>
              </a:lnSpc>
              <a:buSzPct val="100000"/>
              <a:buNone/>
            </a:pPr>
            <a:endParaRPr lang="en-US" sz="2000" b="1" i="1" dirty="0" smtClean="0">
              <a:solidFill>
                <a:srgbClr val="6600CC"/>
              </a:solidFill>
              <a:latin typeface="+mj-lt"/>
              <a:cs typeface="Vrinda" pitchFamily="34" charset="0"/>
            </a:endParaRPr>
          </a:p>
          <a:p>
            <a:pPr marL="514350" lvl="1" indent="-396875" defTabSz="914363">
              <a:lnSpc>
                <a:spcPct val="90000"/>
              </a:lnSpc>
              <a:buSzPct val="100000"/>
              <a:buBlip>
                <a:blip r:embed="rId3"/>
              </a:buBlip>
            </a:pPr>
            <a:r>
              <a:rPr lang="en-US" sz="2400" dirty="0">
                <a:solidFill>
                  <a:srgbClr val="6600CC"/>
                </a:solidFill>
                <a:cs typeface="Vrinda" pitchFamily="34" charset="0"/>
              </a:rPr>
              <a:t>Advantages of API</a:t>
            </a:r>
          </a:p>
          <a:p>
            <a:pPr marL="900000" lvl="1" indent="-396875" defTabSz="914363">
              <a:lnSpc>
                <a:spcPct val="90000"/>
              </a:lnSpc>
              <a:buSzPct val="120000"/>
              <a:buBlip>
                <a:blip r:embed="rId4"/>
              </a:buBlip>
            </a:pPr>
            <a:r>
              <a:rPr lang="en-IN" sz="2000" dirty="0">
                <a:solidFill>
                  <a:srgbClr val="6600CC"/>
                </a:solidFill>
                <a:cs typeface="Vrinda" pitchFamily="34" charset="0"/>
              </a:rPr>
              <a:t>Always maintains only one copy of data</a:t>
            </a:r>
          </a:p>
          <a:p>
            <a:pPr marL="900000" lvl="1" indent="-396875" defTabSz="914363">
              <a:lnSpc>
                <a:spcPct val="90000"/>
              </a:lnSpc>
              <a:buSzPct val="120000"/>
              <a:buBlip>
                <a:blip r:embed="rId4"/>
              </a:buBlip>
            </a:pPr>
            <a:r>
              <a:rPr lang="en-US" sz="2000" dirty="0">
                <a:solidFill>
                  <a:srgbClr val="6600CC"/>
                </a:solidFill>
                <a:cs typeface="Vrinda" pitchFamily="34" charset="0"/>
              </a:rPr>
              <a:t>The owners of the data can set the rules about the use of their data using API. </a:t>
            </a:r>
          </a:p>
          <a:p>
            <a:pPr marL="900000" lvl="1" indent="-396875" defTabSz="914363">
              <a:lnSpc>
                <a:spcPct val="90000"/>
              </a:lnSpc>
              <a:buSzPct val="120000"/>
              <a:buFont typeface="Arial" panose="020B0604020202020204" pitchFamily="34" charset="0"/>
              <a:buChar char="•"/>
            </a:pPr>
            <a:endParaRPr lang="en-US" sz="1800" dirty="0" smtClean="0">
              <a:solidFill>
                <a:srgbClr val="6600CC"/>
              </a:solidFill>
              <a:cs typeface="Vrinda" pitchFamily="34" charset="0"/>
            </a:endParaRPr>
          </a:p>
          <a:p>
            <a:pPr marL="503125" lvl="1" indent="0" defTabSz="914363">
              <a:lnSpc>
                <a:spcPct val="90000"/>
              </a:lnSpc>
              <a:buSzPct val="120000"/>
              <a:buNone/>
            </a:pPr>
            <a:endParaRPr lang="en-IN" sz="1800" b="1" dirty="0">
              <a:solidFill>
                <a:srgbClr val="6600CC"/>
              </a:solidFill>
              <a:cs typeface="Vrinda" pitchFamily="34" charset="0"/>
            </a:endParaRPr>
          </a:p>
        </p:txBody>
      </p:sp>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5506" y="3581399"/>
            <a:ext cx="8305800" cy="2286000"/>
          </a:xfrm>
          <a:prstGeom prst="rect">
            <a:avLst/>
          </a:prstGeom>
        </p:spPr>
      </p:pic>
      <p:sp>
        <p:nvSpPr>
          <p:cNvPr id="6" name="TextBox 5"/>
          <p:cNvSpPr txBox="1"/>
          <p:nvPr/>
        </p:nvSpPr>
        <p:spPr>
          <a:xfrm rot="20674708">
            <a:off x="1874746" y="4262734"/>
            <a:ext cx="4267200" cy="923330"/>
          </a:xfrm>
          <a:prstGeom prst="rect">
            <a:avLst/>
          </a:prstGeom>
          <a:noFill/>
        </p:spPr>
        <p:txBody>
          <a:bodyPr wrap="square" rtlCol="0">
            <a:spAutoFit/>
          </a:bodyPr>
          <a:lstStyle/>
          <a:p>
            <a:r>
              <a:rPr lang="en-US" dirty="0" smtClean="0">
                <a:solidFill>
                  <a:srgbClr val="6600CC"/>
                </a:solidFill>
                <a:cs typeface="Vrinda" pitchFamily="34" charset="0"/>
              </a:rPr>
              <a:t> A SOA </a:t>
            </a:r>
            <a:r>
              <a:rPr lang="en-US" dirty="0">
                <a:solidFill>
                  <a:srgbClr val="6600CC"/>
                </a:solidFill>
                <a:cs typeface="Vrinda" pitchFamily="34" charset="0"/>
              </a:rPr>
              <a:t>system must be carefully designed to have good performance and meet the user’s needs</a:t>
            </a:r>
            <a:endParaRPr lang="en-US" dirty="0"/>
          </a:p>
        </p:txBody>
      </p:sp>
      <p:sp>
        <p:nvSpPr>
          <p:cNvPr id="7" name="Title 1"/>
          <p:cNvSpPr>
            <a:spLocks noGrp="1"/>
          </p:cNvSpPr>
          <p:nvPr>
            <p:ph type="title"/>
          </p:nvPr>
        </p:nvSpPr>
        <p:spPr>
          <a:xfrm>
            <a:off x="540000" y="540000"/>
            <a:ext cx="396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Application Programming Interfaces (API) (Contd.)</a:t>
            </a:r>
          </a:p>
        </p:txBody>
      </p:sp>
    </p:spTree>
    <p:extLst>
      <p:ext uri="{BB962C8B-B14F-4D97-AF65-F5344CB8AC3E}">
        <p14:creationId xmlns:p14="http://schemas.microsoft.com/office/powerpoint/2010/main" val="4258344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81000" y="1600200"/>
            <a:ext cx="8271900" cy="4908292"/>
          </a:xfrm>
          <a:prstGeom prst="rect">
            <a:avLst/>
          </a:prstGeom>
          <a:noFill/>
        </p:spPr>
        <p:txBody>
          <a:bodyPr wrap="square" rtlCol="0">
            <a:spAutoFit/>
          </a:bodyPr>
          <a:lstStyle/>
          <a:p>
            <a:pPr marL="514350" lvl="1" indent="-396875" defTabSz="914363">
              <a:lnSpc>
                <a:spcPct val="90000"/>
              </a:lnSpc>
              <a:spcBef>
                <a:spcPct val="20000"/>
              </a:spcBef>
              <a:buSzPct val="100000"/>
              <a:buBlip>
                <a:blip r:embed="rId3"/>
              </a:buBlip>
            </a:pPr>
            <a:r>
              <a:rPr lang="en-US" sz="2400" dirty="0">
                <a:solidFill>
                  <a:srgbClr val="6600CC"/>
                </a:solidFill>
                <a:cs typeface="Vrinda" pitchFamily="34" charset="0"/>
              </a:rPr>
              <a:t>Google Geocoding</a:t>
            </a:r>
          </a:p>
          <a:p>
            <a:pPr marL="900000" lvl="1" indent="-396875" defTabSz="914363">
              <a:lnSpc>
                <a:spcPct val="90000"/>
              </a:lnSpc>
              <a:spcBef>
                <a:spcPct val="20000"/>
              </a:spcBef>
              <a:buSzPct val="120000"/>
              <a:buBlip>
                <a:blip r:embed="rId4"/>
              </a:buBlip>
            </a:pPr>
            <a:r>
              <a:rPr lang="en-US" sz="2000" dirty="0">
                <a:solidFill>
                  <a:srgbClr val="6600CC"/>
                </a:solidFill>
                <a:cs typeface="Vrinda" pitchFamily="34" charset="0"/>
              </a:rPr>
              <a:t>Excellent Web Service, offered by Google, to provide Geographic Information.</a:t>
            </a:r>
          </a:p>
          <a:p>
            <a:pPr marL="900000" lvl="1" indent="-396875" defTabSz="914363">
              <a:lnSpc>
                <a:spcPct val="90000"/>
              </a:lnSpc>
              <a:spcBef>
                <a:spcPct val="20000"/>
              </a:spcBef>
              <a:buSzPct val="120000"/>
              <a:buBlip>
                <a:blip r:embed="rId4"/>
              </a:buBlip>
            </a:pPr>
            <a:endParaRPr lang="en-US" sz="2000" dirty="0">
              <a:solidFill>
                <a:srgbClr val="6600CC"/>
              </a:solidFill>
              <a:cs typeface="Vrinda" pitchFamily="34" charset="0"/>
            </a:endParaRPr>
          </a:p>
          <a:p>
            <a:pPr marL="900000" lvl="1" indent="-396875" defTabSz="914363">
              <a:lnSpc>
                <a:spcPct val="90000"/>
              </a:lnSpc>
              <a:spcBef>
                <a:spcPct val="20000"/>
              </a:spcBef>
              <a:buSzPct val="120000"/>
              <a:buBlip>
                <a:blip r:embed="rId4"/>
              </a:buBlip>
            </a:pPr>
            <a:r>
              <a:rPr lang="en-US" sz="2000" dirty="0">
                <a:solidFill>
                  <a:srgbClr val="6600CC"/>
                </a:solidFill>
                <a:cs typeface="Vrinda" pitchFamily="34" charset="0"/>
              </a:rPr>
              <a:t>Used to search a string of online document using Web Services.</a:t>
            </a:r>
          </a:p>
          <a:p>
            <a:pPr marL="900000" lvl="1" indent="-396875" defTabSz="914363">
              <a:lnSpc>
                <a:spcPct val="90000"/>
              </a:lnSpc>
              <a:spcBef>
                <a:spcPct val="20000"/>
              </a:spcBef>
              <a:buSzPct val="120000"/>
              <a:buBlip>
                <a:blip r:embed="rId4"/>
              </a:buBlip>
            </a:pPr>
            <a:endParaRPr lang="en-US" sz="2000" dirty="0">
              <a:solidFill>
                <a:srgbClr val="6600CC"/>
              </a:solidFill>
              <a:cs typeface="Vrinda" pitchFamily="34" charset="0"/>
            </a:endParaRPr>
          </a:p>
          <a:p>
            <a:pPr marL="900000" lvl="1" indent="-396875" defTabSz="914363">
              <a:lnSpc>
                <a:spcPct val="90000"/>
              </a:lnSpc>
              <a:spcBef>
                <a:spcPct val="20000"/>
              </a:spcBef>
              <a:buSzPct val="120000"/>
              <a:buBlip>
                <a:blip r:embed="rId4"/>
              </a:buBlip>
            </a:pPr>
            <a:r>
              <a:rPr lang="en-US" sz="2000" dirty="0">
                <a:solidFill>
                  <a:srgbClr val="6600CC"/>
                </a:solidFill>
                <a:cs typeface="Vrinda" pitchFamily="34" charset="0"/>
              </a:rPr>
              <a:t>This Service is </a:t>
            </a:r>
            <a:r>
              <a:rPr lang="en-US" sz="2000" dirty="0" smtClean="0">
                <a:solidFill>
                  <a:srgbClr val="6600CC"/>
                </a:solidFill>
                <a:cs typeface="Vrinda" pitchFamily="34" charset="0"/>
              </a:rPr>
              <a:t>free.</a:t>
            </a:r>
            <a:endParaRPr lang="en-US" sz="2000" dirty="0">
              <a:solidFill>
                <a:srgbClr val="6600CC"/>
              </a:solidFill>
              <a:cs typeface="Vrinda" pitchFamily="34" charset="0"/>
            </a:endParaRPr>
          </a:p>
          <a:p>
            <a:pPr marL="503125" lvl="1" defTabSz="914363">
              <a:lnSpc>
                <a:spcPct val="90000"/>
              </a:lnSpc>
              <a:spcBef>
                <a:spcPct val="20000"/>
              </a:spcBef>
              <a:buSzPct val="120000"/>
            </a:pPr>
            <a:endParaRPr lang="en-IN" dirty="0">
              <a:solidFill>
                <a:srgbClr val="6600CC"/>
              </a:solidFill>
              <a:latin typeface="Vrinda" pitchFamily="34" charset="0"/>
              <a:cs typeface="Vrinda" pitchFamily="34" charset="0"/>
            </a:endParaRPr>
          </a:p>
          <a:p>
            <a:pPr marL="503125" lvl="1" defTabSz="914363">
              <a:lnSpc>
                <a:spcPct val="90000"/>
              </a:lnSpc>
              <a:spcBef>
                <a:spcPct val="20000"/>
              </a:spcBef>
              <a:buSzPct val="120000"/>
            </a:pPr>
            <a:r>
              <a:rPr lang="en-IN" i="1" dirty="0" smtClean="0">
                <a:solidFill>
                  <a:srgbClr val="6600CC"/>
                </a:solidFill>
                <a:latin typeface="Vrinda" pitchFamily="34" charset="0"/>
                <a:cs typeface="Vrinda" pitchFamily="34" charset="0"/>
              </a:rPr>
              <a:t>      </a:t>
            </a:r>
            <a:r>
              <a:rPr lang="en-IN" b="1" i="1" dirty="0" smtClean="0">
                <a:solidFill>
                  <a:srgbClr val="6600CC"/>
                </a:solidFill>
                <a:latin typeface="Vrinda" pitchFamily="34" charset="0"/>
                <a:cs typeface="Vrinda" pitchFamily="34" charset="0"/>
              </a:rPr>
              <a:t>Browse </a:t>
            </a:r>
          </a:p>
          <a:p>
            <a:pPr marL="503125" lvl="1" defTabSz="914363">
              <a:lnSpc>
                <a:spcPct val="90000"/>
              </a:lnSpc>
              <a:spcBef>
                <a:spcPct val="20000"/>
              </a:spcBef>
              <a:buSzPct val="120000"/>
            </a:pPr>
            <a:r>
              <a:rPr lang="en-IN" b="1" i="1" dirty="0" smtClean="0">
                <a:solidFill>
                  <a:srgbClr val="6600CC"/>
                </a:solidFill>
                <a:latin typeface="Vrinda" pitchFamily="34" charset="0"/>
                <a:cs typeface="Vrinda" pitchFamily="34" charset="0"/>
              </a:rPr>
              <a:t>        to  this link for more</a:t>
            </a:r>
            <a:endParaRPr lang="en-IN" b="1" i="1" dirty="0">
              <a:solidFill>
                <a:srgbClr val="6600CC"/>
              </a:solidFill>
              <a:latin typeface="Vrinda" pitchFamily="34" charset="0"/>
              <a:cs typeface="Vrinda" pitchFamily="34" charset="0"/>
            </a:endParaRPr>
          </a:p>
          <a:p>
            <a:pPr marL="900000" lvl="1" indent="-396875" defTabSz="914363">
              <a:lnSpc>
                <a:spcPct val="90000"/>
              </a:lnSpc>
              <a:spcBef>
                <a:spcPct val="20000"/>
              </a:spcBef>
              <a:buSzPct val="120000"/>
            </a:pPr>
            <a:r>
              <a:rPr lang="en-IN" dirty="0" smtClean="0">
                <a:solidFill>
                  <a:srgbClr val="6600CC"/>
                </a:solidFill>
                <a:latin typeface="Vrinda" pitchFamily="34" charset="0"/>
                <a:cs typeface="Vrinda" pitchFamily="34" charset="0"/>
              </a:rPr>
              <a:t>		</a:t>
            </a:r>
          </a:p>
          <a:p>
            <a:pPr marL="503125" lvl="1" defTabSz="914363">
              <a:lnSpc>
                <a:spcPct val="90000"/>
              </a:lnSpc>
              <a:spcBef>
                <a:spcPct val="20000"/>
              </a:spcBef>
              <a:buSzPct val="120000"/>
            </a:pPr>
            <a:endParaRPr lang="en-IN" dirty="0" smtClean="0">
              <a:solidFill>
                <a:srgbClr val="6600CC"/>
              </a:solidFill>
              <a:latin typeface="Vrinda" pitchFamily="34" charset="0"/>
              <a:cs typeface="Vrinda" pitchFamily="34" charset="0"/>
            </a:endParaRPr>
          </a:p>
          <a:p>
            <a:pPr marL="503125" lvl="1" defTabSz="914363">
              <a:lnSpc>
                <a:spcPct val="90000"/>
              </a:lnSpc>
              <a:spcBef>
                <a:spcPct val="20000"/>
              </a:spcBef>
              <a:buSzPct val="120000"/>
            </a:pPr>
            <a:endParaRPr lang="en-IN" dirty="0" smtClean="0">
              <a:solidFill>
                <a:srgbClr val="6600CC"/>
              </a:solidFill>
              <a:latin typeface="Vrinda" pitchFamily="34" charset="0"/>
              <a:cs typeface="Vrinda" pitchFamily="34" charset="0"/>
            </a:endParaRPr>
          </a:p>
          <a:p>
            <a:pPr marL="503125" lvl="1" defTabSz="914363">
              <a:lnSpc>
                <a:spcPct val="90000"/>
              </a:lnSpc>
              <a:spcBef>
                <a:spcPct val="20000"/>
              </a:spcBef>
              <a:buSzPct val="120000"/>
            </a:pPr>
            <a:endParaRPr lang="en-IN" dirty="0">
              <a:solidFill>
                <a:srgbClr val="6600CC"/>
              </a:solidFill>
              <a:latin typeface="Vrinda" pitchFamily="34" charset="0"/>
              <a:cs typeface="Vrinda" pitchFamily="34" charset="0"/>
            </a:endParaRPr>
          </a:p>
          <a:p>
            <a:pPr marL="503125" lvl="1" defTabSz="914363">
              <a:lnSpc>
                <a:spcPct val="90000"/>
              </a:lnSpc>
              <a:spcBef>
                <a:spcPct val="20000"/>
              </a:spcBef>
              <a:buSzPct val="120000"/>
            </a:pPr>
            <a:endParaRPr lang="en-IN" dirty="0">
              <a:solidFill>
                <a:srgbClr val="6600CC"/>
              </a:solidFill>
              <a:latin typeface="Vrinda" pitchFamily="34" charset="0"/>
              <a:cs typeface="Vrinda" pitchFamily="34" charset="0"/>
            </a:endParaRPr>
          </a:p>
        </p:txBody>
      </p:sp>
      <p:sp>
        <p:nvSpPr>
          <p:cNvPr id="7" name="Title 1"/>
          <p:cNvSpPr>
            <a:spLocks noGrp="1"/>
          </p:cNvSpPr>
          <p:nvPr>
            <p:ph type="title"/>
          </p:nvPr>
        </p:nvSpPr>
        <p:spPr>
          <a:xfrm>
            <a:off x="540000" y="540000"/>
            <a:ext cx="396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Google </a:t>
            </a:r>
            <a:r>
              <a:rPr lang="en-US" sz="2400" b="1" dirty="0">
                <a:solidFill>
                  <a:schemeClr val="bg1"/>
                </a:solidFill>
                <a:latin typeface="Vrinda" pitchFamily="34" charset="0"/>
                <a:cs typeface="Vrinda" pitchFamily="34" charset="0"/>
              </a:rPr>
              <a:t>G</a:t>
            </a:r>
            <a:r>
              <a:rPr lang="en-US" sz="2400" b="1" dirty="0" smtClean="0">
                <a:solidFill>
                  <a:schemeClr val="bg1"/>
                </a:solidFill>
                <a:latin typeface="Vrinda" pitchFamily="34" charset="0"/>
                <a:cs typeface="Vrinda" pitchFamily="34" charset="0"/>
              </a:rPr>
              <a:t>eocoding Web </a:t>
            </a:r>
            <a:r>
              <a:rPr lang="en-US" sz="2400" b="1" dirty="0">
                <a:solidFill>
                  <a:schemeClr val="bg1"/>
                </a:solidFill>
                <a:latin typeface="Vrinda" pitchFamily="34" charset="0"/>
                <a:cs typeface="Vrinda" pitchFamily="34" charset="0"/>
              </a:rPr>
              <a:t>S</a:t>
            </a:r>
            <a:r>
              <a:rPr lang="en-US" sz="2400" b="1" dirty="0" smtClean="0">
                <a:solidFill>
                  <a:schemeClr val="bg1"/>
                </a:solidFill>
                <a:latin typeface="Vrinda" pitchFamily="34" charset="0"/>
                <a:cs typeface="Vrinda" pitchFamily="34" charset="0"/>
              </a:rPr>
              <a:t>ervice</a:t>
            </a:r>
          </a:p>
        </p:txBody>
      </p:sp>
      <p:sp>
        <p:nvSpPr>
          <p:cNvPr id="5" name="TextBox 4"/>
          <p:cNvSpPr txBox="1"/>
          <p:nvPr/>
        </p:nvSpPr>
        <p:spPr>
          <a:xfrm>
            <a:off x="908100" y="5345744"/>
            <a:ext cx="7543800" cy="597856"/>
          </a:xfrm>
          <a:prstGeom prst="rect">
            <a:avLst/>
          </a:prstGeom>
          <a:ln/>
        </p:spPr>
        <p:style>
          <a:lnRef idx="1">
            <a:schemeClr val="dk1"/>
          </a:lnRef>
          <a:fillRef idx="3">
            <a:schemeClr val="dk1"/>
          </a:fillRef>
          <a:effectRef idx="2">
            <a:schemeClr val="dk1"/>
          </a:effectRef>
          <a:fontRef idx="minor">
            <a:schemeClr val="lt1"/>
          </a:fontRef>
        </p:style>
        <p:txBody>
          <a:bodyPr wrap="square" rtlCol="0">
            <a:spAutoFit/>
          </a:bodyPr>
          <a:lstStyle/>
          <a:p>
            <a:pPr marL="796925" indent="-396875" defTabSz="914363">
              <a:lnSpc>
                <a:spcPct val="90000"/>
              </a:lnSpc>
              <a:spcBef>
                <a:spcPct val="20000"/>
              </a:spcBef>
              <a:buSzPct val="120000"/>
            </a:pPr>
            <a:r>
              <a:rPr lang="en-US" b="1" dirty="0" smtClean="0">
                <a:solidFill>
                  <a:schemeClr val="bg1"/>
                </a:solidFill>
                <a:latin typeface="Vrinda" pitchFamily="34" charset="0"/>
                <a:cs typeface="Vrinda" pitchFamily="34" charset="0"/>
              </a:rPr>
              <a:t>http://maps.googleapis.com/maps/api/geocode/json?sensor=false&amp; address=Ann+Arbor%2C+MI</a:t>
            </a:r>
          </a:p>
        </p:txBody>
      </p:sp>
      <p:sp>
        <p:nvSpPr>
          <p:cNvPr id="2" name="Curved Down Arrow 1"/>
          <p:cNvSpPr/>
          <p:nvPr/>
        </p:nvSpPr>
        <p:spPr>
          <a:xfrm>
            <a:off x="914400" y="4267200"/>
            <a:ext cx="3352800" cy="106680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550412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1600201"/>
            <a:ext cx="8259000" cy="1089529"/>
          </a:xfrm>
          <a:prstGeom prst="rect">
            <a:avLst/>
          </a:prstGeom>
        </p:spPr>
        <p:txBody>
          <a:bodyPr wrap="square">
            <a:spAutoFit/>
          </a:bodyPr>
          <a:lstStyle/>
          <a:p>
            <a:pPr marL="117475" lvl="1" defTabSz="914363">
              <a:lnSpc>
                <a:spcPct val="90000"/>
              </a:lnSpc>
              <a:spcBef>
                <a:spcPct val="20000"/>
              </a:spcBef>
              <a:buSzPct val="100000"/>
            </a:pPr>
            <a:r>
              <a:rPr lang="en-US" sz="2400" dirty="0" smtClean="0">
                <a:solidFill>
                  <a:srgbClr val="6600CC"/>
                </a:solidFill>
                <a:cs typeface="Vrinda" pitchFamily="34" charset="0"/>
              </a:rPr>
              <a:t>The following example will prompt the user for a search string and call the Google geocoding API to extract information from the JSON object.</a:t>
            </a:r>
            <a:endParaRPr lang="en-IN" sz="2400" dirty="0" smtClean="0">
              <a:solidFill>
                <a:srgbClr val="6600CC"/>
              </a:solidFill>
              <a:cs typeface="Vrinda" pitchFamily="34" charset="0"/>
            </a:endParaRPr>
          </a:p>
        </p:txBody>
      </p:sp>
      <p:sp>
        <p:nvSpPr>
          <p:cNvPr id="10" name="TextBox 9"/>
          <p:cNvSpPr txBox="1"/>
          <p:nvPr/>
        </p:nvSpPr>
        <p:spPr>
          <a:xfrm>
            <a:off x="685800" y="2783580"/>
            <a:ext cx="7848600" cy="3388620"/>
          </a:xfrm>
          <a:prstGeom prst="rect">
            <a:avLst/>
          </a:prstGeom>
          <a:ln/>
        </p:spPr>
        <p:style>
          <a:lnRef idx="1">
            <a:schemeClr val="accent3"/>
          </a:lnRef>
          <a:fillRef idx="2">
            <a:schemeClr val="accent3"/>
          </a:fillRef>
          <a:effectRef idx="1">
            <a:schemeClr val="accent3"/>
          </a:effectRef>
          <a:fontRef idx="minor">
            <a:schemeClr val="dk1"/>
          </a:fontRef>
        </p:style>
        <p:txBody>
          <a:bodyPr wrap="square" rtlCol="0">
            <a:spAutoFit/>
          </a:bodyPr>
          <a:lstStyle/>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import urllib </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import json</a:t>
            </a:r>
          </a:p>
          <a:p>
            <a:pPr marL="796925" indent="-396875" defTabSz="914363">
              <a:lnSpc>
                <a:spcPct val="90000"/>
              </a:lnSpc>
              <a:spcBef>
                <a:spcPct val="20000"/>
              </a:spcBef>
              <a:buSzPct val="120000"/>
            </a:pPr>
            <a:r>
              <a:rPr lang="en-US" dirty="0" err="1" smtClean="0">
                <a:solidFill>
                  <a:srgbClr val="6600CC"/>
                </a:solidFill>
                <a:latin typeface="Vrinda" pitchFamily="34" charset="0"/>
                <a:cs typeface="Vrinda" pitchFamily="34" charset="0"/>
              </a:rPr>
              <a:t>serviceurl</a:t>
            </a:r>
            <a:r>
              <a:rPr lang="en-US" dirty="0" smtClean="0">
                <a:solidFill>
                  <a:srgbClr val="6600CC"/>
                </a:solidFill>
                <a:latin typeface="Vrinda" pitchFamily="34" charset="0"/>
                <a:cs typeface="Vrinda" pitchFamily="34" charset="0"/>
              </a:rPr>
              <a:t> = 'http://maps.googleapis.com/maps/api/geocode/json?'</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while True: </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address = </a:t>
            </a:r>
            <a:r>
              <a:rPr lang="en-US" dirty="0" err="1" smtClean="0">
                <a:solidFill>
                  <a:srgbClr val="6600CC"/>
                </a:solidFill>
                <a:latin typeface="Vrinda" pitchFamily="34" charset="0"/>
                <a:cs typeface="Vrinda" pitchFamily="34" charset="0"/>
              </a:rPr>
              <a:t>raw_input</a:t>
            </a:r>
            <a:r>
              <a:rPr lang="en-US" dirty="0" smtClean="0">
                <a:solidFill>
                  <a:srgbClr val="6600CC"/>
                </a:solidFill>
                <a:latin typeface="Vrinda" pitchFamily="34" charset="0"/>
                <a:cs typeface="Vrinda" pitchFamily="34" charset="0"/>
              </a:rPr>
              <a:t>('</a:t>
            </a:r>
            <a:r>
              <a:rPr lang="en-US" dirty="0" err="1" smtClean="0">
                <a:solidFill>
                  <a:srgbClr val="6600CC"/>
                </a:solidFill>
                <a:latin typeface="Vrinda" pitchFamily="34" charset="0"/>
                <a:cs typeface="Vrinda" pitchFamily="34" charset="0"/>
              </a:rPr>
              <a:t>Enterlocation</a:t>
            </a:r>
            <a:r>
              <a:rPr lang="en-US" dirty="0" smtClean="0">
                <a:solidFill>
                  <a:srgbClr val="6600CC"/>
                </a:solidFill>
                <a:latin typeface="Vrinda" pitchFamily="34" charset="0"/>
                <a:cs typeface="Vrinda" pitchFamily="34" charset="0"/>
              </a:rPr>
              <a:t>: ') </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if </a:t>
            </a:r>
            <a:r>
              <a:rPr lang="en-US" dirty="0" err="1" smtClean="0">
                <a:solidFill>
                  <a:srgbClr val="6600CC"/>
                </a:solidFill>
                <a:latin typeface="Vrinda" pitchFamily="34" charset="0"/>
                <a:cs typeface="Vrinda" pitchFamily="34" charset="0"/>
              </a:rPr>
              <a:t>len</a:t>
            </a:r>
            <a:r>
              <a:rPr lang="en-US" dirty="0" smtClean="0">
                <a:solidFill>
                  <a:srgbClr val="6600CC"/>
                </a:solidFill>
                <a:latin typeface="Vrinda" pitchFamily="34" charset="0"/>
                <a:cs typeface="Vrinda" pitchFamily="34" charset="0"/>
              </a:rPr>
              <a:t>(address) &lt; 1 : break</a:t>
            </a:r>
          </a:p>
          <a:p>
            <a:pPr marL="796925" indent="-396875" defTabSz="914363">
              <a:lnSpc>
                <a:spcPct val="90000"/>
              </a:lnSpc>
              <a:spcBef>
                <a:spcPct val="20000"/>
              </a:spcBef>
              <a:buSzPct val="120000"/>
            </a:pPr>
            <a:r>
              <a:rPr lang="en-US" dirty="0" err="1" smtClean="0">
                <a:solidFill>
                  <a:srgbClr val="6600CC"/>
                </a:solidFill>
                <a:latin typeface="Vrinda" pitchFamily="34" charset="0"/>
                <a:cs typeface="Vrinda" pitchFamily="34" charset="0"/>
              </a:rPr>
              <a:t>url</a:t>
            </a:r>
            <a:r>
              <a:rPr lang="en-US" dirty="0" smtClean="0">
                <a:solidFill>
                  <a:srgbClr val="6600CC"/>
                </a:solidFill>
                <a:latin typeface="Vrinda" pitchFamily="34" charset="0"/>
                <a:cs typeface="Vrinda" pitchFamily="34" charset="0"/>
              </a:rPr>
              <a:t> = </a:t>
            </a:r>
            <a:r>
              <a:rPr lang="en-US" dirty="0" err="1" smtClean="0">
                <a:solidFill>
                  <a:srgbClr val="6600CC"/>
                </a:solidFill>
                <a:latin typeface="Vrinda" pitchFamily="34" charset="0"/>
                <a:cs typeface="Vrinda" pitchFamily="34" charset="0"/>
              </a:rPr>
              <a:t>serviceurl</a:t>
            </a:r>
            <a:r>
              <a:rPr lang="en-US" dirty="0" smtClean="0">
                <a:solidFill>
                  <a:srgbClr val="6600CC"/>
                </a:solidFill>
                <a:latin typeface="Vrinda" pitchFamily="34" charset="0"/>
                <a:cs typeface="Vrinda" pitchFamily="34" charset="0"/>
              </a:rPr>
              <a:t> + </a:t>
            </a:r>
            <a:r>
              <a:rPr lang="en-US" dirty="0" err="1" smtClean="0">
                <a:solidFill>
                  <a:srgbClr val="6600CC"/>
                </a:solidFill>
                <a:latin typeface="Vrinda" pitchFamily="34" charset="0"/>
                <a:cs typeface="Vrinda" pitchFamily="34" charset="0"/>
              </a:rPr>
              <a:t>urllib.urlencode</a:t>
            </a:r>
            <a:r>
              <a:rPr lang="en-US" dirty="0" smtClean="0">
                <a:solidFill>
                  <a:srgbClr val="6600CC"/>
                </a:solidFill>
                <a:latin typeface="Vrinda" pitchFamily="34" charset="0"/>
                <a:cs typeface="Vrinda" pitchFamily="34" charset="0"/>
              </a:rPr>
              <a:t>({'</a:t>
            </a:r>
            <a:r>
              <a:rPr lang="en-US" dirty="0" err="1" smtClean="0">
                <a:solidFill>
                  <a:srgbClr val="6600CC"/>
                </a:solidFill>
                <a:latin typeface="Vrinda" pitchFamily="34" charset="0"/>
                <a:cs typeface="Vrinda" pitchFamily="34" charset="0"/>
              </a:rPr>
              <a:t>sensor':'false</a:t>
            </a:r>
            <a:r>
              <a:rPr lang="en-US" dirty="0" smtClean="0">
                <a:solidFill>
                  <a:srgbClr val="6600CC"/>
                </a:solidFill>
                <a:latin typeface="Vrinda" pitchFamily="34" charset="0"/>
                <a:cs typeface="Vrinda" pitchFamily="34" charset="0"/>
              </a:rPr>
              <a:t>', '</a:t>
            </a:r>
            <a:r>
              <a:rPr lang="en-US" dirty="0" err="1" smtClean="0">
                <a:solidFill>
                  <a:srgbClr val="6600CC"/>
                </a:solidFill>
                <a:latin typeface="Vrinda" pitchFamily="34" charset="0"/>
                <a:cs typeface="Vrinda" pitchFamily="34" charset="0"/>
              </a:rPr>
              <a:t>address':address</a:t>
            </a:r>
            <a:r>
              <a:rPr lang="en-US" dirty="0" smtClean="0">
                <a:solidFill>
                  <a:srgbClr val="6600CC"/>
                </a:solidFill>
                <a:latin typeface="Vrinda" pitchFamily="34" charset="0"/>
                <a:cs typeface="Vrinda" pitchFamily="34" charset="0"/>
              </a:rPr>
              <a:t>})</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print '</a:t>
            </a:r>
            <a:r>
              <a:rPr lang="en-US" dirty="0" err="1" smtClean="0">
                <a:solidFill>
                  <a:srgbClr val="6600CC"/>
                </a:solidFill>
                <a:latin typeface="Vrinda" pitchFamily="34" charset="0"/>
                <a:cs typeface="Vrinda" pitchFamily="34" charset="0"/>
              </a:rPr>
              <a:t>Retrieving',url</a:t>
            </a:r>
            <a:r>
              <a:rPr lang="en-US" dirty="0" smtClean="0">
                <a:solidFill>
                  <a:srgbClr val="6600CC"/>
                </a:solidFill>
                <a:latin typeface="Vrinda" pitchFamily="34" charset="0"/>
                <a:cs typeface="Vrinda" pitchFamily="34" charset="0"/>
              </a:rPr>
              <a:t> </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uh = </a:t>
            </a:r>
            <a:r>
              <a:rPr lang="en-US" dirty="0" err="1" smtClean="0">
                <a:solidFill>
                  <a:srgbClr val="6600CC"/>
                </a:solidFill>
                <a:latin typeface="Vrinda" pitchFamily="34" charset="0"/>
                <a:cs typeface="Vrinda" pitchFamily="34" charset="0"/>
              </a:rPr>
              <a:t>urllib.urlopen</a:t>
            </a:r>
            <a:r>
              <a:rPr lang="en-US" dirty="0" smtClean="0">
                <a:solidFill>
                  <a:srgbClr val="6600CC"/>
                </a:solidFill>
                <a:latin typeface="Vrinda" pitchFamily="34" charset="0"/>
                <a:cs typeface="Vrinda" pitchFamily="34" charset="0"/>
              </a:rPr>
              <a:t>(</a:t>
            </a:r>
            <a:r>
              <a:rPr lang="en-US" dirty="0" err="1" smtClean="0">
                <a:solidFill>
                  <a:srgbClr val="6600CC"/>
                </a:solidFill>
                <a:latin typeface="Vrinda" pitchFamily="34" charset="0"/>
                <a:cs typeface="Vrinda" pitchFamily="34" charset="0"/>
              </a:rPr>
              <a:t>url</a:t>
            </a:r>
            <a:r>
              <a:rPr lang="en-US" dirty="0" smtClean="0">
                <a:solidFill>
                  <a:srgbClr val="6600CC"/>
                </a:solidFill>
                <a:latin typeface="Vrinda" pitchFamily="34" charset="0"/>
                <a:cs typeface="Vrinda" pitchFamily="34" charset="0"/>
              </a:rPr>
              <a:t>) </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data = </a:t>
            </a:r>
            <a:r>
              <a:rPr lang="en-US" dirty="0" err="1" smtClean="0">
                <a:solidFill>
                  <a:srgbClr val="6600CC"/>
                </a:solidFill>
                <a:latin typeface="Vrinda" pitchFamily="34" charset="0"/>
                <a:cs typeface="Vrinda" pitchFamily="34" charset="0"/>
              </a:rPr>
              <a:t>uh.read</a:t>
            </a:r>
            <a:r>
              <a:rPr lang="en-US" dirty="0" smtClean="0">
                <a:solidFill>
                  <a:srgbClr val="6600CC"/>
                </a:solidFill>
                <a:latin typeface="Vrinda" pitchFamily="34" charset="0"/>
                <a:cs typeface="Vrinda" pitchFamily="34" charset="0"/>
              </a:rPr>
              <a:t>() </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print '</a:t>
            </a:r>
            <a:r>
              <a:rPr lang="en-US" dirty="0" err="1" smtClean="0">
                <a:solidFill>
                  <a:srgbClr val="6600CC"/>
                </a:solidFill>
                <a:latin typeface="Vrinda" pitchFamily="34" charset="0"/>
                <a:cs typeface="Vrinda" pitchFamily="34" charset="0"/>
              </a:rPr>
              <a:t>Retrieved',len</a:t>
            </a:r>
            <a:r>
              <a:rPr lang="en-US" dirty="0" smtClean="0">
                <a:solidFill>
                  <a:srgbClr val="6600CC"/>
                </a:solidFill>
                <a:latin typeface="Vrinda" pitchFamily="34" charset="0"/>
                <a:cs typeface="Vrinda" pitchFamily="34" charset="0"/>
              </a:rPr>
              <a:t>(data),'characters'</a:t>
            </a:r>
          </a:p>
        </p:txBody>
      </p:sp>
      <p:sp>
        <p:nvSpPr>
          <p:cNvPr id="7" name="Title 1"/>
          <p:cNvSpPr>
            <a:spLocks noGrp="1"/>
          </p:cNvSpPr>
          <p:nvPr>
            <p:ph type="title"/>
          </p:nvPr>
        </p:nvSpPr>
        <p:spPr>
          <a:xfrm>
            <a:off x="540000" y="540000"/>
            <a:ext cx="396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Google </a:t>
            </a:r>
            <a:r>
              <a:rPr lang="en-US" sz="2400" b="1" dirty="0">
                <a:solidFill>
                  <a:schemeClr val="bg1"/>
                </a:solidFill>
                <a:latin typeface="Vrinda" pitchFamily="34" charset="0"/>
                <a:cs typeface="Vrinda" pitchFamily="34" charset="0"/>
              </a:rPr>
              <a:t>G</a:t>
            </a:r>
            <a:r>
              <a:rPr lang="en-US" sz="2400" b="1" dirty="0" smtClean="0">
                <a:solidFill>
                  <a:schemeClr val="bg1"/>
                </a:solidFill>
                <a:latin typeface="Vrinda" pitchFamily="34" charset="0"/>
                <a:cs typeface="Vrinda" pitchFamily="34" charset="0"/>
              </a:rPr>
              <a:t>eocoding Web Service (Contd.)</a:t>
            </a:r>
          </a:p>
        </p:txBody>
      </p:sp>
    </p:spTree>
    <p:extLst>
      <p:ext uri="{BB962C8B-B14F-4D97-AF65-F5344CB8AC3E}">
        <p14:creationId xmlns:p14="http://schemas.microsoft.com/office/powerpoint/2010/main" val="2452685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914400" y="1981200"/>
            <a:ext cx="7315200" cy="3693319"/>
          </a:xfrm>
          <a:prstGeom prst="rect">
            <a:avLst/>
          </a:prstGeom>
          <a:ln/>
        </p:spPr>
        <p:style>
          <a:lnRef idx="1">
            <a:schemeClr val="accent3"/>
          </a:lnRef>
          <a:fillRef idx="2">
            <a:schemeClr val="accent3"/>
          </a:fillRef>
          <a:effectRef idx="1">
            <a:schemeClr val="accent3"/>
          </a:effectRef>
          <a:fontRef idx="minor">
            <a:schemeClr val="dk1"/>
          </a:fontRef>
        </p:style>
        <p:txBody>
          <a:bodyPr wrap="square" rtlCol="0">
            <a:spAutoFit/>
          </a:bodyPr>
          <a:lstStyle/>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	try: </a:t>
            </a:r>
            <a:r>
              <a:rPr lang="en-US" dirty="0" err="1" smtClean="0">
                <a:solidFill>
                  <a:srgbClr val="6600CC"/>
                </a:solidFill>
                <a:latin typeface="Vrinda" pitchFamily="34" charset="0"/>
                <a:cs typeface="Vrinda" pitchFamily="34" charset="0"/>
              </a:rPr>
              <a:t>js</a:t>
            </a:r>
            <a:r>
              <a:rPr lang="en-US" dirty="0" smtClean="0">
                <a:solidFill>
                  <a:srgbClr val="6600CC"/>
                </a:solidFill>
                <a:latin typeface="Vrinda" pitchFamily="34" charset="0"/>
                <a:cs typeface="Vrinda" pitchFamily="34" charset="0"/>
              </a:rPr>
              <a:t> = </a:t>
            </a:r>
            <a:r>
              <a:rPr lang="en-US" dirty="0" err="1" smtClean="0">
                <a:solidFill>
                  <a:srgbClr val="6600CC"/>
                </a:solidFill>
                <a:latin typeface="Vrinda" pitchFamily="34" charset="0"/>
                <a:cs typeface="Vrinda" pitchFamily="34" charset="0"/>
              </a:rPr>
              <a:t>json.loads</a:t>
            </a:r>
            <a:r>
              <a:rPr lang="en-US" dirty="0" smtClean="0">
                <a:solidFill>
                  <a:srgbClr val="6600CC"/>
                </a:solidFill>
                <a:latin typeface="Vrinda" pitchFamily="34" charset="0"/>
                <a:cs typeface="Vrinda" pitchFamily="34" charset="0"/>
              </a:rPr>
              <a:t>(</a:t>
            </a:r>
            <a:r>
              <a:rPr lang="en-US" dirty="0" err="1" smtClean="0">
                <a:solidFill>
                  <a:srgbClr val="6600CC"/>
                </a:solidFill>
                <a:latin typeface="Vrinda" pitchFamily="34" charset="0"/>
                <a:cs typeface="Vrinda" pitchFamily="34" charset="0"/>
              </a:rPr>
              <a:t>str</a:t>
            </a:r>
            <a:r>
              <a:rPr lang="en-US" dirty="0" smtClean="0">
                <a:solidFill>
                  <a:srgbClr val="6600CC"/>
                </a:solidFill>
                <a:latin typeface="Vrinda" pitchFamily="34" charset="0"/>
                <a:cs typeface="Vrinda" pitchFamily="34" charset="0"/>
              </a:rPr>
              <a:t>(data))</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	except: </a:t>
            </a:r>
            <a:r>
              <a:rPr lang="en-US" dirty="0" err="1" smtClean="0">
                <a:solidFill>
                  <a:srgbClr val="6600CC"/>
                </a:solidFill>
                <a:latin typeface="Vrinda" pitchFamily="34" charset="0"/>
                <a:cs typeface="Vrinda" pitchFamily="34" charset="0"/>
              </a:rPr>
              <a:t>js</a:t>
            </a:r>
            <a:r>
              <a:rPr lang="en-US" dirty="0" smtClean="0">
                <a:solidFill>
                  <a:srgbClr val="6600CC"/>
                </a:solidFill>
                <a:latin typeface="Vrinda" pitchFamily="34" charset="0"/>
                <a:cs typeface="Vrinda" pitchFamily="34" charset="0"/>
              </a:rPr>
              <a:t> = None </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	if 'status' not in </a:t>
            </a:r>
            <a:r>
              <a:rPr lang="en-US" dirty="0" err="1" smtClean="0">
                <a:solidFill>
                  <a:srgbClr val="6600CC"/>
                </a:solidFill>
                <a:latin typeface="Vrinda" pitchFamily="34" charset="0"/>
                <a:cs typeface="Vrinda" pitchFamily="34" charset="0"/>
              </a:rPr>
              <a:t>js</a:t>
            </a:r>
            <a:r>
              <a:rPr lang="en-US" dirty="0" smtClean="0">
                <a:solidFill>
                  <a:srgbClr val="6600CC"/>
                </a:solidFill>
                <a:latin typeface="Vrinda" pitchFamily="34" charset="0"/>
                <a:cs typeface="Vrinda" pitchFamily="34" charset="0"/>
              </a:rPr>
              <a:t> or </a:t>
            </a:r>
            <a:r>
              <a:rPr lang="en-US" dirty="0" err="1" smtClean="0">
                <a:solidFill>
                  <a:srgbClr val="6600CC"/>
                </a:solidFill>
                <a:latin typeface="Vrinda" pitchFamily="34" charset="0"/>
                <a:cs typeface="Vrinda" pitchFamily="34" charset="0"/>
              </a:rPr>
              <a:t>js</a:t>
            </a:r>
            <a:r>
              <a:rPr lang="en-US" dirty="0" smtClean="0">
                <a:solidFill>
                  <a:srgbClr val="6600CC"/>
                </a:solidFill>
                <a:latin typeface="Vrinda" pitchFamily="34" charset="0"/>
                <a:cs typeface="Vrinda" pitchFamily="34" charset="0"/>
              </a:rPr>
              <a:t>['status'] != 'OK': </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		  print '====</a:t>
            </a:r>
            <a:r>
              <a:rPr lang="en-US" dirty="0" err="1" smtClean="0">
                <a:solidFill>
                  <a:srgbClr val="6600CC"/>
                </a:solidFill>
                <a:latin typeface="Vrinda" pitchFamily="34" charset="0"/>
                <a:cs typeface="Vrinda" pitchFamily="34" charset="0"/>
              </a:rPr>
              <a:t>FailureToRetrieve</a:t>
            </a:r>
            <a:r>
              <a:rPr lang="en-US" dirty="0" smtClean="0">
                <a:solidFill>
                  <a:srgbClr val="6600CC"/>
                </a:solidFill>
                <a:latin typeface="Vrinda" pitchFamily="34" charset="0"/>
                <a:cs typeface="Vrinda" pitchFamily="34" charset="0"/>
              </a:rPr>
              <a:t>====' </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	   print data </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		  continue</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	print </a:t>
            </a:r>
            <a:r>
              <a:rPr lang="en-US" dirty="0" err="1" smtClean="0">
                <a:solidFill>
                  <a:srgbClr val="6600CC"/>
                </a:solidFill>
                <a:latin typeface="Vrinda" pitchFamily="34" charset="0"/>
                <a:cs typeface="Vrinda" pitchFamily="34" charset="0"/>
              </a:rPr>
              <a:t>json.dumps</a:t>
            </a:r>
            <a:r>
              <a:rPr lang="en-US" dirty="0" smtClean="0">
                <a:solidFill>
                  <a:srgbClr val="6600CC"/>
                </a:solidFill>
                <a:latin typeface="Vrinda" pitchFamily="34" charset="0"/>
                <a:cs typeface="Vrinda" pitchFamily="34" charset="0"/>
              </a:rPr>
              <a:t>(</a:t>
            </a:r>
            <a:r>
              <a:rPr lang="en-US" dirty="0" err="1" smtClean="0">
                <a:solidFill>
                  <a:srgbClr val="6600CC"/>
                </a:solidFill>
                <a:latin typeface="Vrinda" pitchFamily="34" charset="0"/>
                <a:cs typeface="Vrinda" pitchFamily="34" charset="0"/>
              </a:rPr>
              <a:t>js</a:t>
            </a:r>
            <a:r>
              <a:rPr lang="en-US" dirty="0" smtClean="0">
                <a:solidFill>
                  <a:srgbClr val="6600CC"/>
                </a:solidFill>
                <a:latin typeface="Vrinda" pitchFamily="34" charset="0"/>
                <a:cs typeface="Vrinda" pitchFamily="34" charset="0"/>
              </a:rPr>
              <a:t>, indent=4)</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   lat = </a:t>
            </a:r>
            <a:r>
              <a:rPr lang="en-US" dirty="0" err="1" smtClean="0">
                <a:solidFill>
                  <a:srgbClr val="6600CC"/>
                </a:solidFill>
                <a:latin typeface="Vrinda" pitchFamily="34" charset="0"/>
                <a:cs typeface="Vrinda" pitchFamily="34" charset="0"/>
              </a:rPr>
              <a:t>js</a:t>
            </a:r>
            <a:r>
              <a:rPr lang="en-US" dirty="0" smtClean="0">
                <a:solidFill>
                  <a:srgbClr val="6600CC"/>
                </a:solidFill>
                <a:latin typeface="Vrinda" pitchFamily="34" charset="0"/>
                <a:cs typeface="Vrinda" pitchFamily="34" charset="0"/>
              </a:rPr>
              <a:t>["results"][0]["geometry"]["location"]["lat"] </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   </a:t>
            </a:r>
            <a:r>
              <a:rPr lang="en-US" dirty="0" err="1" smtClean="0">
                <a:solidFill>
                  <a:srgbClr val="6600CC"/>
                </a:solidFill>
                <a:latin typeface="Vrinda" pitchFamily="34" charset="0"/>
                <a:cs typeface="Vrinda" pitchFamily="34" charset="0"/>
              </a:rPr>
              <a:t>lng</a:t>
            </a:r>
            <a:r>
              <a:rPr lang="en-US" dirty="0" smtClean="0">
                <a:solidFill>
                  <a:srgbClr val="6600CC"/>
                </a:solidFill>
                <a:latin typeface="Vrinda" pitchFamily="34" charset="0"/>
                <a:cs typeface="Vrinda" pitchFamily="34" charset="0"/>
              </a:rPr>
              <a:t> = </a:t>
            </a:r>
            <a:r>
              <a:rPr lang="en-US" dirty="0" err="1" smtClean="0">
                <a:solidFill>
                  <a:srgbClr val="6600CC"/>
                </a:solidFill>
                <a:latin typeface="Vrinda" pitchFamily="34" charset="0"/>
                <a:cs typeface="Vrinda" pitchFamily="34" charset="0"/>
              </a:rPr>
              <a:t>js</a:t>
            </a:r>
            <a:r>
              <a:rPr lang="en-US" dirty="0" smtClean="0">
                <a:solidFill>
                  <a:srgbClr val="6600CC"/>
                </a:solidFill>
                <a:latin typeface="Vrinda" pitchFamily="34" charset="0"/>
                <a:cs typeface="Vrinda" pitchFamily="34" charset="0"/>
              </a:rPr>
              <a:t>["results"][0]["geometry"]["location"]["</a:t>
            </a:r>
            <a:r>
              <a:rPr lang="en-US" dirty="0" err="1" smtClean="0">
                <a:solidFill>
                  <a:srgbClr val="6600CC"/>
                </a:solidFill>
                <a:latin typeface="Vrinda" pitchFamily="34" charset="0"/>
                <a:cs typeface="Vrinda" pitchFamily="34" charset="0"/>
              </a:rPr>
              <a:t>lng</a:t>
            </a:r>
            <a:r>
              <a:rPr lang="en-US" dirty="0" smtClean="0">
                <a:solidFill>
                  <a:srgbClr val="6600CC"/>
                </a:solidFill>
                <a:latin typeface="Vrinda" pitchFamily="34" charset="0"/>
                <a:cs typeface="Vrinda" pitchFamily="34" charset="0"/>
              </a:rPr>
              <a:t>"] </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   print '</a:t>
            </a:r>
            <a:r>
              <a:rPr lang="en-US" dirty="0" err="1" smtClean="0">
                <a:solidFill>
                  <a:srgbClr val="6600CC"/>
                </a:solidFill>
                <a:latin typeface="Vrinda" pitchFamily="34" charset="0"/>
                <a:cs typeface="Vrinda" pitchFamily="34" charset="0"/>
              </a:rPr>
              <a:t>lat',lat,'lng',lng</a:t>
            </a:r>
            <a:r>
              <a:rPr lang="en-US" dirty="0" smtClean="0">
                <a:solidFill>
                  <a:srgbClr val="6600CC"/>
                </a:solidFill>
                <a:latin typeface="Vrinda" pitchFamily="34" charset="0"/>
                <a:cs typeface="Vrinda" pitchFamily="34" charset="0"/>
              </a:rPr>
              <a:t> </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   location = </a:t>
            </a:r>
            <a:r>
              <a:rPr lang="en-US" dirty="0" err="1" smtClean="0">
                <a:solidFill>
                  <a:srgbClr val="6600CC"/>
                </a:solidFill>
                <a:latin typeface="Vrinda" pitchFamily="34" charset="0"/>
                <a:cs typeface="Vrinda" pitchFamily="34" charset="0"/>
              </a:rPr>
              <a:t>js</a:t>
            </a:r>
            <a:r>
              <a:rPr lang="en-US" dirty="0" smtClean="0">
                <a:solidFill>
                  <a:srgbClr val="6600CC"/>
                </a:solidFill>
                <a:latin typeface="Vrinda" pitchFamily="34" charset="0"/>
                <a:cs typeface="Vrinda" pitchFamily="34" charset="0"/>
              </a:rPr>
              <a:t>['results'][0]['</a:t>
            </a:r>
            <a:r>
              <a:rPr lang="en-US" dirty="0" err="1" smtClean="0">
                <a:solidFill>
                  <a:srgbClr val="6600CC"/>
                </a:solidFill>
                <a:latin typeface="Vrinda" pitchFamily="34" charset="0"/>
                <a:cs typeface="Vrinda" pitchFamily="34" charset="0"/>
              </a:rPr>
              <a:t>formatted_address</a:t>
            </a:r>
            <a:r>
              <a:rPr lang="en-US" dirty="0" smtClean="0">
                <a:solidFill>
                  <a:srgbClr val="6600CC"/>
                </a:solidFill>
                <a:latin typeface="Vrinda" pitchFamily="34" charset="0"/>
                <a:cs typeface="Vrinda" pitchFamily="34" charset="0"/>
              </a:rPr>
              <a:t>'] </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   print location</a:t>
            </a:r>
          </a:p>
        </p:txBody>
      </p:sp>
      <p:sp>
        <p:nvSpPr>
          <p:cNvPr id="5" name="Title 1"/>
          <p:cNvSpPr>
            <a:spLocks noGrp="1"/>
          </p:cNvSpPr>
          <p:nvPr>
            <p:ph type="title"/>
          </p:nvPr>
        </p:nvSpPr>
        <p:spPr>
          <a:xfrm>
            <a:off x="540000" y="540000"/>
            <a:ext cx="396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Google </a:t>
            </a:r>
            <a:r>
              <a:rPr lang="en-US" sz="2400" b="1" dirty="0">
                <a:solidFill>
                  <a:schemeClr val="bg1"/>
                </a:solidFill>
                <a:latin typeface="Vrinda" pitchFamily="34" charset="0"/>
                <a:cs typeface="Vrinda" pitchFamily="34" charset="0"/>
              </a:rPr>
              <a:t>G</a:t>
            </a:r>
            <a:r>
              <a:rPr lang="en-US" sz="2400" b="1" dirty="0" smtClean="0">
                <a:solidFill>
                  <a:schemeClr val="bg1"/>
                </a:solidFill>
                <a:latin typeface="Vrinda" pitchFamily="34" charset="0"/>
                <a:cs typeface="Vrinda" pitchFamily="34" charset="0"/>
              </a:rPr>
              <a:t>eocoding Web Service (Contd.)</a:t>
            </a:r>
          </a:p>
        </p:txBody>
      </p:sp>
    </p:spTree>
    <p:extLst>
      <p:ext uri="{BB962C8B-B14F-4D97-AF65-F5344CB8AC3E}">
        <p14:creationId xmlns:p14="http://schemas.microsoft.com/office/powerpoint/2010/main" val="245268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533400" y="1600200"/>
            <a:ext cx="5181600" cy="4585871"/>
          </a:xfrm>
          <a:prstGeom prst="rect">
            <a:avLst/>
          </a:prstGeom>
          <a:ln/>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2000" b="1" i="1" dirty="0" smtClean="0">
                <a:solidFill>
                  <a:srgbClr val="9900FF"/>
                </a:solidFill>
                <a:cs typeface="Vrinda" pitchFamily="34" charset="0"/>
              </a:rPr>
              <a:t>Output:</a:t>
            </a:r>
          </a:p>
          <a:p>
            <a:endParaRPr lang="en-US" sz="1600" dirty="0">
              <a:solidFill>
                <a:srgbClr val="9900FF"/>
              </a:solidFill>
              <a:cs typeface="Vrinda" pitchFamily="34" charset="0"/>
            </a:endParaRPr>
          </a:p>
          <a:p>
            <a:r>
              <a:rPr lang="en-IN" sz="1600" dirty="0"/>
              <a:t>$ python geojson.py</a:t>
            </a:r>
          </a:p>
          <a:p>
            <a:r>
              <a:rPr lang="en-IN" sz="1600" dirty="0"/>
              <a:t>Enter location: Ann </a:t>
            </a:r>
            <a:r>
              <a:rPr lang="en-IN" sz="1600" dirty="0" err="1"/>
              <a:t>Arbor</a:t>
            </a:r>
            <a:r>
              <a:rPr lang="en-IN" sz="1600" dirty="0"/>
              <a:t>, MI</a:t>
            </a:r>
          </a:p>
          <a:p>
            <a:r>
              <a:rPr lang="en-IN" sz="1600" dirty="0"/>
              <a:t>Retrieving http://maps.googleapis.com/maps/api/</a:t>
            </a:r>
          </a:p>
          <a:p>
            <a:r>
              <a:rPr lang="en-IN" sz="1600" dirty="0"/>
              <a:t>geocode/</a:t>
            </a:r>
            <a:r>
              <a:rPr lang="en-IN" sz="1600" dirty="0" err="1"/>
              <a:t>json?sensor</a:t>
            </a:r>
            <a:r>
              <a:rPr lang="en-IN" sz="1600" dirty="0"/>
              <a:t>=</a:t>
            </a:r>
            <a:r>
              <a:rPr lang="en-IN" sz="1600" dirty="0" err="1"/>
              <a:t>false&amp;address</a:t>
            </a:r>
            <a:r>
              <a:rPr lang="en-IN" sz="1600" dirty="0"/>
              <a:t>=Ann+Arbor%2C+MI</a:t>
            </a:r>
          </a:p>
          <a:p>
            <a:r>
              <a:rPr lang="en-IN" sz="1600" dirty="0"/>
              <a:t>Retrieved 1669 characters</a:t>
            </a:r>
          </a:p>
          <a:p>
            <a:r>
              <a:rPr lang="en-IN" sz="1600" dirty="0"/>
              <a:t>{</a:t>
            </a:r>
          </a:p>
          <a:p>
            <a:r>
              <a:rPr lang="en-IN" sz="1600" dirty="0"/>
              <a:t>"status": "OK",</a:t>
            </a:r>
          </a:p>
          <a:p>
            <a:r>
              <a:rPr lang="en-IN" sz="1600" dirty="0"/>
              <a:t>"results": </a:t>
            </a:r>
            <a:r>
              <a:rPr lang="en-IN" sz="1600" dirty="0" smtClean="0"/>
              <a:t>[{"</a:t>
            </a:r>
            <a:r>
              <a:rPr lang="en-IN" sz="1600" dirty="0"/>
              <a:t>geometry": {</a:t>
            </a:r>
          </a:p>
          <a:p>
            <a:r>
              <a:rPr lang="en-IN" sz="1600" dirty="0"/>
              <a:t>"</a:t>
            </a:r>
            <a:r>
              <a:rPr lang="en-IN" sz="1600" dirty="0" err="1"/>
              <a:t>location_type</a:t>
            </a:r>
            <a:r>
              <a:rPr lang="en-IN" sz="1600" dirty="0"/>
              <a:t>": "APPROXIMATE",</a:t>
            </a:r>
          </a:p>
          <a:p>
            <a:r>
              <a:rPr lang="en-IN" sz="1600" dirty="0"/>
              <a:t>"location": </a:t>
            </a:r>
            <a:r>
              <a:rPr lang="en-IN" sz="1600" dirty="0" smtClean="0"/>
              <a:t>{"</a:t>
            </a:r>
            <a:r>
              <a:rPr lang="en-IN" sz="1600" dirty="0" err="1"/>
              <a:t>lat</a:t>
            </a:r>
            <a:r>
              <a:rPr lang="en-IN" sz="1600" dirty="0"/>
              <a:t>": 42.2808256,</a:t>
            </a:r>
          </a:p>
          <a:p>
            <a:r>
              <a:rPr lang="en-IN" sz="1600" dirty="0"/>
              <a:t>"</a:t>
            </a:r>
            <a:r>
              <a:rPr lang="en-IN" sz="1600" dirty="0" err="1"/>
              <a:t>lng</a:t>
            </a:r>
            <a:r>
              <a:rPr lang="en-IN" sz="1600" dirty="0"/>
              <a:t>": -83.7430378</a:t>
            </a:r>
          </a:p>
          <a:p>
            <a:r>
              <a:rPr lang="en-IN" sz="1600" dirty="0" smtClean="0"/>
              <a:t>}},"</a:t>
            </a:r>
            <a:r>
              <a:rPr lang="en-IN" sz="1600" dirty="0" err="1"/>
              <a:t>address_components</a:t>
            </a:r>
            <a:r>
              <a:rPr lang="en-IN" sz="1600" dirty="0"/>
              <a:t>": </a:t>
            </a:r>
            <a:r>
              <a:rPr lang="en-IN" sz="1600" dirty="0" smtClean="0"/>
              <a:t>[{"</a:t>
            </a:r>
            <a:r>
              <a:rPr lang="en-IN" sz="1600" dirty="0" err="1"/>
              <a:t>long_name</a:t>
            </a:r>
            <a:r>
              <a:rPr lang="en-IN" sz="1600" dirty="0"/>
              <a:t>": "Ann </a:t>
            </a:r>
            <a:r>
              <a:rPr lang="en-IN" sz="1600" dirty="0" err="1"/>
              <a:t>Arbor</a:t>
            </a:r>
            <a:r>
              <a:rPr lang="en-IN" sz="1600" dirty="0"/>
              <a:t>",</a:t>
            </a:r>
          </a:p>
          <a:p>
            <a:r>
              <a:rPr lang="en-IN" sz="1600" dirty="0"/>
              <a:t>"types": </a:t>
            </a:r>
            <a:r>
              <a:rPr lang="en-IN" sz="1600" dirty="0" smtClean="0"/>
              <a:t>["</a:t>
            </a:r>
            <a:r>
              <a:rPr lang="en-IN" sz="1600" dirty="0" err="1"/>
              <a:t>locality</a:t>
            </a:r>
            <a:r>
              <a:rPr lang="en-IN" sz="1600" dirty="0" err="1" smtClean="0"/>
              <a:t>","</a:t>
            </a:r>
            <a:r>
              <a:rPr lang="en-IN" sz="1600" dirty="0" err="1"/>
              <a:t>political</a:t>
            </a:r>
            <a:r>
              <a:rPr lang="en-IN" sz="1600" dirty="0" smtClean="0"/>
              <a:t>"],"</a:t>
            </a:r>
            <a:r>
              <a:rPr lang="en-IN" sz="1600" dirty="0" err="1"/>
              <a:t>short_name</a:t>
            </a:r>
            <a:r>
              <a:rPr lang="en-IN" sz="1600" dirty="0"/>
              <a:t>": "Ann </a:t>
            </a:r>
            <a:r>
              <a:rPr lang="en-IN" sz="1600" dirty="0" err="1"/>
              <a:t>Arbor</a:t>
            </a:r>
            <a:r>
              <a:rPr lang="en-IN" sz="1600" dirty="0" smtClean="0"/>
              <a:t>"}],</a:t>
            </a:r>
            <a:endParaRPr lang="en-IN" sz="1600" dirty="0"/>
          </a:p>
          <a:p>
            <a:r>
              <a:rPr lang="en-IN" sz="1600" dirty="0"/>
              <a:t>"</a:t>
            </a:r>
            <a:r>
              <a:rPr lang="en-IN" sz="1600" dirty="0" err="1"/>
              <a:t>formatted_address</a:t>
            </a:r>
            <a:r>
              <a:rPr lang="en-IN" sz="1600" dirty="0"/>
              <a:t>": "Ann </a:t>
            </a:r>
            <a:r>
              <a:rPr lang="en-IN" sz="1600" dirty="0" err="1"/>
              <a:t>Arbor</a:t>
            </a:r>
            <a:r>
              <a:rPr lang="en-IN" sz="1600" dirty="0"/>
              <a:t>, MI, USA",</a:t>
            </a:r>
          </a:p>
          <a:p>
            <a:r>
              <a:rPr lang="en-IN" sz="1600" dirty="0"/>
              <a:t>"types": </a:t>
            </a:r>
            <a:r>
              <a:rPr lang="en-IN" sz="1600" dirty="0" smtClean="0"/>
              <a:t>["</a:t>
            </a:r>
            <a:r>
              <a:rPr lang="en-IN" sz="1600" dirty="0" err="1"/>
              <a:t>locality</a:t>
            </a:r>
            <a:r>
              <a:rPr lang="en-IN" sz="1600" dirty="0" err="1" smtClean="0"/>
              <a:t>","</a:t>
            </a:r>
            <a:r>
              <a:rPr lang="en-IN" sz="1600" dirty="0" err="1"/>
              <a:t>political</a:t>
            </a:r>
            <a:r>
              <a:rPr lang="en-IN" sz="1600" dirty="0"/>
              <a:t>"</a:t>
            </a:r>
          </a:p>
          <a:p>
            <a:r>
              <a:rPr lang="en-IN" sz="1600" dirty="0" smtClean="0"/>
              <a:t>]}]}</a:t>
            </a:r>
            <a:endParaRPr lang="en-IN" sz="1600" dirty="0"/>
          </a:p>
        </p:txBody>
      </p:sp>
      <p:sp>
        <p:nvSpPr>
          <p:cNvPr id="2" name="Vertical Scroll 1"/>
          <p:cNvSpPr/>
          <p:nvPr/>
        </p:nvSpPr>
        <p:spPr>
          <a:xfrm>
            <a:off x="5737860" y="2449413"/>
            <a:ext cx="2971800" cy="2492573"/>
          </a:xfrm>
          <a:prstGeom prst="verticalScroll">
            <a:avLst/>
          </a:prstGeom>
        </p:spPr>
        <p:style>
          <a:lnRef idx="3">
            <a:schemeClr val="lt1"/>
          </a:lnRef>
          <a:fillRef idx="1">
            <a:schemeClr val="accent2"/>
          </a:fillRef>
          <a:effectRef idx="1">
            <a:schemeClr val="accent2"/>
          </a:effectRef>
          <a:fontRef idx="minor">
            <a:schemeClr val="lt1"/>
          </a:fontRef>
        </p:style>
        <p:txBody>
          <a:bodyPr wrap="square" rtlCol="0" anchor="ctr">
            <a:spAutoFit/>
          </a:bodyPr>
          <a:lstStyle/>
          <a:p>
            <a:pPr marL="117475" algn="ctr" defTabSz="914363">
              <a:lnSpc>
                <a:spcPct val="90000"/>
              </a:lnSpc>
              <a:spcBef>
                <a:spcPct val="20000"/>
              </a:spcBef>
              <a:buSzPct val="100000"/>
            </a:pPr>
            <a:r>
              <a:rPr lang="en-US" sz="2000" b="1" i="1" dirty="0">
                <a:solidFill>
                  <a:schemeClr val="bg1"/>
                </a:solidFill>
              </a:rPr>
              <a:t>The program takes the search string and constructs a URL with the search string as a properly encoded </a:t>
            </a:r>
            <a:r>
              <a:rPr lang="en-US" sz="2000" b="1" i="1" dirty="0" smtClean="0">
                <a:solidFill>
                  <a:schemeClr val="bg1"/>
                </a:solidFill>
              </a:rPr>
              <a:t>parameter.</a:t>
            </a:r>
            <a:endParaRPr lang="en-US" sz="2000" b="1" i="1" dirty="0">
              <a:solidFill>
                <a:schemeClr val="bg1"/>
              </a:solidFill>
              <a:latin typeface="Vrinda" pitchFamily="34" charset="0"/>
              <a:cs typeface="Vrinda" pitchFamily="34" charset="0"/>
            </a:endParaRPr>
          </a:p>
        </p:txBody>
      </p:sp>
      <p:sp>
        <p:nvSpPr>
          <p:cNvPr id="7" name="Title 1"/>
          <p:cNvSpPr>
            <a:spLocks noGrp="1"/>
          </p:cNvSpPr>
          <p:nvPr>
            <p:ph type="title"/>
          </p:nvPr>
        </p:nvSpPr>
        <p:spPr>
          <a:xfrm>
            <a:off x="540000" y="540000"/>
            <a:ext cx="396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Google </a:t>
            </a:r>
            <a:r>
              <a:rPr lang="en-US" sz="2400" b="1" dirty="0">
                <a:solidFill>
                  <a:schemeClr val="bg1"/>
                </a:solidFill>
                <a:latin typeface="Vrinda" pitchFamily="34" charset="0"/>
                <a:cs typeface="Vrinda" pitchFamily="34" charset="0"/>
              </a:rPr>
              <a:t>G</a:t>
            </a:r>
            <a:r>
              <a:rPr lang="en-US" sz="2400" b="1" dirty="0" smtClean="0">
                <a:solidFill>
                  <a:schemeClr val="bg1"/>
                </a:solidFill>
                <a:latin typeface="Vrinda" pitchFamily="34" charset="0"/>
                <a:cs typeface="Vrinda" pitchFamily="34" charset="0"/>
              </a:rPr>
              <a:t>eocoding Web Service (Contd.)</a:t>
            </a:r>
          </a:p>
        </p:txBody>
      </p:sp>
    </p:spTree>
    <p:extLst>
      <p:ext uri="{BB962C8B-B14F-4D97-AF65-F5344CB8AC3E}">
        <p14:creationId xmlns:p14="http://schemas.microsoft.com/office/powerpoint/2010/main" val="156908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1600200"/>
            <a:ext cx="7920000" cy="1095685"/>
          </a:xfrm>
          <a:prstGeom prst="rect">
            <a:avLst/>
          </a:prstGeom>
        </p:spPr>
        <p:txBody>
          <a:bodyPr wrap="square">
            <a:spAutoFit/>
          </a:bodyPr>
          <a:lstStyle/>
          <a:p>
            <a:pPr marL="117475" lvl="1" defTabSz="914363">
              <a:lnSpc>
                <a:spcPct val="90000"/>
              </a:lnSpc>
              <a:spcBef>
                <a:spcPct val="20000"/>
              </a:spcBef>
              <a:buSzPct val="100000"/>
            </a:pPr>
            <a:r>
              <a:rPr lang="en-US" sz="2400" dirty="0" smtClean="0">
                <a:solidFill>
                  <a:srgbClr val="6600CC"/>
                </a:solidFill>
                <a:cs typeface="Vrinda" pitchFamily="34" charset="0"/>
              </a:rPr>
              <a:t>Consider the following URLs to download for exploring the JSON and XML variants of the Google Geocoding API. </a:t>
            </a:r>
          </a:p>
          <a:p>
            <a:pPr marL="514350" lvl="1" indent="-396875" defTabSz="914363">
              <a:lnSpc>
                <a:spcPct val="90000"/>
              </a:lnSpc>
              <a:spcBef>
                <a:spcPct val="20000"/>
              </a:spcBef>
              <a:buSzPct val="100000"/>
              <a:buBlip>
                <a:blip r:embed="rId3"/>
              </a:buBlip>
            </a:pPr>
            <a:endParaRPr lang="en-IN" sz="2000" dirty="0" smtClean="0">
              <a:solidFill>
                <a:srgbClr val="6600CC"/>
              </a:solidFill>
              <a:latin typeface="Vrinda" pitchFamily="34" charset="0"/>
              <a:cs typeface="Vrinda" pitchFamily="34" charset="0"/>
            </a:endParaRPr>
          </a:p>
        </p:txBody>
      </p:sp>
      <p:sp>
        <p:nvSpPr>
          <p:cNvPr id="5" name="TextBox 4"/>
          <p:cNvSpPr txBox="1"/>
          <p:nvPr/>
        </p:nvSpPr>
        <p:spPr>
          <a:xfrm>
            <a:off x="914400" y="3232944"/>
            <a:ext cx="7543800" cy="653256"/>
          </a:xfrm>
          <a:prstGeom prst="rect">
            <a:avLst/>
          </a:prstGeom>
          <a:ln/>
        </p:spPr>
        <p:style>
          <a:lnRef idx="1">
            <a:schemeClr val="accent3"/>
          </a:lnRef>
          <a:fillRef idx="2">
            <a:schemeClr val="accent3"/>
          </a:fillRef>
          <a:effectRef idx="1">
            <a:schemeClr val="accent3"/>
          </a:effectRef>
          <a:fontRef idx="minor">
            <a:schemeClr val="dk1"/>
          </a:fontRef>
        </p:style>
        <p:txBody>
          <a:bodyPr wrap="square" rtlCol="0">
            <a:spAutoFit/>
          </a:bodyPr>
          <a:lstStyle/>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www.py4inf.com/code/geojson.py </a:t>
            </a:r>
          </a:p>
          <a:p>
            <a:pPr marL="796925" indent="-396875" defTabSz="914363">
              <a:lnSpc>
                <a:spcPct val="90000"/>
              </a:lnSpc>
              <a:spcBef>
                <a:spcPct val="20000"/>
              </a:spcBef>
              <a:buSzPct val="120000"/>
            </a:pPr>
            <a:r>
              <a:rPr lang="en-US" dirty="0" smtClean="0">
                <a:solidFill>
                  <a:srgbClr val="6600CC"/>
                </a:solidFill>
                <a:latin typeface="Vrinda" pitchFamily="34" charset="0"/>
                <a:cs typeface="Vrinda" pitchFamily="34" charset="0"/>
              </a:rPr>
              <a:t>www.py4inf.com/ code/geoxml.py</a:t>
            </a:r>
          </a:p>
        </p:txBody>
      </p:sp>
      <p:sp>
        <p:nvSpPr>
          <p:cNvPr id="7" name="Title 1"/>
          <p:cNvSpPr>
            <a:spLocks noGrp="1"/>
          </p:cNvSpPr>
          <p:nvPr>
            <p:ph type="title"/>
          </p:nvPr>
        </p:nvSpPr>
        <p:spPr>
          <a:xfrm>
            <a:off x="540000" y="540000"/>
            <a:ext cx="396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Google </a:t>
            </a:r>
            <a:r>
              <a:rPr lang="en-US" sz="2400" b="1" dirty="0">
                <a:solidFill>
                  <a:schemeClr val="bg1"/>
                </a:solidFill>
                <a:latin typeface="Vrinda" pitchFamily="34" charset="0"/>
                <a:cs typeface="Vrinda" pitchFamily="34" charset="0"/>
              </a:rPr>
              <a:t>G</a:t>
            </a:r>
            <a:r>
              <a:rPr lang="en-US" sz="2400" b="1" dirty="0" smtClean="0">
                <a:solidFill>
                  <a:schemeClr val="bg1"/>
                </a:solidFill>
                <a:latin typeface="Vrinda" pitchFamily="34" charset="0"/>
                <a:cs typeface="Vrinda" pitchFamily="34" charset="0"/>
              </a:rPr>
              <a:t>eocoding Web Service (Contd.)</a:t>
            </a:r>
          </a:p>
        </p:txBody>
      </p:sp>
    </p:spTree>
    <p:extLst>
      <p:ext uri="{BB962C8B-B14F-4D97-AF65-F5344CB8AC3E}">
        <p14:creationId xmlns:p14="http://schemas.microsoft.com/office/powerpoint/2010/main" val="245268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1600200"/>
            <a:ext cx="8382000" cy="4862871"/>
          </a:xfrm>
          <a:prstGeom prst="rect">
            <a:avLst/>
          </a:prstGeom>
        </p:spPr>
        <p:txBody>
          <a:bodyPr wrap="square">
            <a:spAutoFit/>
          </a:bodyPr>
          <a:lstStyle/>
          <a:p>
            <a:pPr marL="514350" lvl="1" indent="-396875" defTabSz="914363">
              <a:lnSpc>
                <a:spcPct val="90000"/>
              </a:lnSpc>
              <a:spcBef>
                <a:spcPct val="20000"/>
              </a:spcBef>
              <a:buSzPct val="100000"/>
              <a:buBlip>
                <a:blip r:embed="rId3"/>
              </a:buBlip>
            </a:pPr>
            <a:r>
              <a:rPr lang="en-IN" sz="2400" dirty="0">
                <a:solidFill>
                  <a:srgbClr val="6600CC"/>
                </a:solidFill>
                <a:cs typeface="Vrinda" pitchFamily="34" charset="0"/>
              </a:rPr>
              <a:t>API Key</a:t>
            </a:r>
          </a:p>
          <a:p>
            <a:pPr marL="514350" lvl="1" indent="-396875" defTabSz="914363">
              <a:lnSpc>
                <a:spcPct val="90000"/>
              </a:lnSpc>
              <a:buSzPct val="100000"/>
              <a:buBlip>
                <a:blip r:embed="rId3"/>
              </a:buBlip>
            </a:pPr>
            <a:endParaRPr lang="en-US" sz="2000" dirty="0" smtClean="0">
              <a:solidFill>
                <a:srgbClr val="6600CC"/>
              </a:solidFill>
              <a:latin typeface="Vrinda" panose="020B0502040204020203" pitchFamily="34" charset="0"/>
              <a:cs typeface="Vrinda" panose="020B0502040204020203" pitchFamily="34" charset="0"/>
            </a:endParaRPr>
          </a:p>
          <a:p>
            <a:pPr marL="900000" lvl="1" indent="-396875" defTabSz="914363">
              <a:lnSpc>
                <a:spcPct val="90000"/>
              </a:lnSpc>
              <a:spcBef>
                <a:spcPct val="20000"/>
              </a:spcBef>
              <a:buSzPct val="120000"/>
              <a:buBlip>
                <a:blip r:embed="rId4"/>
              </a:buBlip>
            </a:pPr>
            <a:r>
              <a:rPr lang="en-US" sz="2000" dirty="0">
                <a:solidFill>
                  <a:srgbClr val="6600CC"/>
                </a:solidFill>
                <a:cs typeface="Vrinda" pitchFamily="34" charset="0"/>
              </a:rPr>
              <a:t>Used by vendor’s API to understand who is using their services and how much each user is using.</a:t>
            </a:r>
          </a:p>
          <a:p>
            <a:pPr marL="900000" lvl="1" indent="-396875" defTabSz="914363">
              <a:lnSpc>
                <a:spcPct val="90000"/>
              </a:lnSpc>
              <a:spcBef>
                <a:spcPct val="20000"/>
              </a:spcBef>
              <a:buSzPct val="120000"/>
              <a:buBlip>
                <a:blip r:embed="rId4"/>
              </a:buBlip>
            </a:pPr>
            <a:endParaRPr lang="en-US" sz="2000" dirty="0">
              <a:solidFill>
                <a:srgbClr val="6600CC"/>
              </a:solidFill>
              <a:cs typeface="Vrinda" pitchFamily="34" charset="0"/>
            </a:endParaRPr>
          </a:p>
          <a:p>
            <a:pPr marL="900000" lvl="1" indent="-396875" defTabSz="914363">
              <a:lnSpc>
                <a:spcPct val="90000"/>
              </a:lnSpc>
              <a:spcBef>
                <a:spcPct val="20000"/>
              </a:spcBef>
              <a:buSzPct val="120000"/>
              <a:buBlip>
                <a:blip r:embed="rId4"/>
              </a:buBlip>
            </a:pPr>
            <a:r>
              <a:rPr lang="en-US" sz="2000" dirty="0">
                <a:solidFill>
                  <a:srgbClr val="6600CC"/>
                </a:solidFill>
                <a:cs typeface="Vrinda" pitchFamily="34" charset="0"/>
              </a:rPr>
              <a:t>Used as a part of POST data or perhaps as a parameter on the URL when calling the API.</a:t>
            </a:r>
          </a:p>
          <a:p>
            <a:pPr marL="117475" lvl="1" defTabSz="914363">
              <a:lnSpc>
                <a:spcPct val="90000"/>
              </a:lnSpc>
              <a:buSzPct val="100000"/>
            </a:pPr>
            <a:endParaRPr lang="en-IN" sz="2000" dirty="0">
              <a:solidFill>
                <a:srgbClr val="6600CC"/>
              </a:solidFill>
              <a:latin typeface="Vrinda" pitchFamily="34" charset="0"/>
              <a:cs typeface="Vrinda" pitchFamily="34" charset="0"/>
            </a:endParaRPr>
          </a:p>
          <a:p>
            <a:pPr marL="117475" lvl="1" defTabSz="914363">
              <a:lnSpc>
                <a:spcPct val="90000"/>
              </a:lnSpc>
              <a:spcBef>
                <a:spcPct val="20000"/>
              </a:spcBef>
              <a:buSzPct val="100000"/>
            </a:pPr>
            <a:endParaRPr lang="en-IN" sz="2000" b="1" i="1" dirty="0" smtClean="0">
              <a:solidFill>
                <a:srgbClr val="6600CC"/>
              </a:solidFill>
              <a:latin typeface="Vrinda" pitchFamily="34" charset="0"/>
              <a:cs typeface="Vrinda" pitchFamily="34" charset="0"/>
            </a:endParaRPr>
          </a:p>
          <a:p>
            <a:pPr marL="514350" lvl="1" indent="-396875" defTabSz="914363">
              <a:lnSpc>
                <a:spcPct val="90000"/>
              </a:lnSpc>
              <a:spcBef>
                <a:spcPct val="20000"/>
              </a:spcBef>
              <a:buSzPct val="100000"/>
              <a:buBlip>
                <a:blip r:embed="rId3"/>
              </a:buBlip>
            </a:pPr>
            <a:r>
              <a:rPr lang="en-IN" sz="2400" dirty="0">
                <a:solidFill>
                  <a:srgbClr val="6600CC"/>
                </a:solidFill>
                <a:cs typeface="Vrinda" pitchFamily="34" charset="0"/>
              </a:rPr>
              <a:t>OAuth</a:t>
            </a:r>
          </a:p>
          <a:p>
            <a:pPr marL="514350" lvl="1" indent="-396875" defTabSz="914363">
              <a:lnSpc>
                <a:spcPct val="90000"/>
              </a:lnSpc>
              <a:buSzPct val="100000"/>
              <a:buBlip>
                <a:blip r:embed="rId3"/>
              </a:buBlip>
            </a:pPr>
            <a:endParaRPr lang="en-US" sz="2000" dirty="0" smtClean="0">
              <a:solidFill>
                <a:srgbClr val="6600CC"/>
              </a:solidFill>
              <a:latin typeface="Vrinda" panose="020B0502040204020203" pitchFamily="34" charset="0"/>
              <a:cs typeface="Vrinda" panose="020B0502040204020203" pitchFamily="34" charset="0"/>
            </a:endParaRPr>
          </a:p>
          <a:p>
            <a:pPr marL="900000" lvl="1" indent="-396875" defTabSz="914363">
              <a:lnSpc>
                <a:spcPct val="90000"/>
              </a:lnSpc>
              <a:spcBef>
                <a:spcPct val="20000"/>
              </a:spcBef>
              <a:buSzPct val="120000"/>
              <a:buBlip>
                <a:blip r:embed="rId4"/>
              </a:buBlip>
            </a:pPr>
            <a:r>
              <a:rPr lang="en-US" sz="2000" dirty="0">
                <a:solidFill>
                  <a:srgbClr val="6600CC"/>
                </a:solidFill>
                <a:cs typeface="Vrinda" pitchFamily="34" charset="0"/>
              </a:rPr>
              <a:t>Used to sign requests over the Internet.</a:t>
            </a:r>
          </a:p>
          <a:p>
            <a:pPr marL="514350" lvl="1" indent="-396875" defTabSz="914363">
              <a:lnSpc>
                <a:spcPct val="90000"/>
              </a:lnSpc>
              <a:buSzPct val="100000"/>
              <a:buBlip>
                <a:blip r:embed="rId3"/>
              </a:buBlip>
            </a:pPr>
            <a:endParaRPr lang="en-IN" sz="2000" dirty="0">
              <a:solidFill>
                <a:srgbClr val="6600CC"/>
              </a:solidFill>
              <a:latin typeface="Vrinda" pitchFamily="34" charset="0"/>
              <a:cs typeface="Vrinda" pitchFamily="34" charset="0"/>
            </a:endParaRPr>
          </a:p>
          <a:p>
            <a:pPr marL="460375" lvl="1" indent="-342900" defTabSz="914363">
              <a:lnSpc>
                <a:spcPct val="90000"/>
              </a:lnSpc>
              <a:spcBef>
                <a:spcPct val="20000"/>
              </a:spcBef>
              <a:buSzPct val="100000"/>
              <a:buFont typeface="Arial" panose="020B0604020202020204" pitchFamily="34" charset="0"/>
              <a:buChar char="•"/>
            </a:pPr>
            <a:endParaRPr lang="en-US" sz="2000" dirty="0">
              <a:solidFill>
                <a:srgbClr val="6600CC"/>
              </a:solidFill>
              <a:latin typeface="Vrinda" panose="020B0502040204020203" pitchFamily="34" charset="0"/>
              <a:cs typeface="Vrinda" panose="020B0502040204020203" pitchFamily="34" charset="0"/>
            </a:endParaRPr>
          </a:p>
          <a:p>
            <a:pPr marL="117475" lvl="1" defTabSz="914363">
              <a:lnSpc>
                <a:spcPct val="90000"/>
              </a:lnSpc>
              <a:spcBef>
                <a:spcPct val="20000"/>
              </a:spcBef>
              <a:buSzPct val="100000"/>
            </a:pPr>
            <a:endParaRPr lang="en-US" sz="2000" dirty="0">
              <a:solidFill>
                <a:srgbClr val="6600CC"/>
              </a:solidFill>
              <a:latin typeface="Vrinda" panose="020B0502040204020203" pitchFamily="34" charset="0"/>
              <a:cs typeface="Vrinda" panose="020B0502040204020203" pitchFamily="34" charset="0"/>
            </a:endParaRPr>
          </a:p>
        </p:txBody>
      </p:sp>
      <p:sp>
        <p:nvSpPr>
          <p:cNvPr id="6" name="Title 1"/>
          <p:cNvSpPr>
            <a:spLocks noGrp="1"/>
          </p:cNvSpPr>
          <p:nvPr>
            <p:ph type="title"/>
          </p:nvPr>
        </p:nvSpPr>
        <p:spPr>
          <a:xfrm>
            <a:off x="540000" y="540000"/>
            <a:ext cx="396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Security and API Usage</a:t>
            </a:r>
            <a:endParaRPr lang="en-IN" sz="2400"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245268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sp>
        <p:nvSpPr>
          <p:cNvPr id="8" name="Oval Callout 7"/>
          <p:cNvSpPr/>
          <p:nvPr/>
        </p:nvSpPr>
        <p:spPr>
          <a:xfrm flipH="1">
            <a:off x="1219200" y="2667000"/>
            <a:ext cx="5069160" cy="1600200"/>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endParaRPr lang="en-IN" sz="1600" dirty="0" smtClean="0"/>
          </a:p>
          <a:p>
            <a:endParaRPr lang="en-IN" sz="1600" dirty="0"/>
          </a:p>
          <a:p>
            <a:r>
              <a:rPr lang="en-IN" dirty="0"/>
              <a:t>______is a Contract between applications that defines the patterns of interaction between two application </a:t>
            </a:r>
            <a:r>
              <a:rPr lang="en-IN" dirty="0" smtClean="0"/>
              <a:t>components.</a:t>
            </a:r>
            <a:endParaRPr lang="en-IN" dirty="0"/>
          </a:p>
          <a:p>
            <a:endParaRPr lang="en-US" sz="1600" dirty="0"/>
          </a:p>
          <a:p>
            <a:pPr algn="ctr"/>
            <a:endParaRPr lang="en-IN" sz="1600" dirty="0" smtClean="0"/>
          </a:p>
          <a:p>
            <a:pPr algn="ctr"/>
            <a:endParaRPr lang="en-US" sz="1600" dirty="0"/>
          </a:p>
        </p:txBody>
      </p:sp>
    </p:spTree>
    <p:extLst>
      <p:ext uri="{BB962C8B-B14F-4D97-AF65-F5344CB8AC3E}">
        <p14:creationId xmlns:p14="http://schemas.microsoft.com/office/powerpoint/2010/main" val="874392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br>
              <a:rPr lang="en-IN" sz="2400" b="1" dirty="0" smtClean="0">
                <a:solidFill>
                  <a:schemeClr val="bg1"/>
                </a:solidFill>
                <a:latin typeface="Vrinda" pitchFamily="34" charset="0"/>
                <a:cs typeface="Vrinda" pitchFamily="34" charset="0"/>
              </a:rPr>
            </a:b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533400" y="1676400"/>
            <a:ext cx="8077200" cy="4419600"/>
          </a:xfrm>
        </p:spPr>
      </p:pic>
      <p:grpSp>
        <p:nvGrpSpPr>
          <p:cNvPr id="5" name="Group 4"/>
          <p:cNvGrpSpPr/>
          <p:nvPr/>
        </p:nvGrpSpPr>
        <p:grpSpPr>
          <a:xfrm>
            <a:off x="2733802" y="4974021"/>
            <a:ext cx="4593167" cy="977946"/>
            <a:chOff x="304808" y="5638800"/>
            <a:chExt cx="2896139" cy="914400"/>
          </a:xfrm>
        </p:grpSpPr>
        <p:grpSp>
          <p:nvGrpSpPr>
            <p:cNvPr id="9" name="Group 8"/>
            <p:cNvGrpSpPr/>
            <p:nvPr/>
          </p:nvGrpSpPr>
          <p:grpSpPr>
            <a:xfrm>
              <a:off x="304808" y="5638800"/>
              <a:ext cx="2488567" cy="914400"/>
              <a:chOff x="6019800" y="1143000"/>
              <a:chExt cx="585545" cy="533400"/>
            </a:xfrm>
          </p:grpSpPr>
          <p:sp>
            <p:nvSpPr>
              <p:cNvPr id="12" name="Oval 11"/>
              <p:cNvSpPr/>
              <p:nvPr/>
            </p:nvSpPr>
            <p:spPr>
              <a:xfrm>
                <a:off x="6019800" y="1143000"/>
                <a:ext cx="457200" cy="533400"/>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solidFill>
                    <a:schemeClr val="bg1"/>
                  </a:solidFill>
                </a:endParaRPr>
              </a:p>
            </p:txBody>
          </p:sp>
          <p:sp>
            <p:nvSpPr>
              <p:cNvPr id="13" name="Oval 12"/>
              <p:cNvSpPr/>
              <p:nvPr/>
            </p:nvSpPr>
            <p:spPr>
              <a:xfrm>
                <a:off x="6220973" y="1267686"/>
                <a:ext cx="384372" cy="408714"/>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solidFill>
                    <a:schemeClr val="bg1"/>
                  </a:solidFill>
                </a:endParaRPr>
              </a:p>
            </p:txBody>
          </p:sp>
        </p:grpSp>
        <p:sp>
          <p:nvSpPr>
            <p:cNvPr id="10" name="Rectangle 9"/>
            <p:cNvSpPr/>
            <p:nvPr/>
          </p:nvSpPr>
          <p:spPr>
            <a:xfrm>
              <a:off x="1780266" y="6092317"/>
              <a:ext cx="1420681" cy="299289"/>
            </a:xfrm>
            <a:prstGeom prst="rect">
              <a:avLst/>
            </a:prstGeom>
            <a:ln>
              <a:noFill/>
            </a:ln>
            <a:effectLst>
              <a:glow rad="63500">
                <a:schemeClr val="accent3">
                  <a:satMod val="175000"/>
                  <a:alpha val="40000"/>
                </a:schemeClr>
              </a:glow>
            </a:effectLst>
          </p:spPr>
          <p:txBody>
            <a:bodyPr wrap="square">
              <a:spAutoFit/>
            </a:bodyPr>
            <a:lstStyle/>
            <a:p>
              <a:pPr marL="117475" indent="0" defTabSz="914363">
                <a:lnSpc>
                  <a:spcPct val="90000"/>
                </a:lnSpc>
                <a:spcBef>
                  <a:spcPct val="20000"/>
                </a:spcBef>
                <a:buSzPct val="100000"/>
                <a:buFont typeface="Arial" pitchFamily="34" charset="0"/>
                <a:buNone/>
              </a:pPr>
              <a:r>
                <a:rPr lang="en-IN" sz="1600" dirty="0" smtClean="0">
                  <a:solidFill>
                    <a:schemeClr val="bg1"/>
                  </a:solidFill>
                  <a:cs typeface="Vrinda" pitchFamily="34" charset="0"/>
                </a:rPr>
                <a:t>API</a:t>
              </a:r>
              <a:endParaRPr lang="en-IN" sz="1600" dirty="0">
                <a:solidFill>
                  <a:schemeClr val="bg1"/>
                </a:solidFill>
                <a:cs typeface="Vrinda" pitchFamily="34" charset="0"/>
              </a:endParaRPr>
            </a:p>
          </p:txBody>
        </p:sp>
        <p:sp>
          <p:nvSpPr>
            <p:cNvPr id="11" name="Rectangle 10"/>
            <p:cNvSpPr/>
            <p:nvPr/>
          </p:nvSpPr>
          <p:spPr>
            <a:xfrm>
              <a:off x="588818" y="5963799"/>
              <a:ext cx="1287878" cy="316555"/>
            </a:xfrm>
            <a:prstGeom prst="rect">
              <a:avLst/>
            </a:prstGeom>
            <a:ln>
              <a:noFill/>
            </a:ln>
            <a:effectLst>
              <a:glow rad="63500">
                <a:schemeClr val="accent3">
                  <a:satMod val="175000"/>
                  <a:alpha val="40000"/>
                </a:schemeClr>
              </a:glow>
            </a:effectLst>
          </p:spPr>
          <p:txBody>
            <a:bodyPr wrap="square">
              <a:spAutoFit/>
            </a:bodyPr>
            <a:lstStyle/>
            <a:p>
              <a:pPr>
                <a:defRPr/>
              </a:pPr>
              <a:r>
                <a:rPr lang="en-US" sz="1600" dirty="0" smtClean="0">
                  <a:solidFill>
                    <a:schemeClr val="bg1"/>
                  </a:solidFill>
                  <a:latin typeface="+mn-lt"/>
                  <a:cs typeface="Arial" charset="0"/>
                </a:rPr>
                <a:t>Answer:</a:t>
              </a:r>
              <a:endParaRPr lang="en-US" sz="1600" dirty="0">
                <a:solidFill>
                  <a:schemeClr val="bg1"/>
                </a:solidFill>
                <a:latin typeface="+mn-lt"/>
              </a:endParaRPr>
            </a:p>
          </p:txBody>
        </p:sp>
      </p:grpSp>
      <p:sp>
        <p:nvSpPr>
          <p:cNvPr id="14" name="Oval Callout 13"/>
          <p:cNvSpPr/>
          <p:nvPr/>
        </p:nvSpPr>
        <p:spPr>
          <a:xfrm flipH="1">
            <a:off x="1219200" y="2514600"/>
            <a:ext cx="5069160" cy="1600200"/>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endParaRPr lang="en-IN" sz="1600" dirty="0" smtClean="0"/>
          </a:p>
          <a:p>
            <a:endParaRPr lang="en-IN" sz="1600" dirty="0"/>
          </a:p>
          <a:p>
            <a:r>
              <a:rPr lang="en-IN" dirty="0"/>
              <a:t>______is a Contract between applications that defines the patterns of interaction between two application </a:t>
            </a:r>
            <a:r>
              <a:rPr lang="en-IN" dirty="0" smtClean="0"/>
              <a:t>components.</a:t>
            </a:r>
            <a:endParaRPr lang="en-IN" dirty="0"/>
          </a:p>
          <a:p>
            <a:endParaRPr lang="en-US" sz="1600" dirty="0"/>
          </a:p>
          <a:p>
            <a:pPr algn="ctr"/>
            <a:endParaRPr lang="en-IN" sz="1600" dirty="0" smtClean="0"/>
          </a:p>
          <a:p>
            <a:pPr algn="ctr"/>
            <a:endParaRPr lang="en-US" sz="1600" dirty="0"/>
          </a:p>
        </p:txBody>
      </p:sp>
    </p:spTree>
    <p:extLst>
      <p:ext uri="{BB962C8B-B14F-4D97-AF65-F5344CB8AC3E}">
        <p14:creationId xmlns:p14="http://schemas.microsoft.com/office/powerpoint/2010/main" val="4005108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720000" y="1800000"/>
            <a:ext cx="79200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IN" sz="1600" dirty="0" smtClean="0">
              <a:solidFill>
                <a:srgbClr val="6600CC"/>
              </a:solidFill>
              <a:latin typeface="Vrinda" pitchFamily="34" charset="0"/>
              <a:cs typeface="Vrinda" pitchFamily="34" charset="0"/>
            </a:endParaRPr>
          </a:p>
        </p:txBody>
      </p:sp>
      <p:sp>
        <p:nvSpPr>
          <p:cNvPr id="6" name="Title 1"/>
          <p:cNvSpPr>
            <a:spLocks noGrp="1"/>
          </p:cNvSpPr>
          <p:nvPr>
            <p:ph type="title"/>
          </p:nvPr>
        </p:nvSpPr>
        <p:spPr>
          <a:xfrm>
            <a:off x="540000" y="540000"/>
            <a:ext cx="414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Activity</a:t>
            </a:r>
            <a:endParaRPr lang="en-US" sz="2400" b="1" dirty="0">
              <a:solidFill>
                <a:schemeClr val="bg1"/>
              </a:solidFill>
              <a:latin typeface="Vrinda" pitchFamily="34" charset="0"/>
              <a:cs typeface="Vrinda" pitchFamily="34" charset="0"/>
            </a:endParaRPr>
          </a:p>
        </p:txBody>
      </p:sp>
      <p:sp>
        <p:nvSpPr>
          <p:cNvPr id="2" name="Rectangle 1"/>
          <p:cNvSpPr/>
          <p:nvPr/>
        </p:nvSpPr>
        <p:spPr>
          <a:xfrm>
            <a:off x="457200" y="1676400"/>
            <a:ext cx="7848872" cy="470000"/>
          </a:xfrm>
          <a:prstGeom prst="rect">
            <a:avLst/>
          </a:prstGeom>
        </p:spPr>
        <p:txBody>
          <a:bodyPr wrap="square">
            <a:spAutoFit/>
          </a:bodyPr>
          <a:lstStyle/>
          <a:p>
            <a:pPr>
              <a:lnSpc>
                <a:spcPct val="107000"/>
              </a:lnSpc>
              <a:spcAft>
                <a:spcPts val="800"/>
              </a:spcAft>
            </a:pPr>
            <a:r>
              <a:rPr lang="en-US" sz="2400" b="1" dirty="0" smtClean="0">
                <a:solidFill>
                  <a:srgbClr val="6600CC"/>
                </a:solidFill>
                <a:ea typeface="Calibri" panose="020F0502020204030204" pitchFamily="34" charset="0"/>
                <a:cs typeface="Vrinda" panose="020B0502040204020203" pitchFamily="34" charset="0"/>
              </a:rPr>
              <a:t>Activity :  Parsing JSON Data</a:t>
            </a:r>
            <a:endParaRPr lang="en-US" sz="2400" dirty="0">
              <a:solidFill>
                <a:srgbClr val="6600CC"/>
              </a:solidFill>
              <a:effectLst/>
              <a:ea typeface="Calibri" panose="020F0502020204030204" pitchFamily="34" charset="0"/>
              <a:cs typeface="Vrinda" panose="020B0502040204020203" pitchFamily="34" charset="0"/>
            </a:endParaRPr>
          </a:p>
        </p:txBody>
      </p:sp>
      <p:sp>
        <p:nvSpPr>
          <p:cNvPr id="3" name="Rectangle 1"/>
          <p:cNvSpPr>
            <a:spLocks noChangeArrowheads="1"/>
          </p:cNvSpPr>
          <p:nvPr/>
        </p:nvSpPr>
        <p:spPr bwMode="auto">
          <a:xfrm>
            <a:off x="541114" y="2292965"/>
            <a:ext cx="7993286" cy="243143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rgbClr val="6600CC"/>
                </a:solidFill>
                <a:effectLst/>
                <a:ea typeface="Calibri" panose="020F0502020204030204" pitchFamily="34" charset="0"/>
                <a:cs typeface="Times New Roman" panose="02020603050405020304" pitchFamily="18" charset="0"/>
              </a:rPr>
              <a:t>Problem Statement: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1" i="0" u="none" strike="noStrike" cap="none" normalizeH="0" baseline="0" dirty="0" smtClean="0">
              <a:ln>
                <a:noFill/>
              </a:ln>
              <a:solidFill>
                <a:srgbClr val="6600CC"/>
              </a:solidFill>
              <a:effectLst/>
            </a:endParaRPr>
          </a:p>
          <a:p>
            <a:r>
              <a:rPr lang="en-US" sz="2000" dirty="0">
                <a:solidFill>
                  <a:srgbClr val="6600CC"/>
                </a:solidFill>
              </a:rPr>
              <a:t>Write a program </a:t>
            </a:r>
            <a:r>
              <a:rPr lang="en-US" sz="2000" dirty="0" smtClean="0">
                <a:solidFill>
                  <a:srgbClr val="6600CC"/>
                </a:solidFill>
              </a:rPr>
              <a:t>to read data from JSON file.</a:t>
            </a:r>
            <a:endParaRPr lang="en-US" sz="2000" dirty="0">
              <a:solidFill>
                <a:srgbClr val="6600CC"/>
              </a:solidFill>
            </a:endParaRPr>
          </a:p>
          <a:p>
            <a:endParaRPr lang="en-US" sz="2000" dirty="0" smtClean="0">
              <a:solidFill>
                <a:srgbClr val="6600CC"/>
              </a:solidFill>
            </a:endParaRPr>
          </a:p>
          <a:p>
            <a:r>
              <a:rPr lang="en-US" sz="2000" b="1" dirty="0">
                <a:solidFill>
                  <a:srgbClr val="6600CC"/>
                </a:solidFill>
                <a:ea typeface="Calibri" panose="020F0502020204030204" pitchFamily="34" charset="0"/>
                <a:cs typeface="Times New Roman" panose="02020603050405020304" pitchFamily="18" charset="0"/>
              </a:rPr>
              <a:t>Prerequisite: </a:t>
            </a:r>
            <a:r>
              <a:rPr lang="en-US" sz="2000" dirty="0">
                <a:solidFill>
                  <a:srgbClr val="6600CC"/>
                </a:solidFill>
              </a:rPr>
              <a:t>For this activity please refer </a:t>
            </a:r>
            <a:r>
              <a:rPr lang="en-US" sz="2000" b="1" dirty="0" err="1" smtClean="0">
                <a:solidFill>
                  <a:srgbClr val="6600CC"/>
                </a:solidFill>
              </a:rPr>
              <a:t>myjson.json</a:t>
            </a:r>
            <a:r>
              <a:rPr lang="en-US" sz="2000" b="1" dirty="0" smtClean="0">
                <a:solidFill>
                  <a:srgbClr val="6600CC"/>
                </a:solidFill>
              </a:rPr>
              <a:t> </a:t>
            </a:r>
            <a:r>
              <a:rPr lang="en-US" sz="2000" dirty="0" smtClean="0">
                <a:solidFill>
                  <a:srgbClr val="6600CC"/>
                </a:solidFill>
              </a:rPr>
              <a:t>available </a:t>
            </a:r>
            <a:r>
              <a:rPr lang="en-US" sz="2000" dirty="0">
                <a:solidFill>
                  <a:srgbClr val="6600CC"/>
                </a:solidFill>
              </a:rPr>
              <a:t>in  “</a:t>
            </a:r>
            <a:r>
              <a:rPr lang="en-US" sz="2000" b="1" dirty="0" err="1">
                <a:solidFill>
                  <a:srgbClr val="6600CC"/>
                </a:solidFill>
              </a:rPr>
              <a:t>Data_File_For_Students</a:t>
            </a:r>
            <a:r>
              <a:rPr lang="en-US" sz="2000" dirty="0">
                <a:solidFill>
                  <a:srgbClr val="6600CC"/>
                </a:solidFill>
              </a:rPr>
              <a:t>” folder. </a:t>
            </a:r>
          </a:p>
          <a:p>
            <a:endParaRPr lang="en-US" sz="1600" dirty="0" smtClean="0"/>
          </a:p>
        </p:txBody>
      </p:sp>
    </p:spTree>
    <p:extLst>
      <p:ext uri="{BB962C8B-B14F-4D97-AF65-F5344CB8AC3E}">
        <p14:creationId xmlns:p14="http://schemas.microsoft.com/office/powerpoint/2010/main" val="347420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14400" y="3657600"/>
            <a:ext cx="1691640" cy="1729740"/>
          </a:xfrm>
        </p:spPr>
      </p:pic>
      <p:sp>
        <p:nvSpPr>
          <p:cNvPr id="7" name="Cloud Callout 6"/>
          <p:cNvSpPr/>
          <p:nvPr/>
        </p:nvSpPr>
        <p:spPr>
          <a:xfrm>
            <a:off x="1981200" y="1872343"/>
            <a:ext cx="5029200" cy="2133600"/>
          </a:xfrm>
          <a:prstGeom prst="cloudCallou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b="1" dirty="0" smtClean="0">
                <a:solidFill>
                  <a:srgbClr val="9900FF"/>
                </a:solidFill>
              </a:rPr>
              <a:t>How do I store the data permanently and ensure that it is secure?</a:t>
            </a:r>
            <a:endParaRPr lang="en-US" sz="2800" b="1" dirty="0">
              <a:solidFill>
                <a:srgbClr val="9900FF"/>
              </a:solidFill>
            </a:endParaRPr>
          </a:p>
        </p:txBody>
      </p:sp>
      <p:sp>
        <p:nvSpPr>
          <p:cNvPr id="8" name="Title 1"/>
          <p:cNvSpPr txBox="1">
            <a:spLocks/>
          </p:cNvSpPr>
          <p:nvPr/>
        </p:nvSpPr>
        <p:spPr>
          <a:xfrm>
            <a:off x="540000" y="540000"/>
            <a:ext cx="414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a:solidFill>
                  <a:schemeClr val="bg1"/>
                </a:solidFill>
                <a:latin typeface="Vrinda" pitchFamily="34" charset="0"/>
                <a:cs typeface="Vrinda" pitchFamily="34" charset="0"/>
              </a:rPr>
              <a:t>Database - Introduction</a:t>
            </a:r>
          </a:p>
        </p:txBody>
      </p:sp>
    </p:spTree>
    <p:extLst>
      <p:ext uri="{BB962C8B-B14F-4D97-AF65-F5344CB8AC3E}">
        <p14:creationId xmlns:p14="http://schemas.microsoft.com/office/powerpoint/2010/main" val="2562635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1600200"/>
            <a:ext cx="8382000" cy="5515356"/>
          </a:xfrm>
          <a:prstGeom prst="rect">
            <a:avLst/>
          </a:prstGeom>
          <a:noFill/>
        </p:spPr>
        <p:txBody>
          <a:bodyPr wrap="square" rtlCol="0">
            <a:spAutoFit/>
          </a:bodyPr>
          <a:lstStyle/>
          <a:p>
            <a:pPr marL="514350" lvl="1" indent="-396875" defTabSz="914363">
              <a:lnSpc>
                <a:spcPct val="90000"/>
              </a:lnSpc>
              <a:spcBef>
                <a:spcPct val="20000"/>
              </a:spcBef>
              <a:buSzPct val="100000"/>
              <a:buBlip>
                <a:blip r:embed="rId3"/>
              </a:buBlip>
            </a:pPr>
            <a:r>
              <a:rPr lang="en-US" sz="2400" b="1" dirty="0" smtClean="0">
                <a:solidFill>
                  <a:srgbClr val="9900FF"/>
                </a:solidFill>
              </a:rPr>
              <a:t>  </a:t>
            </a:r>
            <a:r>
              <a:rPr lang="en-US" sz="2400" dirty="0">
                <a:solidFill>
                  <a:srgbClr val="6600CC"/>
                </a:solidFill>
                <a:cs typeface="Vrinda" pitchFamily="34" charset="0"/>
              </a:rPr>
              <a:t>Database</a:t>
            </a:r>
          </a:p>
          <a:p>
            <a:endParaRPr lang="en-US" sz="2000" b="1" i="1" dirty="0" smtClean="0">
              <a:solidFill>
                <a:srgbClr val="9900FF"/>
              </a:solidFill>
            </a:endParaRPr>
          </a:p>
          <a:p>
            <a:pPr marL="900000" lvl="1" indent="-396875" defTabSz="914363">
              <a:lnSpc>
                <a:spcPct val="90000"/>
              </a:lnSpc>
              <a:buSzPct val="120000"/>
              <a:buBlip>
                <a:blip r:embed="rId4"/>
              </a:buBlip>
            </a:pPr>
            <a:r>
              <a:rPr lang="en-US" sz="2000" dirty="0" smtClean="0">
                <a:solidFill>
                  <a:srgbClr val="9900FF"/>
                </a:solidFill>
              </a:rPr>
              <a:t>Is </a:t>
            </a:r>
            <a:r>
              <a:rPr lang="en-US" sz="2000" dirty="0">
                <a:solidFill>
                  <a:srgbClr val="9900FF"/>
                </a:solidFill>
              </a:rPr>
              <a:t>a file that is organized for storing data.</a:t>
            </a:r>
          </a:p>
          <a:p>
            <a:pPr marL="900000" lvl="1" indent="-396875" defTabSz="914363">
              <a:lnSpc>
                <a:spcPct val="90000"/>
              </a:lnSpc>
              <a:buSzPct val="120000"/>
              <a:buBlip>
                <a:blip r:embed="rId4"/>
              </a:buBlip>
            </a:pPr>
            <a:r>
              <a:rPr lang="en-US" sz="2000" dirty="0">
                <a:solidFill>
                  <a:srgbClr val="9900FF"/>
                </a:solidFill>
              </a:rPr>
              <a:t>Is stored on permanent storage it can store far more data than a dictionary.</a:t>
            </a:r>
          </a:p>
          <a:p>
            <a:pPr marL="900000" lvl="1" indent="-396875" defTabSz="914363">
              <a:lnSpc>
                <a:spcPct val="90000"/>
              </a:lnSpc>
              <a:buSzPct val="120000"/>
              <a:buBlip>
                <a:blip r:embed="rId4"/>
              </a:buBlip>
            </a:pPr>
            <a:r>
              <a:rPr lang="en-US" sz="2000" dirty="0">
                <a:solidFill>
                  <a:srgbClr val="9900FF"/>
                </a:solidFill>
              </a:rPr>
              <a:t>Maintains its performance by building indexes as data is added to the database</a:t>
            </a:r>
            <a:r>
              <a:rPr lang="en-US" sz="2000" dirty="0" smtClean="0">
                <a:solidFill>
                  <a:srgbClr val="9900FF"/>
                </a:solidFill>
              </a:rPr>
              <a:t>.</a:t>
            </a:r>
          </a:p>
          <a:p>
            <a:endParaRPr lang="en-US" dirty="0">
              <a:solidFill>
                <a:srgbClr val="9900FF"/>
              </a:solidFill>
            </a:endParaRPr>
          </a:p>
          <a:p>
            <a:r>
              <a:rPr lang="en-US" sz="2000" b="1" i="1" dirty="0">
                <a:solidFill>
                  <a:srgbClr val="9900FF"/>
                </a:solidFill>
              </a:rPr>
              <a:t> </a:t>
            </a:r>
            <a:r>
              <a:rPr lang="en-US" sz="2000" b="1" i="1" dirty="0" smtClean="0">
                <a:solidFill>
                  <a:srgbClr val="9900FF"/>
                </a:solidFill>
              </a:rPr>
              <a:t> Examples</a:t>
            </a:r>
            <a:r>
              <a:rPr lang="en-US" sz="2000" dirty="0" smtClean="0">
                <a:solidFill>
                  <a:srgbClr val="9900FF"/>
                </a:solidFill>
              </a:rPr>
              <a:t> :</a:t>
            </a:r>
            <a:r>
              <a:rPr lang="en-US" dirty="0" smtClean="0">
                <a:solidFill>
                  <a:srgbClr val="9900FF"/>
                </a:solidFill>
              </a:rPr>
              <a:t> </a:t>
            </a:r>
            <a:r>
              <a:rPr lang="en-US" sz="2000" dirty="0" smtClean="0">
                <a:solidFill>
                  <a:srgbClr val="9900FF"/>
                </a:solidFill>
              </a:rPr>
              <a:t>Oracle</a:t>
            </a:r>
            <a:r>
              <a:rPr lang="en-US" sz="2000" dirty="0">
                <a:solidFill>
                  <a:srgbClr val="9900FF"/>
                </a:solidFill>
              </a:rPr>
              <a:t>, MySQL, Microsoft SQL Server, PostgreSQL, </a:t>
            </a:r>
            <a:r>
              <a:rPr lang="en-US" sz="2000" dirty="0" smtClean="0">
                <a:solidFill>
                  <a:srgbClr val="9900FF"/>
                </a:solidFill>
              </a:rPr>
              <a:t>and </a:t>
            </a:r>
          </a:p>
          <a:p>
            <a:r>
              <a:rPr lang="en-US" sz="2000" dirty="0" smtClean="0">
                <a:solidFill>
                  <a:srgbClr val="9900FF"/>
                </a:solidFill>
              </a:rPr>
              <a:t>  SQLite.</a:t>
            </a:r>
          </a:p>
          <a:p>
            <a:endParaRPr lang="en-US" dirty="0">
              <a:solidFill>
                <a:srgbClr val="9900FF"/>
              </a:solidFill>
            </a:endParaRPr>
          </a:p>
          <a:p>
            <a:pPr marL="514350" lvl="1" indent="-396875" defTabSz="914363">
              <a:lnSpc>
                <a:spcPct val="90000"/>
              </a:lnSpc>
              <a:spcBef>
                <a:spcPct val="20000"/>
              </a:spcBef>
              <a:buSzPct val="100000"/>
              <a:buBlip>
                <a:blip r:embed="rId3"/>
              </a:buBlip>
            </a:pPr>
            <a:r>
              <a:rPr lang="en-US" sz="2000" b="1" i="1" dirty="0" smtClean="0">
                <a:solidFill>
                  <a:srgbClr val="9900FF"/>
                </a:solidFill>
              </a:rPr>
              <a:t>  </a:t>
            </a:r>
            <a:r>
              <a:rPr lang="en-US" sz="2400" dirty="0" smtClean="0">
                <a:solidFill>
                  <a:srgbClr val="6600CC"/>
                </a:solidFill>
                <a:cs typeface="Vrinda" pitchFamily="34" charset="0"/>
              </a:rPr>
              <a:t>SQLite</a:t>
            </a:r>
          </a:p>
          <a:p>
            <a:pPr marL="117475" lvl="1" defTabSz="914363">
              <a:lnSpc>
                <a:spcPct val="90000"/>
              </a:lnSpc>
              <a:spcBef>
                <a:spcPct val="20000"/>
              </a:spcBef>
              <a:buSzPct val="100000"/>
            </a:pPr>
            <a:endParaRPr lang="en-US" sz="2400" dirty="0">
              <a:solidFill>
                <a:srgbClr val="6600CC"/>
              </a:solidFill>
              <a:cs typeface="Vrinda" pitchFamily="34" charset="0"/>
            </a:endParaRPr>
          </a:p>
          <a:p>
            <a:pPr marL="900000" lvl="1" indent="-396875" defTabSz="914363">
              <a:lnSpc>
                <a:spcPct val="90000"/>
              </a:lnSpc>
              <a:buSzPct val="120000"/>
              <a:buBlip>
                <a:blip r:embed="rId4"/>
              </a:buBlip>
            </a:pPr>
            <a:r>
              <a:rPr lang="en-US" sz="2000" dirty="0" smtClean="0">
                <a:solidFill>
                  <a:srgbClr val="9900FF"/>
                </a:solidFill>
              </a:rPr>
              <a:t>Is </a:t>
            </a:r>
            <a:r>
              <a:rPr lang="en-US" sz="2000" dirty="0">
                <a:solidFill>
                  <a:srgbClr val="9900FF"/>
                </a:solidFill>
              </a:rPr>
              <a:t>designed to be </a:t>
            </a:r>
            <a:r>
              <a:rPr lang="en-US" sz="2000" i="1" dirty="0">
                <a:solidFill>
                  <a:srgbClr val="9900FF"/>
                </a:solidFill>
              </a:rPr>
              <a:t>embedded </a:t>
            </a:r>
            <a:r>
              <a:rPr lang="en-US" sz="2000" dirty="0">
                <a:solidFill>
                  <a:srgbClr val="9900FF"/>
                </a:solidFill>
              </a:rPr>
              <a:t>into other applications to provide database support within the application.</a:t>
            </a:r>
          </a:p>
          <a:p>
            <a:pPr marL="285750" indent="-285750">
              <a:buFont typeface="Arial" panose="020B0604020202020204" pitchFamily="34" charset="0"/>
              <a:buChar char="•"/>
            </a:pPr>
            <a:endParaRPr lang="en-US" sz="2000" dirty="0" smtClean="0">
              <a:solidFill>
                <a:srgbClr val="9900FF"/>
              </a:solidFill>
            </a:endParaRPr>
          </a:p>
          <a:p>
            <a:endParaRPr lang="en-US" dirty="0" smtClean="0"/>
          </a:p>
          <a:p>
            <a:endParaRPr lang="en-US" dirty="0"/>
          </a:p>
        </p:txBody>
      </p:sp>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70309" y="3609914"/>
            <a:ext cx="1316491" cy="1310640"/>
          </a:xfrm>
          <a:prstGeom prst="rect">
            <a:avLst/>
          </a:prstGeom>
        </p:spPr>
      </p:pic>
      <p:sp>
        <p:nvSpPr>
          <p:cNvPr id="6" name="Title 1"/>
          <p:cNvSpPr txBox="1">
            <a:spLocks/>
          </p:cNvSpPr>
          <p:nvPr/>
        </p:nvSpPr>
        <p:spPr>
          <a:xfrm>
            <a:off x="540000" y="540000"/>
            <a:ext cx="4140000" cy="900000"/>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a:solidFill>
                  <a:schemeClr val="bg1"/>
                </a:solidFill>
                <a:latin typeface="Vrinda" pitchFamily="34" charset="0"/>
                <a:cs typeface="Vrinda" pitchFamily="34" charset="0"/>
              </a:rPr>
              <a:t>Database </a:t>
            </a:r>
            <a:r>
              <a:rPr lang="en-US" sz="2400" b="1" dirty="0" smtClean="0">
                <a:solidFill>
                  <a:schemeClr val="bg1"/>
                </a:solidFill>
                <a:latin typeface="Vrinda" pitchFamily="34" charset="0"/>
                <a:cs typeface="Vrinda" pitchFamily="34" charset="0"/>
              </a:rPr>
              <a:t>– Introduction (Contd.)</a:t>
            </a:r>
            <a:endParaRPr lang="en-US" sz="2400"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3060923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Database - Concepts</a:t>
            </a:r>
            <a:endParaRPr lang="en-IN" sz="2400" b="1" dirty="0">
              <a:solidFill>
                <a:schemeClr val="bg1"/>
              </a:solidFill>
              <a:latin typeface="Vrinda" pitchFamily="34" charset="0"/>
              <a:cs typeface="Vrinda" pitchFamily="34" charset="0"/>
            </a:endParaRPr>
          </a:p>
        </p:txBody>
      </p:sp>
      <p:sp>
        <p:nvSpPr>
          <p:cNvPr id="4" name="TextBox 3"/>
          <p:cNvSpPr txBox="1"/>
          <p:nvPr/>
        </p:nvSpPr>
        <p:spPr>
          <a:xfrm>
            <a:off x="443268" y="1600200"/>
            <a:ext cx="8319732" cy="2523768"/>
          </a:xfrm>
          <a:prstGeom prst="rect">
            <a:avLst/>
          </a:prstGeom>
          <a:noFill/>
        </p:spPr>
        <p:txBody>
          <a:bodyPr wrap="square" rtlCol="0">
            <a:spAutoFit/>
          </a:bodyPr>
          <a:lstStyle/>
          <a:p>
            <a:pPr marL="514350" lvl="1" indent="-396875" defTabSz="914363">
              <a:lnSpc>
                <a:spcPct val="90000"/>
              </a:lnSpc>
              <a:spcBef>
                <a:spcPct val="20000"/>
              </a:spcBef>
              <a:buSzPct val="100000"/>
              <a:buBlip>
                <a:blip r:embed="rId3"/>
              </a:buBlip>
            </a:pPr>
            <a:r>
              <a:rPr lang="en-US" sz="2400" b="1" i="1" dirty="0" smtClean="0">
                <a:solidFill>
                  <a:srgbClr val="9900FF"/>
                </a:solidFill>
              </a:rPr>
              <a:t>  </a:t>
            </a:r>
            <a:r>
              <a:rPr lang="en-US" sz="2400" dirty="0">
                <a:solidFill>
                  <a:srgbClr val="6600CC"/>
                </a:solidFill>
                <a:cs typeface="Vrinda" pitchFamily="34" charset="0"/>
              </a:rPr>
              <a:t>Database Structure</a:t>
            </a:r>
          </a:p>
          <a:p>
            <a:pPr marL="900000" lvl="1" indent="-396875" defTabSz="914363">
              <a:lnSpc>
                <a:spcPct val="90000"/>
              </a:lnSpc>
              <a:buSzPct val="120000"/>
              <a:buBlip>
                <a:blip r:embed="rId4"/>
              </a:buBlip>
            </a:pPr>
            <a:r>
              <a:rPr lang="en-US" sz="2000" dirty="0">
                <a:solidFill>
                  <a:srgbClr val="9900FF"/>
                </a:solidFill>
              </a:rPr>
              <a:t>Consists of tables – rows and columns.</a:t>
            </a:r>
          </a:p>
          <a:p>
            <a:endParaRPr lang="en-US" sz="2000" b="1" i="1" dirty="0" smtClean="0">
              <a:solidFill>
                <a:srgbClr val="9900FF"/>
              </a:solidFill>
            </a:endParaRPr>
          </a:p>
          <a:p>
            <a:pPr marL="514350" lvl="1" indent="-396875" defTabSz="914363">
              <a:lnSpc>
                <a:spcPct val="90000"/>
              </a:lnSpc>
              <a:spcBef>
                <a:spcPct val="20000"/>
              </a:spcBef>
              <a:buSzPct val="100000"/>
              <a:buBlip>
                <a:blip r:embed="rId3"/>
              </a:buBlip>
            </a:pPr>
            <a:r>
              <a:rPr lang="en-US" sz="2400" b="1" dirty="0" smtClean="0">
                <a:solidFill>
                  <a:srgbClr val="9900FF"/>
                </a:solidFill>
              </a:rPr>
              <a:t>  </a:t>
            </a:r>
            <a:r>
              <a:rPr lang="en-US" sz="2400" dirty="0">
                <a:solidFill>
                  <a:srgbClr val="6600CC"/>
                </a:solidFill>
                <a:cs typeface="Vrinda" pitchFamily="34" charset="0"/>
              </a:rPr>
              <a:t>Technically </a:t>
            </a:r>
          </a:p>
          <a:p>
            <a:pPr marL="900000" lvl="1" indent="-396875" defTabSz="914363">
              <a:lnSpc>
                <a:spcPct val="90000"/>
              </a:lnSpc>
              <a:buSzPct val="120000"/>
              <a:buBlip>
                <a:blip r:embed="rId4"/>
              </a:buBlip>
            </a:pPr>
            <a:r>
              <a:rPr lang="en-US" sz="2000" dirty="0">
                <a:solidFill>
                  <a:srgbClr val="9900FF"/>
                </a:solidFill>
              </a:rPr>
              <a:t>Table – Relation</a:t>
            </a:r>
          </a:p>
          <a:p>
            <a:pPr marL="900000" lvl="1" indent="-396875" defTabSz="914363">
              <a:lnSpc>
                <a:spcPct val="90000"/>
              </a:lnSpc>
              <a:buSzPct val="120000"/>
              <a:buBlip>
                <a:blip r:embed="rId4"/>
              </a:buBlip>
            </a:pPr>
            <a:r>
              <a:rPr lang="en-US" sz="2000" dirty="0">
                <a:solidFill>
                  <a:srgbClr val="9900FF"/>
                </a:solidFill>
              </a:rPr>
              <a:t>Row – Tuple</a:t>
            </a:r>
          </a:p>
          <a:p>
            <a:pPr marL="900000" lvl="1" indent="-396875" defTabSz="914363">
              <a:lnSpc>
                <a:spcPct val="90000"/>
              </a:lnSpc>
              <a:buSzPct val="120000"/>
              <a:buBlip>
                <a:blip r:embed="rId4"/>
              </a:buBlip>
            </a:pPr>
            <a:r>
              <a:rPr lang="en-US" sz="2000" dirty="0">
                <a:solidFill>
                  <a:srgbClr val="9900FF"/>
                </a:solidFill>
              </a:rPr>
              <a:t>Column - Attribute</a:t>
            </a:r>
          </a:p>
          <a:p>
            <a:endParaRPr lang="en-US" dirty="0"/>
          </a:p>
        </p:txBody>
      </p:sp>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4191000"/>
            <a:ext cx="7515937" cy="1854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30300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sp>
        <p:nvSpPr>
          <p:cNvPr id="8" name="Oval Callout 7"/>
          <p:cNvSpPr/>
          <p:nvPr/>
        </p:nvSpPr>
        <p:spPr>
          <a:xfrm flipH="1">
            <a:off x="1219200" y="2667000"/>
            <a:ext cx="5069160" cy="1600200"/>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endParaRPr lang="en-IN" sz="1600" dirty="0" smtClean="0"/>
          </a:p>
          <a:p>
            <a:endParaRPr lang="en-IN" sz="1600" dirty="0"/>
          </a:p>
          <a:p>
            <a:r>
              <a:rPr lang="en-IN" dirty="0"/>
              <a:t>Table is technically referred to as </a:t>
            </a:r>
            <a:r>
              <a:rPr lang="en-IN" dirty="0" smtClean="0"/>
              <a:t>_________.</a:t>
            </a:r>
            <a:endParaRPr lang="en-IN" dirty="0"/>
          </a:p>
          <a:p>
            <a:endParaRPr lang="en-US" sz="1600" dirty="0"/>
          </a:p>
          <a:p>
            <a:pPr algn="ctr"/>
            <a:endParaRPr lang="en-IN" sz="1600" dirty="0" smtClean="0"/>
          </a:p>
          <a:p>
            <a:pPr algn="ctr"/>
            <a:endParaRPr lang="en-US" sz="1600" dirty="0"/>
          </a:p>
        </p:txBody>
      </p:sp>
    </p:spTree>
    <p:extLst>
      <p:ext uri="{BB962C8B-B14F-4D97-AF65-F5344CB8AC3E}">
        <p14:creationId xmlns:p14="http://schemas.microsoft.com/office/powerpoint/2010/main" val="2755011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Just a Minute</a:t>
            </a:r>
            <a:br>
              <a:rPr lang="en-IN" sz="2400" b="1" dirty="0" smtClean="0">
                <a:solidFill>
                  <a:schemeClr val="bg1"/>
                </a:solidFill>
                <a:latin typeface="Vrinda" pitchFamily="34" charset="0"/>
                <a:cs typeface="Vrinda" pitchFamily="34" charset="0"/>
              </a:rPr>
            </a:br>
            <a:endParaRPr lang="en-US" sz="2400" b="1" dirty="0">
              <a:solidFill>
                <a:schemeClr val="bg1"/>
              </a:solidFill>
              <a:latin typeface="Vrinda" pitchFamily="34" charset="0"/>
              <a:cs typeface="Vrinda" pitchFamily="34" charset="0"/>
            </a:endParaRPr>
          </a:p>
        </p:txBody>
      </p:sp>
      <p:pic>
        <p:nvPicPr>
          <p:cNvPr id="7"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8700" t="8754" r="4699" b="9314"/>
          <a:stretch/>
        </p:blipFill>
        <p:spPr>
          <a:xfrm>
            <a:off x="683568" y="1772816"/>
            <a:ext cx="7918704" cy="4343400"/>
          </a:xfrm>
        </p:spPr>
      </p:pic>
      <p:grpSp>
        <p:nvGrpSpPr>
          <p:cNvPr id="5" name="Group 4"/>
          <p:cNvGrpSpPr/>
          <p:nvPr/>
        </p:nvGrpSpPr>
        <p:grpSpPr>
          <a:xfrm>
            <a:off x="2733802" y="4974021"/>
            <a:ext cx="4319944" cy="977946"/>
            <a:chOff x="304808" y="5638800"/>
            <a:chExt cx="2723863" cy="914400"/>
          </a:xfrm>
        </p:grpSpPr>
        <p:grpSp>
          <p:nvGrpSpPr>
            <p:cNvPr id="9" name="Group 8"/>
            <p:cNvGrpSpPr/>
            <p:nvPr/>
          </p:nvGrpSpPr>
          <p:grpSpPr>
            <a:xfrm>
              <a:off x="304808" y="5638800"/>
              <a:ext cx="2488567" cy="914400"/>
              <a:chOff x="6019800" y="1143000"/>
              <a:chExt cx="585545" cy="533400"/>
            </a:xfrm>
          </p:grpSpPr>
          <p:sp>
            <p:nvSpPr>
              <p:cNvPr id="12" name="Oval 11"/>
              <p:cNvSpPr/>
              <p:nvPr/>
            </p:nvSpPr>
            <p:spPr>
              <a:xfrm>
                <a:off x="6019800" y="1143000"/>
                <a:ext cx="457200" cy="533400"/>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solidFill>
                    <a:schemeClr val="bg1"/>
                  </a:solidFill>
                </a:endParaRPr>
              </a:p>
            </p:txBody>
          </p:sp>
          <p:sp>
            <p:nvSpPr>
              <p:cNvPr id="13" name="Oval 12"/>
              <p:cNvSpPr/>
              <p:nvPr/>
            </p:nvSpPr>
            <p:spPr>
              <a:xfrm>
                <a:off x="6220973" y="1267686"/>
                <a:ext cx="384372" cy="408714"/>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solidFill>
                    <a:schemeClr val="bg1"/>
                  </a:solidFill>
                </a:endParaRPr>
              </a:p>
            </p:txBody>
          </p:sp>
        </p:grpSp>
        <p:sp>
          <p:nvSpPr>
            <p:cNvPr id="10" name="Rectangle 9"/>
            <p:cNvSpPr/>
            <p:nvPr/>
          </p:nvSpPr>
          <p:spPr>
            <a:xfrm>
              <a:off x="1607990" y="6056107"/>
              <a:ext cx="1420681" cy="293533"/>
            </a:xfrm>
            <a:prstGeom prst="rect">
              <a:avLst/>
            </a:prstGeom>
            <a:ln>
              <a:noFill/>
            </a:ln>
            <a:effectLst>
              <a:glow rad="63500">
                <a:schemeClr val="accent3">
                  <a:satMod val="175000"/>
                  <a:alpha val="40000"/>
                </a:schemeClr>
              </a:glow>
            </a:effectLst>
          </p:spPr>
          <p:txBody>
            <a:bodyPr wrap="square">
              <a:spAutoFit/>
            </a:bodyPr>
            <a:lstStyle/>
            <a:p>
              <a:pPr marL="117475" indent="0" defTabSz="914363">
                <a:lnSpc>
                  <a:spcPct val="90000"/>
                </a:lnSpc>
                <a:spcBef>
                  <a:spcPct val="20000"/>
                </a:spcBef>
                <a:buSzPct val="100000"/>
                <a:buFont typeface="Arial" pitchFamily="34" charset="0"/>
                <a:buNone/>
              </a:pPr>
              <a:r>
                <a:rPr lang="en-IN" sz="1600" b="1" dirty="0" smtClean="0">
                  <a:solidFill>
                    <a:schemeClr val="bg1"/>
                  </a:solidFill>
                  <a:latin typeface="Vrinda" pitchFamily="34" charset="0"/>
                  <a:cs typeface="Vrinda" pitchFamily="34" charset="0"/>
                </a:rPr>
                <a:t>Relation</a:t>
              </a:r>
              <a:endParaRPr lang="en-IN" sz="1600" b="1" dirty="0">
                <a:solidFill>
                  <a:schemeClr val="bg1"/>
                </a:solidFill>
                <a:latin typeface="Vrinda" pitchFamily="34" charset="0"/>
                <a:cs typeface="Vrinda" pitchFamily="34" charset="0"/>
              </a:endParaRPr>
            </a:p>
          </p:txBody>
        </p:sp>
        <p:sp>
          <p:nvSpPr>
            <p:cNvPr id="11" name="Rectangle 10"/>
            <p:cNvSpPr/>
            <p:nvPr/>
          </p:nvSpPr>
          <p:spPr>
            <a:xfrm>
              <a:off x="588818" y="5963799"/>
              <a:ext cx="1287878" cy="316555"/>
            </a:xfrm>
            <a:prstGeom prst="rect">
              <a:avLst/>
            </a:prstGeom>
            <a:ln>
              <a:noFill/>
            </a:ln>
            <a:effectLst>
              <a:glow rad="63500">
                <a:schemeClr val="accent3">
                  <a:satMod val="175000"/>
                  <a:alpha val="40000"/>
                </a:schemeClr>
              </a:glow>
            </a:effectLst>
          </p:spPr>
          <p:txBody>
            <a:bodyPr wrap="square">
              <a:spAutoFit/>
            </a:bodyPr>
            <a:lstStyle/>
            <a:p>
              <a:pPr>
                <a:defRPr/>
              </a:pPr>
              <a:r>
                <a:rPr lang="en-US" sz="1600" dirty="0" smtClean="0">
                  <a:solidFill>
                    <a:schemeClr val="bg1"/>
                  </a:solidFill>
                  <a:latin typeface="+mn-lt"/>
                  <a:cs typeface="Arial" charset="0"/>
                </a:rPr>
                <a:t>Answer:</a:t>
              </a:r>
              <a:endParaRPr lang="en-US" sz="1600" dirty="0">
                <a:solidFill>
                  <a:schemeClr val="bg1"/>
                </a:solidFill>
                <a:latin typeface="+mn-lt"/>
              </a:endParaRPr>
            </a:p>
          </p:txBody>
        </p:sp>
      </p:grpSp>
      <p:sp>
        <p:nvSpPr>
          <p:cNvPr id="14" name="Oval Callout 13"/>
          <p:cNvSpPr/>
          <p:nvPr/>
        </p:nvSpPr>
        <p:spPr>
          <a:xfrm flipH="1">
            <a:off x="1219200" y="2667000"/>
            <a:ext cx="5069160" cy="1600200"/>
          </a:xfrm>
          <a:prstGeom prst="wedgeEllipseCallout">
            <a:avLst>
              <a:gd name="adj1" fmla="val -63521"/>
              <a:gd name="adj2" fmla="val 32901"/>
            </a:avLst>
          </a:prstGeom>
          <a:ln/>
        </p:spPr>
        <p:style>
          <a:lnRef idx="1">
            <a:schemeClr val="accent6"/>
          </a:lnRef>
          <a:fillRef idx="3">
            <a:schemeClr val="accent6"/>
          </a:fillRef>
          <a:effectRef idx="2">
            <a:schemeClr val="accent6"/>
          </a:effectRef>
          <a:fontRef idx="minor">
            <a:schemeClr val="lt1"/>
          </a:fontRef>
        </p:style>
        <p:txBody>
          <a:bodyPr rtlCol="0" anchor="ctr"/>
          <a:lstStyle/>
          <a:p>
            <a:endParaRPr lang="en-IN" sz="1600" dirty="0" smtClean="0"/>
          </a:p>
          <a:p>
            <a:endParaRPr lang="en-IN" sz="1600" dirty="0"/>
          </a:p>
          <a:p>
            <a:r>
              <a:rPr lang="en-IN" dirty="0"/>
              <a:t>Table is technically referred to as </a:t>
            </a:r>
            <a:r>
              <a:rPr lang="en-IN" dirty="0" smtClean="0"/>
              <a:t>_________.</a:t>
            </a:r>
            <a:endParaRPr lang="en-IN" dirty="0"/>
          </a:p>
          <a:p>
            <a:endParaRPr lang="en-US" sz="1600" dirty="0"/>
          </a:p>
          <a:p>
            <a:pPr algn="ctr"/>
            <a:endParaRPr lang="en-IN" sz="1600" dirty="0" smtClean="0"/>
          </a:p>
          <a:p>
            <a:pPr algn="ctr"/>
            <a:endParaRPr lang="en-US" sz="1600" dirty="0"/>
          </a:p>
        </p:txBody>
      </p:sp>
    </p:spTree>
    <p:extLst>
      <p:ext uri="{BB962C8B-B14F-4D97-AF65-F5344CB8AC3E}">
        <p14:creationId xmlns:p14="http://schemas.microsoft.com/office/powerpoint/2010/main" val="1067090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720000" y="1800000"/>
            <a:ext cx="7920000" cy="4320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IN" sz="1600" dirty="0" smtClean="0">
              <a:solidFill>
                <a:srgbClr val="6600CC"/>
              </a:solidFill>
              <a:latin typeface="Vrinda" pitchFamily="34" charset="0"/>
              <a:cs typeface="Vrinda" pitchFamily="34" charset="0"/>
            </a:endParaRPr>
          </a:p>
        </p:txBody>
      </p:sp>
      <p:sp>
        <p:nvSpPr>
          <p:cNvPr id="6" name="Title 1"/>
          <p:cNvSpPr>
            <a:spLocks noGrp="1"/>
          </p:cNvSpPr>
          <p:nvPr>
            <p:ph type="title"/>
          </p:nvPr>
        </p:nvSpPr>
        <p:spPr>
          <a:xfrm>
            <a:off x="540000" y="540000"/>
            <a:ext cx="4140000" cy="900000"/>
          </a:xfrm>
        </p:spPr>
        <p:txBody>
          <a:bodyPr anchor="t" anchorCtr="0">
            <a:normAutofit/>
          </a:bodyPr>
          <a:lstStyle/>
          <a:p>
            <a:pPr algn="l"/>
            <a:r>
              <a:rPr lang="en-US" sz="2400" b="1" dirty="0" smtClean="0">
                <a:solidFill>
                  <a:schemeClr val="bg1"/>
                </a:solidFill>
                <a:latin typeface="Vrinda" pitchFamily="34" charset="0"/>
                <a:cs typeface="Vrinda" pitchFamily="34" charset="0"/>
              </a:rPr>
              <a:t>Activity</a:t>
            </a:r>
            <a:endParaRPr lang="en-US" sz="2400" b="1" dirty="0">
              <a:solidFill>
                <a:schemeClr val="bg1"/>
              </a:solidFill>
              <a:latin typeface="Vrinda" pitchFamily="34" charset="0"/>
              <a:cs typeface="Vrinda" pitchFamily="34" charset="0"/>
            </a:endParaRPr>
          </a:p>
        </p:txBody>
      </p:sp>
      <p:sp>
        <p:nvSpPr>
          <p:cNvPr id="2" name="Rectangle 1"/>
          <p:cNvSpPr/>
          <p:nvPr/>
        </p:nvSpPr>
        <p:spPr>
          <a:xfrm>
            <a:off x="457200" y="1744674"/>
            <a:ext cx="7848872" cy="487506"/>
          </a:xfrm>
          <a:prstGeom prst="rect">
            <a:avLst/>
          </a:prstGeom>
        </p:spPr>
        <p:txBody>
          <a:bodyPr wrap="square">
            <a:spAutoFit/>
          </a:bodyPr>
          <a:lstStyle/>
          <a:p>
            <a:pPr>
              <a:lnSpc>
                <a:spcPct val="107000"/>
              </a:lnSpc>
              <a:spcAft>
                <a:spcPts val="800"/>
              </a:spcAft>
            </a:pPr>
            <a:r>
              <a:rPr lang="en-US" sz="2400" b="1" dirty="0" smtClean="0">
                <a:solidFill>
                  <a:srgbClr val="6600CC"/>
                </a:solidFill>
                <a:ea typeface="Calibri" panose="020F0502020204030204" pitchFamily="34" charset="0"/>
                <a:cs typeface="Vrinda" panose="020B0502040204020203" pitchFamily="34" charset="0"/>
              </a:rPr>
              <a:t>Activity :  Implementing Google </a:t>
            </a:r>
            <a:r>
              <a:rPr lang="en-US" sz="2400" b="1" dirty="0">
                <a:solidFill>
                  <a:srgbClr val="6600CC"/>
                </a:solidFill>
                <a:ea typeface="Calibri" panose="020F0502020204030204" pitchFamily="34" charset="0"/>
                <a:cs typeface="Vrinda" panose="020B0502040204020203" pitchFamily="34" charset="0"/>
              </a:rPr>
              <a:t>G</a:t>
            </a:r>
            <a:r>
              <a:rPr lang="en-US" sz="2400" b="1" dirty="0" smtClean="0">
                <a:solidFill>
                  <a:srgbClr val="6600CC"/>
                </a:solidFill>
                <a:ea typeface="Calibri" panose="020F0502020204030204" pitchFamily="34" charset="0"/>
                <a:cs typeface="Vrinda" panose="020B0502040204020203" pitchFamily="34" charset="0"/>
              </a:rPr>
              <a:t>eo </a:t>
            </a:r>
            <a:r>
              <a:rPr lang="en-US" sz="2400" b="1" dirty="0">
                <a:solidFill>
                  <a:srgbClr val="6600CC"/>
                </a:solidFill>
                <a:ea typeface="Calibri" panose="020F0502020204030204" pitchFamily="34" charset="0"/>
                <a:cs typeface="Vrinda" panose="020B0502040204020203" pitchFamily="34" charset="0"/>
              </a:rPr>
              <a:t>C</a:t>
            </a:r>
            <a:r>
              <a:rPr lang="en-US" sz="2400" b="1" dirty="0" smtClean="0">
                <a:solidFill>
                  <a:srgbClr val="6600CC"/>
                </a:solidFill>
                <a:ea typeface="Calibri" panose="020F0502020204030204" pitchFamily="34" charset="0"/>
                <a:cs typeface="Vrinda" panose="020B0502040204020203" pitchFamily="34" charset="0"/>
              </a:rPr>
              <a:t>oding API</a:t>
            </a:r>
            <a:endParaRPr lang="en-US" sz="2400" dirty="0">
              <a:solidFill>
                <a:srgbClr val="6600CC"/>
              </a:solidFill>
              <a:effectLst/>
              <a:ea typeface="Calibri" panose="020F0502020204030204" pitchFamily="34" charset="0"/>
              <a:cs typeface="Vrinda" panose="020B0502040204020203" pitchFamily="34" charset="0"/>
            </a:endParaRPr>
          </a:p>
        </p:txBody>
      </p:sp>
      <p:sp>
        <p:nvSpPr>
          <p:cNvPr id="3" name="Rectangle 1"/>
          <p:cNvSpPr>
            <a:spLocks noChangeArrowheads="1"/>
          </p:cNvSpPr>
          <p:nvPr/>
        </p:nvSpPr>
        <p:spPr bwMode="auto">
          <a:xfrm>
            <a:off x="457200" y="2351544"/>
            <a:ext cx="8382000" cy="261610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rgbClr val="6600CC"/>
                </a:solidFill>
                <a:effectLst/>
                <a:ea typeface="Calibri" panose="020F0502020204030204" pitchFamily="34" charset="0"/>
                <a:cs typeface="Times New Roman" panose="02020603050405020304" pitchFamily="18" charset="0"/>
              </a:rPr>
              <a:t>Problem Statement: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1" i="0" u="none" strike="noStrike" cap="none" normalizeH="0" baseline="0" dirty="0" smtClean="0">
              <a:ln>
                <a:noFill/>
              </a:ln>
              <a:solidFill>
                <a:srgbClr val="6600CC"/>
              </a:solidFill>
              <a:effectLst/>
            </a:endParaRPr>
          </a:p>
          <a:p>
            <a:r>
              <a:rPr lang="en-US" sz="2000" dirty="0">
                <a:solidFill>
                  <a:srgbClr val="6600CC"/>
                </a:solidFill>
              </a:rPr>
              <a:t>Write a program to print out the Latitude and Longitude of a given place and also the two-character country code from the retrieved data. Add error checking </a:t>
            </a:r>
            <a:r>
              <a:rPr lang="en-US" sz="2000" dirty="0" smtClean="0">
                <a:solidFill>
                  <a:srgbClr val="6600CC"/>
                </a:solidFill>
              </a:rPr>
              <a:t>so the </a:t>
            </a:r>
            <a:r>
              <a:rPr lang="en-US" sz="2000" dirty="0">
                <a:solidFill>
                  <a:srgbClr val="6600CC"/>
                </a:solidFill>
              </a:rPr>
              <a:t>program does not </a:t>
            </a:r>
            <a:r>
              <a:rPr lang="en-US" sz="2000" dirty="0" smtClean="0">
                <a:solidFill>
                  <a:srgbClr val="6600CC"/>
                </a:solidFill>
              </a:rPr>
              <a:t>trace back </a:t>
            </a:r>
            <a:r>
              <a:rPr lang="en-US" sz="2000" dirty="0">
                <a:solidFill>
                  <a:srgbClr val="6600CC"/>
                </a:solidFill>
              </a:rPr>
              <a:t>if the country code </a:t>
            </a:r>
            <a:r>
              <a:rPr lang="en-US" sz="2000" dirty="0" smtClean="0">
                <a:solidFill>
                  <a:srgbClr val="6600CC"/>
                </a:solidFill>
              </a:rPr>
              <a:t>does not exist. Run the program by searching </a:t>
            </a:r>
            <a:r>
              <a:rPr lang="en-US" sz="2000" dirty="0">
                <a:solidFill>
                  <a:srgbClr val="6600CC"/>
                </a:solidFill>
              </a:rPr>
              <a:t>for “Atlantic Ocean” and make sure it can handle locations that are not in any country.</a:t>
            </a:r>
          </a:p>
          <a:p>
            <a:endParaRPr lang="en-US" sz="1600" dirty="0" smtClean="0"/>
          </a:p>
        </p:txBody>
      </p:sp>
    </p:spTree>
    <p:extLst>
      <p:ext uri="{BB962C8B-B14F-4D97-AF65-F5344CB8AC3E}">
        <p14:creationId xmlns:p14="http://schemas.microsoft.com/office/powerpoint/2010/main" val="1311957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0500" y="1603308"/>
            <a:ext cx="8259000" cy="4998291"/>
          </a:xfrm>
          <a:prstGeom prst="rect">
            <a:avLst/>
          </a:prstGeom>
        </p:spPr>
        <p:txBody>
          <a:bodyPr wrap="square">
            <a:spAutoFit/>
          </a:bodyPr>
          <a:lstStyle/>
          <a:p>
            <a:pPr marL="514350" lvl="1" indent="-396875" defTabSz="914363">
              <a:lnSpc>
                <a:spcPct val="90000"/>
              </a:lnSpc>
              <a:spcBef>
                <a:spcPct val="20000"/>
              </a:spcBef>
              <a:buSzPct val="100000"/>
              <a:buFont typeface="Wingdings" panose="05000000000000000000" pitchFamily="2" charset="2"/>
              <a:buChar char="q"/>
            </a:pPr>
            <a:r>
              <a:rPr lang="en-IN" sz="2400" dirty="0">
                <a:solidFill>
                  <a:srgbClr val="6600CC"/>
                </a:solidFill>
                <a:cs typeface="Vrinda" pitchFamily="34" charset="0"/>
              </a:rPr>
              <a:t>In this </a:t>
            </a:r>
            <a:r>
              <a:rPr lang="en-IN" sz="2400" dirty="0" smtClean="0">
                <a:solidFill>
                  <a:srgbClr val="6600CC"/>
                </a:solidFill>
                <a:cs typeface="Vrinda" pitchFamily="34" charset="0"/>
              </a:rPr>
              <a:t>session, </a:t>
            </a:r>
            <a:r>
              <a:rPr lang="en-IN" sz="2400" dirty="0">
                <a:solidFill>
                  <a:srgbClr val="6600CC"/>
                </a:solidFill>
                <a:cs typeface="Vrinda" pitchFamily="34" charset="0"/>
              </a:rPr>
              <a:t>you </a:t>
            </a:r>
            <a:r>
              <a:rPr lang="en-IN" sz="2400" dirty="0" smtClean="0">
                <a:solidFill>
                  <a:srgbClr val="6600CC"/>
                </a:solidFill>
                <a:cs typeface="Vrinda" pitchFamily="34" charset="0"/>
              </a:rPr>
              <a:t>learned that: </a:t>
            </a:r>
            <a:endParaRPr lang="en-IN" sz="2400" dirty="0" smtClean="0">
              <a:solidFill>
                <a:srgbClr val="6600CC"/>
              </a:solidFill>
              <a:cs typeface="Vrinda" pitchFamily="34" charset="0"/>
            </a:endParaRPr>
          </a:p>
          <a:p>
            <a:pPr marL="788875" lvl="1" indent="-285750" defTabSz="914363">
              <a:lnSpc>
                <a:spcPct val="90000"/>
              </a:lnSpc>
              <a:spcBef>
                <a:spcPct val="20000"/>
              </a:spcBef>
              <a:buSzPct val="120000"/>
              <a:buFont typeface="Wingdings" panose="05000000000000000000" pitchFamily="2" charset="2"/>
              <a:buChar char="q"/>
            </a:pPr>
            <a:endParaRPr lang="en-US" dirty="0" smtClean="0">
              <a:solidFill>
                <a:srgbClr val="6600CC"/>
              </a:solidFill>
              <a:latin typeface="Vrinda" pitchFamily="34" charset="0"/>
              <a:cs typeface="Vrinda" pitchFamily="34" charset="0"/>
            </a:endParaRPr>
          </a:p>
          <a:p>
            <a:pPr marL="788875" lvl="1" indent="-285750" defTabSz="914363">
              <a:lnSpc>
                <a:spcPct val="90000"/>
              </a:lnSpc>
              <a:spcBef>
                <a:spcPct val="20000"/>
              </a:spcBef>
              <a:buSzPct val="120000"/>
              <a:buFont typeface="Wingdings" panose="05000000000000000000" pitchFamily="2" charset="2"/>
              <a:buChar char="q"/>
            </a:pPr>
            <a:r>
              <a:rPr lang="en-US" sz="2000" dirty="0">
                <a:solidFill>
                  <a:srgbClr val="6600CC"/>
                </a:solidFill>
                <a:latin typeface="Vrinda" pitchFamily="34" charset="0"/>
                <a:cs typeface="Vrinda" pitchFamily="34" charset="0"/>
              </a:rPr>
              <a:t>JSON is a format that allows for the markup of structured data based on the syntax of JavaScript Objects.</a:t>
            </a:r>
          </a:p>
          <a:p>
            <a:pPr marL="788875" lvl="1" indent="-285750" defTabSz="914363">
              <a:lnSpc>
                <a:spcPct val="90000"/>
              </a:lnSpc>
              <a:spcBef>
                <a:spcPct val="20000"/>
              </a:spcBef>
              <a:buSzPct val="120000"/>
              <a:buFont typeface="Wingdings" panose="05000000000000000000" pitchFamily="2" charset="2"/>
              <a:buChar char="q"/>
            </a:pPr>
            <a:r>
              <a:rPr lang="en-US" sz="2000" dirty="0">
                <a:solidFill>
                  <a:srgbClr val="6600CC"/>
                </a:solidFill>
                <a:latin typeface="Vrinda" pitchFamily="34" charset="0"/>
                <a:cs typeface="Vrinda" pitchFamily="34" charset="0"/>
              </a:rPr>
              <a:t>API is a contract between applications that deﬁnes the patterns of interaction between two application components.</a:t>
            </a:r>
          </a:p>
          <a:p>
            <a:pPr marL="788875" lvl="1" indent="-285750" defTabSz="914363">
              <a:lnSpc>
                <a:spcPct val="90000"/>
              </a:lnSpc>
              <a:spcBef>
                <a:spcPct val="20000"/>
              </a:spcBef>
              <a:buSzPct val="120000"/>
              <a:buFont typeface="Wingdings" panose="05000000000000000000" pitchFamily="2" charset="2"/>
              <a:buChar char="q"/>
            </a:pPr>
            <a:r>
              <a:rPr lang="en-US" sz="2000" dirty="0">
                <a:solidFill>
                  <a:srgbClr val="6600CC"/>
                </a:solidFill>
                <a:latin typeface="Vrinda" pitchFamily="34" charset="0"/>
                <a:cs typeface="Vrinda" pitchFamily="34" charset="0"/>
              </a:rPr>
              <a:t>SOA approach is one, where our overall application makes use of the services of other applications.</a:t>
            </a:r>
          </a:p>
          <a:p>
            <a:pPr marL="788875" lvl="1" indent="-285750" defTabSz="914363">
              <a:lnSpc>
                <a:spcPct val="90000"/>
              </a:lnSpc>
              <a:spcBef>
                <a:spcPct val="20000"/>
              </a:spcBef>
              <a:buSzPct val="120000"/>
              <a:buFont typeface="Wingdings" panose="05000000000000000000" pitchFamily="2" charset="2"/>
              <a:buChar char="q"/>
            </a:pPr>
            <a:r>
              <a:rPr lang="en-US" sz="2000" dirty="0">
                <a:solidFill>
                  <a:srgbClr val="6600CC"/>
                </a:solidFill>
                <a:latin typeface="Vrinda" pitchFamily="34" charset="0"/>
                <a:cs typeface="Vrinda" pitchFamily="34" charset="0"/>
              </a:rPr>
              <a:t>Geocoding refers to searching string of online document from web Services.</a:t>
            </a:r>
          </a:p>
          <a:p>
            <a:pPr marL="788875" lvl="1" indent="-285750" defTabSz="914363">
              <a:lnSpc>
                <a:spcPct val="90000"/>
              </a:lnSpc>
              <a:spcBef>
                <a:spcPct val="20000"/>
              </a:spcBef>
              <a:buSzPct val="120000"/>
              <a:buFont typeface="Wingdings" panose="05000000000000000000" pitchFamily="2" charset="2"/>
              <a:buChar char="q"/>
            </a:pPr>
            <a:r>
              <a:rPr lang="en-US" sz="2000" dirty="0">
                <a:solidFill>
                  <a:srgbClr val="6600CC"/>
                </a:solidFill>
                <a:latin typeface="Vrinda" pitchFamily="34" charset="0"/>
                <a:cs typeface="Vrinda" pitchFamily="34" charset="0"/>
              </a:rPr>
              <a:t>“API key” is needed to make use of a vendor’s API to understand who is using their services and how much each user is using.</a:t>
            </a:r>
          </a:p>
          <a:p>
            <a:pPr marL="788875" lvl="1" indent="-285750" defTabSz="914363">
              <a:lnSpc>
                <a:spcPct val="90000"/>
              </a:lnSpc>
              <a:spcBef>
                <a:spcPct val="20000"/>
              </a:spcBef>
              <a:buSzPct val="120000"/>
              <a:buFont typeface="Wingdings" panose="05000000000000000000" pitchFamily="2" charset="2"/>
              <a:buChar char="q"/>
            </a:pPr>
            <a:r>
              <a:rPr lang="en-US" sz="2000" dirty="0">
                <a:solidFill>
                  <a:srgbClr val="6600CC"/>
                </a:solidFill>
                <a:latin typeface="Vrinda" pitchFamily="34" charset="0"/>
                <a:cs typeface="Vrinda" pitchFamily="34" charset="0"/>
              </a:rPr>
              <a:t>Database is a file for storing and organizing data.</a:t>
            </a:r>
          </a:p>
          <a:p>
            <a:pPr marL="788875" lvl="1" indent="-285750" defTabSz="914363">
              <a:lnSpc>
                <a:spcPct val="90000"/>
              </a:lnSpc>
              <a:spcBef>
                <a:spcPct val="20000"/>
              </a:spcBef>
              <a:buSzPct val="120000"/>
              <a:buFont typeface="Wingdings" panose="05000000000000000000" pitchFamily="2" charset="2"/>
              <a:buChar char="v"/>
            </a:pPr>
            <a:endParaRPr lang="en-IN" dirty="0">
              <a:solidFill>
                <a:srgbClr val="6600CC"/>
              </a:solidFill>
              <a:latin typeface="Vrinda" pitchFamily="34" charset="0"/>
              <a:cs typeface="Vrinda" pitchFamily="34" charset="0"/>
            </a:endParaRPr>
          </a:p>
          <a:p>
            <a:pPr marL="503125" lvl="1" defTabSz="914363">
              <a:lnSpc>
                <a:spcPct val="90000"/>
              </a:lnSpc>
              <a:spcBef>
                <a:spcPct val="20000"/>
              </a:spcBef>
              <a:buSzPct val="120000"/>
            </a:pPr>
            <a:r>
              <a:rPr lang="en-IN" dirty="0" smtClean="0">
                <a:solidFill>
                  <a:srgbClr val="6600CC"/>
                </a:solidFill>
                <a:latin typeface="Vrinda" pitchFamily="34" charset="0"/>
                <a:cs typeface="Vrinda" pitchFamily="34" charset="0"/>
              </a:rPr>
              <a:t> </a:t>
            </a:r>
            <a:endParaRPr lang="en-IN" dirty="0">
              <a:solidFill>
                <a:srgbClr val="6600CC"/>
              </a:solidFill>
              <a:latin typeface="Vrinda" pitchFamily="34" charset="0"/>
              <a:cs typeface="Vrinda" pitchFamily="34" charset="0"/>
            </a:endParaRPr>
          </a:p>
        </p:txBody>
      </p:sp>
      <p:sp>
        <p:nvSpPr>
          <p:cNvPr id="6" name="Title 1"/>
          <p:cNvSpPr>
            <a:spLocks noGrp="1"/>
          </p:cNvSpPr>
          <p:nvPr>
            <p:ph type="title"/>
          </p:nvPr>
        </p:nvSpPr>
        <p:spPr>
          <a:xfrm>
            <a:off x="540000" y="540000"/>
            <a:ext cx="3960000" cy="900000"/>
          </a:xfrm>
        </p:spPr>
        <p:txBody>
          <a:bodyPr anchor="t" anchorCtr="0">
            <a:normAutofit/>
          </a:bodyPr>
          <a:lstStyle/>
          <a:p>
            <a:pPr algn="l"/>
            <a:r>
              <a:rPr lang="en-IN" sz="2400" b="1" dirty="0" smtClean="0">
                <a:solidFill>
                  <a:schemeClr val="bg1"/>
                </a:solidFill>
                <a:latin typeface="Vrinda" pitchFamily="34" charset="0"/>
                <a:cs typeface="Vrinda" pitchFamily="34" charset="0"/>
              </a:rPr>
              <a:t>Summary</a:t>
            </a:r>
            <a:endParaRPr lang="en-US" sz="2400" b="1" dirty="0">
              <a:solidFill>
                <a:schemeClr val="bg1"/>
              </a:solidFill>
              <a:latin typeface="Vrinda" pitchFamily="34" charset="0"/>
              <a:cs typeface="Vrinda" pitchFamily="34" charset="0"/>
            </a:endParaRPr>
          </a:p>
        </p:txBody>
      </p:sp>
    </p:spTree>
    <p:extLst>
      <p:ext uri="{BB962C8B-B14F-4D97-AF65-F5344CB8AC3E}">
        <p14:creationId xmlns:p14="http://schemas.microsoft.com/office/powerpoint/2010/main" val="402079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ARTICULATE_PROJECT_OPEN" val="0"/>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Logic Building and Effective Problem Solving&amp;quot;&quot;/&gt;&lt;property id=&quot;20307&quot; value=&quot;256&quot;/&gt;&lt;/object&gt;&lt;object type=&quot;3&quot; unique_id=&quot;10005&quot;&gt;&lt;property id=&quot;20148&quot; value=&quot;5&quot;/&gt;&lt;property id=&quot;20300&quot; value=&quot;Slide 2 - &amp;quot;Objectives&amp;quot;&quot;/&gt;&lt;property id=&quot;20307&quot; value=&quot;257&quot;/&gt;&lt;/object&gt;&lt;object type=&quot;3&quot; unique_id=&quot;10006&quot;&gt;&lt;property id=&quot;20148&quot; value=&quot;5&quot;/&gt;&lt;property id=&quot;20300&quot; value=&quot;Slide 3 - &amp;quot;Input, Process, and Output&amp;quot;&quot;/&gt;&lt;property id=&quot;20307&quot; value=&quot;269&quot;/&gt;&lt;/object&gt;&lt;object type=&quot;3&quot; unique_id=&quot;10007&quot;&gt;&lt;property id=&quot;20148&quot; value=&quot;5&quot;/&gt;&lt;property id=&quot;20300&quot; value=&quot;Slide 4 - &amp;quot;Phases&amp;quot;&quot;/&gt;&lt;property id=&quot;20307&quot; value=&quot;270&quot;/&gt;&lt;/object&gt;&lt;object type=&quot;3&quot; unique_id=&quot;10008&quot;&gt;&lt;property id=&quot;20148&quot; value=&quot;5&quot;/&gt;&lt;property id=&quot;20300&quot; value=&quot;Slide 5 - &amp;quot;I-P-O Cycle&amp;quot;&quot;/&gt;&lt;property id=&quot;20307&quot; value=&quot;334&quot;/&gt;&lt;/object&gt;&lt;object type=&quot;3&quot; unique_id=&quot;10009&quot;&gt;&lt;property id=&quot;20148&quot; value=&quot;5&quot;/&gt;&lt;property id=&quot;20300&quot; value=&quot;Slide 6 - &amp;quot;1.1 Let’s Practice &amp;quot;&quot;/&gt;&lt;property id=&quot;20307&quot; value=&quot;271&quot;/&gt;&lt;/object&gt;&lt;object type=&quot;3&quot; unique_id=&quot;10011&quot;&gt;&lt;property id=&quot;20148&quot; value=&quot;5&quot;/&gt;&lt;property id=&quot;20300&quot; value=&quot;Slide 9 - &amp;quot;Programs and Programming Languages&amp;quot;&quot;/&gt;&lt;property id=&quot;20307&quot; value=&quot;335&quot;/&gt;&lt;/object&gt;&lt;object type=&quot;3&quot; unique_id=&quot;10012&quot;&gt;&lt;property id=&quot;20148&quot; value=&quot;5&quot;/&gt;&lt;property id=&quot;20300&quot; value=&quot;Slide 10 - &amp;quot;Programs&amp;quot;&quot;/&gt;&lt;property id=&quot;20307&quot; value=&quot;272&quot;/&gt;&lt;/object&gt;&lt;object type=&quot;3&quot; unique_id=&quot;10013&quot;&gt;&lt;property id=&quot;20148&quot; value=&quot;5&quot;/&gt;&lt;property id=&quot;20300&quot; value=&quot;Slide 11 - &amp;quot;Programs (Contd.)&amp;quot;&quot;/&gt;&lt;property id=&quot;20307&quot; value=&quot;348&quot;/&gt;&lt;/object&gt;&lt;object type=&quot;3&quot; unique_id=&quot;10014&quot;&gt;&lt;property id=&quot;20148&quot; value=&quot;5&quot;/&gt;&lt;property id=&quot;20300&quot; value=&quot;Slide 12 - &amp;quot;Programming Languages&amp;quot;&quot;/&gt;&lt;property id=&quot;20307&quot; value=&quot;273&quot;/&gt;&lt;/object&gt;&lt;object type=&quot;3&quot; unique_id=&quot;10015&quot;&gt;&lt;property id=&quot;20148&quot; value=&quot;5&quot;/&gt;&lt;property id=&quot;20300&quot; value=&quot;Slide 13 - &amp;quot;Programming Languages (Contd.)&amp;quot;&quot;/&gt;&lt;property id=&quot;20307&quot; value=&quot;349&quot;/&gt;&lt;/object&gt;&lt;object type=&quot;3&quot; unique_id=&quot;10016&quot;&gt;&lt;property id=&quot;20148&quot; value=&quot;5&quot;/&gt;&lt;property id=&quot;20300&quot; value=&quot;Slide 15 - &amp;quot;Compilers&amp;quot;&quot;/&gt;&lt;property id=&quot;20307&quot; value=&quot;351&quot;/&gt;&lt;/object&gt;&lt;object type=&quot;3&quot; unique_id=&quot;10017&quot;&gt;&lt;property id=&quot;20148&quot; value=&quot;5&quot;/&gt;&lt;property id=&quot;20300&quot; value=&quot;Slide 17 - &amp;quot;Compilers (Contd.)&amp;quot;&quot;/&gt;&lt;property id=&quot;20307&quot; value=&quot;336&quot;/&gt;&lt;/object&gt;&lt;object type=&quot;3&quot; unique_id=&quot;10018&quot;&gt;&lt;property id=&quot;20148&quot; value=&quot;5&quot;/&gt;&lt;property id=&quot;20300&quot; value=&quot;Slide 18 - &amp;quot;Just a Minute &amp;quot;&quot;/&gt;&lt;property id=&quot;20307&quot; value=&quot;352&quot;/&gt;&lt;/object&gt;&lt;object type=&quot;3&quot; unique_id=&quot;10031&quot;&gt;&lt;property id=&quot;20148&quot; value=&quot;5&quot;/&gt;&lt;property id=&quot;20300&quot; value=&quot;Slide 19 - &amp;quot;Summary&amp;quot;&quot;/&gt;&lt;property id=&quot;20307&quot; value=&quot;362&quot;/&gt;&lt;/object&gt;&lt;object type=&quot;3&quot; unique_id=&quot;10033&quot;&gt;&lt;property id=&quot;20148&quot; value=&quot;5&quot;/&gt;&lt;property id=&quot;20300&quot; value=&quot;Slide 7 - &amp;quot;1.1 Let’s Practice (Contd.) &amp;quot;&quot;/&gt;&lt;property id=&quot;20307&quot; value=&quot;365&quot;/&gt;&lt;/object&gt;&lt;object type=&quot;3&quot; unique_id=&quot;10034&quot;&gt;&lt;property id=&quot;20148&quot; value=&quot;5&quot;/&gt;&lt;property id=&quot;20300&quot; value=&quot;Slide 8 - &amp;quot;1.1 Let’s Practice (Contd.) &amp;quot;&quot;/&gt;&lt;property id=&quot;20307&quot; value=&quot;366&quot;/&gt;&lt;/object&gt;&lt;object type=&quot;3&quot; unique_id=&quot;10037&quot;&gt;&lt;property id=&quot;20148&quot; value=&quot;5&quot;/&gt;&lt;property id=&quot;20300&quot; value=&quot;Slide 14 - &amp;quot;Programming Languages (Contd.)&amp;quot;&quot;/&gt;&lt;property id=&quot;20307&quot; value=&quot;370&quot;/&gt;&lt;/object&gt;&lt;object type=&quot;3&quot; unique_id=&quot;10038&quot;&gt;&lt;property id=&quot;20148&quot; value=&quot;5&quot;/&gt;&lt;property id=&quot;20300&quot; value=&quot;Slide 16 - &amp;quot;Compilers (Contd.)&amp;quot;&quot;/&gt;&lt;property id=&quot;20307&quot; value=&quot;371&quot;/&gt;&lt;/object&gt;&lt;object type=&quot;3&quot; unique_id=&quot;10039&quot;&gt;&lt;property id=&quot;20148&quot; value=&quot;5&quot;/&gt;&lt;property id=&quot;20300&quot; value=&quot;Slide 20 - &amp;quot;What’s Next?&amp;quot;&quot;/&gt;&lt;property id=&quot;20307&quot; value=&quot;369&quot;/&gt;&lt;/object&gt;&lt;/object&gt;&lt;/object&gt;&lt;/database&gt;"/>
  <p:tag name="SECTOMILLISECCONVERTED" val="1"/>
</p:tagLst>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square">
        <a:spAutoFit/>
      </a:bodyPr>
      <a:lstStyle>
        <a:defPPr marL="514350" indent="-396875" defTabSz="914363">
          <a:lnSpc>
            <a:spcPct val="90000"/>
          </a:lnSpc>
          <a:spcBef>
            <a:spcPct val="20000"/>
          </a:spcBef>
          <a:buSzPct val="100000"/>
          <a:buBlip>
            <a:blip xmlns:r="http://schemas.openxmlformats.org/officeDocument/2006/relationships" r:embed="rId1"/>
          </a:buBlip>
          <a:defRPr sz="2000" dirty="0">
            <a:solidFill>
              <a:srgbClr val="6600CC"/>
            </a:solidFill>
            <a:latin typeface="Vrinda" pitchFamily="34" charset="0"/>
            <a:cs typeface="Vrinda" pitchFamily="34" charset="0"/>
          </a:defRPr>
        </a:defPPr>
      </a:lstStyle>
    </a:spDef>
  </a:objectDefaults>
  <a:extraClrSchemeLst/>
</a:theme>
</file>

<file path=ppt/theme/theme2.xml><?xml version="1.0" encoding="utf-8"?>
<a:theme xmlns:a="http://schemas.openxmlformats.org/drawingml/2006/main" name="8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9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8825</TotalTime>
  <Words>2701</Words>
  <Application>Microsoft Office PowerPoint</Application>
  <PresentationFormat>On-screen Show (4:3)</PresentationFormat>
  <Paragraphs>398</Paragraphs>
  <Slides>27</Slides>
  <Notes>25</Notes>
  <HiddenSlides>0</HiddenSlides>
  <MMClips>0</MMClips>
  <ScaleCrop>false</ScaleCrop>
  <HeadingPairs>
    <vt:vector size="4" baseType="variant">
      <vt:variant>
        <vt:lpstr>Theme</vt:lpstr>
      </vt:variant>
      <vt:variant>
        <vt:i4>3</vt:i4>
      </vt:variant>
      <vt:variant>
        <vt:lpstr>Slide Titles</vt:lpstr>
      </vt:variant>
      <vt:variant>
        <vt:i4>27</vt:i4>
      </vt:variant>
    </vt:vector>
  </HeadingPairs>
  <TitlesOfParts>
    <vt:vector size="30" baseType="lpstr">
      <vt:lpstr>Office Theme</vt:lpstr>
      <vt:lpstr>8_Office Theme</vt:lpstr>
      <vt:lpstr>9_Office Theme</vt:lpstr>
      <vt:lpstr>JSON and SOA API Programming</vt:lpstr>
      <vt:lpstr>Objectives</vt:lpstr>
      <vt:lpstr>JavaScript Object Notation - JSON</vt:lpstr>
      <vt:lpstr>Parsing JSON</vt:lpstr>
      <vt:lpstr>Parsing JSON (Contd.) </vt:lpstr>
      <vt:lpstr>Just a Minute</vt:lpstr>
      <vt:lpstr>Just a Minute </vt:lpstr>
      <vt:lpstr>Application Programming Interfaces (API)</vt:lpstr>
      <vt:lpstr>Application Programming Interfaces (API) (Contd.)</vt:lpstr>
      <vt:lpstr>Application Programming  Interfaces (API) (Contd.)</vt:lpstr>
      <vt:lpstr>Application Programming Interfaces (API) (Contd.)</vt:lpstr>
      <vt:lpstr>Google Geocoding Web Service</vt:lpstr>
      <vt:lpstr>Google Geocoding Web Service (Contd.)</vt:lpstr>
      <vt:lpstr>Google Geocoding Web Service (Contd.)</vt:lpstr>
      <vt:lpstr>Google Geocoding Web Service (Contd.)</vt:lpstr>
      <vt:lpstr>Google Geocoding Web Service (Contd.)</vt:lpstr>
      <vt:lpstr>Security and API Usage</vt:lpstr>
      <vt:lpstr>Just a Minute</vt:lpstr>
      <vt:lpstr>Just a Minute </vt:lpstr>
      <vt:lpstr>Activity</vt:lpstr>
      <vt:lpstr>PowerPoint Presentation</vt:lpstr>
      <vt:lpstr>PowerPoint Presentation</vt:lpstr>
      <vt:lpstr>Database - Concepts</vt:lpstr>
      <vt:lpstr>Just a Minute</vt:lpstr>
      <vt:lpstr>Just a Minute </vt:lpstr>
      <vt:lpstr>Activity</vt:lpstr>
      <vt:lpstr>Summary</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Jasneet Kaur</dc:creator>
  <cp:lastModifiedBy>AnnuS</cp:lastModifiedBy>
  <cp:revision>654</cp:revision>
  <dcterms:created xsi:type="dcterms:W3CDTF">2012-02-06T03:44:02Z</dcterms:created>
  <dcterms:modified xsi:type="dcterms:W3CDTF">2015-10-08T09:35:41Z</dcterms:modified>
</cp:coreProperties>
</file>