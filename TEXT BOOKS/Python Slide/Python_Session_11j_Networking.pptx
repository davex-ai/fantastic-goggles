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theme/themeOverride3.xml" ContentType="application/vnd.openxmlformats-officedocument.themeOverride+xml"/>
  <Override PartName="/ppt/notesSlides/notesSlide5.xml" ContentType="application/vnd.openxmlformats-officedocument.presentationml.notesSlide+xml"/>
  <Override PartName="/ppt/theme/themeOverride4.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5.xml" ContentType="application/vnd.openxmlformats-officedocument.themeOverride+xml"/>
  <Override PartName="/ppt/notesSlides/notesSlide10.xml" ContentType="application/vnd.openxmlformats-officedocument.presentationml.notesSlide+xml"/>
  <Override PartName="/ppt/theme/themeOverride6.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7.xml" ContentType="application/vnd.openxmlformats-officedocument.themeOverride+xml"/>
  <Override PartName="/ppt/notesSlides/notesSlide13.xml" ContentType="application/vnd.openxmlformats-officedocument.presentationml.notesSlide+xml"/>
  <Override PartName="/ppt/theme/themeOverride8.xml" ContentType="application/vnd.openxmlformats-officedocument.themeOverride+xml"/>
  <Override PartName="/ppt/notesSlides/notesSlide14.xml" ContentType="application/vnd.openxmlformats-officedocument.presentationml.notesSlide+xml"/>
  <Override PartName="/ppt/theme/themeOverride9.xml" ContentType="application/vnd.openxmlformats-officedocument.themeOverride+xml"/>
  <Override PartName="/ppt/notesSlides/notesSlide15.xml" ContentType="application/vnd.openxmlformats-officedocument.presentationml.notesSlide+xml"/>
  <Override PartName="/ppt/theme/themeOverride10.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0" r:id="rId2"/>
  </p:sldMasterIdLst>
  <p:notesMasterIdLst>
    <p:notesMasterId r:id="rId26"/>
  </p:notesMasterIdLst>
  <p:sldIdLst>
    <p:sldId id="256" r:id="rId3"/>
    <p:sldId id="257" r:id="rId4"/>
    <p:sldId id="283" r:id="rId5"/>
    <p:sldId id="269" r:id="rId6"/>
    <p:sldId id="270" r:id="rId7"/>
    <p:sldId id="271" r:id="rId8"/>
    <p:sldId id="272" r:id="rId9"/>
    <p:sldId id="289" r:id="rId10"/>
    <p:sldId id="294" r:id="rId11"/>
    <p:sldId id="297" r:id="rId12"/>
    <p:sldId id="274" r:id="rId13"/>
    <p:sldId id="275" r:id="rId14"/>
    <p:sldId id="285" r:id="rId15"/>
    <p:sldId id="277" r:id="rId16"/>
    <p:sldId id="278" r:id="rId17"/>
    <p:sldId id="280" r:id="rId18"/>
    <p:sldId id="281" r:id="rId19"/>
    <p:sldId id="291" r:id="rId20"/>
    <p:sldId id="295" r:id="rId21"/>
    <p:sldId id="293" r:id="rId22"/>
    <p:sldId id="296" r:id="rId23"/>
    <p:sldId id="298" r:id="rId24"/>
    <p:sldId id="282" r:id="rId25"/>
  </p:sldIdLst>
  <p:sldSz cx="9144000" cy="6858000" type="screen4x3"/>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FF"/>
    <a:srgbClr val="C60477"/>
    <a:srgbClr val="0005CA"/>
    <a:srgbClr val="1D6D6B"/>
    <a:srgbClr val="000099"/>
    <a:srgbClr val="C60269"/>
    <a:srgbClr val="88064A"/>
    <a:srgbClr val="EE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67" autoAdjust="0"/>
    <p:restoredTop sz="82136" autoAdjust="0"/>
  </p:normalViewPr>
  <p:slideViewPr>
    <p:cSldViewPr>
      <p:cViewPr>
        <p:scale>
          <a:sx n="57" d="100"/>
          <a:sy n="57" d="100"/>
        </p:scale>
        <p:origin x="-2035" y="-62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pPr/>
              <a:t>10/8/2015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pPr/>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 regular expression (regex</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for short) is a special text string for describing a search pattern.</a:t>
            </a:r>
            <a:r>
              <a:rPr lang="en-US" sz="1200" b="0" i="0" kern="1200" baseline="0" dirty="0" smtClean="0">
                <a:solidFill>
                  <a:schemeClr val="tx1"/>
                </a:solidFill>
                <a:effectLst/>
                <a:latin typeface="+mn-lt"/>
                <a:ea typeface="+mn-ea"/>
                <a:cs typeface="+mn-cs"/>
              </a:rPr>
              <a:t> It</a:t>
            </a:r>
            <a:r>
              <a:rPr lang="en-US" sz="1200" b="0" i="0" kern="1200" dirty="0" smtClean="0">
                <a:solidFill>
                  <a:schemeClr val="tx1"/>
                </a:solidFill>
                <a:effectLst/>
                <a:latin typeface="+mn-lt"/>
                <a:ea typeface="+mn-ea"/>
                <a:cs typeface="+mn-cs"/>
              </a:rPr>
              <a:t> is a pattern describing a certain amount of text.</a:t>
            </a:r>
            <a:endParaRPr lang="en-US" b="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Whether Regular Expressions are used to extract a particular Data from a given Expression?</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3</a:t>
            </a:fld>
            <a:endParaRPr lang="en-US" dirty="0"/>
          </a:p>
        </p:txBody>
      </p:sp>
    </p:spTree>
    <p:extLst>
      <p:ext uri="{BB962C8B-B14F-4D97-AF65-F5344CB8AC3E}">
        <p14:creationId xmlns:p14="http://schemas.microsoft.com/office/powerpoint/2010/main" val="571006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Findall</a:t>
            </a:r>
            <a:r>
              <a:rPr lang="en-US" baseline="0" dirty="0" smtClean="0"/>
              <a:t>() method will return a</a:t>
            </a:r>
            <a:r>
              <a:rPr lang="en-US" sz="1200" b="0" i="0" kern="1200" dirty="0" smtClean="0">
                <a:solidFill>
                  <a:schemeClr val="tx1"/>
                </a:solidFill>
                <a:effectLst/>
                <a:latin typeface="+mn-lt"/>
                <a:ea typeface="+mn-ea"/>
                <a:cs typeface="+mn-cs"/>
              </a:rPr>
              <a:t> list of tuples if the pattern has more than one group. Empty matches are included in the result unless they touch the beginning of another match.</a:t>
            </a:r>
          </a:p>
          <a:p>
            <a:r>
              <a:rPr lang="en-US" sz="1200" b="0" i="0" kern="1200" dirty="0" smtClean="0">
                <a:solidFill>
                  <a:schemeClr val="tx1"/>
                </a:solidFill>
                <a:effectLst/>
                <a:latin typeface="+mn-lt"/>
                <a:ea typeface="+mn-ea"/>
                <a:cs typeface="+mn-cs"/>
              </a:rPr>
              <a:t>Findall() will return a list of tuples, where the Nth element of each tuple corresponds to the Nth group of the regex pattern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Characteristics</a:t>
            </a:r>
            <a:r>
              <a:rPr lang="en-US" sz="1200" b="0" i="0" kern="1200" baseline="0" dirty="0" smtClean="0">
                <a:solidFill>
                  <a:schemeClr val="tx1"/>
                </a:solidFill>
                <a:effectLst/>
                <a:latin typeface="+mn-lt"/>
                <a:ea typeface="+mn-ea"/>
                <a:cs typeface="+mn-cs"/>
              </a:rPr>
              <a:t> of </a:t>
            </a:r>
            <a:r>
              <a:rPr lang="en-US" sz="1200" b="0" i="0" kern="1200" baseline="0" dirty="0" err="1" smtClean="0">
                <a:solidFill>
                  <a:schemeClr val="tx1"/>
                </a:solidFill>
                <a:effectLst/>
                <a:latin typeface="+mn-lt"/>
                <a:ea typeface="+mn-ea"/>
                <a:cs typeface="+mn-cs"/>
              </a:rPr>
              <a:t>findall</a:t>
            </a:r>
            <a:r>
              <a:rPr lang="en-US" sz="1200" b="0" i="0" kern="1200" baseline="0" dirty="0" smtClean="0">
                <a:solidFill>
                  <a:schemeClr val="tx1"/>
                </a:solidFill>
                <a:effectLst/>
                <a:latin typeface="+mn-lt"/>
                <a:ea typeface="+mn-ea"/>
                <a:cs typeface="+mn-cs"/>
              </a:rPr>
              <a:t>() method :</a:t>
            </a:r>
          </a:p>
          <a:p>
            <a:endParaRPr lang="en-US" sz="1200" b="0" i="0" kern="1200" dirty="0" smtClean="0">
              <a:solidFill>
                <a:schemeClr val="tx1"/>
              </a:solidFill>
              <a:effectLst/>
              <a:latin typeface="+mn-lt"/>
              <a:ea typeface="+mn-ea"/>
              <a:cs typeface="+mn-cs"/>
            </a:endParaRPr>
          </a:p>
          <a:p>
            <a:pPr marL="403225" lvl="1" defTabSz="914363">
              <a:lnSpc>
                <a:spcPct val="90000"/>
              </a:lnSpc>
              <a:buSzPct val="100000"/>
              <a:buFont typeface="Arial" panose="020B0604020202020204" pitchFamily="34" charset="0"/>
              <a:buChar char="•"/>
            </a:pPr>
            <a:r>
              <a:rPr lang="en-US" sz="1600" dirty="0" smtClean="0">
                <a:solidFill>
                  <a:srgbClr val="6600CC"/>
                </a:solidFill>
              </a:rPr>
              <a:t>It</a:t>
            </a:r>
            <a:r>
              <a:rPr lang="en-US" sz="1600" baseline="0" dirty="0" smtClean="0">
                <a:solidFill>
                  <a:srgbClr val="6600CC"/>
                </a:solidFill>
              </a:rPr>
              <a:t> is </a:t>
            </a:r>
            <a:r>
              <a:rPr lang="en-US" sz="1600" dirty="0" smtClean="0">
                <a:solidFill>
                  <a:srgbClr val="6600CC"/>
                </a:solidFill>
              </a:rPr>
              <a:t>Used to extract data from a string.</a:t>
            </a:r>
          </a:p>
          <a:p>
            <a:pPr marL="403225" lvl="1" defTabSz="914363">
              <a:lnSpc>
                <a:spcPct val="90000"/>
              </a:lnSpc>
              <a:buSzPct val="100000"/>
              <a:buFont typeface="Arial" panose="020B0604020202020204" pitchFamily="34" charset="0"/>
              <a:buChar char="•"/>
            </a:pPr>
            <a:r>
              <a:rPr lang="en-US" sz="1600" dirty="0" smtClean="0">
                <a:solidFill>
                  <a:srgbClr val="6600CC"/>
                </a:solidFill>
              </a:rPr>
              <a:t>It returns all non-overlapping matches of pattern in string, as a list of strings. </a:t>
            </a:r>
          </a:p>
          <a:p>
            <a:pPr marL="403225" lvl="1" defTabSz="914363">
              <a:lnSpc>
                <a:spcPct val="90000"/>
              </a:lnSpc>
              <a:buSzPct val="100000"/>
              <a:buFont typeface="Arial" panose="020B0604020202020204" pitchFamily="34" charset="0"/>
              <a:buChar char="•"/>
            </a:pPr>
            <a:r>
              <a:rPr lang="en-US" sz="1600" dirty="0" smtClean="0">
                <a:solidFill>
                  <a:srgbClr val="6600CC"/>
                </a:solidFill>
              </a:rPr>
              <a:t>The string is scanned left-to-right, and matches are returned in the order found.</a:t>
            </a:r>
          </a:p>
          <a:p>
            <a:pPr marL="403225" lvl="1" defTabSz="914363">
              <a:lnSpc>
                <a:spcPct val="90000"/>
              </a:lnSpc>
              <a:buSzPct val="100000"/>
              <a:buFont typeface="Arial" panose="020B0604020202020204" pitchFamily="34" charset="0"/>
              <a:buChar char="•"/>
            </a:pPr>
            <a:r>
              <a:rPr lang="en-US" sz="1600" dirty="0" smtClean="0">
                <a:solidFill>
                  <a:srgbClr val="6600CC"/>
                </a:solidFill>
              </a:rPr>
              <a:t>If one or more groups are present in the pattern, return a list of groups.</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4</a:t>
            </a:fld>
            <a:endParaRPr lang="en-US" dirty="0"/>
          </a:p>
        </p:txBody>
      </p:sp>
    </p:spTree>
    <p:extLst>
      <p:ext uri="{BB962C8B-B14F-4D97-AF65-F5344CB8AC3E}">
        <p14:creationId xmlns:p14="http://schemas.microsoft.com/office/powerpoint/2010/main" val="1768650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findall() method searches the string in the second argument and returns a list of all of the strings that look like e-mail addresses. </a:t>
            </a:r>
          </a:p>
          <a:p>
            <a:r>
              <a:rPr lang="en-US" sz="1200" b="0" i="0" u="none" strike="noStrike" kern="1200" baseline="0" dirty="0" smtClean="0">
                <a:solidFill>
                  <a:schemeClr val="tx1"/>
                </a:solidFill>
                <a:latin typeface="+mn-lt"/>
                <a:ea typeface="+mn-ea"/>
                <a:cs typeface="+mn-cs"/>
              </a:rPr>
              <a:t>We are using a two character sequence that matches a non-whitespace character (\S).</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5</a:t>
            </a:fld>
            <a:endParaRPr lang="en-US" dirty="0"/>
          </a:p>
        </p:txBody>
      </p:sp>
    </p:spTree>
    <p:extLst>
      <p:ext uri="{BB962C8B-B14F-4D97-AF65-F5344CB8AC3E}">
        <p14:creationId xmlns:p14="http://schemas.microsoft.com/office/powerpoint/2010/main" val="3683158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6600CC"/>
                </a:solidFill>
              </a:rPr>
              <a:t>In findall() method the parenthesis indicate that while we want the whole expression to match we only are interested in extracting a portion of the substring that match the regular expression.</a:t>
            </a:r>
          </a:p>
          <a:p>
            <a:endParaRPr lang="en-US" sz="1200" b="0" i="0" u="none" strike="noStrike" kern="1200" baseline="0" dirty="0" smtClean="0">
              <a:solidFill>
                <a:schemeClr val="tx1"/>
              </a:solidFill>
              <a:latin typeface="+mn-lt"/>
              <a:ea typeface="+mn-ea"/>
              <a:cs typeface="+mn-cs"/>
            </a:endParaRPr>
          </a:p>
          <a:p>
            <a:pPr algn="just"/>
            <a:endParaRPr lang="en-US" sz="1200" b="0" i="0" u="none" strike="noStrike" kern="1200" baseline="0" dirty="0" smtClean="0">
              <a:solidFill>
                <a:schemeClr val="tx1"/>
              </a:solidFill>
              <a:latin typeface="+mn-lt"/>
              <a:ea typeface="+mn-ea"/>
              <a:cs typeface="+mn-cs"/>
            </a:endParaRPr>
          </a:p>
          <a:p>
            <a:pPr algn="just"/>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6</a:t>
            </a:fld>
            <a:endParaRPr lang="en-US"/>
          </a:p>
        </p:txBody>
      </p:sp>
    </p:spTree>
    <p:extLst>
      <p:ext uri="{BB962C8B-B14F-4D97-AF65-F5344CB8AC3E}">
        <p14:creationId xmlns:p14="http://schemas.microsoft.com/office/powerpoint/2010/main" val="2140993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lvl="1" indent="0" algn="just" defTabSz="914363">
              <a:lnSpc>
                <a:spcPct val="90000"/>
              </a:lnSpc>
              <a:buSzPct val="100000"/>
              <a:buNone/>
            </a:pPr>
            <a:r>
              <a:rPr lang="en-US" sz="1600" b="1" i="1" dirty="0" smtClean="0">
                <a:solidFill>
                  <a:srgbClr val="6600CC"/>
                </a:solidFill>
              </a:rPr>
              <a:t>Escape Character </a:t>
            </a:r>
            <a:r>
              <a:rPr lang="en-US" sz="1600" b="0" i="0" baseline="0" dirty="0" smtClean="0">
                <a:solidFill>
                  <a:srgbClr val="6600CC"/>
                </a:solidFill>
              </a:rPr>
              <a:t> are</a:t>
            </a:r>
            <a:r>
              <a:rPr lang="en-US" sz="1600" dirty="0" smtClean="0">
                <a:solidFill>
                  <a:srgbClr val="6600CC"/>
                </a:solidFill>
              </a:rPr>
              <a:t> an alternative interpretation on subsequent character sequence.</a:t>
            </a:r>
          </a:p>
          <a:p>
            <a:pPr marL="403225" lvl="1" defTabSz="914363">
              <a:buSzPct val="100000"/>
              <a:buFont typeface="Wingdings" panose="05000000000000000000" pitchFamily="2" charset="2"/>
              <a:buChar char="§"/>
            </a:pPr>
            <a:r>
              <a:rPr lang="en-US" sz="1600" i="0" dirty="0" smtClean="0">
                <a:solidFill>
                  <a:srgbClr val="6600CC"/>
                </a:solidFill>
              </a:rPr>
              <a:t>An escape character is a particular case of meta characters.</a:t>
            </a:r>
          </a:p>
          <a:p>
            <a:pPr marL="403225" lvl="1" defTabSz="914363">
              <a:buSzPct val="100000"/>
              <a:buFont typeface="Wingdings" panose="05000000000000000000" pitchFamily="2" charset="2"/>
              <a:buChar char="§"/>
            </a:pPr>
            <a:r>
              <a:rPr lang="en-US" sz="1600" i="0" dirty="0" smtClean="0">
                <a:solidFill>
                  <a:srgbClr val="6600CC"/>
                </a:solidFill>
              </a:rPr>
              <a:t>Escape characters are part of the syntax for many programming languages.</a:t>
            </a:r>
          </a:p>
          <a:p>
            <a:pPr marL="403225" lvl="1" defTabSz="914363">
              <a:buSzPct val="100000"/>
              <a:buFont typeface="Wingdings" panose="05000000000000000000" pitchFamily="2" charset="2"/>
              <a:buChar char="§"/>
            </a:pPr>
            <a:r>
              <a:rPr lang="en-US" sz="1600" i="0" dirty="0" smtClean="0">
                <a:solidFill>
                  <a:srgbClr val="6600CC"/>
                </a:solidFill>
              </a:rPr>
              <a:t>In many programming languages an escape character also forms some escape sequence  which are referred to control characters.</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In the code mentioned above, since we prefix the dollar-sign with a backslash, it actually matches the dollar-sign in the input string instead of matching the “end of line” and the rest of the regular expression matches one or more digits or the period character. When we say “[0-9.]”, it really means digits or a period. </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7</a:t>
            </a:fld>
            <a:endParaRPr lang="en-US"/>
          </a:p>
        </p:txBody>
      </p:sp>
    </p:spTree>
    <p:extLst>
      <p:ext uri="{BB962C8B-B14F-4D97-AF65-F5344CB8AC3E}">
        <p14:creationId xmlns:p14="http://schemas.microsoft.com/office/powerpoint/2010/main" val="3460863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8</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['accomplished', 'attempt']</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9</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t>Solution:</a:t>
            </a:r>
          </a:p>
          <a:p>
            <a:endParaRPr lang="en-US" sz="1600" b="1" dirty="0" smtClean="0"/>
          </a:p>
          <a:p>
            <a:r>
              <a:rPr lang="en-US" sz="1200" b="1" dirty="0" smtClean="0"/>
              <a:t>Prerequisite:</a:t>
            </a:r>
            <a:r>
              <a:rPr lang="en-US" sz="1200" dirty="0" smtClean="0"/>
              <a:t> For this activity you need to use </a:t>
            </a:r>
            <a:r>
              <a:rPr lang="en-US" sz="1200" b="1" dirty="0" smtClean="0"/>
              <a:t>mbox.txt</a:t>
            </a:r>
            <a:r>
              <a:rPr lang="en-US" sz="1200" dirty="0" smtClean="0"/>
              <a:t> which is available with </a:t>
            </a:r>
            <a:r>
              <a:rPr lang="en-US" sz="1200" b="1" dirty="0" err="1" smtClean="0"/>
              <a:t>Data_File_For_Students</a:t>
            </a:r>
            <a:r>
              <a:rPr lang="en-US" sz="1200" dirty="0" smtClean="0"/>
              <a:t>.</a:t>
            </a:r>
          </a:p>
          <a:p>
            <a:endParaRPr lang="en-US" sz="1600" dirty="0" smtClean="0"/>
          </a:p>
          <a:p>
            <a:r>
              <a:rPr lang="en-US" sz="1200" dirty="0" smtClean="0"/>
              <a:t>In order to do this activity, you need to perform the following tasks:</a:t>
            </a:r>
          </a:p>
          <a:p>
            <a:pPr marL="342900" lvl="0" indent="-342900">
              <a:buFont typeface="+mj-lt"/>
              <a:buAutoNum type="arabicPeriod"/>
            </a:pPr>
            <a:r>
              <a:rPr lang="en-US" sz="1200" dirty="0" smtClean="0"/>
              <a:t>Create an empty Python project.</a:t>
            </a:r>
          </a:p>
          <a:p>
            <a:pPr marL="342900" lvl="0" indent="-342900">
              <a:buFont typeface="+mj-lt"/>
              <a:buAutoNum type="arabicPeriod"/>
            </a:pPr>
            <a:r>
              <a:rPr lang="en-US" sz="1200" dirty="0" smtClean="0"/>
              <a:t>Use </a:t>
            </a:r>
            <a:r>
              <a:rPr lang="en-US" sz="1200" b="1" dirty="0" smtClean="0"/>
              <a:t>re</a:t>
            </a:r>
            <a:r>
              <a:rPr lang="en-US" sz="1200" dirty="0" smtClean="0"/>
              <a:t> library to access regular expression methods,</a:t>
            </a:r>
            <a:r>
              <a:rPr lang="en-US" sz="1200" baseline="0" dirty="0" smtClean="0"/>
              <a:t> u</a:t>
            </a:r>
            <a:r>
              <a:rPr lang="en-US" sz="1200" dirty="0" smtClean="0"/>
              <a:t>se</a:t>
            </a:r>
            <a:r>
              <a:rPr lang="en-US" sz="1200" b="1" dirty="0" smtClean="0"/>
              <a:t> </a:t>
            </a:r>
            <a:r>
              <a:rPr lang="en-US" sz="1200" b="1" dirty="0" err="1" smtClean="0"/>
              <a:t>rstrip</a:t>
            </a:r>
            <a:r>
              <a:rPr lang="en-US" sz="1200" b="1" dirty="0" smtClean="0"/>
              <a:t>() </a:t>
            </a:r>
            <a:r>
              <a:rPr lang="en-US" sz="1200" dirty="0" smtClean="0"/>
              <a:t>to break line into part</a:t>
            </a:r>
            <a:r>
              <a:rPr lang="en-US" sz="1200" baseline="0" dirty="0" smtClean="0"/>
              <a:t> and u</a:t>
            </a:r>
            <a:r>
              <a:rPr lang="en-US" sz="1200" dirty="0" smtClean="0"/>
              <a:t>se</a:t>
            </a:r>
            <a:r>
              <a:rPr lang="en-US" sz="1200" b="1" dirty="0" smtClean="0"/>
              <a:t> search()</a:t>
            </a:r>
            <a:r>
              <a:rPr lang="en-US" sz="1200" dirty="0" smtClean="0"/>
              <a:t> to search specified pattern with part of string.</a:t>
            </a:r>
          </a:p>
          <a:p>
            <a:pPr marL="0" lvl="0" indent="0">
              <a:buFont typeface="+mj-lt"/>
              <a:buNone/>
            </a:pPr>
            <a:endParaRPr lang="en-US" sz="1200"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CR_Session13_Activity01</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smtClean="0"/>
              <a:t>re</a:t>
            </a:r>
            <a:r>
              <a:rPr lang="en-US" sz="1200" dirty="0" smtClean="0"/>
              <a:t> library to access regular expression methods, </a:t>
            </a:r>
            <a:r>
              <a:rPr lang="en-US" sz="1200" b="1" dirty="0" err="1" smtClean="0"/>
              <a:t>rstrip</a:t>
            </a:r>
            <a:r>
              <a:rPr lang="en-US" sz="1200" b="1" dirty="0" smtClean="0"/>
              <a:t>() </a:t>
            </a:r>
            <a:r>
              <a:rPr lang="en-US" sz="1200" dirty="0" smtClean="0"/>
              <a:t>to break line into part and </a:t>
            </a:r>
            <a:r>
              <a:rPr lang="en-US" sz="1200" b="1" dirty="0" smtClean="0"/>
              <a:t>search()</a:t>
            </a:r>
            <a:r>
              <a:rPr lang="en-US" sz="1200" dirty="0" smtClean="0"/>
              <a:t> to search specified pattern with part of string:</a:t>
            </a: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pPr>
            <a:r>
              <a:rPr lang="en-US" sz="1200" dirty="0" smtClean="0"/>
              <a:t>Step 1: Type the following code:</a:t>
            </a: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altLang="en-US" sz="1200" dirty="0" smtClean="0">
              <a:latin typeface="+mn-lt"/>
            </a:endParaRPr>
          </a:p>
          <a:p>
            <a:r>
              <a:rPr lang="en-US" sz="1200" dirty="0" smtClean="0"/>
              <a:t>	</a:t>
            </a:r>
            <a:r>
              <a:rPr lang="en-US" sz="1200" dirty="0" smtClean="0">
                <a:latin typeface="+mn-lt"/>
              </a:rPr>
              <a:t>import re</a:t>
            </a:r>
          </a:p>
          <a:p>
            <a:r>
              <a:rPr lang="en-US" sz="1200" dirty="0" smtClean="0">
                <a:latin typeface="+mn-lt"/>
              </a:rPr>
              <a:t>	hand = open("mbox.txt")</a:t>
            </a:r>
          </a:p>
          <a:p>
            <a:r>
              <a:rPr lang="en-US" sz="1200" dirty="0" smtClean="0">
                <a:latin typeface="+mn-lt"/>
              </a:rPr>
              <a:t>	search = </a:t>
            </a:r>
            <a:r>
              <a:rPr lang="en-US" sz="1200" dirty="0" err="1" smtClean="0">
                <a:latin typeface="+mn-lt"/>
              </a:rPr>
              <a:t>raw_input</a:t>
            </a:r>
            <a:r>
              <a:rPr lang="en-US" sz="1200" dirty="0" smtClean="0">
                <a:latin typeface="+mn-lt"/>
              </a:rPr>
              <a:t>("Enter a regular expression: ")</a:t>
            </a:r>
          </a:p>
          <a:p>
            <a:r>
              <a:rPr lang="en-US" sz="1200" dirty="0" smtClean="0">
                <a:latin typeface="+mn-lt"/>
              </a:rPr>
              <a:t>	count = 0 </a:t>
            </a:r>
          </a:p>
          <a:p>
            <a:r>
              <a:rPr lang="en-US" sz="1200" dirty="0" smtClean="0">
                <a:latin typeface="+mn-lt"/>
              </a:rPr>
              <a:t>	for line in hand:</a:t>
            </a:r>
          </a:p>
          <a:p>
            <a:r>
              <a:rPr lang="en-US" sz="1200" dirty="0" smtClean="0">
                <a:latin typeface="+mn-lt"/>
              </a:rPr>
              <a:t>    		line = </a:t>
            </a:r>
            <a:r>
              <a:rPr lang="en-US" sz="1200" dirty="0" err="1" smtClean="0">
                <a:latin typeface="+mn-lt"/>
              </a:rPr>
              <a:t>line.rstrip</a:t>
            </a:r>
            <a:r>
              <a:rPr lang="en-US" sz="1200" dirty="0" smtClean="0">
                <a:latin typeface="+mn-lt"/>
              </a:rPr>
              <a:t>()</a:t>
            </a:r>
          </a:p>
          <a:p>
            <a:r>
              <a:rPr lang="en-US" altLang="en-US" sz="1200" dirty="0" smtClean="0">
                <a:latin typeface="+mn-lt"/>
              </a:rPr>
              <a:t>		</a:t>
            </a:r>
            <a:r>
              <a:rPr lang="en-US" sz="1200" dirty="0" smtClean="0">
                <a:latin typeface="+mn-lt"/>
              </a:rPr>
              <a:t>if </a:t>
            </a:r>
            <a:r>
              <a:rPr lang="en-US" sz="1200" dirty="0" err="1" smtClean="0">
                <a:latin typeface="+mn-lt"/>
              </a:rPr>
              <a:t>re.search</a:t>
            </a:r>
            <a:r>
              <a:rPr lang="en-US" sz="1200" dirty="0" smtClean="0">
                <a:latin typeface="+mn-lt"/>
              </a:rPr>
              <a:t>(</a:t>
            </a:r>
            <a:r>
              <a:rPr lang="en-US" sz="1200" dirty="0" err="1" smtClean="0">
                <a:latin typeface="+mn-lt"/>
              </a:rPr>
              <a:t>search,line</a:t>
            </a:r>
            <a:r>
              <a:rPr lang="en-US" sz="1200" dirty="0" smtClean="0">
                <a:latin typeface="+mn-lt"/>
              </a:rPr>
              <a:t>) : </a:t>
            </a:r>
          </a:p>
          <a:p>
            <a:r>
              <a:rPr lang="en-US" sz="1200" dirty="0" smtClean="0">
                <a:latin typeface="+mn-lt"/>
              </a:rPr>
              <a:t>        			count = count + 1</a:t>
            </a:r>
          </a:p>
          <a:p>
            <a:r>
              <a:rPr lang="en-US" sz="1200" dirty="0" smtClean="0">
                <a:latin typeface="+mn-lt"/>
              </a:rPr>
              <a:t> </a:t>
            </a:r>
          </a:p>
          <a:p>
            <a:r>
              <a:rPr lang="en-US" sz="1200" dirty="0" smtClean="0">
                <a:latin typeface="+mn-lt"/>
              </a:rPr>
              <a:t>	print("mbox.txt had "+</a:t>
            </a:r>
            <a:r>
              <a:rPr lang="en-US" sz="1200" dirty="0" err="1" smtClean="0">
                <a:latin typeface="+mn-lt"/>
              </a:rPr>
              <a:t>str</a:t>
            </a:r>
            <a:r>
              <a:rPr lang="en-US" sz="1200" dirty="0" smtClean="0">
                <a:latin typeface="+mn-lt"/>
              </a:rPr>
              <a:t>(count)+" lines that matched "+search)</a:t>
            </a:r>
          </a:p>
          <a:p>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lvl="0" indent="0">
              <a:buFont typeface="+mj-lt"/>
              <a:buNone/>
            </a:pPr>
            <a:endParaRPr lang="en-US" sz="1200" dirty="0" smtClean="0"/>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10</a:t>
            </a:fld>
            <a:endParaRPr lang="en-US"/>
          </a:p>
        </p:txBody>
      </p:sp>
    </p:spTree>
    <p:extLst>
      <p:ext uri="{BB962C8B-B14F-4D97-AF65-F5344CB8AC3E}">
        <p14:creationId xmlns:p14="http://schemas.microsoft.com/office/powerpoint/2010/main" val="2660531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6600CC"/>
                </a:solidFill>
              </a:rPr>
              <a:t>Networking</a:t>
            </a:r>
            <a:r>
              <a:rPr lang="en-US" sz="1200" baseline="0" dirty="0" smtClean="0">
                <a:solidFill>
                  <a:srgbClr val="6600CC"/>
                </a:solidFill>
              </a:rPr>
              <a:t> is the c</a:t>
            </a:r>
            <a:r>
              <a:rPr lang="en-US" sz="1200" dirty="0" smtClean="0">
                <a:solidFill>
                  <a:srgbClr val="6600CC"/>
                </a:solidFill>
              </a:rPr>
              <a:t>oncept of two programs communicating across a network. Whether it be from client- client, client-server or even client to itself.</a:t>
            </a:r>
          </a:p>
          <a:p>
            <a:r>
              <a:rPr lang="en-US" dirty="0" smtClean="0"/>
              <a:t>User</a:t>
            </a:r>
            <a:r>
              <a:rPr lang="en-US" baseline="0" dirty="0" smtClean="0"/>
              <a:t> interface is used by the client to interact with the server.  Server can be Application Server or Web Server or Database Server.</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11</a:t>
            </a:fld>
            <a:endParaRPr lang="en-US"/>
          </a:p>
        </p:txBody>
      </p:sp>
    </p:spTree>
    <p:extLst>
      <p:ext uri="{BB962C8B-B14F-4D97-AF65-F5344CB8AC3E}">
        <p14:creationId xmlns:p14="http://schemas.microsoft.com/office/powerpoint/2010/main" val="201099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Hypertext Transfer Protocol</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HTTP</a:t>
            </a:r>
            <a:r>
              <a:rPr lang="en-US" sz="1200" b="0" i="0" kern="1200" dirty="0" smtClean="0">
                <a:solidFill>
                  <a:schemeClr val="tx1"/>
                </a:solidFill>
                <a:effectLst/>
                <a:latin typeface="+mn-lt"/>
                <a:ea typeface="+mn-ea"/>
                <a:cs typeface="+mn-cs"/>
              </a:rPr>
              <a:t>) is an </a:t>
            </a:r>
            <a:r>
              <a:rPr lang="en-US" sz="1200" b="0" i="0" u="none" strike="noStrike" kern="1200" dirty="0" smtClean="0">
                <a:solidFill>
                  <a:schemeClr val="tx1"/>
                </a:solidFill>
                <a:effectLst/>
                <a:latin typeface="+mn-lt"/>
                <a:ea typeface="+mn-ea"/>
                <a:cs typeface="+mn-cs"/>
              </a:rPr>
              <a:t>application protocol</a:t>
            </a:r>
            <a:r>
              <a:rPr lang="en-US" sz="1200" b="0" i="0" kern="1200" dirty="0" smtClean="0">
                <a:solidFill>
                  <a:schemeClr val="tx1"/>
                </a:solidFill>
                <a:effectLst/>
                <a:latin typeface="+mn-lt"/>
                <a:ea typeface="+mn-ea"/>
                <a:cs typeface="+mn-cs"/>
              </a:rPr>
              <a:t> for distributed, collaborative, </a:t>
            </a:r>
            <a:r>
              <a:rPr lang="en-US" sz="1200" b="0" i="0" u="none" strike="noStrike" kern="1200" dirty="0" smtClean="0">
                <a:solidFill>
                  <a:schemeClr val="tx1"/>
                </a:solidFill>
                <a:effectLst/>
                <a:latin typeface="+mn-lt"/>
                <a:ea typeface="+mn-ea"/>
                <a:cs typeface="+mn-cs"/>
              </a:rPr>
              <a:t>hypermedia</a:t>
            </a:r>
            <a:r>
              <a:rPr lang="en-US" sz="1200" b="0" i="0" u="none" strike="noStrike"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information systems.</a:t>
            </a:r>
            <a:r>
              <a:rPr lang="en-US" sz="1200" b="0" i="0" u="none" strike="noStrike" kern="1200" baseline="300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HTTP is the foundation of data communication for the </a:t>
            </a:r>
            <a:r>
              <a:rPr lang="en-US" sz="1200" b="0" i="0" u="none" strike="noStrike" kern="1200" dirty="0" smtClean="0">
                <a:solidFill>
                  <a:schemeClr val="tx1"/>
                </a:solidFill>
                <a:effectLst/>
                <a:latin typeface="+mn-lt"/>
                <a:ea typeface="+mn-ea"/>
                <a:cs typeface="+mn-cs"/>
              </a:rPr>
              <a:t>World Wide Web.</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1" dirty="0" smtClean="0">
                <a:solidFill>
                  <a:srgbClr val="6600CC"/>
                </a:solidFill>
              </a:rPr>
              <a:t>Protocol</a:t>
            </a:r>
            <a:r>
              <a:rPr lang="en-US" sz="1200" dirty="0" smtClean="0">
                <a:solidFill>
                  <a:srgbClr val="6600CC"/>
                </a:solidFill>
              </a:rPr>
              <a:t>  is</a:t>
            </a:r>
            <a:r>
              <a:rPr lang="en-US" sz="1200" baseline="0" dirty="0" smtClean="0">
                <a:solidFill>
                  <a:srgbClr val="6600CC"/>
                </a:solidFill>
              </a:rPr>
              <a:t> </a:t>
            </a:r>
            <a:r>
              <a:rPr lang="en-US" sz="1200" dirty="0" smtClean="0">
                <a:solidFill>
                  <a:srgbClr val="6600CC"/>
                </a:solidFill>
              </a:rPr>
              <a:t>a set of rules used for network communication.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6600CC"/>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6600CC"/>
                </a:solidFill>
              </a:rPr>
              <a:t>It determines what has to go first and what operations to be performed and what are the responses.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6600CC"/>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6600CC"/>
              </a:solidFill>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12</a:t>
            </a:fld>
            <a:endParaRPr lang="en-US"/>
          </a:p>
        </p:txBody>
      </p:sp>
    </p:spTree>
    <p:extLst>
      <p:ext uri="{BB962C8B-B14F-4D97-AF65-F5344CB8AC3E}">
        <p14:creationId xmlns:p14="http://schemas.microsoft.com/office/powerpoint/2010/main" val="2842067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Python provides two levels of access to network services at a low level where we can access the basic socket support.</a:t>
            </a:r>
          </a:p>
          <a:p>
            <a:r>
              <a:rPr lang="en-US" dirty="0" smtClean="0"/>
              <a:t>Python also has libraries that provide higher level access to specific application-level network protocol such as FTP,HTTP and so on.</a:t>
            </a:r>
          </a:p>
          <a:p>
            <a:r>
              <a:rPr lang="en-US" dirty="0" smtClean="0"/>
              <a:t>Sockets are the endpoints of a bidirectional communications channel. Sockets may communicate within a process, between processes on the same machine, or between processes on different continents..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can both read from and write to the same socket. If you write something to a socket it is sent to the application at the other end of the socket.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6600CC"/>
                </a:solidFill>
              </a:rPr>
              <a:t>The network protocol that powers the web is actually quite simple and there is built in support in python called socket.</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13</a:t>
            </a:fld>
            <a:endParaRPr lang="en-US"/>
          </a:p>
        </p:txBody>
      </p:sp>
    </p:spTree>
    <p:extLst>
      <p:ext uri="{BB962C8B-B14F-4D97-AF65-F5344CB8AC3E}">
        <p14:creationId xmlns:p14="http://schemas.microsoft.com/office/powerpoint/2010/main" val="934501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6600CC"/>
                </a:solidFill>
              </a:rPr>
              <a:t>Http protocol will follow the rules and request a document and display what the server sends back.</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14</a:t>
            </a:fld>
            <a:endParaRPr lang="en-US"/>
          </a:p>
        </p:txBody>
      </p:sp>
    </p:spTree>
    <p:extLst>
      <p:ext uri="{BB962C8B-B14F-4D97-AF65-F5344CB8AC3E}">
        <p14:creationId xmlns:p14="http://schemas.microsoft.com/office/powerpoint/2010/main" val="2705549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First the program makes a connection to port 80 on the server www.py4inf.com. Since our program is playing the role of the “web browser” the HTTP protocol</a:t>
            </a:r>
          </a:p>
          <a:p>
            <a:r>
              <a:rPr lang="en-US" sz="1200" b="0" i="0" u="none" strike="noStrike" kern="1200" baseline="0" dirty="0" smtClean="0">
                <a:solidFill>
                  <a:schemeClr val="tx1"/>
                </a:solidFill>
                <a:latin typeface="+mn-lt"/>
                <a:ea typeface="+mn-ea"/>
                <a:cs typeface="+mn-cs"/>
              </a:rPr>
              <a:t>says we must send the GET command followed by a blank line.</a:t>
            </a:r>
          </a:p>
          <a:p>
            <a:endParaRPr lang="en-US" sz="1200" b="0"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15</a:t>
            </a:fld>
            <a:endParaRPr lang="en-US"/>
          </a:p>
        </p:txBody>
      </p:sp>
    </p:spTree>
    <p:extLst>
      <p:ext uri="{BB962C8B-B14F-4D97-AF65-F5344CB8AC3E}">
        <p14:creationId xmlns:p14="http://schemas.microsoft.com/office/powerpoint/2010/main" val="27905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can see that for this URL, the Content-Type header indicates that body of the document is an image (image/jpeg). Once the program completes, we can view</a:t>
            </a:r>
          </a:p>
          <a:p>
            <a:r>
              <a:rPr lang="en-US" sz="1200" b="0" i="0" u="none" strike="noStrike" kern="1200" baseline="0" dirty="0" smtClean="0">
                <a:solidFill>
                  <a:schemeClr val="tx1"/>
                </a:solidFill>
                <a:latin typeface="+mn-lt"/>
                <a:ea typeface="+mn-ea"/>
                <a:cs typeface="+mn-cs"/>
              </a:rPr>
              <a:t>the image data by opening the file stuff.jpg in an image viewer.</a:t>
            </a:r>
          </a:p>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16</a:t>
            </a:fld>
            <a:endParaRPr lang="en-US"/>
          </a:p>
        </p:txBody>
      </p:sp>
    </p:spTree>
    <p:extLst>
      <p:ext uri="{BB962C8B-B14F-4D97-AF65-F5344CB8AC3E}">
        <p14:creationId xmlns:p14="http://schemas.microsoft.com/office/powerpoint/2010/main" val="549737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Once the web page has been opened with urllib.urlopen we can treat it like a file and read through it using a for loop.</a:t>
            </a:r>
          </a:p>
          <a:p>
            <a:r>
              <a:rPr lang="en-US" sz="1200" b="0" i="0" u="none" strike="noStrike" kern="1200" baseline="0" dirty="0" smtClean="0">
                <a:solidFill>
                  <a:schemeClr val="tx1"/>
                </a:solidFill>
                <a:latin typeface="+mn-lt"/>
                <a:ea typeface="+mn-ea"/>
                <a:cs typeface="+mn-cs"/>
              </a:rPr>
              <a:t>When the program runs, we only see the output of the contents of the file. The headers are still sent, but the urllib code consumes the headers and only returns</a:t>
            </a:r>
          </a:p>
          <a:p>
            <a:r>
              <a:rPr lang="en-US" sz="1200" b="0" i="0" u="none" strike="noStrike" kern="1200" baseline="0" dirty="0" smtClean="0">
                <a:solidFill>
                  <a:schemeClr val="tx1"/>
                </a:solidFill>
                <a:latin typeface="+mn-lt"/>
                <a:ea typeface="+mn-ea"/>
                <a:cs typeface="+mn-cs"/>
              </a:rPr>
              <a:t>the data to us as below :</a:t>
            </a:r>
          </a:p>
          <a:p>
            <a:r>
              <a:rPr lang="en-US" sz="1200" b="0" i="0" u="none" strike="noStrike" kern="1200" baseline="0" dirty="0" smtClean="0">
                <a:solidFill>
                  <a:schemeClr val="tx1"/>
                </a:solidFill>
                <a:latin typeface="+mn-lt"/>
                <a:ea typeface="+mn-ea"/>
                <a:cs typeface="+mn-cs"/>
              </a:rPr>
              <a:t>But soft what light through yonder window breaks</a:t>
            </a:r>
          </a:p>
          <a:p>
            <a:r>
              <a:rPr lang="en-US" sz="1200" b="0" i="0" u="none" strike="noStrike" kern="1200" baseline="0" dirty="0" smtClean="0">
                <a:solidFill>
                  <a:schemeClr val="tx1"/>
                </a:solidFill>
                <a:latin typeface="+mn-lt"/>
                <a:ea typeface="+mn-ea"/>
                <a:cs typeface="+mn-cs"/>
              </a:rPr>
              <a:t>It is the east and Juliet is the sun</a:t>
            </a:r>
          </a:p>
          <a:p>
            <a:r>
              <a:rPr lang="en-US" sz="1200" b="0" i="0" u="none" strike="noStrike" kern="1200" baseline="0" dirty="0" smtClean="0">
                <a:solidFill>
                  <a:schemeClr val="tx1"/>
                </a:solidFill>
                <a:latin typeface="+mn-lt"/>
                <a:ea typeface="+mn-ea"/>
                <a:cs typeface="+mn-cs"/>
              </a:rPr>
              <a:t>Arise fair sun and kill the envious moon</a:t>
            </a:r>
          </a:p>
          <a:p>
            <a:r>
              <a:rPr lang="en-US" sz="1200" b="0" i="0" u="none" strike="noStrike" kern="1200" baseline="0" dirty="0" smtClean="0">
                <a:solidFill>
                  <a:schemeClr val="tx1"/>
                </a:solidFill>
                <a:latin typeface="+mn-lt"/>
                <a:ea typeface="+mn-ea"/>
                <a:cs typeface="+mn-cs"/>
              </a:rPr>
              <a:t>Who is already sick and pale with grief</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17</a:t>
            </a:fld>
            <a:endParaRPr lang="en-US"/>
          </a:p>
        </p:txBody>
      </p:sp>
    </p:spTree>
    <p:extLst>
      <p:ext uri="{BB962C8B-B14F-4D97-AF65-F5344CB8AC3E}">
        <p14:creationId xmlns:p14="http://schemas.microsoft.com/office/powerpoint/2010/main" val="3475216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18</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urllib</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19</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20</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Socket</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21</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600" b="1" dirty="0" smtClean="0">
                <a:latin typeface="Calibri" panose="020F0502020204030204" pitchFamily="34" charset="0"/>
                <a:ea typeface="Calibri" panose="020F0502020204030204" pitchFamily="34" charset="0"/>
                <a:cs typeface="Times New Roman" panose="02020603050405020304" pitchFamily="18" charset="0"/>
              </a:rPr>
              <a:t>Prerequisite:</a:t>
            </a:r>
            <a:r>
              <a:rPr lang="en-US" sz="1600" b="1" baseline="0" dirty="0" smtClean="0">
                <a:latin typeface="Calibri" panose="020F0502020204030204" pitchFamily="34" charset="0"/>
                <a:ea typeface="Calibri" panose="020F0502020204030204" pitchFamily="34" charset="0"/>
                <a:cs typeface="Times New Roman" panose="02020603050405020304" pitchFamily="18" charset="0"/>
              </a:rPr>
              <a:t> </a:t>
            </a:r>
            <a:r>
              <a:rPr lang="en-US" sz="1600" b="0" baseline="0" dirty="0" smtClean="0">
                <a:latin typeface="Calibri" panose="020F0502020204030204" pitchFamily="34" charset="0"/>
                <a:ea typeface="Calibri" panose="020F0502020204030204" pitchFamily="34" charset="0"/>
                <a:cs typeface="Times New Roman" panose="02020603050405020304" pitchFamily="18" charset="0"/>
              </a:rPr>
              <a:t>Internet connection must exists to run this activity.</a:t>
            </a:r>
            <a:endParaRPr lang="en-US" sz="1600" b="0" dirty="0" smtClean="0">
              <a:latin typeface="Calibri" panose="020F0502020204030204" pitchFamily="34" charset="0"/>
              <a:ea typeface="Calibri" panose="020F0502020204030204" pitchFamily="34" charset="0"/>
              <a:cs typeface="Times New Roman" panose="02020603050405020304" pitchFamily="18" charset="0"/>
            </a:endParaRP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indent="-342900">
              <a:buFont typeface="+mj-lt"/>
              <a:buAutoNum type="arabicPeriod"/>
            </a:pPr>
            <a:r>
              <a:rPr lang="en-US" sz="1200" dirty="0" smtClean="0"/>
              <a:t>Create a</a:t>
            </a:r>
            <a:r>
              <a:rPr lang="en-US" sz="1200" baseline="0" dirty="0" smtClean="0"/>
              <a:t> </a:t>
            </a:r>
            <a:r>
              <a:rPr lang="en-US" sz="1200" dirty="0" smtClean="0"/>
              <a:t>Python empty project.</a:t>
            </a:r>
          </a:p>
          <a:p>
            <a:pPr marL="342900" indent="-342900">
              <a:buFont typeface="+mj-lt"/>
              <a:buAutoNum type="arabicPeriod"/>
            </a:pPr>
            <a:r>
              <a:rPr lang="en-US" sz="1200" dirty="0" smtClean="0"/>
              <a:t>Use </a:t>
            </a:r>
            <a:r>
              <a:rPr lang="en-US" sz="1200" b="1" dirty="0" smtClean="0"/>
              <a:t>socket</a:t>
            </a:r>
            <a:r>
              <a:rPr lang="en-US" sz="1200" dirty="0" smtClean="0"/>
              <a:t> library to perform socket programming,</a:t>
            </a:r>
            <a:r>
              <a:rPr lang="en-US" sz="1200" baseline="0" dirty="0" smtClean="0"/>
              <a:t> u</a:t>
            </a:r>
            <a:r>
              <a:rPr lang="en-US" sz="1200" dirty="0" smtClean="0"/>
              <a:t>se </a:t>
            </a:r>
            <a:r>
              <a:rPr lang="en-US" sz="1200" b="1" dirty="0" smtClean="0"/>
              <a:t>socket()</a:t>
            </a:r>
            <a:r>
              <a:rPr lang="en-US" sz="1200" dirty="0" smtClean="0"/>
              <a:t>, </a:t>
            </a:r>
            <a:r>
              <a:rPr lang="en-US" sz="1200" b="1" dirty="0" smtClean="0"/>
              <a:t>connect()</a:t>
            </a:r>
            <a:r>
              <a:rPr lang="en-US" sz="1200" dirty="0" smtClean="0"/>
              <a:t>, </a:t>
            </a:r>
            <a:r>
              <a:rPr lang="en-US" sz="1200" b="1" dirty="0" smtClean="0"/>
              <a:t>send()</a:t>
            </a:r>
            <a:r>
              <a:rPr lang="en-US" sz="1200" dirty="0" smtClean="0"/>
              <a:t>, </a:t>
            </a:r>
            <a:r>
              <a:rPr lang="en-US" sz="1200" b="1" dirty="0" err="1" smtClean="0"/>
              <a:t>recv</a:t>
            </a:r>
            <a:r>
              <a:rPr lang="en-US" sz="1200" b="1" dirty="0" smtClean="0"/>
              <a:t>()</a:t>
            </a:r>
            <a:r>
              <a:rPr lang="en-US" sz="1200" dirty="0" smtClean="0"/>
              <a:t> to initiate the connection and send and receive data through the connection.</a:t>
            </a:r>
          </a:p>
          <a:p>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CR_Session13_Activity02</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smtClean="0"/>
              <a:t>socket</a:t>
            </a:r>
            <a:r>
              <a:rPr lang="en-US" sz="1200" dirty="0" smtClean="0"/>
              <a:t> library to avail </a:t>
            </a:r>
            <a:r>
              <a:rPr lang="en-US" sz="1200" b="1" dirty="0" smtClean="0"/>
              <a:t>socket()</a:t>
            </a:r>
            <a:r>
              <a:rPr lang="en-US" sz="1200" dirty="0" smtClean="0"/>
              <a:t>, </a:t>
            </a:r>
            <a:r>
              <a:rPr lang="en-US" sz="1200" b="1" dirty="0" smtClean="0"/>
              <a:t>connect()</a:t>
            </a:r>
            <a:r>
              <a:rPr lang="en-US" sz="1200" dirty="0" smtClean="0"/>
              <a:t>, </a:t>
            </a:r>
            <a:r>
              <a:rPr lang="en-US" sz="1200" b="1" dirty="0" smtClean="0"/>
              <a:t>send()</a:t>
            </a:r>
            <a:r>
              <a:rPr lang="en-US" sz="1200" dirty="0" smtClean="0"/>
              <a:t>, </a:t>
            </a:r>
            <a:r>
              <a:rPr lang="en-US" sz="1200" b="1" dirty="0" err="1" smtClean="0"/>
              <a:t>recv</a:t>
            </a:r>
            <a:r>
              <a:rPr lang="en-US" sz="1200" b="1" dirty="0" smtClean="0"/>
              <a:t>()</a:t>
            </a:r>
            <a:r>
              <a:rPr lang="en-US" sz="1200" dirty="0" smtClean="0"/>
              <a:t>  of python socket programming: </a:t>
            </a:r>
          </a:p>
          <a:p>
            <a:r>
              <a:rPr lang="en-US" sz="1200" dirty="0" smtClean="0"/>
              <a:t>Step 1: Type the following code:</a:t>
            </a:r>
          </a:p>
          <a:p>
            <a:endParaRPr lang="en-US" sz="1200" dirty="0" smtClean="0"/>
          </a:p>
          <a:p>
            <a:r>
              <a:rPr lang="en-US" sz="1200" dirty="0" smtClean="0"/>
              <a:t>	 import socket</a:t>
            </a:r>
          </a:p>
          <a:p>
            <a:r>
              <a:rPr lang="en-US" sz="1200" dirty="0" smtClean="0"/>
              <a:t> </a:t>
            </a:r>
          </a:p>
          <a:p>
            <a:r>
              <a:rPr lang="en-US" sz="1200" dirty="0" smtClean="0"/>
              <a:t>	</a:t>
            </a:r>
            <a:r>
              <a:rPr lang="en-US" sz="1200" dirty="0" err="1" smtClean="0"/>
              <a:t>url</a:t>
            </a:r>
            <a:r>
              <a:rPr lang="en-US" sz="1200" dirty="0" smtClean="0"/>
              <a:t> = </a:t>
            </a:r>
            <a:r>
              <a:rPr lang="en-US" sz="1200" dirty="0" err="1" smtClean="0"/>
              <a:t>raw_input</a:t>
            </a:r>
            <a:r>
              <a:rPr lang="en-US" sz="1200" dirty="0" smtClean="0"/>
              <a:t>("Enter any</a:t>
            </a:r>
            <a:r>
              <a:rPr lang="en-US" sz="1200" baseline="0" dirty="0" smtClean="0"/>
              <a:t> URL(e.g. http://www.niitstudent.com/india/studentweb/index.aspx)</a:t>
            </a:r>
            <a:r>
              <a:rPr lang="en-US" sz="1200" dirty="0" smtClean="0"/>
              <a:t>: ")</a:t>
            </a:r>
          </a:p>
          <a:p>
            <a:r>
              <a:rPr lang="en-US" sz="1200" dirty="0" smtClean="0"/>
              <a:t>	words = </a:t>
            </a:r>
            <a:r>
              <a:rPr lang="en-US" sz="1200" dirty="0" err="1" smtClean="0"/>
              <a:t>url.split</a:t>
            </a:r>
            <a:r>
              <a:rPr lang="en-US" sz="1200" dirty="0" smtClean="0"/>
              <a:t>('/')</a:t>
            </a:r>
          </a:p>
          <a:p>
            <a:r>
              <a:rPr lang="en-US" sz="1200" dirty="0" smtClean="0"/>
              <a:t>	host = words[2]</a:t>
            </a:r>
          </a:p>
          <a:p>
            <a:r>
              <a:rPr lang="en-US" altLang="en-US" sz="1200" dirty="0" smtClean="0">
                <a:latin typeface="+mn-lt"/>
              </a:rPr>
              <a:t>	</a:t>
            </a:r>
            <a:r>
              <a:rPr lang="en-US" sz="1200" dirty="0" err="1" smtClean="0"/>
              <a:t>mysock</a:t>
            </a:r>
            <a:r>
              <a:rPr lang="en-US" sz="1200" dirty="0" smtClean="0"/>
              <a:t> = </a:t>
            </a:r>
            <a:r>
              <a:rPr lang="en-US" sz="1200" dirty="0" err="1" smtClean="0"/>
              <a:t>socket.socket</a:t>
            </a:r>
            <a:r>
              <a:rPr lang="en-US" sz="1200" dirty="0" smtClean="0"/>
              <a:t>(</a:t>
            </a:r>
            <a:r>
              <a:rPr lang="en-US" sz="1200" dirty="0" err="1" smtClean="0"/>
              <a:t>socket.AF_INET</a:t>
            </a:r>
            <a:r>
              <a:rPr lang="en-US" sz="1200" dirty="0" smtClean="0"/>
              <a:t>, </a:t>
            </a:r>
            <a:r>
              <a:rPr lang="en-US" sz="1200" dirty="0" err="1" smtClean="0"/>
              <a:t>socket.SOCK_STREAM</a:t>
            </a:r>
            <a:r>
              <a:rPr lang="en-US" sz="1200" dirty="0" smtClean="0"/>
              <a:t>)</a:t>
            </a:r>
          </a:p>
          <a:p>
            <a:r>
              <a:rPr lang="en-US" sz="1200" dirty="0" smtClean="0"/>
              <a:t>	</a:t>
            </a:r>
            <a:r>
              <a:rPr lang="en-US" sz="1200" dirty="0" err="1" smtClean="0"/>
              <a:t>mysock.connect</a:t>
            </a:r>
            <a:r>
              <a:rPr lang="en-US" sz="1200" dirty="0" smtClean="0"/>
              <a:t>((host, 80))</a:t>
            </a:r>
          </a:p>
          <a:p>
            <a:r>
              <a:rPr lang="en-US" sz="1200" dirty="0" smtClean="0"/>
              <a:t>	</a:t>
            </a:r>
            <a:r>
              <a:rPr lang="en-US" sz="1200" dirty="0" err="1" smtClean="0"/>
              <a:t>mysock.send</a:t>
            </a:r>
            <a:r>
              <a:rPr lang="en-US" sz="1200" dirty="0" smtClean="0"/>
              <a:t>("GET "+</a:t>
            </a:r>
            <a:r>
              <a:rPr lang="en-US" sz="1200" dirty="0" err="1" smtClean="0"/>
              <a:t>url</a:t>
            </a:r>
            <a:r>
              <a:rPr lang="en-US" sz="1200" dirty="0" smtClean="0"/>
              <a:t>+" HTTP/1.0\n\n")</a:t>
            </a:r>
          </a:p>
          <a:p>
            <a:r>
              <a:rPr lang="en-US" sz="1200" dirty="0" smtClean="0"/>
              <a:t>	</a:t>
            </a:r>
            <a:r>
              <a:rPr lang="en-US" sz="1200" dirty="0" err="1" smtClean="0"/>
              <a:t>myList</a:t>
            </a:r>
            <a:r>
              <a:rPr lang="en-US" sz="1200" dirty="0" smtClean="0"/>
              <a:t>=list()</a:t>
            </a:r>
          </a:p>
          <a:p>
            <a:r>
              <a:rPr lang="en-US" sz="1200" dirty="0" smtClean="0"/>
              <a:t>	while True:</a:t>
            </a:r>
          </a:p>
          <a:p>
            <a:r>
              <a:rPr lang="en-US" sz="1200" dirty="0" smtClean="0"/>
              <a:t>    		data = </a:t>
            </a:r>
            <a:r>
              <a:rPr lang="en-US" sz="1200" dirty="0" err="1" smtClean="0"/>
              <a:t>mysock.recv</a:t>
            </a:r>
            <a:r>
              <a:rPr lang="en-US" sz="1200" dirty="0" smtClean="0"/>
              <a:t>(512)</a:t>
            </a:r>
          </a:p>
          <a:p>
            <a:r>
              <a:rPr lang="en-US" sz="1200" dirty="0" smtClean="0"/>
              <a:t>    		if ( </a:t>
            </a:r>
            <a:r>
              <a:rPr lang="en-US" sz="1200" dirty="0" err="1" smtClean="0"/>
              <a:t>len</a:t>
            </a:r>
            <a:r>
              <a:rPr lang="en-US" sz="1200" dirty="0" smtClean="0"/>
              <a:t>(data) &lt; 1 ) :</a:t>
            </a:r>
          </a:p>
          <a:p>
            <a:r>
              <a:rPr lang="en-US" sz="1200" dirty="0" smtClean="0"/>
              <a:t>       			 break</a:t>
            </a:r>
          </a:p>
          <a:p>
            <a:r>
              <a:rPr lang="en-US" sz="1200" dirty="0" smtClean="0"/>
              <a:t>    		print(data)</a:t>
            </a:r>
          </a:p>
          <a:p>
            <a:r>
              <a:rPr lang="en-US" sz="1200" dirty="0" smtClean="0"/>
              <a:t>    		</a:t>
            </a:r>
            <a:r>
              <a:rPr lang="en-US" sz="1200" dirty="0" err="1" smtClean="0"/>
              <a:t>myList.append</a:t>
            </a:r>
            <a:r>
              <a:rPr lang="en-US" sz="1200" dirty="0" smtClean="0"/>
              <a:t>(data)</a:t>
            </a:r>
          </a:p>
          <a:p>
            <a:r>
              <a:rPr lang="en-US" sz="1200" dirty="0" smtClean="0"/>
              <a:t>		</a:t>
            </a:r>
            <a:r>
              <a:rPr lang="en-US" sz="1200" dirty="0" err="1" smtClean="0"/>
              <a:t>i</a:t>
            </a:r>
            <a:r>
              <a:rPr lang="en-US" sz="1200" dirty="0" smtClean="0"/>
              <a:t>=0</a:t>
            </a:r>
          </a:p>
          <a:p>
            <a:r>
              <a:rPr lang="en-US" sz="1200" dirty="0" smtClean="0"/>
              <a:t>		for word in </a:t>
            </a:r>
            <a:r>
              <a:rPr lang="en-US" sz="1200" dirty="0" err="1" smtClean="0"/>
              <a:t>myList</a:t>
            </a:r>
            <a:r>
              <a:rPr lang="en-US" sz="1200" dirty="0" smtClean="0"/>
              <a:t>:</a:t>
            </a:r>
          </a:p>
          <a:p>
            <a:r>
              <a:rPr lang="en-US" sz="1200" dirty="0" smtClean="0"/>
              <a:t>   			for c in word:</a:t>
            </a:r>
          </a:p>
          <a:p>
            <a:r>
              <a:rPr lang="en-US" sz="1200" dirty="0" smtClean="0"/>
              <a:t>			if </a:t>
            </a:r>
            <a:r>
              <a:rPr lang="en-US" sz="1200" dirty="0" err="1" smtClean="0"/>
              <a:t>i</a:t>
            </a:r>
            <a:r>
              <a:rPr lang="en-US" sz="1200" dirty="0" smtClean="0"/>
              <a:t>&lt;3000 :</a:t>
            </a:r>
          </a:p>
          <a:p>
            <a:r>
              <a:rPr lang="en-US" sz="1200" dirty="0" smtClean="0"/>
              <a:t>           				 </a:t>
            </a:r>
            <a:r>
              <a:rPr lang="en-US" sz="1200" dirty="0" err="1" smtClean="0"/>
              <a:t>i</a:t>
            </a:r>
            <a:r>
              <a:rPr lang="en-US" sz="1200" dirty="0" smtClean="0"/>
              <a:t>=i+1 </a:t>
            </a:r>
          </a:p>
          <a:p>
            <a:r>
              <a:rPr lang="en-US" sz="1200" dirty="0" smtClean="0"/>
              <a:t>		print(</a:t>
            </a:r>
            <a:r>
              <a:rPr lang="en-US" sz="1200" dirty="0" err="1" smtClean="0"/>
              <a:t>i</a:t>
            </a:r>
            <a:r>
              <a:rPr lang="en-US" sz="1200" dirty="0" smtClean="0"/>
              <a:t>)</a:t>
            </a:r>
          </a:p>
          <a:p>
            <a:r>
              <a:rPr lang="en-US" sz="1200" dirty="0" smtClean="0"/>
              <a:t>		</a:t>
            </a:r>
            <a:r>
              <a:rPr lang="en-US" sz="1200" dirty="0" err="1" smtClean="0"/>
              <a:t>mysock.close</a:t>
            </a:r>
            <a:r>
              <a:rPr lang="en-US" sz="1200" dirty="0" smtClean="0"/>
              <a:t>()    </a:t>
            </a:r>
          </a:p>
          <a:p>
            <a:endParaRPr lang="en-US" dirty="0" smtClean="0"/>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lvl="0" indent="0">
              <a:buFont typeface="+mj-lt"/>
              <a:buNone/>
            </a:pPr>
            <a:endParaRPr lang="en-US" sz="120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22</a:t>
            </a:fld>
            <a:endParaRPr lang="en-US"/>
          </a:p>
        </p:txBody>
      </p:sp>
    </p:spTree>
    <p:extLst>
      <p:ext uri="{BB962C8B-B14F-4D97-AF65-F5344CB8AC3E}">
        <p14:creationId xmlns:p14="http://schemas.microsoft.com/office/powerpoint/2010/main" val="696282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23</a:t>
            </a:fld>
            <a:endParaRPr lang="en-US"/>
          </a:p>
        </p:txBody>
      </p:sp>
    </p:spTree>
    <p:extLst>
      <p:ext uri="{BB962C8B-B14F-4D97-AF65-F5344CB8AC3E}">
        <p14:creationId xmlns:p14="http://schemas.microsoft.com/office/powerpoint/2010/main" val="3727141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pPr/>
              <a:t>10/8/2015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pPr/>
              <a:t>10/8/2015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pPr/>
              <a:t>10/8/2015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pPr/>
              <a:t>10/8/2015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pPr/>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4.xml"/><Relationship Id="rId5"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hemeOverride" Target="../theme/themeOverride5.xml"/><Relationship Id="rId6" Type="http://schemas.openxmlformats.org/officeDocument/2006/relationships/image" Target="../media/image10.png"/><Relationship Id="rId5" Type="http://schemas.openxmlformats.org/officeDocument/2006/relationships/image" Target="../media/image5.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hemeOverride" Target="../theme/themeOverride6.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7.xml"/><Relationship Id="rId5" Type="http://schemas.openxmlformats.org/officeDocument/2006/relationships/image" Target="../media/image1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hemeOverride" Target="../theme/themeOverride8.xml"/><Relationship Id="rId4" Type="http://schemas.openxmlformats.org/officeDocument/2006/relationships/hyperlink" Target="http://www.p4inf.com/code/romeo.txt"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hemeOverride" Target="../theme/themeOverride9.xml"/><Relationship Id="rId5" Type="http://schemas.openxmlformats.org/officeDocument/2006/relationships/image" Target="../media/image1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10.xml"/><Relationship Id="rId5" Type="http://schemas.openxmlformats.org/officeDocument/2006/relationships/image" Target="../media/image14.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260000"/>
            <a:ext cx="6825600" cy="1800000"/>
          </a:xfrm>
        </p:spPr>
        <p:txBody>
          <a:bodyPr>
            <a:normAutofit/>
          </a:bodyPr>
          <a:lstStyle/>
          <a:p>
            <a:r>
              <a:rPr lang="en-IN" dirty="0" smtClean="0">
                <a:solidFill>
                  <a:schemeClr val="bg1"/>
                </a:solidFill>
              </a:rPr>
              <a:t>Networking in Python</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81000" y="1600200"/>
            <a:ext cx="8382000" cy="4519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r>
              <a:rPr lang="en-IN" sz="2400" dirty="0">
                <a:solidFill>
                  <a:srgbClr val="6600CC"/>
                </a:solidFill>
                <a:cs typeface="Vrinda" pitchFamily="34" charset="0"/>
              </a:rPr>
              <a:t>In this </a:t>
            </a:r>
            <a:r>
              <a:rPr lang="en-IN" sz="2400" dirty="0" smtClean="0">
                <a:solidFill>
                  <a:srgbClr val="6600CC"/>
                </a:solidFill>
                <a:cs typeface="Vrinda" pitchFamily="34" charset="0"/>
              </a:rPr>
              <a:t>session, </a:t>
            </a:r>
            <a:r>
              <a:rPr lang="en-IN" sz="2400" dirty="0">
                <a:solidFill>
                  <a:srgbClr val="6600CC"/>
                </a:solidFill>
                <a:cs typeface="Vrinda" pitchFamily="34" charset="0"/>
              </a:rPr>
              <a:t>you will learn to</a:t>
            </a:r>
            <a:r>
              <a:rPr lang="en-IN" sz="2400" dirty="0" smtClean="0">
                <a:solidFill>
                  <a:srgbClr val="6600CC"/>
                </a:solidFill>
                <a:cs typeface="Vrinda" pitchFamily="34" charset="0"/>
              </a:rPr>
              <a:t>:</a:t>
            </a:r>
          </a:p>
          <a:p>
            <a:pPr marL="900000" lvl="1" indent="-396875" defTabSz="365760">
              <a:lnSpc>
                <a:spcPct val="90000"/>
              </a:lnSpc>
              <a:buSzPct val="120000"/>
              <a:buBlip>
                <a:blip r:embed="rId4"/>
              </a:buBlip>
            </a:pPr>
            <a:endParaRPr lang="en-IN" sz="1800" dirty="0" smtClean="0">
              <a:solidFill>
                <a:srgbClr val="6600CC"/>
              </a:solidFill>
              <a:latin typeface="Vrinda" pitchFamily="34" charset="0"/>
              <a:cs typeface="Vrinda" pitchFamily="34" charset="0"/>
            </a:endParaRPr>
          </a:p>
          <a:p>
            <a:pPr marL="900000" lvl="1" indent="-396875" defTabSz="365760">
              <a:lnSpc>
                <a:spcPct val="90000"/>
              </a:lnSpc>
              <a:buSzPct val="120000"/>
              <a:buBlip>
                <a:blip r:embed="rId4"/>
              </a:buBlip>
            </a:pPr>
            <a:r>
              <a:rPr lang="en-IN" sz="2000" dirty="0" smtClean="0">
                <a:solidFill>
                  <a:srgbClr val="6600CC"/>
                </a:solidFill>
                <a:cs typeface="Vrinda" pitchFamily="34" charset="0"/>
              </a:rPr>
              <a:t>Extract Data </a:t>
            </a:r>
            <a:r>
              <a:rPr lang="en-IN" sz="2000" dirty="0">
                <a:solidFill>
                  <a:srgbClr val="6600CC"/>
                </a:solidFill>
                <a:cs typeface="Vrinda" pitchFamily="34" charset="0"/>
              </a:rPr>
              <a:t>U</a:t>
            </a:r>
            <a:r>
              <a:rPr lang="en-IN" sz="2000" dirty="0" smtClean="0">
                <a:solidFill>
                  <a:srgbClr val="6600CC"/>
                </a:solidFill>
                <a:cs typeface="Vrinda" pitchFamily="34" charset="0"/>
              </a:rPr>
              <a:t>sing </a:t>
            </a:r>
            <a:r>
              <a:rPr lang="en-IN" sz="2000" dirty="0">
                <a:solidFill>
                  <a:srgbClr val="6600CC"/>
                </a:solidFill>
                <a:cs typeface="Vrinda" pitchFamily="34" charset="0"/>
              </a:rPr>
              <a:t>Regular </a:t>
            </a:r>
            <a:r>
              <a:rPr lang="en-IN" sz="2000" dirty="0" smtClean="0">
                <a:solidFill>
                  <a:srgbClr val="6600CC"/>
                </a:solidFill>
                <a:cs typeface="Vrinda" pitchFamily="34" charset="0"/>
              </a:rPr>
              <a:t>Expression.</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Combine </a:t>
            </a:r>
            <a:r>
              <a:rPr lang="en-US" sz="2000" dirty="0" smtClean="0">
                <a:solidFill>
                  <a:srgbClr val="6600CC"/>
                </a:solidFill>
                <a:cs typeface="Vrinda" pitchFamily="34" charset="0"/>
              </a:rPr>
              <a:t>and </a:t>
            </a:r>
            <a:r>
              <a:rPr lang="en-US" sz="2000" dirty="0">
                <a:solidFill>
                  <a:srgbClr val="6600CC"/>
                </a:solidFill>
                <a:cs typeface="Vrinda" pitchFamily="34" charset="0"/>
              </a:rPr>
              <a:t>Search D</a:t>
            </a:r>
            <a:r>
              <a:rPr lang="en-US" sz="2000" dirty="0" smtClean="0">
                <a:solidFill>
                  <a:srgbClr val="6600CC"/>
                </a:solidFill>
                <a:cs typeface="Vrinda" pitchFamily="34" charset="0"/>
              </a:rPr>
              <a:t>ata.</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Implement Networking in </a:t>
            </a:r>
            <a:r>
              <a:rPr lang="en-US" sz="2000" dirty="0" smtClean="0">
                <a:solidFill>
                  <a:srgbClr val="6600CC"/>
                </a:solidFill>
                <a:cs typeface="Vrinda" pitchFamily="34" charset="0"/>
              </a:rPr>
              <a:t>Python.</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Explore </a:t>
            </a:r>
            <a:r>
              <a:rPr lang="en-US" sz="2000" dirty="0" smtClean="0">
                <a:solidFill>
                  <a:srgbClr val="6600CC"/>
                </a:solidFill>
                <a:cs typeface="Vrinda" pitchFamily="34" charset="0"/>
              </a:rPr>
              <a:t>HTTP.</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Retrieve Images </a:t>
            </a:r>
            <a:r>
              <a:rPr lang="en-US" sz="2000" dirty="0" smtClean="0">
                <a:solidFill>
                  <a:srgbClr val="6600CC"/>
                </a:solidFill>
                <a:cs typeface="Vrinda" pitchFamily="34" charset="0"/>
              </a:rPr>
              <a:t>using HTTP.</a:t>
            </a:r>
            <a:endParaRPr lang="en-US" sz="2000" dirty="0">
              <a:solidFill>
                <a:srgbClr val="6600CC"/>
              </a:solidFill>
              <a:cs typeface="Vrinda" pitchFamily="34" charset="0"/>
            </a:endParaRPr>
          </a:p>
          <a:p>
            <a:pPr marL="900000" lvl="1" indent="-396875" defTabSz="365760">
              <a:lnSpc>
                <a:spcPct val="90000"/>
              </a:lnSpc>
              <a:buSzPct val="120000"/>
              <a:buBlip>
                <a:blip r:embed="rId4"/>
              </a:buBlip>
            </a:pPr>
            <a:r>
              <a:rPr lang="en-US" sz="2000" dirty="0">
                <a:solidFill>
                  <a:srgbClr val="6600CC"/>
                </a:solidFill>
                <a:cs typeface="Vrinda" pitchFamily="34" charset="0"/>
              </a:rPr>
              <a:t>Retrieve </a:t>
            </a:r>
            <a:r>
              <a:rPr lang="en-US" sz="2000" dirty="0" smtClean="0">
                <a:solidFill>
                  <a:srgbClr val="6600CC"/>
                </a:solidFill>
                <a:cs typeface="Vrinda" pitchFamily="34" charset="0"/>
              </a:rPr>
              <a:t>Web </a:t>
            </a:r>
            <a:r>
              <a:rPr lang="en-US" sz="2000" dirty="0">
                <a:solidFill>
                  <a:srgbClr val="6600CC"/>
                </a:solidFill>
                <a:cs typeface="Vrinda" pitchFamily="34" charset="0"/>
              </a:rPr>
              <a:t>P</a:t>
            </a:r>
            <a:r>
              <a:rPr lang="en-US" sz="2000" dirty="0" smtClean="0">
                <a:solidFill>
                  <a:srgbClr val="6600CC"/>
                </a:solidFill>
                <a:cs typeface="Vrinda" pitchFamily="34" charset="0"/>
              </a:rPr>
              <a:t>ages </a:t>
            </a:r>
            <a:r>
              <a:rPr lang="en-US" sz="2000" dirty="0">
                <a:solidFill>
                  <a:srgbClr val="6600CC"/>
                </a:solidFill>
                <a:cs typeface="Vrinda" pitchFamily="34" charset="0"/>
              </a:rPr>
              <a:t>with URL </a:t>
            </a:r>
            <a:r>
              <a:rPr lang="en-US" sz="2000" dirty="0" smtClean="0">
                <a:solidFill>
                  <a:srgbClr val="6600CC"/>
                </a:solidFill>
                <a:cs typeface="Vrinda" pitchFamily="34" charset="0"/>
              </a:rPr>
              <a:t>Library.</a:t>
            </a:r>
            <a:endParaRPr lang="en-IN" sz="2000" dirty="0">
              <a:solidFill>
                <a:srgbClr val="6600CC"/>
              </a:solidFill>
              <a:cs typeface="Vrinda" pitchFamily="34" charset="0"/>
            </a:endParaRPr>
          </a:p>
          <a:p>
            <a:pPr marL="900000" lvl="1" indent="-396875" defTabSz="914363">
              <a:lnSpc>
                <a:spcPct val="90000"/>
              </a:lnSpc>
              <a:buSzPct val="120000"/>
              <a:buBlip>
                <a:blip r:embed="rId4"/>
              </a:buBlip>
            </a:pPr>
            <a:endParaRPr lang="en-IN" sz="1800" dirty="0" smtClean="0">
              <a:solidFill>
                <a:srgbClr val="6600CC"/>
              </a:solidFill>
              <a:latin typeface="Vrinda" pitchFamily="34" charset="0"/>
              <a:cs typeface="Vrinda" pitchFamily="34" charset="0"/>
            </a:endParaRPr>
          </a:p>
          <a:p>
            <a:pPr marL="503125" lvl="1" indent="0" defTabSz="914363">
              <a:lnSpc>
                <a:spcPct val="90000"/>
              </a:lnSpc>
              <a:buSzPct val="120000"/>
              <a:buNone/>
            </a:pPr>
            <a:endParaRPr lang="en-IN" sz="1800" dirty="0" smtClean="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4400" y="3581400"/>
            <a:ext cx="1691640" cy="1729740"/>
          </a:xfrm>
        </p:spPr>
      </p:pic>
      <p:sp>
        <p:nvSpPr>
          <p:cNvPr id="6" name="Cloud Callout 5"/>
          <p:cNvSpPr/>
          <p:nvPr/>
        </p:nvSpPr>
        <p:spPr>
          <a:xfrm>
            <a:off x="1981200" y="1872343"/>
            <a:ext cx="5029200" cy="2133600"/>
          </a:xfrm>
          <a:prstGeom prst="cloud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a:t>A</a:t>
            </a:r>
            <a:r>
              <a:rPr lang="en-US" b="1" dirty="0" smtClean="0"/>
              <a:t>re Regular Expressions  used to extract a particular data from a given expression?</a:t>
            </a:r>
            <a:endParaRPr lang="en-US" b="1" dirty="0"/>
          </a:p>
        </p:txBody>
      </p:sp>
      <p:sp>
        <p:nvSpPr>
          <p:cNvPr id="5"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Extracting Data </a:t>
            </a:r>
            <a:r>
              <a:rPr lang="en-US" sz="2400" b="1" dirty="0">
                <a:solidFill>
                  <a:schemeClr val="bg1"/>
                </a:solidFill>
                <a:latin typeface="Vrinda" pitchFamily="34" charset="0"/>
                <a:cs typeface="Vrinda" pitchFamily="34" charset="0"/>
              </a:rPr>
              <a:t>U</a:t>
            </a:r>
            <a:r>
              <a:rPr lang="en-US" sz="2400" b="1" dirty="0" smtClean="0">
                <a:solidFill>
                  <a:schemeClr val="bg1"/>
                </a:solidFill>
                <a:latin typeface="Vrinda" pitchFamily="34" charset="0"/>
                <a:cs typeface="Vrinda" pitchFamily="34" charset="0"/>
              </a:rPr>
              <a:t>sing Regular Expression</a:t>
            </a:r>
            <a:endParaRPr lang="en-US" sz="2400" b="1" dirty="0">
              <a:solidFill>
                <a:schemeClr val="bg1"/>
              </a:solidFill>
              <a:latin typeface="Vrinda" pitchFamily="34" charset="0"/>
              <a:cs typeface="Vrinda" pitchFamily="34" charset="0"/>
            </a:endParaRPr>
          </a:p>
        </p:txBody>
      </p:sp>
      <p:sp>
        <p:nvSpPr>
          <p:cNvPr id="2" name="Horizontal Scroll 1"/>
          <p:cNvSpPr/>
          <p:nvPr/>
        </p:nvSpPr>
        <p:spPr>
          <a:xfrm>
            <a:off x="4114800" y="4147456"/>
            <a:ext cx="4419600" cy="1948543"/>
          </a:xfrm>
          <a:prstGeom prst="horizontalScroll">
            <a:avLst/>
          </a:prstGeom>
        </p:spPr>
        <p:style>
          <a:lnRef idx="3">
            <a:schemeClr val="lt1"/>
          </a:lnRef>
          <a:fillRef idx="1">
            <a:schemeClr val="accent2"/>
          </a:fillRef>
          <a:effectRef idx="1">
            <a:schemeClr val="accent2"/>
          </a:effectRef>
          <a:fontRef idx="minor">
            <a:schemeClr val="lt1"/>
          </a:fontRef>
        </p:style>
        <p:txBody>
          <a:bodyPr rtlCol="0" anchor="ctr"/>
          <a:lstStyle/>
          <a:p>
            <a:pPr marL="285750" indent="-285750">
              <a:buFont typeface="Arial" panose="020B0604020202020204" pitchFamily="34" charset="0"/>
              <a:buChar char="•"/>
              <a:defRPr/>
            </a:pPr>
            <a:r>
              <a:rPr lang="en-US" b="1" i="1" dirty="0">
                <a:solidFill>
                  <a:schemeClr val="tx1"/>
                </a:solidFill>
              </a:rPr>
              <a:t>A regular expression (regex for short) is a special text string for describing a search pattern. </a:t>
            </a:r>
            <a:endParaRPr lang="en-US" b="1" i="1" dirty="0" smtClean="0">
              <a:solidFill>
                <a:schemeClr val="tx1"/>
              </a:solidFill>
            </a:endParaRPr>
          </a:p>
          <a:p>
            <a:pPr marL="285750" indent="-285750">
              <a:buFont typeface="Arial" panose="020B0604020202020204" pitchFamily="34" charset="0"/>
              <a:buChar char="•"/>
              <a:defRPr/>
            </a:pPr>
            <a:r>
              <a:rPr lang="en-US" b="1" i="1" dirty="0" smtClean="0">
                <a:solidFill>
                  <a:schemeClr val="tx1"/>
                </a:solidFill>
              </a:rPr>
              <a:t>It </a:t>
            </a:r>
            <a:r>
              <a:rPr lang="en-US" b="1" i="1" dirty="0">
                <a:solidFill>
                  <a:schemeClr val="tx1"/>
                </a:solidFill>
              </a:rPr>
              <a:t>is a pattern describing a certain amount of text.</a:t>
            </a:r>
            <a:endParaRPr lang="en-US" b="1" i="1" dirty="0"/>
          </a:p>
        </p:txBody>
      </p:sp>
    </p:spTree>
    <p:extLst>
      <p:ext uri="{BB962C8B-B14F-4D97-AF65-F5344CB8AC3E}">
        <p14:creationId xmlns:p14="http://schemas.microsoft.com/office/powerpoint/2010/main" val="3144031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524000"/>
            <a:ext cx="8382000" cy="4724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US" sz="2000" b="1" i="1" dirty="0" smtClean="0">
              <a:solidFill>
                <a:srgbClr val="6600CC"/>
              </a:solidFill>
            </a:endParaRPr>
          </a:p>
          <a:p>
            <a:pPr marL="117475" lvl="1" indent="0" defTabSz="914363">
              <a:lnSpc>
                <a:spcPct val="90000"/>
              </a:lnSpc>
              <a:buSzPct val="100000"/>
              <a:buNone/>
            </a:pPr>
            <a:r>
              <a:rPr lang="en-US" sz="2400" b="1" i="1" dirty="0" err="1" smtClean="0">
                <a:solidFill>
                  <a:srgbClr val="6600CC"/>
                </a:solidFill>
              </a:rPr>
              <a:t>Findall</a:t>
            </a:r>
            <a:r>
              <a:rPr lang="en-US" sz="2400" b="1" i="1" dirty="0" smtClean="0">
                <a:solidFill>
                  <a:srgbClr val="6600CC"/>
                </a:solidFill>
              </a:rPr>
              <a:t> ()</a:t>
            </a:r>
          </a:p>
          <a:p>
            <a:pPr marL="514350" lvl="1" indent="-396875" defTabSz="914363">
              <a:lnSpc>
                <a:spcPct val="90000"/>
              </a:lnSpc>
              <a:buSzPct val="100000"/>
              <a:buBlip>
                <a:blip r:embed="rId4"/>
              </a:buBlip>
            </a:pPr>
            <a:r>
              <a:rPr lang="en-US" sz="2400" dirty="0" smtClean="0">
                <a:solidFill>
                  <a:srgbClr val="6600CC"/>
                </a:solidFill>
              </a:rPr>
              <a:t>Extracts </a:t>
            </a:r>
            <a:r>
              <a:rPr lang="en-US" sz="2400" dirty="0">
                <a:solidFill>
                  <a:srgbClr val="6600CC"/>
                </a:solidFill>
              </a:rPr>
              <a:t>data from a string.</a:t>
            </a:r>
          </a:p>
          <a:p>
            <a:pPr marL="514350" lvl="1" indent="-396875" defTabSz="914363">
              <a:lnSpc>
                <a:spcPct val="90000"/>
              </a:lnSpc>
              <a:buSzPct val="100000"/>
              <a:buBlip>
                <a:blip r:embed="rId4"/>
              </a:buBlip>
            </a:pPr>
            <a:r>
              <a:rPr lang="en-US" sz="2400" dirty="0" smtClean="0">
                <a:solidFill>
                  <a:srgbClr val="6600CC"/>
                </a:solidFill>
              </a:rPr>
              <a:t>Returns </a:t>
            </a:r>
            <a:r>
              <a:rPr lang="en-US" sz="2400" dirty="0">
                <a:solidFill>
                  <a:srgbClr val="6600CC"/>
                </a:solidFill>
              </a:rPr>
              <a:t>all non-overlapping matches of pattern in string.</a:t>
            </a:r>
            <a:endParaRPr lang="en-IN" sz="2400" dirty="0">
              <a:solidFill>
                <a:srgbClr val="6600CC"/>
              </a:solidFill>
              <a:cs typeface="Vrinda" pitchFamily="34" charset="0"/>
            </a:endParaRPr>
          </a:p>
          <a:p>
            <a:pPr marL="514350" lvl="1" indent="-396875" defTabSz="914363">
              <a:lnSpc>
                <a:spcPct val="90000"/>
              </a:lnSpc>
              <a:buSzPct val="100000"/>
              <a:buBlip>
                <a:blip r:embed="rId4"/>
              </a:buBlip>
            </a:pPr>
            <a:r>
              <a:rPr lang="en-US" sz="2400" dirty="0">
                <a:solidFill>
                  <a:srgbClr val="6600CC"/>
                </a:solidFill>
              </a:rPr>
              <a:t>Scans data from left-to-right </a:t>
            </a:r>
            <a:r>
              <a:rPr lang="en-US" sz="2400" dirty="0" smtClean="0">
                <a:solidFill>
                  <a:srgbClr val="6600CC"/>
                </a:solidFill>
              </a:rPr>
              <a:t> and returns </a:t>
            </a:r>
            <a:r>
              <a:rPr lang="en-US" sz="2400" dirty="0">
                <a:solidFill>
                  <a:srgbClr val="6600CC"/>
                </a:solidFill>
              </a:rPr>
              <a:t>exact match.</a:t>
            </a:r>
          </a:p>
          <a:p>
            <a:pPr marL="514350" lvl="1" indent="-396875" defTabSz="914363">
              <a:lnSpc>
                <a:spcPct val="90000"/>
              </a:lnSpc>
              <a:buSzPct val="100000"/>
              <a:buBlip>
                <a:blip r:embed="rId4"/>
              </a:buBlip>
            </a:pPr>
            <a:r>
              <a:rPr lang="en-US" sz="2400" dirty="0">
                <a:solidFill>
                  <a:srgbClr val="6600CC"/>
                </a:solidFill>
              </a:rPr>
              <a:t>Returns a list of groups if one or more groups found.</a:t>
            </a:r>
            <a:endParaRPr lang="en-IN" sz="2400" dirty="0" smtClean="0">
              <a:solidFill>
                <a:srgbClr val="6600CC"/>
              </a:solidFill>
              <a:cs typeface="Vrinda" pitchFamily="34" charset="0"/>
            </a:endParaRPr>
          </a:p>
          <a:p>
            <a:pPr marL="117475" lvl="1" indent="0" defTabSz="914363">
              <a:lnSpc>
                <a:spcPct val="90000"/>
              </a:lnSpc>
              <a:buSzPct val="100000"/>
              <a:buNone/>
            </a:pPr>
            <a:endParaRPr lang="en-IN" sz="2000" dirty="0">
              <a:solidFill>
                <a:srgbClr val="6600CC"/>
              </a:solidFill>
              <a:latin typeface="Vrinda" pitchFamily="34" charset="0"/>
              <a:cs typeface="Vrinda" pitchFamily="34" charset="0"/>
            </a:endParaRPr>
          </a:p>
          <a:p>
            <a:pPr marL="403225" lvl="1" defTabSz="914363">
              <a:lnSpc>
                <a:spcPct val="90000"/>
              </a:lnSpc>
              <a:buSzPct val="100000"/>
              <a:buFont typeface="Arial" panose="020B0604020202020204" pitchFamily="34" charset="0"/>
              <a:buChar char="•"/>
            </a:pPr>
            <a:endParaRPr lang="en-US" sz="2000" dirty="0" smtClean="0">
              <a:solidFill>
                <a:srgbClr val="6600CC"/>
              </a:solidFill>
            </a:endParaRPr>
          </a:p>
          <a:p>
            <a:pPr marL="403225" lvl="1" defTabSz="914363">
              <a:lnSpc>
                <a:spcPct val="90000"/>
              </a:lnSpc>
              <a:buSzPct val="100000"/>
              <a:buFont typeface="Arial" panose="020B0604020202020204" pitchFamily="34" charset="0"/>
              <a:buChar char="•"/>
            </a:pPr>
            <a:endParaRPr lang="en-US" sz="2000" dirty="0">
              <a:solidFill>
                <a:srgbClr val="6600CC"/>
              </a:solidFill>
            </a:endParaRPr>
          </a:p>
          <a:p>
            <a:pPr marL="117475" lvl="1" indent="0" defTabSz="914363">
              <a:lnSpc>
                <a:spcPct val="90000"/>
              </a:lnSpc>
              <a:buSzPct val="100000"/>
              <a:buNone/>
            </a:pPr>
            <a:r>
              <a:rPr lang="en-US" sz="1600" dirty="0" smtClean="0">
                <a:solidFill>
                  <a:srgbClr val="6600CC"/>
                </a:solidFill>
              </a:rPr>
              <a:t>	</a:t>
            </a:r>
            <a:endParaRPr lang="en-US" sz="1600" dirty="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Extracting Data </a:t>
            </a:r>
            <a:r>
              <a:rPr lang="en-US" sz="2400" b="1" dirty="0">
                <a:solidFill>
                  <a:schemeClr val="bg1"/>
                </a:solidFill>
                <a:latin typeface="Vrinda" pitchFamily="34" charset="0"/>
                <a:cs typeface="Vrinda" pitchFamily="34" charset="0"/>
              </a:rPr>
              <a:t>U</a:t>
            </a:r>
            <a:r>
              <a:rPr lang="en-US" sz="2400" b="1" dirty="0" smtClean="0">
                <a:solidFill>
                  <a:schemeClr val="bg1"/>
                </a:solidFill>
                <a:latin typeface="Vrinda" pitchFamily="34" charset="0"/>
                <a:cs typeface="Vrinda" pitchFamily="34" charset="0"/>
              </a:rPr>
              <a:t>sing Regular Expression (Contd.)</a:t>
            </a:r>
            <a:endParaRPr lang="en-US" sz="2400" b="1" dirty="0">
              <a:solidFill>
                <a:schemeClr val="bg1"/>
              </a:solidFill>
              <a:latin typeface="Vrinda" pitchFamily="34" charset="0"/>
              <a:cs typeface="Vrinda" pitchFamily="34" charset="0"/>
            </a:endParaRPr>
          </a:p>
        </p:txBody>
      </p:sp>
      <p:sp>
        <p:nvSpPr>
          <p:cNvPr id="3" name="TextBox 2"/>
          <p:cNvSpPr txBox="1"/>
          <p:nvPr/>
        </p:nvSpPr>
        <p:spPr>
          <a:xfrm>
            <a:off x="1219200" y="4035751"/>
            <a:ext cx="6781800"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marL="0" lvl="1" algn="ctr"/>
            <a:r>
              <a:rPr lang="en-US" sz="2800" b="1" dirty="0">
                <a:solidFill>
                  <a:schemeClr val="tx1"/>
                </a:solidFill>
              </a:rPr>
              <a:t>re.findall(pattern, string[, flags</a:t>
            </a:r>
            <a:r>
              <a:rPr lang="en-US" sz="2800" b="1" dirty="0" smtClean="0">
                <a:solidFill>
                  <a:schemeClr val="tx1"/>
                </a:solidFill>
              </a:rPr>
              <a:t>])</a:t>
            </a:r>
            <a:endParaRPr lang="en-US" sz="1600" b="1" dirty="0">
              <a:solidFill>
                <a:schemeClr val="tx1"/>
              </a:solidFill>
            </a:endParaRP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41484"/>
            <a:ext cx="8382000" cy="468311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r>
              <a:rPr lang="en-US" sz="2000" b="1" dirty="0" smtClean="0">
                <a:solidFill>
                  <a:srgbClr val="6600CC"/>
                </a:solidFill>
              </a:rPr>
              <a:t>Let us look at an example of extracting the e-mail address from a certain statement.</a:t>
            </a:r>
          </a:p>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endParaRPr lang="en-US" sz="1600" dirty="0" smtClean="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Extracting Data </a:t>
            </a:r>
            <a:r>
              <a:rPr lang="en-US" sz="2400" b="1" dirty="0">
                <a:solidFill>
                  <a:schemeClr val="bg1"/>
                </a:solidFill>
                <a:latin typeface="Vrinda" pitchFamily="34" charset="0"/>
                <a:cs typeface="Vrinda" pitchFamily="34" charset="0"/>
              </a:rPr>
              <a:t>U</a:t>
            </a:r>
            <a:r>
              <a:rPr lang="en-US" sz="2400" b="1" dirty="0" smtClean="0">
                <a:solidFill>
                  <a:schemeClr val="bg1"/>
                </a:solidFill>
                <a:latin typeface="Vrinda" pitchFamily="34" charset="0"/>
                <a:cs typeface="Vrinda" pitchFamily="34" charset="0"/>
              </a:rPr>
              <a:t>sing Regular Expression (Contd.)</a:t>
            </a:r>
            <a:endParaRPr lang="en-US" sz="2400" b="1" dirty="0">
              <a:solidFill>
                <a:schemeClr val="bg1"/>
              </a:solidFill>
              <a:latin typeface="Vrinda" pitchFamily="34" charset="0"/>
              <a:cs typeface="Vrinda" pitchFamily="34" charset="0"/>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 y="2457450"/>
            <a:ext cx="7696200" cy="1943100"/>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2" name="Bent-Up Arrow 1"/>
          <p:cNvSpPr/>
          <p:nvPr/>
        </p:nvSpPr>
        <p:spPr>
          <a:xfrm rot="5400000">
            <a:off x="2371834" y="3895834"/>
            <a:ext cx="1314450" cy="232388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endParaRPr lang="en-US" dirty="0"/>
          </a:p>
          <a:p>
            <a:pPr algn="ctr"/>
            <a:endParaRPr lang="en-US" dirty="0"/>
          </a:p>
        </p:txBody>
      </p:sp>
      <p:sp>
        <p:nvSpPr>
          <p:cNvPr id="4" name="TextBox 3"/>
          <p:cNvSpPr txBox="1"/>
          <p:nvPr/>
        </p:nvSpPr>
        <p:spPr>
          <a:xfrm>
            <a:off x="4191000" y="5026614"/>
            <a:ext cx="342900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i="1" dirty="0" smtClean="0"/>
              <a:t>Output:</a:t>
            </a:r>
          </a:p>
          <a:p>
            <a:r>
              <a:rPr lang="en-US" b="1" dirty="0" smtClean="0"/>
              <a:t>[‘jack@niit.com', ‘nancy@niit.com']</a:t>
            </a:r>
            <a:endParaRPr lang="en-US" b="1" dirty="0"/>
          </a:p>
        </p:txBody>
      </p:sp>
    </p:spTree>
    <p:extLst>
      <p:ext uri="{BB962C8B-B14F-4D97-AF65-F5344CB8AC3E}">
        <p14:creationId xmlns:p14="http://schemas.microsoft.com/office/powerpoint/2010/main" val="6035802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algn="just" defTabSz="914363">
              <a:lnSpc>
                <a:spcPct val="90000"/>
              </a:lnSpc>
              <a:buSzPct val="100000"/>
              <a:buNone/>
            </a:pPr>
            <a:endParaRPr lang="en-US" sz="1600" dirty="0" smtClean="0">
              <a:solidFill>
                <a:srgbClr val="6600CC"/>
              </a:solidFill>
            </a:endParaRPr>
          </a:p>
          <a:p>
            <a:pPr marL="514350" lvl="1" indent="-396875" defTabSz="914363">
              <a:lnSpc>
                <a:spcPct val="90000"/>
              </a:lnSpc>
              <a:buSzPct val="100000"/>
              <a:buBlip>
                <a:blip r:embed="rId4"/>
              </a:buBlip>
            </a:pPr>
            <a:r>
              <a:rPr lang="en-US" sz="2400" dirty="0" err="1" smtClean="0">
                <a:solidFill>
                  <a:srgbClr val="6600CC"/>
                </a:solidFill>
              </a:rPr>
              <a:t>findall</a:t>
            </a:r>
            <a:r>
              <a:rPr lang="en-US" sz="2400" dirty="0">
                <a:solidFill>
                  <a:srgbClr val="6600CC"/>
                </a:solidFill>
              </a:rPr>
              <a:t>()  </a:t>
            </a:r>
            <a:r>
              <a:rPr lang="en-US" sz="2400" dirty="0" smtClean="0">
                <a:solidFill>
                  <a:srgbClr val="6600CC"/>
                </a:solidFill>
              </a:rPr>
              <a:t>extracts a </a:t>
            </a:r>
            <a:r>
              <a:rPr lang="en-US" sz="2400" dirty="0">
                <a:solidFill>
                  <a:srgbClr val="6600CC"/>
                </a:solidFill>
              </a:rPr>
              <a:t>line or string that matches specified </a:t>
            </a:r>
            <a:r>
              <a:rPr lang="en-US" sz="2400" dirty="0" smtClean="0">
                <a:solidFill>
                  <a:srgbClr val="6600CC"/>
                </a:solidFill>
              </a:rPr>
              <a:t>pattern</a:t>
            </a:r>
          </a:p>
          <a:p>
            <a:pPr marL="117475" lvl="1" indent="0" defTabSz="914363">
              <a:lnSpc>
                <a:spcPct val="90000"/>
              </a:lnSpc>
              <a:buSzPct val="100000"/>
              <a:buNone/>
            </a:pPr>
            <a:endParaRPr lang="en-US" sz="2400" dirty="0" smtClean="0">
              <a:solidFill>
                <a:srgbClr val="6600CC"/>
              </a:solidFill>
            </a:endParaRPr>
          </a:p>
          <a:p>
            <a:pPr marL="514350" lvl="1" indent="-396875" defTabSz="914363">
              <a:lnSpc>
                <a:spcPct val="90000"/>
              </a:lnSpc>
              <a:buSzPct val="100000"/>
              <a:buBlip>
                <a:blip r:embed="rId4"/>
              </a:buBlip>
            </a:pPr>
            <a:r>
              <a:rPr lang="en-US" sz="2400" dirty="0" err="1">
                <a:solidFill>
                  <a:srgbClr val="6600CC"/>
                </a:solidFill>
              </a:rPr>
              <a:t>findall</a:t>
            </a:r>
            <a:r>
              <a:rPr lang="en-US" sz="2400" dirty="0">
                <a:solidFill>
                  <a:srgbClr val="6600CC"/>
                </a:solidFill>
              </a:rPr>
              <a:t>() can also be used to segregate portions of a string</a:t>
            </a:r>
            <a:endParaRPr lang="en-IN" sz="2400" dirty="0">
              <a:solidFill>
                <a:srgbClr val="6600CC"/>
              </a:solidFill>
              <a:cs typeface="Vrinda" pitchFamily="34" charset="0"/>
            </a:endParaRPr>
          </a:p>
          <a:p>
            <a:pPr marL="403225" lvl="1" algn="just" defTabSz="914363">
              <a:lnSpc>
                <a:spcPct val="90000"/>
              </a:lnSpc>
              <a:buSzPct val="100000"/>
              <a:buFont typeface="Arial" panose="020B0604020202020204" pitchFamily="34" charset="0"/>
              <a:buChar char="•"/>
            </a:pPr>
            <a:endParaRPr lang="en-US" sz="1600" dirty="0" smtClean="0">
              <a:solidFill>
                <a:srgbClr val="6600CC"/>
              </a:solidFill>
            </a:endParaRPr>
          </a:p>
          <a:p>
            <a:pPr marL="117475" lvl="1" indent="0" algn="just" defTabSz="914363">
              <a:lnSpc>
                <a:spcPct val="90000"/>
              </a:lnSpc>
              <a:buSzPct val="100000"/>
              <a:buNone/>
            </a:pPr>
            <a:r>
              <a:rPr lang="en-US" sz="2400" b="1" dirty="0" smtClean="0">
                <a:solidFill>
                  <a:srgbClr val="6600CC"/>
                </a:solidFill>
              </a:rPr>
              <a:t>Example  for searching using regular expression</a:t>
            </a:r>
            <a:endParaRPr lang="en-US" sz="2400" b="1" dirty="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Combining, Searching and Extracting</a:t>
            </a:r>
            <a:endParaRPr lang="en-US" sz="2400" b="1" dirty="0">
              <a:solidFill>
                <a:schemeClr val="bg1"/>
              </a:solidFill>
              <a:latin typeface="Vrinda" pitchFamily="34" charset="0"/>
              <a:cs typeface="Vrinda" pitchFamily="34" charset="0"/>
            </a:endParaRPr>
          </a:p>
        </p:txBody>
      </p:sp>
      <p:sp>
        <p:nvSpPr>
          <p:cNvPr id="2" name="TextBox 1"/>
          <p:cNvSpPr txBox="1"/>
          <p:nvPr/>
        </p:nvSpPr>
        <p:spPr>
          <a:xfrm>
            <a:off x="3671047" y="4202165"/>
            <a:ext cx="4038600" cy="203132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just"/>
            <a:r>
              <a:rPr lang="en-US" b="1" dirty="0"/>
              <a:t>import re</a:t>
            </a:r>
          </a:p>
          <a:p>
            <a:pPr algn="just"/>
            <a:r>
              <a:rPr lang="en-US" b="1" dirty="0"/>
              <a:t>hand = open('mbox-short.txt')</a:t>
            </a:r>
          </a:p>
          <a:p>
            <a:pPr algn="just"/>
            <a:r>
              <a:rPr lang="en-US" b="1" dirty="0"/>
              <a:t>for line in hand:</a:t>
            </a:r>
          </a:p>
          <a:p>
            <a:pPr algn="just"/>
            <a:r>
              <a:rPr lang="en-US" b="1" dirty="0"/>
              <a:t>line = line.rstrip()</a:t>
            </a:r>
          </a:p>
          <a:p>
            <a:pPr algn="just"/>
            <a:r>
              <a:rPr lang="en-US" b="1" dirty="0"/>
              <a:t>x = re.findall('ˆX\S*: ([0-9.]+)', line)</a:t>
            </a:r>
          </a:p>
          <a:p>
            <a:pPr algn="just"/>
            <a:r>
              <a:rPr lang="en-US" b="1" dirty="0"/>
              <a:t>if len(x) &gt; 0 :</a:t>
            </a:r>
          </a:p>
          <a:p>
            <a:pPr algn="just"/>
            <a:r>
              <a:rPr lang="en-US" b="1" dirty="0"/>
              <a:t>print </a:t>
            </a:r>
            <a:r>
              <a:rPr lang="en-US" b="1" dirty="0" smtClean="0"/>
              <a:t>x</a:t>
            </a:r>
            <a:endParaRPr lang="en-US" b="1" dirty="0"/>
          </a:p>
        </p:txBody>
      </p:sp>
      <p:sp>
        <p:nvSpPr>
          <p:cNvPr id="3" name="Right Arrow 2"/>
          <p:cNvSpPr/>
          <p:nvPr/>
        </p:nvSpPr>
        <p:spPr>
          <a:xfrm>
            <a:off x="720000" y="4538221"/>
            <a:ext cx="2861400" cy="9906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i="1" dirty="0">
              <a:latin typeface="Arial Narrow" panose="020B0606020202030204" pitchFamily="34" charset="0"/>
            </a:endParaRPr>
          </a:p>
        </p:txBody>
      </p:sp>
    </p:spTree>
    <p:extLst>
      <p:ext uri="{BB962C8B-B14F-4D97-AF65-F5344CB8AC3E}">
        <p14:creationId xmlns:p14="http://schemas.microsoft.com/office/powerpoint/2010/main" val="26520246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573800"/>
            <a:ext cx="8382000" cy="4674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60375" lvl="1" indent="-342900" algn="just" defTabSz="914363">
              <a:lnSpc>
                <a:spcPct val="90000"/>
              </a:lnSpc>
              <a:buSzPct val="100000"/>
              <a:buFont typeface="Arial" panose="020B0604020202020204" pitchFamily="34" charset="0"/>
              <a:buChar char="•"/>
            </a:pPr>
            <a:endParaRPr lang="en-US" sz="2000" b="1" i="1"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Escape Characters </a:t>
            </a:r>
            <a:r>
              <a:rPr lang="en-US" sz="2400" dirty="0">
                <a:solidFill>
                  <a:srgbClr val="6600CC"/>
                </a:solidFill>
              </a:rPr>
              <a:t>are an alternative interpretation on subsequent character sequence. </a:t>
            </a:r>
          </a:p>
          <a:p>
            <a:pPr marL="514350" lvl="1" indent="-396875" defTabSz="914363">
              <a:lnSpc>
                <a:spcPct val="90000"/>
              </a:lnSpc>
              <a:buSzPct val="100000"/>
              <a:buBlip>
                <a:blip r:embed="rId4"/>
              </a:buBlip>
            </a:pPr>
            <a:r>
              <a:rPr lang="en-US" sz="2400" dirty="0">
                <a:solidFill>
                  <a:srgbClr val="6600CC"/>
                </a:solidFill>
              </a:rPr>
              <a:t>Escape </a:t>
            </a:r>
            <a:r>
              <a:rPr lang="en-US" sz="2400" dirty="0" smtClean="0">
                <a:solidFill>
                  <a:srgbClr val="6600CC"/>
                </a:solidFill>
              </a:rPr>
              <a:t>Characters are </a:t>
            </a:r>
            <a:r>
              <a:rPr lang="en-US" sz="2400" dirty="0">
                <a:solidFill>
                  <a:srgbClr val="6600CC"/>
                </a:solidFill>
              </a:rPr>
              <a:t>used in Regular Expression to indicate normal character and match the actual character such as dollar sign or caret</a:t>
            </a:r>
            <a:r>
              <a:rPr lang="en-US" sz="2000" dirty="0">
                <a:solidFill>
                  <a:srgbClr val="6600CC"/>
                </a:solidFill>
              </a:rPr>
              <a:t>.</a:t>
            </a:r>
            <a:endParaRPr lang="en-IN" sz="2000" dirty="0">
              <a:solidFill>
                <a:srgbClr val="6600CC"/>
              </a:solidFill>
              <a:latin typeface="Vrinda" pitchFamily="34" charset="0"/>
              <a:cs typeface="Vrinda" pitchFamily="34" charset="0"/>
            </a:endParaRPr>
          </a:p>
          <a:p>
            <a:pPr marL="117475" lvl="1" indent="0" algn="just" defTabSz="914363">
              <a:lnSpc>
                <a:spcPct val="90000"/>
              </a:lnSpc>
              <a:buSzPct val="100000"/>
              <a:buNone/>
            </a:pPr>
            <a:endParaRPr lang="en-US" sz="2000" dirty="0">
              <a:solidFill>
                <a:srgbClr val="6600CC"/>
              </a:solidFill>
            </a:endParaRPr>
          </a:p>
          <a:p>
            <a:pPr marL="460375" lvl="1" indent="-342900" algn="just" defTabSz="914363">
              <a:lnSpc>
                <a:spcPct val="90000"/>
              </a:lnSpc>
              <a:buSzPct val="100000"/>
              <a:buFont typeface="Arial" panose="020B0604020202020204" pitchFamily="34" charset="0"/>
              <a:buChar char="•"/>
            </a:pPr>
            <a:endParaRPr lang="en-US" sz="2000" dirty="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Escape Character</a:t>
            </a:r>
            <a:endParaRPr lang="en-US" sz="2400" b="1" dirty="0">
              <a:solidFill>
                <a:schemeClr val="bg1"/>
              </a:solidFill>
              <a:latin typeface="Vrinda" pitchFamily="34" charset="0"/>
              <a:cs typeface="Vrinda" pitchFamily="34" charset="0"/>
            </a:endParaRP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00" y="3733800"/>
            <a:ext cx="7839075" cy="14097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spTree>
    <p:extLst>
      <p:ext uri="{BB962C8B-B14F-4D97-AF65-F5344CB8AC3E}">
        <p14:creationId xmlns:p14="http://schemas.microsoft.com/office/powerpoint/2010/main" val="14898561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331640" y="2362200"/>
            <a:ext cx="4535760" cy="20574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US" sz="1400" b="1" i="1" dirty="0" smtClean="0"/>
          </a:p>
          <a:p>
            <a:endParaRPr lang="en-US" sz="1400" b="1" i="1" dirty="0"/>
          </a:p>
          <a:p>
            <a:r>
              <a:rPr lang="en-US" sz="1400" b="1" i="1" dirty="0" smtClean="0"/>
              <a:t>Predict </a:t>
            </a:r>
            <a:r>
              <a:rPr lang="en-US" sz="1400" b="1" i="1" dirty="0"/>
              <a:t>the output of the following code</a:t>
            </a:r>
          </a:p>
          <a:p>
            <a:endParaRPr lang="en-US" sz="1400" dirty="0"/>
          </a:p>
          <a:p>
            <a:r>
              <a:rPr lang="en-US" sz="1600" dirty="0"/>
              <a:t>string = </a:t>
            </a:r>
            <a:r>
              <a:rPr lang="en-US" sz="1600" dirty="0" smtClean="0"/>
              <a:t>“Once </a:t>
            </a:r>
            <a:r>
              <a:rPr lang="en-US" sz="1600" dirty="0"/>
              <a:t>you have accomplished small things, you may attempt great ones safely</a:t>
            </a:r>
            <a:r>
              <a:rPr lang="en-US" sz="1600" dirty="0" smtClean="0"/>
              <a:t>.”</a:t>
            </a:r>
            <a:endParaRPr lang="en-US" sz="1600" dirty="0"/>
          </a:p>
          <a:p>
            <a:r>
              <a:rPr lang="en-US" sz="1600" dirty="0"/>
              <a:t>print re.findall(r"\ba[\w]*", string)</a:t>
            </a:r>
          </a:p>
          <a:p>
            <a:pPr algn="ctr"/>
            <a:endParaRPr lang="en-IN" sz="1600" dirty="0" smtClean="0"/>
          </a:p>
          <a:p>
            <a:pPr algn="ctr"/>
            <a:endParaRPr lang="en-US" sz="1600" dirty="0"/>
          </a:p>
        </p:txBody>
      </p:sp>
    </p:spTree>
    <p:extLst>
      <p:ext uri="{BB962C8B-B14F-4D97-AF65-F5344CB8AC3E}">
        <p14:creationId xmlns:p14="http://schemas.microsoft.com/office/powerpoint/2010/main" val="74814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52322" y="4982115"/>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546777"/>
            </a:xfrm>
            <a:prstGeom prst="rect">
              <a:avLst/>
            </a:prstGeom>
            <a:ln>
              <a:noFill/>
            </a:ln>
            <a:effectLst>
              <a:glow rad="63500">
                <a:schemeClr val="accent3">
                  <a:satMod val="175000"/>
                  <a:alpha val="40000"/>
                </a:schemeClr>
              </a:glow>
            </a:effectLst>
          </p:spPr>
          <p:txBody>
            <a:bodyPr wrap="square">
              <a:spAutoFit/>
            </a:bodyPr>
            <a:lstStyle/>
            <a:p>
              <a:r>
                <a:rPr lang="en-US" sz="1600" b="1" dirty="0">
                  <a:solidFill>
                    <a:schemeClr val="bg1"/>
                  </a:solidFill>
                </a:rPr>
                <a:t>['accomplished', 'attempt']</a:t>
              </a: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331640" y="2362200"/>
            <a:ext cx="4535760" cy="20574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US" sz="1400" b="1" i="1" dirty="0" smtClean="0"/>
          </a:p>
          <a:p>
            <a:endParaRPr lang="en-US" sz="1400" b="1" i="1" dirty="0"/>
          </a:p>
          <a:p>
            <a:r>
              <a:rPr lang="en-US" sz="1400" b="1" i="1" dirty="0" smtClean="0"/>
              <a:t>Predict </a:t>
            </a:r>
            <a:r>
              <a:rPr lang="en-US" sz="1400" b="1" i="1" dirty="0"/>
              <a:t>the output of the following code</a:t>
            </a:r>
          </a:p>
          <a:p>
            <a:endParaRPr lang="en-US" sz="1400" dirty="0"/>
          </a:p>
          <a:p>
            <a:r>
              <a:rPr lang="en-US" sz="1600" dirty="0"/>
              <a:t>string = </a:t>
            </a:r>
            <a:r>
              <a:rPr lang="en-US" sz="1600" dirty="0" smtClean="0"/>
              <a:t>“Once </a:t>
            </a:r>
            <a:r>
              <a:rPr lang="en-US" sz="1600" dirty="0"/>
              <a:t>you have accomplished small things, you may attempt great ones safely</a:t>
            </a:r>
            <a:r>
              <a:rPr lang="en-US" sz="1600" dirty="0" smtClean="0"/>
              <a:t>.”</a:t>
            </a:r>
            <a:endParaRPr lang="en-US" sz="1600" dirty="0"/>
          </a:p>
          <a:p>
            <a:r>
              <a:rPr lang="en-US" sz="1600" dirty="0"/>
              <a:t>print re.findall(r"\ba[\w]*", string)</a:t>
            </a:r>
          </a:p>
          <a:p>
            <a:pPr algn="ctr"/>
            <a:endParaRPr lang="en-IN" sz="1600" dirty="0" smtClean="0"/>
          </a:p>
          <a:p>
            <a:pPr algn="ctr"/>
            <a:endParaRPr lang="en-US" sz="1600" dirty="0"/>
          </a:p>
        </p:txBody>
      </p:sp>
    </p:spTree>
    <p:extLst>
      <p:ext uri="{BB962C8B-B14F-4D97-AF65-F5344CB8AC3E}">
        <p14:creationId xmlns:p14="http://schemas.microsoft.com/office/powerpoint/2010/main" val="421371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588704" y="1556247"/>
            <a:ext cx="8159760" cy="487506"/>
          </a:xfrm>
          <a:prstGeom prst="rect">
            <a:avLst/>
          </a:prstGeom>
        </p:spPr>
        <p:txBody>
          <a:bodyPr wrap="square">
            <a:spAutoFit/>
          </a:bodyPr>
          <a:lstStyle/>
          <a:p>
            <a:pPr>
              <a:lnSpc>
                <a:spcPct val="107000"/>
              </a:lnSpc>
              <a:spcAft>
                <a:spcPts val="800"/>
              </a:spcAft>
            </a:pPr>
            <a:r>
              <a:rPr lang="en-US" sz="2400" b="1" dirty="0" smtClean="0">
                <a:solidFill>
                  <a:srgbClr val="6600CC"/>
                </a:solidFill>
                <a:ea typeface="Calibri" panose="020F0502020204030204" pitchFamily="34" charset="0"/>
                <a:cs typeface="Vrinda" panose="020B0502040204020203" pitchFamily="34" charset="0"/>
              </a:rPr>
              <a:t>Activity : Understanding &amp; Implementing Regular Expression  </a:t>
            </a:r>
            <a:endParaRPr lang="en-US" sz="2400" dirty="0">
              <a:solidFill>
                <a:srgbClr val="6600CC"/>
              </a:solidFill>
              <a:effectLst/>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588704" y="2026649"/>
            <a:ext cx="7848872" cy="41549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6600CC"/>
              </a:solidFill>
              <a:effectLst/>
            </a:endParaRPr>
          </a:p>
          <a:p>
            <a:r>
              <a:rPr lang="en-US" sz="1600" dirty="0">
                <a:solidFill>
                  <a:srgbClr val="6600CC"/>
                </a:solidFill>
              </a:rPr>
              <a:t>Write a </a:t>
            </a:r>
            <a:r>
              <a:rPr lang="en-US" sz="1600" dirty="0" smtClean="0">
                <a:solidFill>
                  <a:srgbClr val="6600CC"/>
                </a:solidFill>
              </a:rPr>
              <a:t>program </a:t>
            </a:r>
            <a:r>
              <a:rPr lang="en-US" sz="1600" dirty="0">
                <a:solidFill>
                  <a:srgbClr val="6600CC"/>
                </a:solidFill>
              </a:rPr>
              <a:t>to simulate the operation of the grep command </a:t>
            </a:r>
            <a:r>
              <a:rPr lang="en-US" sz="1600" dirty="0" smtClean="0">
                <a:solidFill>
                  <a:srgbClr val="6600CC"/>
                </a:solidFill>
              </a:rPr>
              <a:t>in </a:t>
            </a:r>
            <a:r>
              <a:rPr lang="en-US" sz="1600" dirty="0">
                <a:solidFill>
                  <a:srgbClr val="6600CC"/>
                </a:solidFill>
              </a:rPr>
              <a:t>Unix. Ask the user to enter a regular expression and count the number of lines that matched the regular </a:t>
            </a:r>
            <a:r>
              <a:rPr lang="en-US" sz="1600" dirty="0" smtClean="0">
                <a:solidFill>
                  <a:srgbClr val="6600CC"/>
                </a:solidFill>
              </a:rPr>
              <a:t>expression.</a:t>
            </a:r>
          </a:p>
          <a:p>
            <a:endParaRPr lang="en-US" sz="1600" dirty="0">
              <a:solidFill>
                <a:srgbClr val="6600CC"/>
              </a:solidFill>
            </a:endParaRPr>
          </a:p>
          <a:p>
            <a:r>
              <a:rPr lang="en-US" sz="1600" dirty="0">
                <a:solidFill>
                  <a:srgbClr val="6600CC"/>
                </a:solidFill>
              </a:rPr>
              <a:t>Here is a sample execution of the program:</a:t>
            </a:r>
          </a:p>
          <a:p>
            <a:r>
              <a:rPr lang="en-US" sz="1600" dirty="0">
                <a:solidFill>
                  <a:srgbClr val="6600CC"/>
                </a:solidFill>
              </a:rPr>
              <a:t>Enter a regular expression: ˆAuthor</a:t>
            </a:r>
          </a:p>
          <a:p>
            <a:r>
              <a:rPr lang="en-US" sz="1600" dirty="0">
                <a:solidFill>
                  <a:srgbClr val="6600CC"/>
                </a:solidFill>
              </a:rPr>
              <a:t>mbox.txt had 1798 lines that matched ˆ</a:t>
            </a:r>
            <a:r>
              <a:rPr lang="en-US" sz="1600" dirty="0" smtClean="0">
                <a:solidFill>
                  <a:srgbClr val="6600CC"/>
                </a:solidFill>
              </a:rPr>
              <a:t>Author</a:t>
            </a:r>
            <a:endParaRPr lang="en-US" sz="1600" dirty="0">
              <a:solidFill>
                <a:srgbClr val="6600CC"/>
              </a:solidFill>
            </a:endParaRPr>
          </a:p>
          <a:p>
            <a:r>
              <a:rPr lang="en-US" sz="1600" dirty="0">
                <a:solidFill>
                  <a:srgbClr val="6600CC"/>
                </a:solidFill>
              </a:rPr>
              <a:t>Enter a regular expression: ˆX</a:t>
            </a:r>
          </a:p>
          <a:p>
            <a:r>
              <a:rPr lang="en-US" sz="1600" dirty="0">
                <a:solidFill>
                  <a:srgbClr val="6600CC"/>
                </a:solidFill>
              </a:rPr>
              <a:t>mbox.txt had 14368 lines that matched ˆ</a:t>
            </a:r>
            <a:r>
              <a:rPr lang="en-US" sz="1600" dirty="0" smtClean="0">
                <a:solidFill>
                  <a:srgbClr val="6600CC"/>
                </a:solidFill>
              </a:rPr>
              <a:t>X</a:t>
            </a:r>
            <a:endParaRPr lang="en-US" sz="1600" dirty="0">
              <a:solidFill>
                <a:srgbClr val="6600CC"/>
              </a:solidFill>
            </a:endParaRPr>
          </a:p>
          <a:p>
            <a:r>
              <a:rPr lang="en-US" sz="1600" dirty="0">
                <a:solidFill>
                  <a:srgbClr val="6600CC"/>
                </a:solidFill>
              </a:rPr>
              <a:t>Enter a regular expression: java$</a:t>
            </a:r>
          </a:p>
          <a:p>
            <a:r>
              <a:rPr lang="en-US" sz="1600" dirty="0">
                <a:solidFill>
                  <a:srgbClr val="6600CC"/>
                </a:solidFill>
              </a:rPr>
              <a:t>mbox.txt had 4218 lines that matched java</a:t>
            </a:r>
            <a:r>
              <a:rPr lang="en-US" sz="1600" dirty="0" smtClean="0">
                <a:solidFill>
                  <a:srgbClr val="6600CC"/>
                </a:solidFill>
              </a:rPr>
              <a:t>$</a:t>
            </a:r>
          </a:p>
          <a:p>
            <a:endParaRPr lang="en-US" sz="1600" b="1" dirty="0" smtClean="0">
              <a:solidFill>
                <a:srgbClr val="6600CC"/>
              </a:solidFill>
            </a:endParaRPr>
          </a:p>
          <a:p>
            <a:r>
              <a:rPr lang="en-US" sz="1600" b="1" dirty="0" smtClean="0">
                <a:solidFill>
                  <a:srgbClr val="6600CC"/>
                </a:solidFill>
              </a:rPr>
              <a:t>Prerequisite</a:t>
            </a:r>
            <a:r>
              <a:rPr lang="en-US" sz="1600" b="1" dirty="0">
                <a:solidFill>
                  <a:srgbClr val="6600CC"/>
                </a:solidFill>
              </a:rPr>
              <a:t>:</a:t>
            </a:r>
            <a:r>
              <a:rPr lang="en-US" sz="1600" dirty="0">
                <a:solidFill>
                  <a:srgbClr val="6600CC"/>
                </a:solidFill>
              </a:rPr>
              <a:t> For this activity </a:t>
            </a:r>
            <a:r>
              <a:rPr lang="en-US" sz="1600" dirty="0" smtClean="0">
                <a:solidFill>
                  <a:srgbClr val="6600CC"/>
                </a:solidFill>
              </a:rPr>
              <a:t>please refer “</a:t>
            </a:r>
            <a:r>
              <a:rPr lang="en-US" sz="1600" b="1" dirty="0" smtClean="0">
                <a:solidFill>
                  <a:srgbClr val="6600CC"/>
                </a:solidFill>
              </a:rPr>
              <a:t>mbox.txt”</a:t>
            </a:r>
            <a:r>
              <a:rPr lang="en-US" sz="1600" dirty="0" smtClean="0">
                <a:solidFill>
                  <a:srgbClr val="6600CC"/>
                </a:solidFill>
              </a:rPr>
              <a:t> available inside “</a:t>
            </a:r>
            <a:r>
              <a:rPr lang="en-US" sz="1600" b="1" dirty="0" err="1" smtClean="0">
                <a:solidFill>
                  <a:srgbClr val="6600CC"/>
                </a:solidFill>
              </a:rPr>
              <a:t>Data_File_For_Students</a:t>
            </a:r>
            <a:r>
              <a:rPr lang="en-US" sz="1600" dirty="0" smtClean="0">
                <a:solidFill>
                  <a:srgbClr val="6600CC"/>
                </a:solidFill>
              </a:rPr>
              <a:t>” folder.</a:t>
            </a:r>
            <a:endParaRPr lang="en-US" sz="1600" dirty="0">
              <a:solidFill>
                <a:srgbClr val="6600CC"/>
              </a:solidFill>
            </a:endParaRPr>
          </a:p>
        </p:txBody>
      </p:sp>
    </p:spTree>
    <p:extLst>
      <p:ext uri="{BB962C8B-B14F-4D97-AF65-F5344CB8AC3E}">
        <p14:creationId xmlns:p14="http://schemas.microsoft.com/office/powerpoint/2010/main" val="279638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4675" lvl="2" indent="0" defTabSz="914363">
              <a:lnSpc>
                <a:spcPct val="90000"/>
              </a:lnSpc>
              <a:buSzPct val="100000"/>
              <a:buNone/>
            </a:pPr>
            <a:endParaRPr lang="en-IN" sz="1400" dirty="0">
              <a:solidFill>
                <a:srgbClr val="6600CC"/>
              </a:solidFill>
            </a:endParaRPr>
          </a:p>
        </p:txBody>
      </p:sp>
      <p:sp>
        <p:nvSpPr>
          <p:cNvPr id="6" name="Title 1"/>
          <p:cNvSpPr>
            <a:spLocks noGrp="1"/>
          </p:cNvSpPr>
          <p:nvPr>
            <p:ph type="title"/>
          </p:nvPr>
        </p:nvSpPr>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Network Programming</a:t>
            </a:r>
            <a:endParaRPr lang="en-US" sz="2400" b="1" dirty="0">
              <a:solidFill>
                <a:schemeClr val="bg1"/>
              </a:solidFill>
              <a:latin typeface="Vrinda" pitchFamily="34" charset="0"/>
              <a:cs typeface="Vrinda"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endParaRPr lang="en-US" sz="1600" dirty="0" smtClean="0">
              <a:solidFill>
                <a:srgbClr val="6600CC"/>
              </a:solidFill>
            </a:endParaRPr>
          </a:p>
          <a:p>
            <a:pPr marL="514350" lvl="1" indent="-396875" defTabSz="914363">
              <a:lnSpc>
                <a:spcPct val="90000"/>
              </a:lnSpc>
              <a:buSzPct val="100000"/>
              <a:buBlip>
                <a:blip r:embed="rId4"/>
              </a:buBlip>
            </a:pPr>
            <a:r>
              <a:rPr lang="en-US" sz="2000" b="1" i="1" dirty="0" smtClean="0">
                <a:solidFill>
                  <a:srgbClr val="6600CC"/>
                </a:solidFill>
              </a:rPr>
              <a:t>Networking</a:t>
            </a:r>
            <a:r>
              <a:rPr lang="en-US" sz="2000" dirty="0" smtClean="0">
                <a:solidFill>
                  <a:srgbClr val="6600CC"/>
                </a:solidFill>
              </a:rPr>
              <a:t>  </a:t>
            </a:r>
            <a:r>
              <a:rPr lang="en-US" sz="2000" dirty="0">
                <a:solidFill>
                  <a:srgbClr val="6600CC"/>
                </a:solidFill>
              </a:rPr>
              <a:t>is concept of two programs communicating across a network. </a:t>
            </a:r>
          </a:p>
          <a:p>
            <a:pPr marL="514350" lvl="1" indent="-396875" defTabSz="914363">
              <a:lnSpc>
                <a:spcPct val="90000"/>
              </a:lnSpc>
              <a:buSzPct val="100000"/>
              <a:buBlip>
                <a:blip r:embed="rId4"/>
              </a:buBlip>
            </a:pPr>
            <a:r>
              <a:rPr lang="en-US" sz="2000" dirty="0">
                <a:solidFill>
                  <a:srgbClr val="6600CC"/>
                </a:solidFill>
              </a:rPr>
              <a:t>Whether it be from </a:t>
            </a:r>
            <a:r>
              <a:rPr lang="en-US" sz="2000" dirty="0" smtClean="0">
                <a:solidFill>
                  <a:srgbClr val="6600CC"/>
                </a:solidFill>
              </a:rPr>
              <a:t>client-client</a:t>
            </a:r>
            <a:r>
              <a:rPr lang="en-US" sz="2000" dirty="0">
                <a:solidFill>
                  <a:srgbClr val="6600CC"/>
                </a:solidFill>
              </a:rPr>
              <a:t>, client-server or even client to itself.</a:t>
            </a:r>
          </a:p>
          <a:p>
            <a:pPr marL="900000" lvl="1" indent="-396875" defTabSz="914363">
              <a:lnSpc>
                <a:spcPct val="90000"/>
              </a:lnSpc>
              <a:buSzPct val="120000"/>
              <a:buBlip>
                <a:blip r:embed="rId5"/>
              </a:buBlip>
            </a:pPr>
            <a:r>
              <a:rPr lang="en-US" sz="2000" b="1" i="1" dirty="0" smtClean="0">
                <a:solidFill>
                  <a:srgbClr val="6600CC"/>
                </a:solidFill>
              </a:rPr>
              <a:t>Client</a:t>
            </a:r>
            <a:r>
              <a:rPr lang="en-US" sz="2000" dirty="0" smtClean="0">
                <a:solidFill>
                  <a:srgbClr val="6600CC"/>
                </a:solidFill>
              </a:rPr>
              <a:t>  </a:t>
            </a:r>
            <a:r>
              <a:rPr lang="en-US" sz="2000" dirty="0">
                <a:solidFill>
                  <a:srgbClr val="6600CC"/>
                </a:solidFill>
              </a:rPr>
              <a:t>: An end device interfacing with a human.</a:t>
            </a:r>
          </a:p>
          <a:p>
            <a:pPr marL="900000" lvl="1" indent="-396875" defTabSz="914363">
              <a:lnSpc>
                <a:spcPct val="90000"/>
              </a:lnSpc>
              <a:buSzPct val="120000"/>
              <a:buBlip>
                <a:blip r:embed="rId5"/>
              </a:buBlip>
            </a:pPr>
            <a:r>
              <a:rPr lang="en-US" sz="2000" b="1" i="1" dirty="0">
                <a:solidFill>
                  <a:srgbClr val="6600CC"/>
                </a:solidFill>
              </a:rPr>
              <a:t>Server</a:t>
            </a:r>
            <a:r>
              <a:rPr lang="en-US" sz="2000" dirty="0">
                <a:solidFill>
                  <a:srgbClr val="6600CC"/>
                </a:solidFill>
              </a:rPr>
              <a:t> : A device providing a service for clients.</a:t>
            </a:r>
          </a:p>
          <a:p>
            <a:pPr marL="503125" lvl="1" indent="0" defTabSz="914363">
              <a:lnSpc>
                <a:spcPct val="90000"/>
              </a:lnSpc>
              <a:buSzPct val="120000"/>
              <a:buNone/>
            </a:pPr>
            <a:endParaRPr lang="en-IN" sz="2000" dirty="0">
              <a:solidFill>
                <a:srgbClr val="6600CC"/>
              </a:solidFill>
              <a:latin typeface="Vrinda" pitchFamily="34" charset="0"/>
              <a:cs typeface="Vrinda" pitchFamily="34" charset="0"/>
            </a:endParaRPr>
          </a:p>
          <a:p>
            <a:pPr lvl="1">
              <a:buFont typeface="Arial" panose="020B0604020202020204" pitchFamily="34" charset="0"/>
              <a:buChar char="•"/>
            </a:pPr>
            <a:endParaRPr lang="en-US" sz="2000" dirty="0" smtClean="0">
              <a:solidFill>
                <a:srgbClr val="6600CC"/>
              </a:solidFill>
            </a:endParaRPr>
          </a:p>
          <a:p>
            <a:pPr marL="0" indent="0">
              <a:buNone/>
            </a:pPr>
            <a:endParaRPr lang="en-US" sz="1600" dirty="0">
              <a:solidFill>
                <a:srgbClr val="6600CC"/>
              </a:solidFill>
            </a:endParaRPr>
          </a:p>
          <a:p>
            <a:pPr marL="0" indent="0">
              <a:buNone/>
            </a:pPr>
            <a:endParaRPr lang="en-US" sz="1600" dirty="0">
              <a:solidFill>
                <a:srgbClr val="6600CC"/>
              </a:solidFill>
            </a:endParaRPr>
          </a:p>
          <a:p>
            <a:pPr marL="0" indent="0">
              <a:buNone/>
            </a:pPr>
            <a:endParaRPr lang="en-US" sz="1600" dirty="0">
              <a:solidFill>
                <a:srgbClr val="6600CC"/>
              </a:solidFill>
            </a:endParaRPr>
          </a:p>
          <a:p>
            <a:endParaRPr lang="en-US" sz="1600" dirty="0"/>
          </a:p>
          <a:p>
            <a:endParaRPr lang="en-US" sz="1600" dirty="0"/>
          </a:p>
        </p:txBody>
      </p:sp>
      <p:pic>
        <p:nvPicPr>
          <p:cNvPr id="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7389" y="3657599"/>
            <a:ext cx="6267450" cy="2462401"/>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45745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4675" lvl="2" indent="0" defTabSz="914363">
              <a:lnSpc>
                <a:spcPct val="90000"/>
              </a:lnSpc>
              <a:buSzPct val="100000"/>
              <a:buNone/>
            </a:pPr>
            <a:endParaRPr lang="en-IN" sz="1400" dirty="0">
              <a:solidFill>
                <a:srgbClr val="6600CC"/>
              </a:solidFill>
            </a:endParaRPr>
          </a:p>
        </p:txBody>
      </p:sp>
      <p:sp>
        <p:nvSpPr>
          <p:cNvPr id="6" name="Title 1"/>
          <p:cNvSpPr>
            <a:spLocks noGrp="1"/>
          </p:cNvSpPr>
          <p:nvPr>
            <p:ph type="title"/>
          </p:nvPr>
        </p:nvSpPr>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HyperText Transfer Protocol – </a:t>
            </a:r>
            <a:br>
              <a:rPr lang="en-US" sz="24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HTTP</a:t>
            </a:r>
            <a:endParaRPr lang="en-US" sz="2400" b="1" dirty="0">
              <a:solidFill>
                <a:schemeClr val="bg1"/>
              </a:solidFill>
              <a:latin typeface="Vrinda" pitchFamily="34" charset="0"/>
              <a:cs typeface="Vrinda" pitchFamily="34" charset="0"/>
            </a:endParaRPr>
          </a:p>
        </p:txBody>
      </p:sp>
      <p:sp>
        <p:nvSpPr>
          <p:cNvPr id="3" name="Content Placeholder 2"/>
          <p:cNvSpPr>
            <a:spLocks noGrp="1"/>
          </p:cNvSpPr>
          <p:nvPr>
            <p:ph idx="1"/>
          </p:nvPr>
        </p:nvSpPr>
        <p:spPr>
          <a:xfrm>
            <a:off x="410400" y="1594037"/>
            <a:ext cx="8229600" cy="4525963"/>
          </a:xfrm>
          <a:prstGeom prst="flowChartAlternateProcess">
            <a:avLst/>
          </a:prstGeom>
        </p:spPr>
        <p:txBody>
          <a:bodyPr>
            <a:normAutofit/>
          </a:bodyPr>
          <a:lstStyle/>
          <a:p>
            <a:pPr>
              <a:buFont typeface="Wingdings" panose="05000000000000000000" pitchFamily="2" charset="2"/>
              <a:buChar char="§"/>
            </a:pPr>
            <a:endParaRPr lang="en-US" sz="1600"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HTTP </a:t>
            </a:r>
            <a:r>
              <a:rPr lang="en-US" sz="2400" dirty="0">
                <a:solidFill>
                  <a:srgbClr val="6600CC"/>
                </a:solidFill>
              </a:rPr>
              <a:t>is an application protocol for distributed, collaborative information systems.</a:t>
            </a:r>
          </a:p>
          <a:p>
            <a:pPr marL="514350" lvl="1" indent="-396875" defTabSz="914363">
              <a:lnSpc>
                <a:spcPct val="90000"/>
              </a:lnSpc>
              <a:buSzPct val="100000"/>
              <a:buBlip>
                <a:blip r:embed="rId4"/>
              </a:buBlip>
            </a:pPr>
            <a:r>
              <a:rPr lang="en-US" sz="2400" dirty="0">
                <a:solidFill>
                  <a:srgbClr val="6600CC"/>
                </a:solidFill>
              </a:rPr>
              <a:t>HTTP is a foundation of data communication for the WWW.</a:t>
            </a:r>
          </a:p>
          <a:p>
            <a:endParaRPr lang="en-US" sz="2000" dirty="0">
              <a:solidFill>
                <a:srgbClr val="6600CC"/>
              </a:solidFill>
            </a:endParaRPr>
          </a:p>
          <a:p>
            <a:endParaRPr lang="en-US" sz="2000" dirty="0">
              <a:solidFill>
                <a:srgbClr val="6600CC"/>
              </a:solidFill>
            </a:endParaRPr>
          </a:p>
          <a:p>
            <a:pPr marL="0" indent="0">
              <a:buNone/>
            </a:pPr>
            <a:endParaRPr lang="en-US" sz="1600" dirty="0">
              <a:solidFill>
                <a:srgbClr val="6600CC"/>
              </a:solidFill>
            </a:endParaRPr>
          </a:p>
          <a:p>
            <a:pPr marL="0" indent="0">
              <a:buNone/>
            </a:pPr>
            <a:endParaRPr lang="en-US" sz="1600" dirty="0">
              <a:solidFill>
                <a:srgbClr val="6600CC"/>
              </a:solidFill>
            </a:endParaRPr>
          </a:p>
          <a:p>
            <a:pPr marL="0" indent="0">
              <a:buNone/>
            </a:pPr>
            <a:endParaRPr lang="en-US" sz="1600" dirty="0">
              <a:solidFill>
                <a:srgbClr val="6600CC"/>
              </a:solidFill>
            </a:endParaRPr>
          </a:p>
          <a:p>
            <a:pPr marL="0" indent="0">
              <a:buNone/>
            </a:pPr>
            <a:endParaRPr lang="en-US" sz="1600" dirty="0">
              <a:solidFill>
                <a:srgbClr val="6600CC"/>
              </a:solidFill>
            </a:endParaRPr>
          </a:p>
          <a:p>
            <a:endParaRPr lang="en-US" sz="1600" dirty="0"/>
          </a:p>
          <a:p>
            <a:endParaRPr lang="en-US" sz="1600" dirty="0"/>
          </a:p>
        </p:txBody>
      </p:sp>
      <p:sp>
        <p:nvSpPr>
          <p:cNvPr id="19" name="Rounded Rectangle 18"/>
          <p:cNvSpPr/>
          <p:nvPr/>
        </p:nvSpPr>
        <p:spPr>
          <a:xfrm>
            <a:off x="1845900" y="4276129"/>
            <a:ext cx="1430700" cy="80593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b="1" i="1" dirty="0" smtClean="0"/>
              <a:t>Client</a:t>
            </a:r>
            <a:endParaRPr lang="en-US" b="1" i="1" dirty="0"/>
          </a:p>
        </p:txBody>
      </p:sp>
      <p:sp>
        <p:nvSpPr>
          <p:cNvPr id="21" name="Rounded Rectangle 20"/>
          <p:cNvSpPr/>
          <p:nvPr/>
        </p:nvSpPr>
        <p:spPr>
          <a:xfrm>
            <a:off x="4953000" y="4253379"/>
            <a:ext cx="1416000" cy="80593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b="1" i="1" dirty="0" smtClean="0"/>
              <a:t>Server</a:t>
            </a:r>
            <a:endParaRPr lang="en-US" b="1" i="1" dirty="0"/>
          </a:p>
        </p:txBody>
      </p:sp>
      <p:sp>
        <p:nvSpPr>
          <p:cNvPr id="20" name="Curved Down Arrow 19"/>
          <p:cNvSpPr/>
          <p:nvPr/>
        </p:nvSpPr>
        <p:spPr>
          <a:xfrm>
            <a:off x="2819400" y="3454623"/>
            <a:ext cx="2971800" cy="683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Curved Left Arrow 21"/>
          <p:cNvSpPr/>
          <p:nvPr/>
        </p:nvSpPr>
        <p:spPr>
          <a:xfrm rot="5400000">
            <a:off x="3823368" y="3945288"/>
            <a:ext cx="731520" cy="320414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TextBox 22"/>
          <p:cNvSpPr txBox="1"/>
          <p:nvPr/>
        </p:nvSpPr>
        <p:spPr>
          <a:xfrm>
            <a:off x="3581400" y="3657600"/>
            <a:ext cx="1524000" cy="369332"/>
          </a:xfrm>
          <a:prstGeom prst="rect">
            <a:avLst/>
          </a:prstGeom>
          <a:noFill/>
        </p:spPr>
        <p:txBody>
          <a:bodyPr wrap="square" rtlCol="0">
            <a:spAutoFit/>
          </a:bodyPr>
          <a:lstStyle/>
          <a:p>
            <a:r>
              <a:rPr lang="en-US" dirty="0" smtClean="0"/>
              <a:t>Http Request</a:t>
            </a:r>
            <a:endParaRPr lang="en-US" dirty="0"/>
          </a:p>
        </p:txBody>
      </p:sp>
      <p:sp>
        <p:nvSpPr>
          <p:cNvPr id="25" name="TextBox 24"/>
          <p:cNvSpPr txBox="1"/>
          <p:nvPr/>
        </p:nvSpPr>
        <p:spPr>
          <a:xfrm>
            <a:off x="3543300" y="5181600"/>
            <a:ext cx="1562100" cy="369332"/>
          </a:xfrm>
          <a:prstGeom prst="rect">
            <a:avLst/>
          </a:prstGeom>
          <a:noFill/>
        </p:spPr>
        <p:txBody>
          <a:bodyPr wrap="square" rtlCol="0">
            <a:spAutoFit/>
          </a:bodyPr>
          <a:lstStyle/>
          <a:p>
            <a:r>
              <a:rPr lang="en-US" dirty="0" smtClean="0"/>
              <a:t>Http Response</a:t>
            </a:r>
            <a:endParaRPr lang="en-US" dirty="0"/>
          </a:p>
        </p:txBody>
      </p:sp>
    </p:spTree>
    <p:extLst>
      <p:ext uri="{BB962C8B-B14F-4D97-AF65-F5344CB8AC3E}">
        <p14:creationId xmlns:p14="http://schemas.microsoft.com/office/powerpoint/2010/main" val="8190640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74638"/>
            <a:ext cx="8229600" cy="1143000"/>
          </a:xfrm>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a:solidFill>
                  <a:schemeClr val="bg1"/>
                </a:solidFill>
                <a:latin typeface="Vrinda" pitchFamily="34" charset="0"/>
                <a:cs typeface="Vrinda" pitchFamily="34" charset="0"/>
              </a:rPr>
              <a:t>Understanding </a:t>
            </a:r>
            <a:r>
              <a:rPr lang="en-US" sz="2400" b="1" dirty="0" smtClean="0">
                <a:solidFill>
                  <a:schemeClr val="bg1"/>
                </a:solidFill>
                <a:latin typeface="Vrinda" pitchFamily="34" charset="0"/>
                <a:cs typeface="Vrinda" pitchFamily="34" charset="0"/>
              </a:rPr>
              <a:t>Sockets</a:t>
            </a:r>
            <a:endParaRPr lang="en-US" sz="2400" b="1" dirty="0">
              <a:solidFill>
                <a:schemeClr val="bg1"/>
              </a:solidFill>
              <a:latin typeface="Vrinda" pitchFamily="34" charset="0"/>
              <a:cs typeface="Vrinda" pitchFamily="34" charset="0"/>
            </a:endParaRPr>
          </a:p>
        </p:txBody>
      </p:sp>
      <p:sp>
        <p:nvSpPr>
          <p:cNvPr id="2" name="Rectangle 1"/>
          <p:cNvSpPr/>
          <p:nvPr/>
        </p:nvSpPr>
        <p:spPr>
          <a:xfrm>
            <a:off x="381000" y="1600200"/>
            <a:ext cx="8382000" cy="2369880"/>
          </a:xfrm>
          <a:prstGeom prst="rect">
            <a:avLst/>
          </a:prstGeom>
        </p:spPr>
        <p:txBody>
          <a:bodyPr wrap="square">
            <a:spAutoFit/>
          </a:bodyPr>
          <a:lstStyle/>
          <a:p>
            <a:endParaRPr lang="en-US" sz="2000" b="1" i="1" dirty="0" smtClean="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Sockets are </a:t>
            </a:r>
            <a:r>
              <a:rPr lang="en-US" sz="2400" dirty="0">
                <a:solidFill>
                  <a:srgbClr val="6600CC"/>
                </a:solidFill>
              </a:rPr>
              <a:t>e</a:t>
            </a:r>
            <a:r>
              <a:rPr lang="en-US" sz="2400" dirty="0" smtClean="0">
                <a:solidFill>
                  <a:srgbClr val="6600CC"/>
                </a:solidFill>
              </a:rPr>
              <a:t>ndpoints </a:t>
            </a:r>
            <a:r>
              <a:rPr lang="en-US" sz="2400" dirty="0">
                <a:solidFill>
                  <a:srgbClr val="6600CC"/>
                </a:solidFill>
              </a:rPr>
              <a:t>of a bidirectional communications channel</a:t>
            </a:r>
            <a:r>
              <a:rPr lang="en-US" sz="2400" dirty="0" smtClean="0">
                <a:solidFill>
                  <a:srgbClr val="6600CC"/>
                </a:solidFill>
              </a:rPr>
              <a:t>.</a:t>
            </a:r>
          </a:p>
          <a:p>
            <a:pPr marL="514350" lvl="1" indent="-396875" defTabSz="914363">
              <a:lnSpc>
                <a:spcPct val="90000"/>
              </a:lnSpc>
              <a:buSzPct val="100000"/>
              <a:buBlip>
                <a:blip r:embed="rId3"/>
              </a:buBlip>
            </a:pPr>
            <a:endParaRPr lang="en-US" sz="2400" dirty="0">
              <a:solidFill>
                <a:srgbClr val="6600CC"/>
              </a:solidFill>
            </a:endParaRPr>
          </a:p>
          <a:p>
            <a:pPr marL="514350" lvl="1" indent="-396875" defTabSz="914363">
              <a:lnSpc>
                <a:spcPct val="90000"/>
              </a:lnSpc>
              <a:buSzPct val="100000"/>
              <a:buBlip>
                <a:blip r:embed="rId3"/>
              </a:buBlip>
            </a:pPr>
            <a:r>
              <a:rPr lang="en-US" sz="2400" dirty="0" smtClean="0">
                <a:solidFill>
                  <a:srgbClr val="6600CC"/>
                </a:solidFill>
              </a:rPr>
              <a:t>Sockets are </a:t>
            </a:r>
            <a:r>
              <a:rPr lang="en-US" sz="2400" dirty="0">
                <a:solidFill>
                  <a:srgbClr val="6600CC"/>
                </a:solidFill>
              </a:rPr>
              <a:t>much like a file except that  it provides a two way connection between two programs with a single socket</a:t>
            </a:r>
            <a:endParaRPr lang="en-IN" sz="2400" dirty="0">
              <a:solidFill>
                <a:srgbClr val="6600CC"/>
              </a:solidFill>
              <a:cs typeface="Vrinda" pitchFamily="34" charset="0"/>
            </a:endParaRPr>
          </a:p>
          <a:p>
            <a:pPr marL="285750" indent="-285750">
              <a:buFont typeface="Arial" panose="020B0604020202020204" pitchFamily="34" charset="0"/>
              <a:buChar char="•"/>
            </a:pPr>
            <a:endParaRPr lang="en-US" sz="2000" dirty="0">
              <a:solidFill>
                <a:srgbClr val="6600CC"/>
              </a:solidFill>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705225"/>
            <a:ext cx="4419600"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553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4675" lvl="2" indent="0" defTabSz="914363">
              <a:lnSpc>
                <a:spcPct val="90000"/>
              </a:lnSpc>
              <a:buSzPct val="100000"/>
              <a:buNone/>
            </a:pPr>
            <a:endParaRPr lang="en-IN" sz="1400" dirty="0">
              <a:solidFill>
                <a:srgbClr val="6600CC"/>
              </a:solidFill>
            </a:endParaRPr>
          </a:p>
        </p:txBody>
      </p:sp>
      <p:sp>
        <p:nvSpPr>
          <p:cNvPr id="6" name="Title 1"/>
          <p:cNvSpPr>
            <a:spLocks noGrp="1"/>
          </p:cNvSpPr>
          <p:nvPr>
            <p:ph type="title"/>
          </p:nvPr>
        </p:nvSpPr>
        <p:spPr>
          <a:xfrm>
            <a:off x="304800" y="304800"/>
            <a:ext cx="8229600" cy="1143000"/>
          </a:xfrm>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World’s Simplest Web Browser</a:t>
            </a:r>
            <a:endParaRPr lang="en-US" sz="2400" b="1" dirty="0">
              <a:solidFill>
                <a:schemeClr val="bg1"/>
              </a:solidFill>
              <a:latin typeface="Vrinda" pitchFamily="34" charset="0"/>
              <a:cs typeface="Vrinda"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endParaRPr lang="en-US" sz="2000"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The </a:t>
            </a:r>
            <a:r>
              <a:rPr lang="en-US" sz="2400" dirty="0">
                <a:solidFill>
                  <a:srgbClr val="6600CC"/>
                </a:solidFill>
              </a:rPr>
              <a:t>use of HTTP Protocol in Python Program </a:t>
            </a:r>
            <a:r>
              <a:rPr lang="en-US" sz="2400" dirty="0" smtClean="0">
                <a:solidFill>
                  <a:srgbClr val="6600CC"/>
                </a:solidFill>
              </a:rPr>
              <a:t>is to </a:t>
            </a:r>
            <a:r>
              <a:rPr lang="en-US" sz="2400" dirty="0">
                <a:solidFill>
                  <a:srgbClr val="6600CC"/>
                </a:solidFill>
              </a:rPr>
              <a:t>make a connection to a Web Server by following the rule of HTTP protocol.</a:t>
            </a:r>
          </a:p>
          <a:p>
            <a:pPr marL="0" indent="0">
              <a:buNone/>
            </a:pPr>
            <a:endParaRPr lang="en-US" sz="2000" dirty="0" smtClean="0">
              <a:solidFill>
                <a:srgbClr val="6600CC"/>
              </a:solidFill>
            </a:endParaRPr>
          </a:p>
        </p:txBody>
      </p:sp>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3483429"/>
            <a:ext cx="5378018" cy="245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1537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4675" lvl="2" indent="0" defTabSz="914363">
              <a:lnSpc>
                <a:spcPct val="90000"/>
              </a:lnSpc>
              <a:buSzPct val="100000"/>
              <a:buNone/>
            </a:pPr>
            <a:endParaRPr lang="en-IN" sz="1400" dirty="0">
              <a:solidFill>
                <a:srgbClr val="6600CC"/>
              </a:solidFill>
            </a:endParaRPr>
          </a:p>
        </p:txBody>
      </p:sp>
      <p:sp>
        <p:nvSpPr>
          <p:cNvPr id="6" name="Title 1"/>
          <p:cNvSpPr>
            <a:spLocks noGrp="1"/>
          </p:cNvSpPr>
          <p:nvPr>
            <p:ph type="title"/>
          </p:nvPr>
        </p:nvSpPr>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World’s Simplest Web Browser</a:t>
            </a:r>
            <a:br>
              <a:rPr lang="en-US" sz="24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(Contd</a:t>
            </a:r>
            <a:r>
              <a:rPr lang="en-US" sz="2400" b="1" dirty="0">
                <a:solidFill>
                  <a:schemeClr val="bg1"/>
                </a:solidFill>
                <a:latin typeface="Vrinda" pitchFamily="34" charset="0"/>
                <a:cs typeface="Vrinda" pitchFamily="34" charset="0"/>
              </a:rPr>
              <a:t>.</a:t>
            </a:r>
            <a:r>
              <a:rPr lang="en-US" sz="2400" b="1" dirty="0" smtClean="0">
                <a:solidFill>
                  <a:schemeClr val="bg1"/>
                </a:solidFill>
                <a:latin typeface="Vrinda" pitchFamily="34" charset="0"/>
                <a:cs typeface="Vrinda" pitchFamily="34" charset="0"/>
              </a:rPr>
              <a:t>)</a:t>
            </a:r>
            <a:endParaRPr lang="en-US" sz="2400" b="1" dirty="0">
              <a:solidFill>
                <a:schemeClr val="bg1"/>
              </a:solidFill>
              <a:latin typeface="Vrinda" pitchFamily="34" charset="0"/>
              <a:cs typeface="Vrinda" pitchFamily="34" charset="0"/>
            </a:endParaRPr>
          </a:p>
        </p:txBody>
      </p:sp>
      <p:sp>
        <p:nvSpPr>
          <p:cNvPr id="3" name="Content Placeholder 2"/>
          <p:cNvSpPr>
            <a:spLocks noGrp="1"/>
          </p:cNvSpPr>
          <p:nvPr>
            <p:ph idx="1"/>
          </p:nvPr>
        </p:nvSpPr>
        <p:spPr/>
        <p:txBody>
          <a:bodyPr>
            <a:normAutofit/>
          </a:bodyPr>
          <a:lstStyle/>
          <a:p>
            <a:pPr marL="0" indent="0">
              <a:buNone/>
            </a:pPr>
            <a:r>
              <a:rPr lang="en-US" sz="2000" b="1" dirty="0" smtClean="0">
                <a:solidFill>
                  <a:srgbClr val="6600CC"/>
                </a:solidFill>
              </a:rPr>
              <a:t>The following program makes a connection to port 80 on the server and prints the data what server has sent.</a:t>
            </a:r>
          </a:p>
        </p:txBody>
      </p:sp>
      <p:sp>
        <p:nvSpPr>
          <p:cNvPr id="2" name="TextBox 1"/>
          <p:cNvSpPr txBox="1"/>
          <p:nvPr/>
        </p:nvSpPr>
        <p:spPr>
          <a:xfrm>
            <a:off x="5744400" y="2666999"/>
            <a:ext cx="2895600" cy="3170099"/>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sz="1400" b="1" i="1" dirty="0" smtClean="0"/>
              <a:t>Output:</a:t>
            </a:r>
            <a:endParaRPr lang="en-US" sz="1400" b="1" i="1" dirty="0"/>
          </a:p>
          <a:p>
            <a:endParaRPr lang="en-US" sz="1400" dirty="0"/>
          </a:p>
          <a:p>
            <a:r>
              <a:rPr lang="en-US" sz="1400" b="1" dirty="0"/>
              <a:t>HTTP/1.1 200 OK</a:t>
            </a:r>
          </a:p>
          <a:p>
            <a:r>
              <a:rPr lang="en-US" sz="1400" b="1" dirty="0"/>
              <a:t>Date: Sun, 14 Mar 2010 23:52:41 GMT</a:t>
            </a:r>
          </a:p>
          <a:p>
            <a:r>
              <a:rPr lang="en-US" sz="1400" b="1" dirty="0"/>
              <a:t>Server: Apache</a:t>
            </a:r>
          </a:p>
          <a:p>
            <a:r>
              <a:rPr lang="en-US" sz="1400" b="1" dirty="0"/>
              <a:t>Last-Modified: Tue, 29 Dec 2009 01:31:22 GMT</a:t>
            </a:r>
          </a:p>
          <a:p>
            <a:r>
              <a:rPr lang="en-US" sz="1400" b="1" dirty="0"/>
              <a:t>ETag: "143c1b33-a7-4b395bea"</a:t>
            </a:r>
          </a:p>
          <a:p>
            <a:r>
              <a:rPr lang="en-US" sz="1400" b="1" dirty="0"/>
              <a:t>Accept-Ranges: bytes</a:t>
            </a:r>
          </a:p>
          <a:p>
            <a:r>
              <a:rPr lang="en-US" sz="1400" b="1" dirty="0"/>
              <a:t>Content-Length: 167</a:t>
            </a:r>
          </a:p>
          <a:p>
            <a:r>
              <a:rPr lang="en-US" sz="1400" b="1" dirty="0"/>
              <a:t>Connection: close</a:t>
            </a:r>
          </a:p>
          <a:p>
            <a:r>
              <a:rPr lang="en-US" sz="1400" b="1" dirty="0"/>
              <a:t>Content-Type: text/plain</a:t>
            </a:r>
            <a:endParaRPr lang="en-US" sz="1400" b="1" dirty="0">
              <a:solidFill>
                <a:srgbClr val="6600CC"/>
              </a:solidFill>
            </a:endParaRPr>
          </a:p>
          <a:p>
            <a:endParaRPr lang="en-US" dirty="0"/>
          </a:p>
        </p:txBody>
      </p:sp>
      <p:sp>
        <p:nvSpPr>
          <p:cNvPr id="4" name="TextBox 3"/>
          <p:cNvSpPr txBox="1"/>
          <p:nvPr/>
        </p:nvSpPr>
        <p:spPr>
          <a:xfrm>
            <a:off x="609600" y="2278082"/>
            <a:ext cx="4070400" cy="3970318"/>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solidFill>
                  <a:schemeClr val="accent2">
                    <a:lumMod val="75000"/>
                  </a:schemeClr>
                </a:solidFill>
              </a:rPr>
              <a:t>import socket</a:t>
            </a:r>
          </a:p>
          <a:p>
            <a:r>
              <a:rPr lang="en-US" b="1" dirty="0" err="1">
                <a:solidFill>
                  <a:schemeClr val="accent2">
                    <a:lumMod val="75000"/>
                  </a:schemeClr>
                </a:solidFill>
              </a:rPr>
              <a:t>mysock</a:t>
            </a:r>
            <a:r>
              <a:rPr lang="en-US" b="1" dirty="0">
                <a:solidFill>
                  <a:schemeClr val="accent2">
                    <a:lumMod val="75000"/>
                  </a:schemeClr>
                </a:solidFill>
              </a:rPr>
              <a:t>=</a:t>
            </a:r>
            <a:r>
              <a:rPr lang="en-US" b="1" dirty="0" err="1">
                <a:solidFill>
                  <a:schemeClr val="accent2">
                    <a:lumMod val="75000"/>
                  </a:schemeClr>
                </a:solidFill>
              </a:rPr>
              <a:t>socket.socket</a:t>
            </a:r>
            <a:r>
              <a:rPr lang="en-US" b="1" dirty="0">
                <a:solidFill>
                  <a:schemeClr val="accent2">
                    <a:lumMod val="75000"/>
                  </a:schemeClr>
                </a:solidFill>
              </a:rPr>
              <a:t>(</a:t>
            </a:r>
            <a:r>
              <a:rPr lang="en-US" b="1" dirty="0" err="1">
                <a:solidFill>
                  <a:schemeClr val="accent2">
                    <a:lumMod val="75000"/>
                  </a:schemeClr>
                </a:solidFill>
              </a:rPr>
              <a:t>socket.AF_INET,socket.SOCK_STREAM</a:t>
            </a:r>
            <a:r>
              <a:rPr lang="en-US" b="1" dirty="0">
                <a:solidFill>
                  <a:schemeClr val="accent2">
                    <a:lumMod val="75000"/>
                  </a:schemeClr>
                </a:solidFill>
              </a:rPr>
              <a:t>)</a:t>
            </a:r>
          </a:p>
          <a:p>
            <a:r>
              <a:rPr lang="en-US" b="1" dirty="0" err="1">
                <a:solidFill>
                  <a:schemeClr val="accent2">
                    <a:lumMod val="75000"/>
                  </a:schemeClr>
                </a:solidFill>
              </a:rPr>
              <a:t>mysock.connect</a:t>
            </a:r>
            <a:r>
              <a:rPr lang="en-US" b="1" dirty="0">
                <a:solidFill>
                  <a:schemeClr val="accent2">
                    <a:lumMod val="75000"/>
                  </a:schemeClr>
                </a:solidFill>
              </a:rPr>
              <a:t>((‘www.py4inf.com’,80))</a:t>
            </a:r>
          </a:p>
          <a:p>
            <a:r>
              <a:rPr lang="en-US" b="1" dirty="0" err="1">
                <a:solidFill>
                  <a:schemeClr val="accent2">
                    <a:lumMod val="75000"/>
                  </a:schemeClr>
                </a:solidFill>
              </a:rPr>
              <a:t>mysock.send</a:t>
            </a:r>
            <a:r>
              <a:rPr lang="en-US" b="1" dirty="0">
                <a:solidFill>
                  <a:schemeClr val="accent2">
                    <a:lumMod val="75000"/>
                  </a:schemeClr>
                </a:solidFill>
              </a:rPr>
              <a:t>(‘GET </a:t>
            </a:r>
            <a:r>
              <a:rPr lang="en-US" b="1" dirty="0">
                <a:solidFill>
                  <a:schemeClr val="accent2">
                    <a:lumMod val="75000"/>
                  </a:schemeClr>
                </a:solidFill>
                <a:hlinkClick r:id="rId4"/>
              </a:rPr>
              <a:t>http://www.p4inf.com/code/romeo.txt</a:t>
            </a:r>
            <a:r>
              <a:rPr lang="en-US" b="1" dirty="0">
                <a:solidFill>
                  <a:schemeClr val="accent2">
                    <a:lumMod val="75000"/>
                  </a:schemeClr>
                </a:solidFill>
              </a:rPr>
              <a:t> HTTP/1.0\n\</a:t>
            </a:r>
            <a:r>
              <a:rPr lang="en-US" b="1" dirty="0" err="1">
                <a:solidFill>
                  <a:schemeClr val="accent2">
                    <a:lumMod val="75000"/>
                  </a:schemeClr>
                </a:solidFill>
              </a:rPr>
              <a:t>n’</a:t>
            </a:r>
            <a:r>
              <a:rPr lang="en-US" b="1" dirty="0">
                <a:solidFill>
                  <a:schemeClr val="accent2">
                    <a:lumMod val="75000"/>
                  </a:schemeClr>
                </a:solidFill>
              </a:rPr>
              <a:t>)</a:t>
            </a:r>
          </a:p>
          <a:p>
            <a:r>
              <a:rPr lang="en-US" b="1" dirty="0">
                <a:solidFill>
                  <a:schemeClr val="accent2">
                    <a:lumMod val="75000"/>
                  </a:schemeClr>
                </a:solidFill>
              </a:rPr>
              <a:t>while True:</a:t>
            </a:r>
          </a:p>
          <a:p>
            <a:r>
              <a:rPr lang="en-US" b="1" dirty="0">
                <a:solidFill>
                  <a:schemeClr val="accent2">
                    <a:lumMod val="75000"/>
                  </a:schemeClr>
                </a:solidFill>
              </a:rPr>
              <a:t>	data=</a:t>
            </a:r>
            <a:r>
              <a:rPr lang="en-US" b="1" dirty="0" err="1">
                <a:solidFill>
                  <a:schemeClr val="accent2">
                    <a:lumMod val="75000"/>
                  </a:schemeClr>
                </a:solidFill>
              </a:rPr>
              <a:t>mysock.recv</a:t>
            </a:r>
            <a:r>
              <a:rPr lang="en-US" b="1" dirty="0">
                <a:solidFill>
                  <a:schemeClr val="accent2">
                    <a:lumMod val="75000"/>
                  </a:schemeClr>
                </a:solidFill>
              </a:rPr>
              <a:t>(512)</a:t>
            </a:r>
          </a:p>
          <a:p>
            <a:r>
              <a:rPr lang="en-US" b="1" dirty="0">
                <a:solidFill>
                  <a:schemeClr val="accent2">
                    <a:lumMod val="75000"/>
                  </a:schemeClr>
                </a:solidFill>
              </a:rPr>
              <a:t>	if(len(data)&lt;1):</a:t>
            </a:r>
          </a:p>
          <a:p>
            <a:r>
              <a:rPr lang="en-US" b="1" dirty="0">
                <a:solidFill>
                  <a:schemeClr val="accent2">
                    <a:lumMod val="75000"/>
                  </a:schemeClr>
                </a:solidFill>
              </a:rPr>
              <a:t>	break</a:t>
            </a:r>
          </a:p>
          <a:p>
            <a:r>
              <a:rPr lang="en-US" b="1" dirty="0">
                <a:solidFill>
                  <a:schemeClr val="accent2">
                    <a:lumMod val="75000"/>
                  </a:schemeClr>
                </a:solidFill>
              </a:rPr>
              <a:t>	print data</a:t>
            </a:r>
          </a:p>
          <a:p>
            <a:r>
              <a:rPr lang="en-US" b="1" dirty="0" err="1">
                <a:solidFill>
                  <a:schemeClr val="accent2">
                    <a:lumMod val="75000"/>
                  </a:schemeClr>
                </a:solidFill>
              </a:rPr>
              <a:t>mysock.close</a:t>
            </a:r>
            <a:r>
              <a:rPr lang="en-US" b="1" dirty="0">
                <a:solidFill>
                  <a:schemeClr val="accent2">
                    <a:lumMod val="75000"/>
                  </a:schemeClr>
                </a:solidFill>
              </a:rPr>
              <a:t>()</a:t>
            </a:r>
          </a:p>
          <a:p>
            <a:endParaRPr lang="en-US" dirty="0"/>
          </a:p>
        </p:txBody>
      </p:sp>
      <p:sp>
        <p:nvSpPr>
          <p:cNvPr id="8" name="Chevron 7"/>
          <p:cNvSpPr/>
          <p:nvPr/>
        </p:nvSpPr>
        <p:spPr>
          <a:xfrm>
            <a:off x="4726499" y="3967526"/>
            <a:ext cx="943800" cy="146024"/>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490299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4675" lvl="2" indent="0" defTabSz="914363">
              <a:lnSpc>
                <a:spcPct val="90000"/>
              </a:lnSpc>
              <a:buSzPct val="100000"/>
              <a:buNone/>
            </a:pPr>
            <a:endParaRPr lang="en-IN" sz="1400" dirty="0">
              <a:solidFill>
                <a:srgbClr val="6600CC"/>
              </a:solidFill>
            </a:endParaRPr>
          </a:p>
        </p:txBody>
      </p:sp>
      <p:sp>
        <p:nvSpPr>
          <p:cNvPr id="6" name="Title 1"/>
          <p:cNvSpPr>
            <a:spLocks noGrp="1"/>
          </p:cNvSpPr>
          <p:nvPr>
            <p:ph type="title"/>
          </p:nvPr>
        </p:nvSpPr>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Retrieving Image over HTTP</a:t>
            </a:r>
            <a:endParaRPr lang="en-US" sz="2400" b="1" dirty="0">
              <a:solidFill>
                <a:schemeClr val="bg1"/>
              </a:solidFill>
              <a:latin typeface="Vrinda" pitchFamily="34" charset="0"/>
              <a:cs typeface="Vrinda" pitchFamily="34" charset="0"/>
            </a:endParaRPr>
          </a:p>
        </p:txBody>
      </p:sp>
      <p:sp>
        <p:nvSpPr>
          <p:cNvPr id="3" name="Content Placeholder 2"/>
          <p:cNvSpPr>
            <a:spLocks noGrp="1"/>
          </p:cNvSpPr>
          <p:nvPr>
            <p:ph idx="1"/>
          </p:nvPr>
        </p:nvSpPr>
        <p:spPr>
          <a:xfrm>
            <a:off x="533400" y="1600200"/>
            <a:ext cx="8153400" cy="4525963"/>
          </a:xfrm>
        </p:spPr>
        <p:txBody>
          <a:bodyPr>
            <a:normAutofit/>
          </a:bodyPr>
          <a:lstStyle/>
          <a:p>
            <a:pPr marL="514350" lvl="1" indent="-396875" defTabSz="914363">
              <a:lnSpc>
                <a:spcPct val="90000"/>
              </a:lnSpc>
              <a:buSzPct val="100000"/>
              <a:buBlip>
                <a:blip r:embed="rId4"/>
              </a:buBlip>
            </a:pPr>
            <a:r>
              <a:rPr lang="en-US" sz="2400" dirty="0" smtClean="0">
                <a:solidFill>
                  <a:srgbClr val="6600CC"/>
                </a:solidFill>
              </a:rPr>
              <a:t>Copying </a:t>
            </a:r>
            <a:r>
              <a:rPr lang="en-US" sz="2400" dirty="0">
                <a:solidFill>
                  <a:srgbClr val="6600CC"/>
                </a:solidFill>
              </a:rPr>
              <a:t>the data  - Accumulate the data in a String ,trim off the headers and save the image data to a file.</a:t>
            </a:r>
          </a:p>
          <a:p>
            <a:pPr>
              <a:buFont typeface="Wingdings" panose="05000000000000000000" pitchFamily="2" charset="2"/>
              <a:buChar char="§"/>
            </a:pPr>
            <a:endParaRPr lang="en-US" sz="1600" dirty="0" smtClean="0">
              <a:solidFill>
                <a:srgbClr val="6600CC"/>
              </a:solidFill>
            </a:endParaRPr>
          </a:p>
          <a:p>
            <a:pPr marL="0" indent="0">
              <a:buNone/>
            </a:pPr>
            <a:endParaRPr lang="en-US" sz="1600" dirty="0">
              <a:solidFill>
                <a:srgbClr val="6600CC"/>
              </a:solidFill>
            </a:endParaRPr>
          </a:p>
          <a:p>
            <a:pPr marL="0" indent="0">
              <a:buNone/>
            </a:pPr>
            <a:endParaRPr lang="en-US" sz="1600" dirty="0" smtClean="0">
              <a:solidFill>
                <a:srgbClr val="6600CC"/>
              </a:solidFill>
            </a:endParaRPr>
          </a:p>
          <a:p>
            <a:pPr marL="0" indent="0">
              <a:buNone/>
            </a:pPr>
            <a:endParaRPr lang="en-US" sz="1600" dirty="0" smtClean="0">
              <a:solidFill>
                <a:srgbClr val="6600CC"/>
              </a:solidFill>
            </a:endParaRPr>
          </a:p>
          <a:p>
            <a:pPr marL="0" indent="0">
              <a:buNone/>
            </a:pPr>
            <a:endParaRPr lang="en-US" sz="1600" dirty="0" smtClean="0">
              <a:solidFill>
                <a:srgbClr val="6600CC"/>
              </a:solidFill>
            </a:endParaRP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667000"/>
            <a:ext cx="3884422" cy="2821629"/>
          </a:xfrm>
          <a:prstGeom prst="rect">
            <a:avLst/>
          </a:prstGeom>
          <a:ln w="28575">
            <a:solidFill>
              <a:schemeClr val="tx1"/>
            </a:solidFill>
            <a:miter lim="800000"/>
            <a:headEnd/>
            <a:tailEnd/>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4953000" y="2286001"/>
            <a:ext cx="3687000" cy="3693319"/>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dirty="0" smtClean="0"/>
              <a:t>$ </a:t>
            </a:r>
            <a:r>
              <a:rPr lang="en-US" dirty="0"/>
              <a:t>python urljpeg.py</a:t>
            </a:r>
          </a:p>
          <a:p>
            <a:r>
              <a:rPr lang="en-US" dirty="0"/>
              <a:t>2920 2920</a:t>
            </a:r>
          </a:p>
          <a:p>
            <a:r>
              <a:rPr lang="en-US" dirty="0"/>
              <a:t>1460 4380</a:t>
            </a:r>
          </a:p>
          <a:p>
            <a:r>
              <a:rPr lang="en-US" dirty="0"/>
              <a:t>1460 5840</a:t>
            </a:r>
          </a:p>
          <a:p>
            <a:r>
              <a:rPr lang="en-US" dirty="0"/>
              <a:t>1460 7300</a:t>
            </a:r>
          </a:p>
          <a:p>
            <a:r>
              <a:rPr lang="en-US" dirty="0"/>
              <a:t>...</a:t>
            </a:r>
          </a:p>
          <a:p>
            <a:r>
              <a:rPr lang="en-US" dirty="0"/>
              <a:t>1460 62780</a:t>
            </a:r>
          </a:p>
          <a:p>
            <a:r>
              <a:rPr lang="en-US" dirty="0"/>
              <a:t>1460 64240</a:t>
            </a:r>
          </a:p>
          <a:p>
            <a:r>
              <a:rPr lang="en-US" dirty="0"/>
              <a:t>2920 67160</a:t>
            </a:r>
          </a:p>
          <a:p>
            <a:r>
              <a:rPr lang="en-US" dirty="0" smtClean="0"/>
              <a:t>Header </a:t>
            </a:r>
            <a:r>
              <a:rPr lang="en-US" dirty="0"/>
              <a:t>length 240</a:t>
            </a:r>
          </a:p>
          <a:p>
            <a:r>
              <a:rPr lang="en-US" dirty="0"/>
              <a:t>HTTP/1.1 200 OK</a:t>
            </a:r>
          </a:p>
          <a:p>
            <a:r>
              <a:rPr lang="en-US" dirty="0"/>
              <a:t>Date: Sat, 02 Nov 2013 02:15:07 GMT</a:t>
            </a:r>
          </a:p>
          <a:p>
            <a:endParaRPr lang="en-US" dirty="0"/>
          </a:p>
        </p:txBody>
      </p:sp>
      <p:sp>
        <p:nvSpPr>
          <p:cNvPr id="4" name="Curved Up Arrow 3"/>
          <p:cNvSpPr/>
          <p:nvPr/>
        </p:nvSpPr>
        <p:spPr>
          <a:xfrm>
            <a:off x="2286000" y="5715000"/>
            <a:ext cx="2667000" cy="6096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p:cNvSpPr txBox="1"/>
          <p:nvPr/>
        </p:nvSpPr>
        <p:spPr>
          <a:xfrm>
            <a:off x="3048000" y="5750668"/>
            <a:ext cx="914400" cy="369332"/>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dirty="0" smtClean="0"/>
              <a:t>Output</a:t>
            </a:r>
            <a:endParaRPr lang="en-US" dirty="0"/>
          </a:p>
        </p:txBody>
      </p:sp>
    </p:spTree>
    <p:extLst>
      <p:ext uri="{BB962C8B-B14F-4D97-AF65-F5344CB8AC3E}">
        <p14:creationId xmlns:p14="http://schemas.microsoft.com/office/powerpoint/2010/main" val="36459276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4675" lvl="2" indent="0" defTabSz="914363">
              <a:lnSpc>
                <a:spcPct val="90000"/>
              </a:lnSpc>
              <a:buSzPct val="100000"/>
              <a:buNone/>
            </a:pPr>
            <a:endParaRPr lang="en-IN" sz="1400" dirty="0">
              <a:solidFill>
                <a:srgbClr val="6600CC"/>
              </a:solidFill>
            </a:endParaRPr>
          </a:p>
        </p:txBody>
      </p:sp>
      <p:sp>
        <p:nvSpPr>
          <p:cNvPr id="6" name="Title 1"/>
          <p:cNvSpPr>
            <a:spLocks noGrp="1"/>
          </p:cNvSpPr>
          <p:nvPr>
            <p:ph type="title"/>
          </p:nvPr>
        </p:nvSpPr>
        <p:spPr/>
        <p:txBody>
          <a:bodyPr anchor="t" anchorCtr="0">
            <a:normAutofit/>
          </a:bodyPr>
          <a:lstStyle/>
          <a:p>
            <a:pPr algn="l"/>
            <a:r>
              <a:rPr lang="en-US" sz="2000" b="1" dirty="0" smtClean="0">
                <a:solidFill>
                  <a:schemeClr val="bg1"/>
                </a:solidFill>
                <a:latin typeface="Vrinda" pitchFamily="34" charset="0"/>
                <a:cs typeface="Vrinda" pitchFamily="34" charset="0"/>
              </a:rPr>
              <a:t/>
            </a:r>
            <a:br>
              <a:rPr lang="en-US" sz="20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Retrieving Web Pages </a:t>
            </a:r>
            <a:br>
              <a:rPr lang="en-US" sz="24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with “</a:t>
            </a:r>
            <a:r>
              <a:rPr lang="en-US" sz="2400" b="1" dirty="0" err="1" smtClean="0">
                <a:solidFill>
                  <a:schemeClr val="bg1"/>
                </a:solidFill>
                <a:latin typeface="Vrinda" pitchFamily="34" charset="0"/>
                <a:cs typeface="Vrinda" pitchFamily="34" charset="0"/>
              </a:rPr>
              <a:t>urllib</a:t>
            </a:r>
            <a:r>
              <a:rPr lang="en-US" sz="2400" b="1" dirty="0" smtClean="0">
                <a:solidFill>
                  <a:schemeClr val="bg1"/>
                </a:solidFill>
                <a:latin typeface="Vrinda" pitchFamily="34" charset="0"/>
                <a:cs typeface="Vrinda" pitchFamily="34" charset="0"/>
              </a:rPr>
              <a:t>”</a:t>
            </a:r>
            <a:endParaRPr lang="en-US" sz="2400" b="1" dirty="0">
              <a:solidFill>
                <a:schemeClr val="bg1"/>
              </a:solidFill>
              <a:latin typeface="Vrinda" pitchFamily="34" charset="0"/>
              <a:cs typeface="Vrinda" pitchFamily="34" charset="0"/>
            </a:endParaRPr>
          </a:p>
        </p:txBody>
      </p:sp>
      <p:sp>
        <p:nvSpPr>
          <p:cNvPr id="3" name="Content Placeholder 2"/>
          <p:cNvSpPr>
            <a:spLocks noGrp="1"/>
          </p:cNvSpPr>
          <p:nvPr>
            <p:ph idx="1"/>
          </p:nvPr>
        </p:nvSpPr>
        <p:spPr>
          <a:xfrm>
            <a:off x="533400" y="1600200"/>
            <a:ext cx="8153400" cy="4525963"/>
          </a:xfrm>
        </p:spPr>
        <p:txBody>
          <a:bodyPr>
            <a:normAutofit/>
          </a:bodyPr>
          <a:lstStyle/>
          <a:p>
            <a:pPr marL="514350" lvl="1" indent="-396875" defTabSz="914363">
              <a:lnSpc>
                <a:spcPct val="90000"/>
              </a:lnSpc>
              <a:buSzPct val="100000"/>
              <a:buBlip>
                <a:blip r:embed="rId4"/>
              </a:buBlip>
            </a:pPr>
            <a:r>
              <a:rPr lang="en-US" sz="2400" dirty="0" smtClean="0">
                <a:solidFill>
                  <a:srgbClr val="6600CC"/>
                </a:solidFill>
              </a:rPr>
              <a:t>We </a:t>
            </a:r>
            <a:r>
              <a:rPr lang="en-US" sz="2400" dirty="0">
                <a:solidFill>
                  <a:srgbClr val="6600CC"/>
                </a:solidFill>
              </a:rPr>
              <a:t>can manually send and receive data over HTTP using the socket library in a simpler way using “</a:t>
            </a:r>
            <a:r>
              <a:rPr lang="en-US" sz="2400" dirty="0" err="1">
                <a:solidFill>
                  <a:srgbClr val="6600CC"/>
                </a:solidFill>
              </a:rPr>
              <a:t>urllib</a:t>
            </a:r>
            <a:r>
              <a:rPr lang="en-US" sz="2400" dirty="0">
                <a:solidFill>
                  <a:srgbClr val="6600CC"/>
                </a:solidFill>
              </a:rPr>
              <a:t>”.</a:t>
            </a:r>
          </a:p>
          <a:p>
            <a:pPr marL="514350" lvl="1" indent="-396875" defTabSz="914363">
              <a:lnSpc>
                <a:spcPct val="90000"/>
              </a:lnSpc>
              <a:buSzPct val="100000"/>
              <a:buBlip>
                <a:blip r:embed="rId4"/>
              </a:buBlip>
            </a:pPr>
            <a:r>
              <a:rPr lang="en-US" sz="2400" dirty="0">
                <a:solidFill>
                  <a:srgbClr val="6600CC"/>
                </a:solidFill>
              </a:rPr>
              <a:t>“</a:t>
            </a:r>
            <a:r>
              <a:rPr lang="en-US" sz="2400" dirty="0" err="1">
                <a:solidFill>
                  <a:srgbClr val="6600CC"/>
                </a:solidFill>
              </a:rPr>
              <a:t>urllib</a:t>
            </a:r>
            <a:r>
              <a:rPr lang="en-US" sz="2400" dirty="0">
                <a:solidFill>
                  <a:srgbClr val="6600CC"/>
                </a:solidFill>
              </a:rPr>
              <a:t>” will retrieve the web page which you have indicated and handles all of the http protocol and header </a:t>
            </a:r>
            <a:r>
              <a:rPr lang="en-US" sz="2400" dirty="0" smtClean="0">
                <a:solidFill>
                  <a:srgbClr val="6600CC"/>
                </a:solidFill>
              </a:rPr>
              <a:t>details.</a:t>
            </a:r>
            <a:endParaRPr lang="en-IN" sz="2400" dirty="0">
              <a:solidFill>
                <a:srgbClr val="6600CC"/>
              </a:solidFill>
              <a:cs typeface="Vrinda" pitchFamily="34" charset="0"/>
            </a:endParaRPr>
          </a:p>
          <a:p>
            <a:pPr>
              <a:buFont typeface="Wingdings" panose="05000000000000000000" pitchFamily="2" charset="2"/>
              <a:buChar char="§"/>
            </a:pPr>
            <a:endParaRPr lang="en-US" sz="1600" dirty="0" smtClean="0">
              <a:solidFill>
                <a:srgbClr val="6600CC"/>
              </a:solidFill>
            </a:endParaRPr>
          </a:p>
          <a:p>
            <a:pPr>
              <a:buFont typeface="Wingdings" panose="05000000000000000000" pitchFamily="2" charset="2"/>
              <a:buChar char="§"/>
            </a:pPr>
            <a:endParaRPr lang="en-US" sz="1600" dirty="0">
              <a:solidFill>
                <a:srgbClr val="6600CC"/>
              </a:solidFill>
            </a:endParaRPr>
          </a:p>
          <a:p>
            <a:pPr>
              <a:buFont typeface="Wingdings" panose="05000000000000000000" pitchFamily="2" charset="2"/>
              <a:buChar char="§"/>
            </a:pPr>
            <a:endParaRPr lang="en-US" sz="1600" dirty="0">
              <a:solidFill>
                <a:srgbClr val="6600CC"/>
              </a:solidFill>
            </a:endParaRPr>
          </a:p>
          <a:p>
            <a:pPr marL="0" indent="0">
              <a:buNone/>
            </a:pPr>
            <a:endParaRPr lang="en-US" sz="1600" dirty="0" smtClean="0">
              <a:solidFill>
                <a:srgbClr val="6600CC"/>
              </a:solidFill>
            </a:endParaRPr>
          </a:p>
          <a:p>
            <a:pPr marL="0" indent="0">
              <a:buNone/>
            </a:pPr>
            <a:endParaRPr lang="en-US" sz="1600" dirty="0" smtClean="0">
              <a:solidFill>
                <a:srgbClr val="6600CC"/>
              </a:solidFill>
            </a:endParaRPr>
          </a:p>
          <a:p>
            <a:pPr marL="0" indent="0">
              <a:buNone/>
            </a:pPr>
            <a:endParaRPr lang="en-US" sz="1600" dirty="0" smtClean="0">
              <a:solidFill>
                <a:srgbClr val="6600CC"/>
              </a:solidFill>
            </a:endParaRPr>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124200"/>
            <a:ext cx="6953250" cy="1454150"/>
          </a:xfrm>
          <a:prstGeom prst="rect">
            <a:avLst/>
          </a:prstGeom>
          <a:noFill/>
          <a:ln w="38100">
            <a:solidFill>
              <a:srgbClr val="C60477"/>
            </a:solidFill>
            <a:miter lim="800000"/>
            <a:headEnd/>
            <a:tailEnd/>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2895600" y="4578350"/>
            <a:ext cx="4876800" cy="147732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i="1" dirty="0" smtClean="0"/>
              <a:t>Output:</a:t>
            </a:r>
          </a:p>
          <a:p>
            <a:r>
              <a:rPr lang="en-US" dirty="0" smtClean="0"/>
              <a:t>But </a:t>
            </a:r>
            <a:r>
              <a:rPr lang="en-US" dirty="0"/>
              <a:t>soft what light through yonder window breaks</a:t>
            </a:r>
          </a:p>
          <a:p>
            <a:r>
              <a:rPr lang="en-US" dirty="0"/>
              <a:t>It is the east and Juliet is the sun</a:t>
            </a:r>
          </a:p>
          <a:p>
            <a:r>
              <a:rPr lang="en-US" dirty="0"/>
              <a:t>Arise fair sun and kill the envious moon</a:t>
            </a:r>
          </a:p>
          <a:p>
            <a:r>
              <a:rPr lang="en-US" dirty="0"/>
              <a:t>Who is already sick and pale with </a:t>
            </a:r>
            <a:r>
              <a:rPr lang="en-US" dirty="0" smtClean="0"/>
              <a:t>grief</a:t>
            </a:r>
            <a:endParaRPr lang="en-US" dirty="0"/>
          </a:p>
        </p:txBody>
      </p:sp>
      <p:sp>
        <p:nvSpPr>
          <p:cNvPr id="8" name="Bent-Up Arrow 7"/>
          <p:cNvSpPr/>
          <p:nvPr/>
        </p:nvSpPr>
        <p:spPr>
          <a:xfrm rot="5400000">
            <a:off x="1738122" y="4271264"/>
            <a:ext cx="850392" cy="1464564"/>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03328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98983" y="2743200"/>
            <a:ext cx="4263617" cy="16764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US" sz="1600" dirty="0" smtClean="0"/>
          </a:p>
          <a:p>
            <a:endParaRPr lang="en-US" sz="1600" dirty="0"/>
          </a:p>
          <a:p>
            <a:r>
              <a:rPr lang="en-US" sz="1600" dirty="0" smtClean="0"/>
              <a:t>Using </a:t>
            </a:r>
            <a:r>
              <a:rPr lang="en-US" sz="1600" dirty="0"/>
              <a:t>_______, we can treat Web Page much like a </a:t>
            </a:r>
            <a:r>
              <a:rPr lang="en-US" sz="1600" dirty="0" smtClean="0"/>
              <a:t>file.</a:t>
            </a:r>
            <a:endParaRPr lang="en-US" sz="1600" dirty="0"/>
          </a:p>
          <a:p>
            <a:endParaRPr lang="en-US" sz="1600" dirty="0" smtClean="0"/>
          </a:p>
          <a:p>
            <a:pPr algn="ctr"/>
            <a:endParaRPr lang="en-IN" sz="1600" dirty="0" smtClean="0"/>
          </a:p>
          <a:p>
            <a:pPr algn="ctr"/>
            <a:endParaRPr lang="en-US" sz="1600" dirty="0"/>
          </a:p>
        </p:txBody>
      </p:sp>
    </p:spTree>
    <p:extLst>
      <p:ext uri="{BB962C8B-B14F-4D97-AF65-F5344CB8AC3E}">
        <p14:creationId xmlns:p14="http://schemas.microsoft.com/office/powerpoint/2010/main" val="54348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52600"/>
            <a:ext cx="7918704" cy="4343400"/>
          </a:xfrm>
        </p:spPr>
      </p:pic>
      <p:grpSp>
        <p:nvGrpSpPr>
          <p:cNvPr id="5" name="Group 4"/>
          <p:cNvGrpSpPr/>
          <p:nvPr/>
        </p:nvGrpSpPr>
        <p:grpSpPr>
          <a:xfrm>
            <a:off x="2752322" y="4982115"/>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316555"/>
            </a:xfrm>
            <a:prstGeom prst="rect">
              <a:avLst/>
            </a:prstGeom>
            <a:ln>
              <a:noFill/>
            </a:ln>
            <a:effectLst>
              <a:glow rad="63500">
                <a:schemeClr val="accent3">
                  <a:satMod val="175000"/>
                  <a:alpha val="40000"/>
                </a:schemeClr>
              </a:glow>
            </a:effectLst>
          </p:spPr>
          <p:txBody>
            <a:bodyPr wrap="square">
              <a:spAutoFit/>
            </a:bodyPr>
            <a:lstStyle/>
            <a:p>
              <a:r>
                <a:rPr lang="en-US" sz="1600" b="1" dirty="0" err="1" smtClean="0">
                  <a:solidFill>
                    <a:schemeClr val="bg1"/>
                  </a:solidFill>
                </a:rPr>
                <a:t>urllib</a:t>
              </a:r>
              <a:endParaRPr lang="en-US" sz="1600" b="1" dirty="0">
                <a:solidFill>
                  <a:schemeClr val="bg1"/>
                </a:solidFill>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98983" y="2743200"/>
            <a:ext cx="4263617" cy="16764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US" sz="1600" dirty="0" smtClean="0"/>
          </a:p>
          <a:p>
            <a:endParaRPr lang="en-US" sz="1600" dirty="0"/>
          </a:p>
          <a:p>
            <a:r>
              <a:rPr lang="en-US" sz="1600" dirty="0" smtClean="0"/>
              <a:t>Using </a:t>
            </a:r>
            <a:r>
              <a:rPr lang="en-US" sz="1600" dirty="0"/>
              <a:t>_______, we can treat Web Page much like a </a:t>
            </a:r>
            <a:r>
              <a:rPr lang="en-US" sz="1600" dirty="0" smtClean="0"/>
              <a:t>file.</a:t>
            </a:r>
            <a:endParaRPr lang="en-US" sz="1600" dirty="0"/>
          </a:p>
          <a:p>
            <a:endParaRPr lang="en-US" sz="1600" dirty="0" smtClean="0"/>
          </a:p>
          <a:p>
            <a:pPr algn="ctr"/>
            <a:endParaRPr lang="en-IN" sz="1600" dirty="0" smtClean="0"/>
          </a:p>
          <a:p>
            <a:pPr algn="ctr"/>
            <a:endParaRPr lang="en-US" sz="1600" dirty="0"/>
          </a:p>
        </p:txBody>
      </p:sp>
    </p:spTree>
    <p:extLst>
      <p:ext uri="{BB962C8B-B14F-4D97-AF65-F5344CB8AC3E}">
        <p14:creationId xmlns:p14="http://schemas.microsoft.com/office/powerpoint/2010/main" val="367624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98983" y="2743200"/>
            <a:ext cx="4263617" cy="16764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US" sz="1600" dirty="0" smtClean="0"/>
          </a:p>
          <a:p>
            <a:endParaRPr lang="en-US" sz="1600" dirty="0"/>
          </a:p>
          <a:p>
            <a:endParaRPr lang="en-US" sz="1600" dirty="0" smtClean="0"/>
          </a:p>
          <a:p>
            <a:r>
              <a:rPr lang="en-US" sz="1600" dirty="0" smtClean="0"/>
              <a:t>A </a:t>
            </a:r>
            <a:r>
              <a:rPr lang="en-US" sz="1600" dirty="0"/>
              <a:t>______ is much like a file, except that it provides a two-way connection between two programs with a single </a:t>
            </a:r>
            <a:r>
              <a:rPr lang="en-US" sz="1600" dirty="0" smtClean="0"/>
              <a:t>socket.</a:t>
            </a:r>
            <a:endParaRPr lang="en-US" sz="1600" dirty="0"/>
          </a:p>
          <a:p>
            <a:endParaRPr lang="en-US" sz="1600" dirty="0" smtClean="0"/>
          </a:p>
          <a:p>
            <a:endParaRPr lang="en-US" sz="1600" dirty="0" smtClean="0"/>
          </a:p>
          <a:p>
            <a:pPr algn="ctr"/>
            <a:endParaRPr lang="en-IN" sz="1600" dirty="0" smtClean="0"/>
          </a:p>
          <a:p>
            <a:pPr algn="ctr"/>
            <a:endParaRPr lang="en-US" sz="1600" dirty="0"/>
          </a:p>
        </p:txBody>
      </p:sp>
    </p:spTree>
    <p:extLst>
      <p:ext uri="{BB962C8B-B14F-4D97-AF65-F5344CB8AC3E}">
        <p14:creationId xmlns:p14="http://schemas.microsoft.com/office/powerpoint/2010/main" val="285308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52322" y="4982115"/>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316555"/>
            </a:xfrm>
            <a:prstGeom prst="rect">
              <a:avLst/>
            </a:prstGeom>
            <a:ln>
              <a:noFill/>
            </a:ln>
            <a:effectLst>
              <a:glow rad="63500">
                <a:schemeClr val="accent3">
                  <a:satMod val="175000"/>
                  <a:alpha val="40000"/>
                </a:schemeClr>
              </a:glow>
            </a:effectLst>
          </p:spPr>
          <p:txBody>
            <a:bodyPr wrap="square">
              <a:spAutoFit/>
            </a:bodyPr>
            <a:lstStyle/>
            <a:p>
              <a:r>
                <a:rPr lang="en-US" sz="1600" b="1" dirty="0" smtClean="0">
                  <a:solidFill>
                    <a:schemeClr val="bg1"/>
                  </a:solidFill>
                </a:rPr>
                <a:t>Socket</a:t>
              </a:r>
              <a:endParaRPr lang="en-US" sz="1600" b="1" dirty="0">
                <a:solidFill>
                  <a:schemeClr val="bg1"/>
                </a:solidFill>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98983" y="2743200"/>
            <a:ext cx="4263617" cy="16764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US" sz="1600" dirty="0" smtClean="0"/>
          </a:p>
          <a:p>
            <a:endParaRPr lang="en-US" sz="1600" dirty="0"/>
          </a:p>
          <a:p>
            <a:endParaRPr lang="en-US" sz="1600" dirty="0" smtClean="0"/>
          </a:p>
          <a:p>
            <a:r>
              <a:rPr lang="en-US" sz="1600" dirty="0" smtClean="0"/>
              <a:t>A </a:t>
            </a:r>
            <a:r>
              <a:rPr lang="en-US" sz="1600" dirty="0"/>
              <a:t>______ is much like a file, except that it provides a two-way connection between two programs with a single </a:t>
            </a:r>
            <a:r>
              <a:rPr lang="en-US" sz="1600" dirty="0" smtClean="0"/>
              <a:t>socket.</a:t>
            </a:r>
            <a:endParaRPr lang="en-US" sz="1600" dirty="0"/>
          </a:p>
          <a:p>
            <a:endParaRPr lang="en-US" sz="1600" dirty="0" smtClean="0"/>
          </a:p>
          <a:p>
            <a:endParaRPr lang="en-US" sz="1600" dirty="0" smtClean="0"/>
          </a:p>
          <a:p>
            <a:pPr algn="ctr"/>
            <a:endParaRPr lang="en-IN" sz="1600" dirty="0" smtClean="0"/>
          </a:p>
          <a:p>
            <a:pPr algn="ctr"/>
            <a:endParaRPr lang="en-US" sz="1600" dirty="0"/>
          </a:p>
        </p:txBody>
      </p:sp>
    </p:spTree>
    <p:extLst>
      <p:ext uri="{BB962C8B-B14F-4D97-AF65-F5344CB8AC3E}">
        <p14:creationId xmlns:p14="http://schemas.microsoft.com/office/powerpoint/2010/main" val="257726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588704" y="1744674"/>
            <a:ext cx="7848872" cy="487506"/>
          </a:xfrm>
          <a:prstGeom prst="rect">
            <a:avLst/>
          </a:prstGeom>
        </p:spPr>
        <p:txBody>
          <a:bodyPr wrap="square">
            <a:spAutoFit/>
          </a:bodyPr>
          <a:lstStyle/>
          <a:p>
            <a:pPr>
              <a:lnSpc>
                <a:spcPct val="107000"/>
              </a:lnSpc>
              <a:spcAft>
                <a:spcPts val="800"/>
              </a:spcAft>
            </a:pPr>
            <a:r>
              <a:rPr lang="en-US" sz="2400" b="1" dirty="0" smtClean="0">
                <a:solidFill>
                  <a:srgbClr val="6600CC"/>
                </a:solidFill>
                <a:latin typeface="Vrinda" panose="020B0502040204020203" pitchFamily="34" charset="0"/>
                <a:ea typeface="Calibri" panose="020F0502020204030204" pitchFamily="34" charset="0"/>
                <a:cs typeface="Vrinda" panose="020B0502040204020203" pitchFamily="34" charset="0"/>
              </a:rPr>
              <a:t>Activity : </a:t>
            </a:r>
            <a:r>
              <a:rPr lang="en-US" sz="2400" b="1" dirty="0">
                <a:solidFill>
                  <a:srgbClr val="6600CC"/>
                </a:solidFill>
                <a:latin typeface="Vrinda" panose="020B0502040204020203" pitchFamily="34" charset="0"/>
                <a:ea typeface="Calibri" panose="020F0502020204030204" pitchFamily="34" charset="0"/>
                <a:cs typeface="Vrinda" panose="020B0502040204020203" pitchFamily="34" charset="0"/>
              </a:rPr>
              <a:t> </a:t>
            </a:r>
            <a:r>
              <a:rPr lang="en-US" sz="2400" b="1" dirty="0" smtClean="0">
                <a:solidFill>
                  <a:srgbClr val="6600CC"/>
                </a:solidFill>
                <a:latin typeface="Vrinda" panose="020B0502040204020203" pitchFamily="34" charset="0"/>
                <a:ea typeface="Calibri" panose="020F0502020204030204" pitchFamily="34" charset="0"/>
                <a:cs typeface="Vrinda" panose="020B0502040204020203" pitchFamily="34" charset="0"/>
              </a:rPr>
              <a:t>Implementing Network Programming</a:t>
            </a:r>
            <a:endParaRPr lang="en-US" sz="2400" dirty="0">
              <a:solidFill>
                <a:srgbClr val="6600CC"/>
              </a:solidFill>
              <a:effectLst/>
              <a:latin typeface="Vrinda" panose="020B0502040204020203" pitchFamily="34" charset="0"/>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426972" y="2467690"/>
            <a:ext cx="8336028"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6600CC"/>
              </a:solidFill>
              <a:effectLst/>
            </a:endParaRPr>
          </a:p>
          <a:p>
            <a:r>
              <a:rPr lang="en-US" sz="1600" dirty="0" smtClean="0">
                <a:solidFill>
                  <a:srgbClr val="6600CC"/>
                </a:solidFill>
              </a:rPr>
              <a:t>Write a socket </a:t>
            </a:r>
            <a:r>
              <a:rPr lang="en-US" sz="1600" dirty="0">
                <a:solidFill>
                  <a:srgbClr val="6600CC"/>
                </a:solidFill>
              </a:rPr>
              <a:t>program so that it counts the number of characters it has received and stops displaying any text after it has shown 3000 characters. The program should retrieve the entire document and count the total number of characters and display the count of the number of characters at the end of the document</a:t>
            </a:r>
            <a:r>
              <a:rPr lang="en-US" sz="1600" dirty="0" smtClean="0">
                <a:solidFill>
                  <a:srgbClr val="6600CC"/>
                </a:solidFill>
              </a:rPr>
              <a:t>.</a:t>
            </a:r>
          </a:p>
          <a:p>
            <a:endParaRPr lang="en-US" sz="1600" dirty="0" smtClean="0">
              <a:solidFill>
                <a:srgbClr val="6600CC"/>
              </a:solidFill>
            </a:endParaRPr>
          </a:p>
          <a:p>
            <a:r>
              <a:rPr lang="en-US" sz="1600" b="1" dirty="0">
                <a:solidFill>
                  <a:srgbClr val="6600CC"/>
                </a:solidFill>
                <a:ea typeface="Calibri" panose="020F0502020204030204" pitchFamily="34" charset="0"/>
                <a:cs typeface="Times New Roman" panose="02020603050405020304" pitchFamily="18" charset="0"/>
              </a:rPr>
              <a:t>Prerequisite: </a:t>
            </a:r>
            <a:r>
              <a:rPr lang="en-US" sz="1600" dirty="0">
                <a:solidFill>
                  <a:srgbClr val="6600CC"/>
                </a:solidFill>
                <a:ea typeface="Calibri" panose="020F0502020204030204" pitchFamily="34" charset="0"/>
                <a:cs typeface="Times New Roman" panose="02020603050405020304" pitchFamily="18" charset="0"/>
              </a:rPr>
              <a:t>Internet connection must </a:t>
            </a:r>
            <a:r>
              <a:rPr lang="en-US" sz="1600" dirty="0" smtClean="0">
                <a:solidFill>
                  <a:srgbClr val="6600CC"/>
                </a:solidFill>
                <a:ea typeface="Calibri" panose="020F0502020204030204" pitchFamily="34" charset="0"/>
                <a:cs typeface="Times New Roman" panose="02020603050405020304" pitchFamily="18" charset="0"/>
              </a:rPr>
              <a:t>be available to </a:t>
            </a:r>
            <a:r>
              <a:rPr lang="en-US" sz="1600" dirty="0">
                <a:solidFill>
                  <a:srgbClr val="6600CC"/>
                </a:solidFill>
                <a:ea typeface="Calibri" panose="020F0502020204030204" pitchFamily="34" charset="0"/>
                <a:cs typeface="Times New Roman" panose="02020603050405020304" pitchFamily="18" charset="0"/>
              </a:rPr>
              <a:t>run this </a:t>
            </a:r>
            <a:r>
              <a:rPr lang="en-US" sz="1600" dirty="0" smtClean="0">
                <a:solidFill>
                  <a:srgbClr val="6600CC"/>
                </a:solidFill>
                <a:ea typeface="Calibri" panose="020F0502020204030204" pitchFamily="34" charset="0"/>
                <a:cs typeface="Times New Roman" panose="02020603050405020304" pitchFamily="18" charset="0"/>
              </a:rPr>
              <a:t>activity.</a:t>
            </a:r>
            <a:endParaRPr lang="en-US" sz="1600" dirty="0">
              <a:solidFill>
                <a:srgbClr val="6600CC"/>
              </a:solidFill>
              <a:ea typeface="Calibri" panose="020F0502020204030204" pitchFamily="34" charset="0"/>
              <a:cs typeface="Times New Roman" panose="02020603050405020304" pitchFamily="18" charset="0"/>
            </a:endParaRPr>
          </a:p>
          <a:p>
            <a:endParaRPr lang="en-US" sz="1600" dirty="0" smtClean="0"/>
          </a:p>
          <a:p>
            <a:endParaRPr lang="en-US" sz="1600" dirty="0"/>
          </a:p>
        </p:txBody>
      </p:sp>
    </p:spTree>
    <p:extLst>
      <p:ext uri="{BB962C8B-B14F-4D97-AF65-F5344CB8AC3E}">
        <p14:creationId xmlns:p14="http://schemas.microsoft.com/office/powerpoint/2010/main" val="42179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Summary</a:t>
            </a: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381000" y="16002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q"/>
            </a:pPr>
            <a:endParaRPr lang="en-IN" sz="1600" dirty="0" smtClean="0">
              <a:solidFill>
                <a:srgbClr val="6600CC"/>
              </a:solidFill>
              <a:latin typeface="Vrinda" pitchFamily="34" charset="0"/>
              <a:cs typeface="Vrinda" pitchFamily="34" charset="0"/>
            </a:endParaRPr>
          </a:p>
          <a:p>
            <a:pPr>
              <a:buFont typeface="Wingdings" panose="05000000000000000000" pitchFamily="2" charset="2"/>
              <a:buChar char="q"/>
            </a:pPr>
            <a:r>
              <a:rPr lang="en-IN" sz="2400" dirty="0" smtClean="0">
                <a:solidFill>
                  <a:srgbClr val="6600CC"/>
                </a:solidFill>
                <a:cs typeface="Vrinda" pitchFamily="34" charset="0"/>
              </a:rPr>
              <a:t>In </a:t>
            </a:r>
            <a:r>
              <a:rPr lang="en-IN" sz="2400" dirty="0">
                <a:solidFill>
                  <a:srgbClr val="6600CC"/>
                </a:solidFill>
                <a:cs typeface="Vrinda" pitchFamily="34" charset="0"/>
              </a:rPr>
              <a:t>this session, you </a:t>
            </a:r>
            <a:r>
              <a:rPr lang="en-IN" sz="2400" dirty="0" smtClean="0">
                <a:solidFill>
                  <a:srgbClr val="6600CC"/>
                </a:solidFill>
                <a:cs typeface="Vrinda" pitchFamily="34" charset="0"/>
              </a:rPr>
              <a:t>learned to:</a:t>
            </a:r>
            <a:endParaRPr lang="en-IN" sz="2400" dirty="0">
              <a:solidFill>
                <a:srgbClr val="6600CC"/>
              </a:solidFill>
              <a:cs typeface="Vrinda" pitchFamily="34" charset="0"/>
            </a:endParaRPr>
          </a:p>
          <a:p>
            <a:pPr lvl="1">
              <a:lnSpc>
                <a:spcPct val="90000"/>
              </a:lnSpc>
              <a:buSzPct val="120000"/>
              <a:buFont typeface="Wingdings" panose="05000000000000000000" pitchFamily="2" charset="2"/>
              <a:buChar char="q"/>
            </a:pPr>
            <a:endParaRPr lang="en-US" sz="2000" dirty="0">
              <a:solidFill>
                <a:srgbClr val="6600CC"/>
              </a:solidFill>
              <a:latin typeface="Vrinda" pitchFamily="34" charset="0"/>
              <a:cs typeface="Vrinda" pitchFamily="34" charset="0"/>
            </a:endParaRPr>
          </a:p>
          <a:p>
            <a:pPr marL="900000" lvl="1" indent="-396875" defTabSz="365760">
              <a:lnSpc>
                <a:spcPct val="90000"/>
              </a:lnSpc>
              <a:buSzPct val="120000"/>
              <a:buFont typeface="Wingdings" panose="05000000000000000000" pitchFamily="2" charset="2"/>
              <a:buChar char="q"/>
            </a:pPr>
            <a:r>
              <a:rPr lang="en-IN" sz="2000" dirty="0">
                <a:solidFill>
                  <a:srgbClr val="6600CC"/>
                </a:solidFill>
                <a:cs typeface="Vrinda" pitchFamily="34" charset="0"/>
              </a:rPr>
              <a:t>Extract Data Using Regular Expression.</a:t>
            </a:r>
          </a:p>
          <a:p>
            <a:pPr marL="900000" lvl="1" indent="-396875" defTabSz="365760">
              <a:lnSpc>
                <a:spcPct val="90000"/>
              </a:lnSpc>
              <a:buSzPct val="120000"/>
              <a:buFont typeface="Wingdings" panose="05000000000000000000" pitchFamily="2" charset="2"/>
              <a:buChar char="q"/>
            </a:pPr>
            <a:r>
              <a:rPr lang="en-US" sz="2000" dirty="0">
                <a:solidFill>
                  <a:srgbClr val="6600CC"/>
                </a:solidFill>
                <a:cs typeface="Vrinda" pitchFamily="34" charset="0"/>
              </a:rPr>
              <a:t>Combine and Search Data.</a:t>
            </a:r>
          </a:p>
          <a:p>
            <a:pPr marL="900000" lvl="1" indent="-396875" defTabSz="365760">
              <a:lnSpc>
                <a:spcPct val="90000"/>
              </a:lnSpc>
              <a:buSzPct val="120000"/>
              <a:buFont typeface="Wingdings" panose="05000000000000000000" pitchFamily="2" charset="2"/>
              <a:buChar char="q"/>
            </a:pPr>
            <a:r>
              <a:rPr lang="en-US" sz="2000" dirty="0">
                <a:solidFill>
                  <a:srgbClr val="6600CC"/>
                </a:solidFill>
                <a:cs typeface="Vrinda" pitchFamily="34" charset="0"/>
              </a:rPr>
              <a:t>Implement Networking in Python.</a:t>
            </a:r>
          </a:p>
          <a:p>
            <a:pPr marL="900000" lvl="1" indent="-396875" defTabSz="365760">
              <a:lnSpc>
                <a:spcPct val="90000"/>
              </a:lnSpc>
              <a:buSzPct val="120000"/>
              <a:buFont typeface="Wingdings" panose="05000000000000000000" pitchFamily="2" charset="2"/>
              <a:buChar char="q"/>
            </a:pPr>
            <a:r>
              <a:rPr lang="en-US" sz="2000" dirty="0">
                <a:solidFill>
                  <a:srgbClr val="6600CC"/>
                </a:solidFill>
                <a:cs typeface="Vrinda" pitchFamily="34" charset="0"/>
              </a:rPr>
              <a:t>Explore HTTP.</a:t>
            </a:r>
          </a:p>
          <a:p>
            <a:pPr marL="900000" lvl="1" indent="-396875" defTabSz="365760">
              <a:lnSpc>
                <a:spcPct val="90000"/>
              </a:lnSpc>
              <a:buSzPct val="120000"/>
              <a:buFont typeface="Wingdings" panose="05000000000000000000" pitchFamily="2" charset="2"/>
              <a:buChar char="q"/>
            </a:pPr>
            <a:r>
              <a:rPr lang="en-US" sz="2000" dirty="0">
                <a:solidFill>
                  <a:srgbClr val="6600CC"/>
                </a:solidFill>
                <a:cs typeface="Vrinda" pitchFamily="34" charset="0"/>
              </a:rPr>
              <a:t>Retrieve Images using HTTP.</a:t>
            </a:r>
          </a:p>
          <a:p>
            <a:pPr marL="900000" lvl="1" indent="-396875" defTabSz="365760">
              <a:lnSpc>
                <a:spcPct val="90000"/>
              </a:lnSpc>
              <a:buSzPct val="120000"/>
              <a:buFont typeface="Wingdings" panose="05000000000000000000" pitchFamily="2" charset="2"/>
              <a:buChar char="q"/>
            </a:pPr>
            <a:r>
              <a:rPr lang="en-US" sz="2000" dirty="0">
                <a:solidFill>
                  <a:srgbClr val="6600CC"/>
                </a:solidFill>
                <a:cs typeface="Vrinda" pitchFamily="34" charset="0"/>
              </a:rPr>
              <a:t>Retrieve Web Pages with URL Library.</a:t>
            </a:r>
            <a:endParaRPr lang="en-IN" sz="2000" dirty="0">
              <a:solidFill>
                <a:srgbClr val="6600CC"/>
              </a:solidFill>
              <a:cs typeface="Vrinda" pitchFamily="34" charset="0"/>
            </a:endParaRPr>
          </a:p>
          <a:p>
            <a:pPr marL="900000" lvl="1" indent="-396875" algn="just" defTabSz="914363">
              <a:lnSpc>
                <a:spcPct val="90000"/>
              </a:lnSpc>
              <a:buSzPct val="120000"/>
              <a:buFont typeface="Wingdings" panose="05000000000000000000" pitchFamily="2" charset="2"/>
              <a:buChar char="q"/>
            </a:pPr>
            <a:endParaRPr lang="en-US" sz="1600" dirty="0">
              <a:solidFill>
                <a:srgbClr val="6600CC"/>
              </a:solidFill>
            </a:endParaRPr>
          </a:p>
          <a:p>
            <a:pPr marL="788875" lvl="1" algn="just" defTabSz="914363">
              <a:lnSpc>
                <a:spcPct val="90000"/>
              </a:lnSpc>
              <a:buSzPct val="120000"/>
              <a:buFont typeface="Wingdings" panose="05000000000000000000" pitchFamily="2" charset="2"/>
              <a:buChar char="q"/>
            </a:pPr>
            <a:endParaRPr lang="en-US" sz="1600" dirty="0">
              <a:solidFill>
                <a:srgbClr val="6600CC"/>
              </a:solidFill>
            </a:endParaRPr>
          </a:p>
          <a:p>
            <a:pPr marL="900000" lvl="1" indent="-396875" algn="just" defTabSz="914363">
              <a:lnSpc>
                <a:spcPct val="90000"/>
              </a:lnSpc>
              <a:buSzPct val="120000"/>
              <a:buBlip>
                <a:blip r:embed="rId3"/>
              </a:buBlip>
            </a:pPr>
            <a:endParaRPr lang="en-US" sz="1600" dirty="0">
              <a:solidFill>
                <a:srgbClr val="6600CC"/>
              </a:solidFill>
            </a:endParaRPr>
          </a:p>
          <a:p>
            <a:pPr marL="900000" lvl="1" indent="-396875" algn="just" defTabSz="914363">
              <a:lnSpc>
                <a:spcPct val="90000"/>
              </a:lnSpc>
              <a:buSzPct val="120000"/>
              <a:buBlip>
                <a:blip r:embed="rId3"/>
              </a:buBlip>
            </a:pPr>
            <a:endParaRPr lang="en-US" sz="1600" dirty="0">
              <a:solidFill>
                <a:srgbClr val="6600CC"/>
              </a:solidFill>
            </a:endParaRPr>
          </a:p>
          <a:p>
            <a:pPr marL="900000" lvl="1" indent="-396875" defTabSz="914363">
              <a:lnSpc>
                <a:spcPct val="90000"/>
              </a:lnSpc>
              <a:buSzPct val="120000"/>
              <a:buBlip>
                <a:blip r:embed="rId3"/>
              </a:buBlip>
            </a:pPr>
            <a:endParaRPr lang="en-IN" sz="1800" dirty="0" smtClean="0">
              <a:solidFill>
                <a:srgbClr val="6600CC"/>
              </a:solidFill>
              <a:latin typeface="Vrinda" pitchFamily="34" charset="0"/>
              <a:cs typeface="Vrinda" pitchFamily="34" charset="0"/>
            </a:endParaRPr>
          </a:p>
          <a:p>
            <a:pPr marL="503125" lvl="1" indent="0" defTabSz="914363">
              <a:lnSpc>
                <a:spcPct val="90000"/>
              </a:lnSpc>
              <a:buSzPct val="120000"/>
              <a:buNone/>
            </a:pPr>
            <a:endParaRPr lang="en-IN" sz="1800" dirty="0" smtClean="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1322812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11481</TotalTime>
  <Words>2165</Words>
  <Application>Microsoft Office PowerPoint</Application>
  <PresentationFormat>On-screen Show (4:3)</PresentationFormat>
  <Paragraphs>384</Paragraphs>
  <Slides>23</Slides>
  <Notes>22</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Office Theme</vt:lpstr>
      <vt:lpstr>6_Office Theme</vt:lpstr>
      <vt:lpstr>Networking in Python</vt:lpstr>
      <vt:lpstr>Objectives</vt:lpstr>
      <vt:lpstr>Extracting Data Using Regular Expression</vt:lpstr>
      <vt:lpstr>Extracting Data Using Regular Expression (Contd.)</vt:lpstr>
      <vt:lpstr>Extracting Data Using Regular Expression (Contd.)</vt:lpstr>
      <vt:lpstr>Combining, Searching and Extracting</vt:lpstr>
      <vt:lpstr>Escape Character</vt:lpstr>
      <vt:lpstr>Just a Minute</vt:lpstr>
      <vt:lpstr>Just a Minute</vt:lpstr>
      <vt:lpstr>Activity</vt:lpstr>
      <vt:lpstr> Network Programming</vt:lpstr>
      <vt:lpstr> HyperText Transfer Protocol –  HTTP</vt:lpstr>
      <vt:lpstr> Understanding Sockets</vt:lpstr>
      <vt:lpstr> World’s Simplest Web Browser</vt:lpstr>
      <vt:lpstr> World’s Simplest Web Browser (Contd.)</vt:lpstr>
      <vt:lpstr> Retrieving Image over HTTP</vt:lpstr>
      <vt:lpstr> Retrieving Web Pages  with “urllib”</vt:lpstr>
      <vt:lpstr>Just a Minute</vt:lpstr>
      <vt:lpstr>Just a Minute </vt:lpstr>
      <vt:lpstr>Just a Minute</vt:lpstr>
      <vt:lpstr>Just a Minute </vt:lpstr>
      <vt:lpstr>Activity</vt:lpstr>
      <vt:lpstr>Summary</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AnnuS</cp:lastModifiedBy>
  <cp:revision>678</cp:revision>
  <dcterms:created xsi:type="dcterms:W3CDTF">2012-02-06T03:44:02Z</dcterms:created>
  <dcterms:modified xsi:type="dcterms:W3CDTF">2015-10-08T09:27:12Z</dcterms:modified>
</cp:coreProperties>
</file>