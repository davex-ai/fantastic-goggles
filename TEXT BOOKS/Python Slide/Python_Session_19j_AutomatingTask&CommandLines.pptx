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3.xml" ContentType="application/vnd.openxmlformats-officedocument.themeOverr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theme/themeOverride5.xml" ContentType="application/vnd.openxmlformats-officedocument.themeOverr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8.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9.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20" r:id="rId2"/>
  </p:sldMasterIdLst>
  <p:notesMasterIdLst>
    <p:notesMasterId r:id="rId19"/>
  </p:notesMasterIdLst>
  <p:sldIdLst>
    <p:sldId id="256" r:id="rId3"/>
    <p:sldId id="257" r:id="rId4"/>
    <p:sldId id="269" r:id="rId5"/>
    <p:sldId id="271" r:id="rId6"/>
    <p:sldId id="282" r:id="rId7"/>
    <p:sldId id="283" r:id="rId8"/>
    <p:sldId id="272" r:id="rId9"/>
    <p:sldId id="273" r:id="rId10"/>
    <p:sldId id="274" r:id="rId11"/>
    <p:sldId id="275" r:id="rId12"/>
    <p:sldId id="276" r:id="rId13"/>
    <p:sldId id="284" r:id="rId14"/>
    <p:sldId id="280" r:id="rId15"/>
    <p:sldId id="277" r:id="rId16"/>
    <p:sldId id="285" r:id="rId17"/>
    <p:sldId id="278" r:id="rId18"/>
  </p:sldIdLst>
  <p:sldSz cx="9144000" cy="6858000" type="screen4x3"/>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9900FF"/>
    <a:srgbClr val="0005CA"/>
    <a:srgbClr val="1D6D6B"/>
    <a:srgbClr val="000099"/>
    <a:srgbClr val="C60477"/>
    <a:srgbClr val="C60269"/>
    <a:srgbClr val="88064A"/>
    <a:srgbClr val="EE0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67" autoAdjust="0"/>
    <p:restoredTop sz="88544" autoAdjust="0"/>
  </p:normalViewPr>
  <p:slideViewPr>
    <p:cSldViewPr>
      <p:cViewPr varScale="1">
        <p:scale>
          <a:sx n="89" d="100"/>
          <a:sy n="89" d="100"/>
        </p:scale>
        <p:origin x="-1099" y="-6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073C2E-51A6-420F-8788-9A3EAC99032A}" type="datetimeFigureOut">
              <a:rPr lang="en-US" smtClean="0"/>
              <a:pPr/>
              <a:t>10/15/2015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091714-3304-44AF-AABA-9711959465C3}" type="slidenum">
              <a:rPr lang="en-US" smtClean="0"/>
              <a:pPr/>
              <a:t>‹#›</a:t>
            </a:fld>
            <a:endParaRPr lang="en-US"/>
          </a:p>
        </p:txBody>
      </p:sp>
    </p:spTree>
    <p:extLst>
      <p:ext uri="{BB962C8B-B14F-4D97-AF65-F5344CB8AC3E}">
        <p14:creationId xmlns:p14="http://schemas.microsoft.com/office/powerpoint/2010/main" val="315199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2</a:t>
            </a:fld>
            <a:endParaRPr lang="en-US" dirty="0"/>
          </a:p>
        </p:txBody>
      </p:sp>
    </p:spTree>
    <p:extLst>
      <p:ext uri="{BB962C8B-B14F-4D97-AF65-F5344CB8AC3E}">
        <p14:creationId xmlns:p14="http://schemas.microsoft.com/office/powerpoint/2010/main" val="3727141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Frequently, we need to read data from files, network, services and databases. For this, often we need to write programs that scan the computer system and perform some operations on files which are organized into directories (folders). Such a repetitive task can be done easily by using Python scripts. For example, we can walk/traverse through all the subdirectories and files in a directory tree, using the </a:t>
            </a:r>
            <a:r>
              <a:rPr lang="en-US" sz="1200" kern="1200" dirty="0" err="1" smtClean="0">
                <a:solidFill>
                  <a:schemeClr val="tx1"/>
                </a:solidFill>
                <a:effectLst/>
                <a:latin typeface="+mn-lt"/>
                <a:ea typeface="+mn-ea"/>
                <a:cs typeface="+mn-cs"/>
              </a:rPr>
              <a:t>os.walk</a:t>
            </a:r>
            <a:r>
              <a:rPr lang="en-US" sz="1200" kern="1200" dirty="0" smtClean="0">
                <a:solidFill>
                  <a:schemeClr val="tx1"/>
                </a:solidFill>
                <a:effectLst/>
                <a:latin typeface="+mn-lt"/>
                <a:ea typeface="+mn-ea"/>
                <a:cs typeface="+mn-cs"/>
              </a:rPr>
              <a:t>() method and a for loop. This is similar to how open allows us to write a loop to read the contents of a file, socket allows us to write a loop to read the contents of a network connection, and </a:t>
            </a:r>
            <a:r>
              <a:rPr lang="en-US" sz="1200" kern="1200" dirty="0" err="1" smtClean="0">
                <a:solidFill>
                  <a:schemeClr val="tx1"/>
                </a:solidFill>
                <a:effectLst/>
                <a:latin typeface="+mn-lt"/>
                <a:ea typeface="+mn-ea"/>
                <a:cs typeface="+mn-cs"/>
              </a:rPr>
              <a:t>urllib</a:t>
            </a:r>
            <a:r>
              <a:rPr lang="en-US" sz="1200" kern="1200" dirty="0" smtClean="0">
                <a:solidFill>
                  <a:schemeClr val="tx1"/>
                </a:solidFill>
                <a:effectLst/>
                <a:latin typeface="+mn-lt"/>
                <a:ea typeface="+mn-ea"/>
                <a:cs typeface="+mn-cs"/>
              </a:rPr>
              <a:t> allows us to open a web document and loop through its contents.</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pPr/>
              <a:t>3</a:t>
            </a:fld>
            <a:endParaRPr lang="en-US"/>
          </a:p>
        </p:txBody>
      </p:sp>
    </p:spTree>
    <p:extLst>
      <p:ext uri="{BB962C8B-B14F-4D97-AF65-F5344CB8AC3E}">
        <p14:creationId xmlns:p14="http://schemas.microsoft.com/office/powerpoint/2010/main" val="2588631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Python provides libraries that allow the programs to interact with files available in computer. A computer drive is organized in a hierarchical structure of files and directories.</a:t>
            </a:r>
          </a:p>
          <a:p>
            <a:endParaRPr lang="en-IN" sz="1200" b="0" i="0" kern="1200" dirty="0" smtClean="0">
              <a:solidFill>
                <a:schemeClr val="tx1"/>
              </a:solidFill>
              <a:effectLst/>
              <a:latin typeface="+mn-lt"/>
              <a:ea typeface="+mn-ea"/>
              <a:cs typeface="+mn-cs"/>
            </a:endParaRPr>
          </a:p>
          <a:p>
            <a:r>
              <a:rPr lang="en-IN" sz="1200" b="1" kern="1200" dirty="0" smtClean="0">
                <a:solidFill>
                  <a:schemeClr val="tx1"/>
                </a:solidFill>
                <a:effectLst/>
                <a:latin typeface="+mn-lt"/>
                <a:ea typeface="+mn-ea"/>
                <a:cs typeface="+mn-cs"/>
              </a:rPr>
              <a:t>files</a:t>
            </a:r>
            <a:r>
              <a:rPr lang="en-IN" sz="1200" kern="1200" dirty="0" smtClean="0">
                <a:solidFill>
                  <a:schemeClr val="tx1"/>
                </a:solidFill>
                <a:effectLst/>
                <a:latin typeface="+mn-lt"/>
                <a:ea typeface="+mn-ea"/>
                <a:cs typeface="+mn-cs"/>
              </a:rPr>
              <a:t> - These contain information. Examples include the csv files, or Python files.</a:t>
            </a:r>
          </a:p>
          <a:p>
            <a:r>
              <a:rPr lang="en-IN" sz="1200" b="1" kern="1200" dirty="0" smtClean="0">
                <a:solidFill>
                  <a:schemeClr val="tx1"/>
                </a:solidFill>
                <a:effectLst/>
                <a:latin typeface="+mn-lt"/>
                <a:ea typeface="+mn-ea"/>
                <a:cs typeface="+mn-cs"/>
              </a:rPr>
              <a:t>directories</a:t>
            </a:r>
            <a:r>
              <a:rPr lang="en-IN" sz="1200" kern="1200" dirty="0" smtClean="0">
                <a:solidFill>
                  <a:schemeClr val="tx1"/>
                </a:solidFill>
                <a:effectLst/>
                <a:latin typeface="+mn-lt"/>
                <a:ea typeface="+mn-ea"/>
                <a:cs typeface="+mn-cs"/>
              </a:rPr>
              <a:t> - These contain files and subdirectories </a:t>
            </a:r>
            <a:r>
              <a:rPr lang="en-IN" sz="1200" i="1" kern="1200" dirty="0" smtClean="0">
                <a:solidFill>
                  <a:schemeClr val="tx1"/>
                </a:solidFill>
                <a:effectLst/>
                <a:latin typeface="+mn-lt"/>
                <a:ea typeface="+mn-ea"/>
                <a:cs typeface="+mn-cs"/>
              </a:rPr>
              <a:t>inside</a:t>
            </a:r>
            <a:r>
              <a:rPr lang="en-IN" sz="1200" kern="1200" dirty="0" smtClean="0">
                <a:solidFill>
                  <a:schemeClr val="tx1"/>
                </a:solidFill>
                <a:effectLst/>
                <a:latin typeface="+mn-lt"/>
                <a:ea typeface="+mn-ea"/>
                <a:cs typeface="+mn-cs"/>
              </a:rPr>
              <a:t> of them.</a:t>
            </a:r>
          </a:p>
          <a:p>
            <a:endParaRPr lang="en-IN" sz="1200" b="0" i="0" kern="1200" dirty="0" smtClean="0">
              <a:solidFill>
                <a:schemeClr val="tx1"/>
              </a:solidFill>
              <a:effectLst/>
              <a:latin typeface="+mn-lt"/>
              <a:ea typeface="+mn-ea"/>
              <a:cs typeface="+mn-cs"/>
            </a:endParaRPr>
          </a:p>
          <a:p>
            <a:r>
              <a:rPr lang="en-IN" sz="1200" kern="1200" dirty="0" smtClean="0">
                <a:solidFill>
                  <a:schemeClr val="tx1"/>
                </a:solidFill>
                <a:effectLst/>
                <a:latin typeface="+mn-lt"/>
                <a:ea typeface="+mn-ea"/>
                <a:cs typeface="+mn-cs"/>
              </a:rPr>
              <a:t>The following important methods are supported by Python for file operations:</a:t>
            </a:r>
          </a:p>
          <a:p>
            <a:endParaRPr lang="en-IN" sz="1200" b="0" i="0" kern="1200" dirty="0" smtClean="0">
              <a:solidFill>
                <a:schemeClr val="tx1"/>
              </a:solidFill>
              <a:effectLst/>
              <a:latin typeface="+mn-lt"/>
              <a:ea typeface="+mn-ea"/>
              <a:cs typeface="+mn-cs"/>
            </a:endParaRPr>
          </a:p>
          <a:p>
            <a:pPr marL="342900" indent="-342900">
              <a:buAutoNum type="arabicPeriod"/>
            </a:pPr>
            <a:r>
              <a:rPr lang="en-US" sz="1400" dirty="0" err="1" smtClean="0">
                <a:solidFill>
                  <a:srgbClr val="6600CC"/>
                </a:solidFill>
              </a:rPr>
              <a:t>getcwd</a:t>
            </a:r>
            <a:r>
              <a:rPr lang="en-US" sz="1400" dirty="0" smtClean="0">
                <a:solidFill>
                  <a:srgbClr val="6600CC"/>
                </a:solidFill>
              </a:rPr>
              <a:t>()  :- </a:t>
            </a:r>
            <a:r>
              <a:rPr lang="en-IN" sz="1200" b="0" i="0" kern="1200" dirty="0" smtClean="0">
                <a:solidFill>
                  <a:schemeClr val="tx1"/>
                </a:solidFill>
                <a:effectLst/>
                <a:latin typeface="+mn-lt"/>
                <a:ea typeface="+mn-ea"/>
                <a:cs typeface="+mn-cs"/>
              </a:rPr>
              <a:t>Returns current working directory of a process.</a:t>
            </a:r>
            <a:endParaRPr lang="en-US" sz="1400" b="0" i="0" kern="1200" dirty="0" smtClean="0">
              <a:solidFill>
                <a:srgbClr val="6600CC"/>
              </a:solidFill>
              <a:effectLst/>
              <a:latin typeface="+mn-lt"/>
              <a:ea typeface="+mn-ea"/>
              <a:cs typeface="+mn-cs"/>
            </a:endParaRPr>
          </a:p>
          <a:p>
            <a:pPr marL="342900" indent="-342900">
              <a:buAutoNum type="arabicPeriod"/>
            </a:pPr>
            <a:r>
              <a:rPr lang="en-US" sz="1400" dirty="0" err="1" smtClean="0">
                <a:solidFill>
                  <a:srgbClr val="6600CC"/>
                </a:solidFill>
              </a:rPr>
              <a:t>abspath</a:t>
            </a:r>
            <a:r>
              <a:rPr lang="en-US" sz="1400" dirty="0" smtClean="0">
                <a:solidFill>
                  <a:srgbClr val="6600CC"/>
                </a:solidFill>
              </a:rPr>
              <a:t>() :- </a:t>
            </a:r>
            <a:r>
              <a:rPr lang="en-IN" sz="1200" b="0" i="0" kern="1200" dirty="0" smtClean="0">
                <a:solidFill>
                  <a:schemeClr val="tx1"/>
                </a:solidFill>
                <a:effectLst/>
                <a:latin typeface="+mn-lt"/>
                <a:ea typeface="+mn-ea"/>
                <a:cs typeface="+mn-cs"/>
              </a:rPr>
              <a:t>Returns absolute version of the file pathname.</a:t>
            </a:r>
            <a:endParaRPr lang="en-US" sz="1400" dirty="0" smtClean="0">
              <a:solidFill>
                <a:srgbClr val="6600CC"/>
              </a:solidFill>
            </a:endParaRPr>
          </a:p>
          <a:p>
            <a:pPr marL="342900" indent="-342900">
              <a:buAutoNum type="arabicPeriod"/>
            </a:pPr>
            <a:r>
              <a:rPr lang="en-US" sz="1400" dirty="0" smtClean="0">
                <a:solidFill>
                  <a:srgbClr val="6600CC"/>
                </a:solidFill>
              </a:rPr>
              <a:t>exists() :- </a:t>
            </a:r>
            <a:r>
              <a:rPr lang="en-IN" sz="1200" b="0" i="0" kern="1200" dirty="0" smtClean="0">
                <a:solidFill>
                  <a:schemeClr val="tx1"/>
                </a:solidFill>
                <a:effectLst/>
                <a:latin typeface="+mn-lt"/>
                <a:ea typeface="+mn-ea"/>
                <a:cs typeface="+mn-cs"/>
              </a:rPr>
              <a:t>Returns </a:t>
            </a:r>
            <a:r>
              <a:rPr lang="en-IN" sz="1400" dirty="0" smtClean="0"/>
              <a:t>True</a:t>
            </a:r>
            <a:r>
              <a:rPr lang="en-IN" sz="1200" b="0" i="0" kern="1200" dirty="0" smtClean="0">
                <a:solidFill>
                  <a:schemeClr val="tx1"/>
                </a:solidFill>
                <a:effectLst/>
                <a:latin typeface="+mn-lt"/>
                <a:ea typeface="+mn-ea"/>
                <a:cs typeface="+mn-cs"/>
              </a:rPr>
              <a:t> if file path refers to an existing path. Returns </a:t>
            </a:r>
            <a:r>
              <a:rPr lang="en-IN" sz="1400" dirty="0" smtClean="0"/>
              <a:t>False</a:t>
            </a:r>
            <a:r>
              <a:rPr lang="en-IN" sz="1200" b="0" i="0" kern="1200" dirty="0" smtClean="0">
                <a:solidFill>
                  <a:schemeClr val="tx1"/>
                </a:solidFill>
                <a:effectLst/>
                <a:latin typeface="+mn-lt"/>
                <a:ea typeface="+mn-ea"/>
                <a:cs typeface="+mn-cs"/>
              </a:rPr>
              <a:t> for broken symbolic links if file does not exists.</a:t>
            </a:r>
            <a:endParaRPr lang="en-US" sz="1400" dirty="0" smtClean="0">
              <a:solidFill>
                <a:srgbClr val="6600CC"/>
              </a:solidFill>
            </a:endParaRPr>
          </a:p>
          <a:p>
            <a:pPr marL="342900" indent="-342900">
              <a:buAutoNum type="arabicPeriod"/>
            </a:pPr>
            <a:r>
              <a:rPr lang="en-US" sz="1400" dirty="0" err="1" smtClean="0">
                <a:solidFill>
                  <a:srgbClr val="6600CC"/>
                </a:solidFill>
              </a:rPr>
              <a:t>isdir</a:t>
            </a:r>
            <a:r>
              <a:rPr lang="en-US" sz="1400" dirty="0" smtClean="0">
                <a:solidFill>
                  <a:srgbClr val="6600CC"/>
                </a:solidFill>
              </a:rPr>
              <a:t>() :- </a:t>
            </a:r>
            <a:r>
              <a:rPr lang="en-IN" sz="1200" b="0" i="0" kern="1200" dirty="0" smtClean="0">
                <a:solidFill>
                  <a:schemeClr val="tx1"/>
                </a:solidFill>
                <a:effectLst/>
                <a:latin typeface="+mn-lt"/>
                <a:ea typeface="+mn-ea"/>
                <a:cs typeface="+mn-cs"/>
              </a:rPr>
              <a:t>Returns </a:t>
            </a:r>
            <a:r>
              <a:rPr lang="en-IN" sz="1400" dirty="0" smtClean="0"/>
              <a:t>True</a:t>
            </a:r>
            <a:r>
              <a:rPr lang="en-IN" sz="1200" b="0" i="0" kern="1200" dirty="0" smtClean="0">
                <a:solidFill>
                  <a:schemeClr val="tx1"/>
                </a:solidFill>
                <a:effectLst/>
                <a:latin typeface="+mn-lt"/>
                <a:ea typeface="+mn-ea"/>
                <a:cs typeface="+mn-cs"/>
              </a:rPr>
              <a:t> if file path is an existing directory.</a:t>
            </a:r>
            <a:endParaRPr lang="en-US" sz="1400" dirty="0" smtClean="0">
              <a:solidFill>
                <a:srgbClr val="6600CC"/>
              </a:solidFill>
            </a:endParaRPr>
          </a:p>
          <a:p>
            <a:pPr marL="342900" indent="-342900">
              <a:buAutoNum type="arabicPeriod"/>
            </a:pPr>
            <a:r>
              <a:rPr lang="en-US" sz="1400" dirty="0" err="1" smtClean="0">
                <a:solidFill>
                  <a:srgbClr val="6600CC"/>
                </a:solidFill>
              </a:rPr>
              <a:t>isfile</a:t>
            </a:r>
            <a:r>
              <a:rPr lang="en-US" sz="1400" dirty="0" smtClean="0">
                <a:solidFill>
                  <a:srgbClr val="6600CC"/>
                </a:solidFill>
              </a:rPr>
              <a:t>() :- </a:t>
            </a:r>
            <a:r>
              <a:rPr lang="en-IN" sz="1200" b="0" i="0" kern="1200" dirty="0" smtClean="0">
                <a:solidFill>
                  <a:schemeClr val="tx1"/>
                </a:solidFill>
                <a:effectLst/>
                <a:latin typeface="+mn-lt"/>
                <a:ea typeface="+mn-ea"/>
                <a:cs typeface="+mn-cs"/>
              </a:rPr>
              <a:t>Returns </a:t>
            </a:r>
            <a:r>
              <a:rPr lang="en-IN" sz="1400" dirty="0" smtClean="0"/>
              <a:t>True</a:t>
            </a:r>
            <a:r>
              <a:rPr lang="en-IN" sz="1200" b="0" i="0" kern="1200" dirty="0" smtClean="0">
                <a:solidFill>
                  <a:schemeClr val="tx1"/>
                </a:solidFill>
                <a:effectLst/>
                <a:latin typeface="+mn-lt"/>
                <a:ea typeface="+mn-ea"/>
                <a:cs typeface="+mn-cs"/>
              </a:rPr>
              <a:t> if file path is an existing regular file.</a:t>
            </a:r>
            <a:endParaRPr lang="en-US" sz="1400" dirty="0" smtClean="0">
              <a:solidFill>
                <a:srgbClr val="6600CC"/>
              </a:solidFill>
            </a:endParaRPr>
          </a:p>
          <a:p>
            <a:endParaRPr lang="en-IN" sz="1200" b="0" i="0" kern="1200" dirty="0" smtClean="0">
              <a:solidFill>
                <a:schemeClr val="tx1"/>
              </a:solidFill>
              <a:effectLst/>
              <a:latin typeface="+mn-lt"/>
              <a:ea typeface="+mn-ea"/>
              <a:cs typeface="+mn-cs"/>
            </a:endParaRPr>
          </a:p>
          <a:p>
            <a:endParaRPr lang="en-IN" dirty="0" smtClean="0"/>
          </a:p>
          <a:p>
            <a:endParaRPr lang="en-IN"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4</a:t>
            </a:fld>
            <a:endParaRPr lang="en-US"/>
          </a:p>
        </p:txBody>
      </p:sp>
    </p:spTree>
    <p:extLst>
      <p:ext uri="{BB962C8B-B14F-4D97-AF65-F5344CB8AC3E}">
        <p14:creationId xmlns:p14="http://schemas.microsoft.com/office/powerpoint/2010/main" val="3304022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5</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6</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In the above example we are using </a:t>
            </a:r>
            <a:r>
              <a:rPr lang="en-IN" sz="1200" kern="1200" dirty="0" err="1" smtClean="0">
                <a:solidFill>
                  <a:schemeClr val="tx1"/>
                </a:solidFill>
                <a:effectLst/>
                <a:latin typeface="+mn-lt"/>
                <a:ea typeface="+mn-ea"/>
                <a:cs typeface="+mn-cs"/>
              </a:rPr>
              <a:t>getcwd</a:t>
            </a:r>
            <a:r>
              <a:rPr lang="en-IN" sz="1200" kern="1200" dirty="0" smtClean="0">
                <a:solidFill>
                  <a:schemeClr val="tx1"/>
                </a:solidFill>
                <a:effectLst/>
                <a:latin typeface="+mn-lt"/>
                <a:ea typeface="+mn-ea"/>
                <a:cs typeface="+mn-cs"/>
              </a:rPr>
              <a:t>() to fetch the name of current working directory and then display the current working directory using print(). </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pPr/>
              <a:t>7</a:t>
            </a:fld>
            <a:endParaRPr lang="en-US"/>
          </a:p>
        </p:txBody>
      </p:sp>
    </p:spTree>
    <p:extLst>
      <p:ext uri="{BB962C8B-B14F-4D97-AF65-F5344CB8AC3E}">
        <p14:creationId xmlns:p14="http://schemas.microsoft.com/office/powerpoint/2010/main" val="3728756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In the</a:t>
            </a:r>
            <a:r>
              <a:rPr lang="en-IN" baseline="0" dirty="0" smtClean="0"/>
              <a:t> above</a:t>
            </a:r>
            <a:r>
              <a:rPr lang="en-IN" dirty="0" smtClean="0"/>
              <a:t> example we are trying to display</a:t>
            </a:r>
            <a:r>
              <a:rPr lang="en-IN" baseline="0" dirty="0" smtClean="0"/>
              <a:t> the absolute path of file name “NEWS.txt”.</a:t>
            </a:r>
            <a:endParaRPr lang="en-IN"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8</a:t>
            </a:fld>
            <a:endParaRPr lang="en-US"/>
          </a:p>
        </p:txBody>
      </p:sp>
    </p:spTree>
    <p:extLst>
      <p:ext uri="{BB962C8B-B14F-4D97-AF65-F5344CB8AC3E}">
        <p14:creationId xmlns:p14="http://schemas.microsoft.com/office/powerpoint/2010/main" val="517771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In the above examples we are checking whether a file named “NEWS.txt” exists or not. If it exists system will return “True”, otherwise it will return “False”.</a:t>
            </a:r>
          </a:p>
          <a:p>
            <a:r>
              <a:rPr lang="en-US" sz="1200" kern="1200" dirty="0" smtClean="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5091714-3304-44AF-AABA-9711959465C3}" type="slidenum">
              <a:rPr lang="en-US" smtClean="0"/>
              <a:pPr/>
              <a:t>9</a:t>
            </a:fld>
            <a:endParaRPr lang="en-US"/>
          </a:p>
        </p:txBody>
      </p:sp>
    </p:spTree>
    <p:extLst>
      <p:ext uri="{BB962C8B-B14F-4D97-AF65-F5344CB8AC3E}">
        <p14:creationId xmlns:p14="http://schemas.microsoft.com/office/powerpoint/2010/main" val="359554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 Module sys has to be imported: </a:t>
            </a:r>
          </a:p>
          <a:p>
            <a:endParaRPr lang="en-IN" dirty="0" smtClean="0"/>
          </a:p>
          <a:p>
            <a:r>
              <a:rPr lang="en-IN" dirty="0" smtClean="0"/>
              <a:t>import sys </a:t>
            </a:r>
          </a:p>
          <a:p>
            <a:endParaRPr lang="en-IN" dirty="0" smtClean="0"/>
          </a:p>
          <a:p>
            <a:r>
              <a:rPr lang="en-IN" dirty="0" smtClean="0"/>
              <a:t># Iteration over all arguments: </a:t>
            </a:r>
          </a:p>
          <a:p>
            <a:endParaRPr lang="en-IN" dirty="0" smtClean="0"/>
          </a:p>
          <a:p>
            <a:r>
              <a:rPr lang="en-IN" dirty="0" smtClean="0"/>
              <a:t>for </a:t>
            </a:r>
            <a:r>
              <a:rPr lang="en-IN" dirty="0" err="1" smtClean="0"/>
              <a:t>eachArg</a:t>
            </a:r>
            <a:r>
              <a:rPr lang="en-IN" dirty="0" smtClean="0"/>
              <a:t> in </a:t>
            </a:r>
            <a:r>
              <a:rPr lang="en-IN" dirty="0" err="1" smtClean="0"/>
              <a:t>sys.argv</a:t>
            </a:r>
            <a:r>
              <a:rPr lang="en-IN" dirty="0" smtClean="0"/>
              <a:t>: </a:t>
            </a:r>
          </a:p>
          <a:p>
            <a:r>
              <a:rPr lang="en-IN" dirty="0" smtClean="0"/>
              <a:t>     print </a:t>
            </a:r>
            <a:r>
              <a:rPr lang="en-IN" dirty="0" err="1" smtClean="0"/>
              <a:t>eachArg</a:t>
            </a:r>
            <a:r>
              <a:rPr lang="en-IN" dirty="0" smtClean="0"/>
              <a:t> </a:t>
            </a:r>
          </a:p>
          <a:p>
            <a:endParaRPr lang="en-IN" sz="1200" b="0" i="0" kern="1200" dirty="0" smtClean="0">
              <a:solidFill>
                <a:schemeClr val="tx1"/>
              </a:solidFill>
              <a:effectLst/>
              <a:latin typeface="+mn-lt"/>
              <a:ea typeface="+mn-ea"/>
              <a:cs typeface="+mn-cs"/>
            </a:endParaRPr>
          </a:p>
          <a:p>
            <a:r>
              <a:rPr lang="en-IN" sz="1200" b="0" i="0" kern="1200" dirty="0" smtClean="0">
                <a:solidFill>
                  <a:schemeClr val="tx1"/>
                </a:solidFill>
                <a:effectLst/>
                <a:latin typeface="+mn-lt"/>
                <a:ea typeface="+mn-ea"/>
                <a:cs typeface="+mn-cs"/>
              </a:rPr>
              <a:t>Example call to this script:</a:t>
            </a:r>
          </a:p>
          <a:p>
            <a:endParaRPr lang="en-IN" sz="1200" b="0" i="0" kern="1200" dirty="0" smtClean="0">
              <a:solidFill>
                <a:schemeClr val="tx1"/>
              </a:solidFill>
              <a:effectLst/>
              <a:latin typeface="+mn-lt"/>
              <a:ea typeface="+mn-ea"/>
              <a:cs typeface="+mn-cs"/>
            </a:endParaRPr>
          </a:p>
          <a:p>
            <a:r>
              <a:rPr lang="en-IN" dirty="0" smtClean="0"/>
              <a:t>python argumente.py python course for beginners </a:t>
            </a:r>
          </a:p>
          <a:p>
            <a:endParaRPr lang="en-IN" sz="1200" b="0" i="0" kern="1200" dirty="0" smtClean="0">
              <a:solidFill>
                <a:schemeClr val="tx1"/>
              </a:solidFill>
              <a:effectLst/>
              <a:latin typeface="+mn-lt"/>
              <a:ea typeface="+mn-ea"/>
              <a:cs typeface="+mn-cs"/>
            </a:endParaRPr>
          </a:p>
          <a:p>
            <a:r>
              <a:rPr lang="en-IN" sz="1200" b="0" i="0" kern="1200" dirty="0" smtClean="0">
                <a:solidFill>
                  <a:schemeClr val="tx1"/>
                </a:solidFill>
                <a:effectLst/>
                <a:latin typeface="+mn-lt"/>
                <a:ea typeface="+mn-ea"/>
                <a:cs typeface="+mn-cs"/>
              </a:rPr>
              <a:t>This call creates the following output:</a:t>
            </a:r>
          </a:p>
          <a:p>
            <a:endParaRPr lang="en-IN" sz="1200" b="0" i="0" kern="1200" dirty="0" smtClean="0">
              <a:solidFill>
                <a:schemeClr val="tx1"/>
              </a:solidFill>
              <a:effectLst/>
              <a:latin typeface="+mn-lt"/>
              <a:ea typeface="+mn-ea"/>
              <a:cs typeface="+mn-cs"/>
            </a:endParaRPr>
          </a:p>
          <a:p>
            <a:r>
              <a:rPr lang="en-IN" dirty="0" smtClean="0"/>
              <a:t>argumente.py python course for beginners</a:t>
            </a:r>
            <a:endParaRPr lang="en-IN"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10</a:t>
            </a:fld>
            <a:endParaRPr lang="en-US"/>
          </a:p>
        </p:txBody>
      </p:sp>
    </p:spTree>
    <p:extLst>
      <p:ext uri="{BB962C8B-B14F-4D97-AF65-F5344CB8AC3E}">
        <p14:creationId xmlns:p14="http://schemas.microsoft.com/office/powerpoint/2010/main" val="1128301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In the above example we are implementing command line arguments using “</a:t>
            </a:r>
            <a:r>
              <a:rPr lang="en-IN" sz="1200" kern="1200" dirty="0" err="1" smtClean="0">
                <a:solidFill>
                  <a:schemeClr val="tx1"/>
                </a:solidFill>
                <a:effectLst/>
                <a:latin typeface="+mn-lt"/>
                <a:ea typeface="+mn-ea"/>
                <a:cs typeface="+mn-cs"/>
              </a:rPr>
              <a:t>sys.argv</a:t>
            </a:r>
            <a:r>
              <a:rPr lang="en-IN" sz="1200" kern="1200" dirty="0" smtClean="0">
                <a:solidFill>
                  <a:schemeClr val="tx1"/>
                </a:solidFill>
                <a:effectLst/>
                <a:latin typeface="+mn-lt"/>
                <a:ea typeface="+mn-ea"/>
                <a:cs typeface="+mn-cs"/>
              </a:rPr>
              <a:t>” object and passing a string which will be displayed to the user in same prompt.</a:t>
            </a:r>
            <a:endParaRPr lang="en-IN"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11</a:t>
            </a:fld>
            <a:endParaRPr lang="en-US"/>
          </a:p>
        </p:txBody>
      </p:sp>
    </p:spTree>
    <p:extLst>
      <p:ext uri="{BB962C8B-B14F-4D97-AF65-F5344CB8AC3E}">
        <p14:creationId xmlns:p14="http://schemas.microsoft.com/office/powerpoint/2010/main" val="2546560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12</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13</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Any program that you can launch from the shell can also be launched from Python using a pipe. </a:t>
            </a:r>
          </a:p>
          <a:p>
            <a:r>
              <a:rPr lang="en-IN" sz="1200" kern="1200" dirty="0" smtClean="0">
                <a:solidFill>
                  <a:schemeClr val="tx1"/>
                </a:solidFill>
                <a:effectLst/>
                <a:latin typeface="+mn-lt"/>
                <a:ea typeface="+mn-ea"/>
                <a:cs typeface="+mn-cs"/>
              </a:rPr>
              <a:t> </a:t>
            </a:r>
          </a:p>
          <a:p>
            <a:r>
              <a:rPr lang="en-IN" sz="1200" kern="1200" dirty="0" smtClean="0">
                <a:solidFill>
                  <a:schemeClr val="tx1"/>
                </a:solidFill>
                <a:effectLst/>
                <a:latin typeface="+mn-lt"/>
                <a:ea typeface="+mn-ea"/>
                <a:cs typeface="+mn-cs"/>
              </a:rPr>
              <a:t>For example, the Unix </a:t>
            </a:r>
            <a:r>
              <a:rPr lang="en-US" sz="1200" kern="1200" dirty="0" smtClean="0">
                <a:solidFill>
                  <a:schemeClr val="tx1"/>
                </a:solidFill>
                <a:effectLst/>
                <a:latin typeface="+mn-lt"/>
                <a:ea typeface="+mn-ea"/>
                <a:cs typeface="+mn-cs"/>
              </a:rPr>
              <a:t> </a:t>
            </a:r>
            <a:r>
              <a:rPr lang="en-IN" sz="1200" kern="1200" dirty="0" smtClean="0">
                <a:solidFill>
                  <a:schemeClr val="tx1"/>
                </a:solidFill>
                <a:effectLst/>
                <a:latin typeface="+mn-lt"/>
                <a:ea typeface="+mn-ea"/>
                <a:cs typeface="+mn-cs"/>
              </a:rPr>
              <a:t>command</a:t>
            </a:r>
            <a:r>
              <a:rPr lang="en-US" sz="1200" kern="1200" dirty="0" smtClean="0">
                <a:solidFill>
                  <a:schemeClr val="tx1"/>
                </a:solidFill>
                <a:effectLst/>
                <a:latin typeface="+mn-lt"/>
                <a:ea typeface="+mn-ea"/>
                <a:cs typeface="+mn-cs"/>
              </a:rPr>
              <a:t> </a:t>
            </a:r>
            <a:r>
              <a:rPr lang="en-IN" sz="1200" kern="1200" dirty="0" smtClean="0">
                <a:solidFill>
                  <a:schemeClr val="tx1"/>
                </a:solidFill>
                <a:effectLst/>
                <a:latin typeface="+mn-lt"/>
                <a:ea typeface="+mn-ea"/>
                <a:cs typeface="+mn-cs"/>
              </a:rPr>
              <a:t> ls -l normally displays the contents of the current directory (in long format). You can launch ls with </a:t>
            </a:r>
            <a:r>
              <a:rPr lang="en-IN" sz="1200" kern="1200" dirty="0" err="1" smtClean="0">
                <a:solidFill>
                  <a:schemeClr val="tx1"/>
                </a:solidFill>
                <a:effectLst/>
                <a:latin typeface="+mn-lt"/>
                <a:ea typeface="+mn-ea"/>
                <a:cs typeface="+mn-cs"/>
              </a:rPr>
              <a:t>os.popen</a:t>
            </a:r>
            <a:r>
              <a:rPr lang="en-IN" sz="1200" kern="1200" dirty="0" smtClean="0">
                <a:solidFill>
                  <a:schemeClr val="tx1"/>
                </a:solidFill>
                <a:effectLst/>
                <a:latin typeface="+mn-lt"/>
                <a:ea typeface="+mn-ea"/>
                <a:cs typeface="+mn-cs"/>
              </a:rPr>
              <a:t>:</a:t>
            </a:r>
          </a:p>
          <a:p>
            <a:r>
              <a:rPr lang="en-IN" sz="1200" kern="1200" dirty="0" smtClean="0">
                <a:solidFill>
                  <a:schemeClr val="tx1"/>
                </a:solidFill>
                <a:effectLst/>
                <a:latin typeface="+mn-lt"/>
                <a:ea typeface="+mn-ea"/>
                <a:cs typeface="+mn-cs"/>
              </a:rPr>
              <a:t>&gt;&gt;&gt; </a:t>
            </a:r>
            <a:r>
              <a:rPr lang="en-IN" sz="1200" kern="1200" dirty="0" err="1" smtClean="0">
                <a:solidFill>
                  <a:schemeClr val="tx1"/>
                </a:solidFill>
                <a:effectLst/>
                <a:latin typeface="+mn-lt"/>
                <a:ea typeface="+mn-ea"/>
                <a:cs typeface="+mn-cs"/>
              </a:rPr>
              <a:t>cmd</a:t>
            </a:r>
            <a:r>
              <a:rPr lang="en-IN" sz="1200" kern="1200" dirty="0" smtClean="0">
                <a:solidFill>
                  <a:schemeClr val="tx1"/>
                </a:solidFill>
                <a:effectLst/>
                <a:latin typeface="+mn-lt"/>
                <a:ea typeface="+mn-ea"/>
                <a:cs typeface="+mn-cs"/>
              </a:rPr>
              <a:t> = 'ls -l'</a:t>
            </a:r>
          </a:p>
          <a:p>
            <a:r>
              <a:rPr lang="en-IN" sz="1200" kern="1200" dirty="0" smtClean="0">
                <a:solidFill>
                  <a:schemeClr val="tx1"/>
                </a:solidFill>
                <a:effectLst/>
                <a:latin typeface="+mn-lt"/>
                <a:ea typeface="+mn-ea"/>
                <a:cs typeface="+mn-cs"/>
              </a:rPr>
              <a:t>&gt;&gt;&gt; </a:t>
            </a:r>
            <a:r>
              <a:rPr lang="en-IN" sz="1200" kern="1200" dirty="0" err="1" smtClean="0">
                <a:solidFill>
                  <a:schemeClr val="tx1"/>
                </a:solidFill>
                <a:effectLst/>
                <a:latin typeface="+mn-lt"/>
                <a:ea typeface="+mn-ea"/>
                <a:cs typeface="+mn-cs"/>
              </a:rPr>
              <a:t>fp</a:t>
            </a:r>
            <a:r>
              <a:rPr lang="en-IN" sz="1200" kern="1200" dirty="0" smtClean="0">
                <a:solidFill>
                  <a:schemeClr val="tx1"/>
                </a:solidFill>
                <a:effectLst/>
                <a:latin typeface="+mn-lt"/>
                <a:ea typeface="+mn-ea"/>
                <a:cs typeface="+mn-cs"/>
              </a:rPr>
              <a:t> = </a:t>
            </a:r>
            <a:r>
              <a:rPr lang="en-IN" sz="1200" kern="1200" dirty="0" err="1" smtClean="0">
                <a:solidFill>
                  <a:schemeClr val="tx1"/>
                </a:solidFill>
                <a:effectLst/>
                <a:latin typeface="+mn-lt"/>
                <a:ea typeface="+mn-ea"/>
                <a:cs typeface="+mn-cs"/>
              </a:rPr>
              <a:t>os.popen</a:t>
            </a:r>
            <a:r>
              <a:rPr lang="en-IN" sz="1200" kern="1200" dirty="0" smtClean="0">
                <a:solidFill>
                  <a:schemeClr val="tx1"/>
                </a:solidFill>
                <a:effectLst/>
                <a:latin typeface="+mn-lt"/>
                <a:ea typeface="+mn-ea"/>
                <a:cs typeface="+mn-cs"/>
              </a:rPr>
              <a:t>(</a:t>
            </a:r>
            <a:r>
              <a:rPr lang="en-IN" sz="1200" kern="1200" dirty="0" err="1" smtClean="0">
                <a:solidFill>
                  <a:schemeClr val="tx1"/>
                </a:solidFill>
                <a:effectLst/>
                <a:latin typeface="+mn-lt"/>
                <a:ea typeface="+mn-ea"/>
                <a:cs typeface="+mn-cs"/>
              </a:rPr>
              <a:t>cmd</a:t>
            </a:r>
            <a:r>
              <a:rPr lang="en-IN" sz="1200" kern="1200" dirty="0" smtClean="0">
                <a:solidFill>
                  <a:schemeClr val="tx1"/>
                </a:solidFill>
                <a:effectLst/>
                <a:latin typeface="+mn-lt"/>
                <a:ea typeface="+mn-ea"/>
                <a:cs typeface="+mn-cs"/>
              </a:rPr>
              <a:t>)</a:t>
            </a:r>
          </a:p>
          <a:p>
            <a:r>
              <a:rPr lang="en-IN" sz="1200" kern="1200" dirty="0" smtClean="0">
                <a:solidFill>
                  <a:schemeClr val="tx1"/>
                </a:solidFill>
                <a:effectLst/>
                <a:latin typeface="+mn-lt"/>
                <a:ea typeface="+mn-ea"/>
                <a:cs typeface="+mn-cs"/>
              </a:rPr>
              <a:t> </a:t>
            </a:r>
          </a:p>
          <a:p>
            <a:r>
              <a:rPr lang="en-IN" sz="1200" kern="1200" dirty="0" smtClean="0">
                <a:solidFill>
                  <a:schemeClr val="tx1"/>
                </a:solidFill>
                <a:effectLst/>
                <a:latin typeface="+mn-lt"/>
                <a:ea typeface="+mn-ea"/>
                <a:cs typeface="+mn-cs"/>
              </a:rPr>
              <a:t>The argument is a string that contains a shell command. The return value is a file pointer that behaves just like an open file. You can read the output from the ls process one line at a time with </a:t>
            </a:r>
            <a:r>
              <a:rPr lang="en-IN" sz="1200" kern="1200" dirty="0" err="1" smtClean="0">
                <a:solidFill>
                  <a:schemeClr val="tx1"/>
                </a:solidFill>
                <a:effectLst/>
                <a:latin typeface="+mn-lt"/>
                <a:ea typeface="+mn-ea"/>
                <a:cs typeface="+mn-cs"/>
              </a:rPr>
              <a:t>readline</a:t>
            </a:r>
            <a:r>
              <a:rPr lang="en-IN" sz="1200" kern="1200" dirty="0" smtClean="0">
                <a:solidFill>
                  <a:schemeClr val="tx1"/>
                </a:solidFill>
                <a:effectLst/>
                <a:latin typeface="+mn-lt"/>
                <a:ea typeface="+mn-ea"/>
                <a:cs typeface="+mn-cs"/>
              </a:rPr>
              <a:t> or get the whole thing at once with read:</a:t>
            </a:r>
          </a:p>
          <a:p>
            <a:r>
              <a:rPr lang="en-IN" sz="1200" kern="1200" dirty="0" smtClean="0">
                <a:solidFill>
                  <a:schemeClr val="tx1"/>
                </a:solidFill>
                <a:effectLst/>
                <a:latin typeface="+mn-lt"/>
                <a:ea typeface="+mn-ea"/>
                <a:cs typeface="+mn-cs"/>
              </a:rPr>
              <a:t>&gt;&gt;&gt; res = </a:t>
            </a:r>
            <a:r>
              <a:rPr lang="en-IN" sz="1200" kern="1200" dirty="0" err="1" smtClean="0">
                <a:solidFill>
                  <a:schemeClr val="tx1"/>
                </a:solidFill>
                <a:effectLst/>
                <a:latin typeface="+mn-lt"/>
                <a:ea typeface="+mn-ea"/>
                <a:cs typeface="+mn-cs"/>
              </a:rPr>
              <a:t>fp.read</a:t>
            </a:r>
            <a:r>
              <a:rPr lang="en-IN" sz="1200" kern="1200" dirty="0" smtClean="0">
                <a:solidFill>
                  <a:schemeClr val="tx1"/>
                </a:solidFill>
                <a:effectLst/>
                <a:latin typeface="+mn-lt"/>
                <a:ea typeface="+mn-ea"/>
                <a:cs typeface="+mn-cs"/>
              </a:rPr>
              <a:t>()</a:t>
            </a:r>
          </a:p>
          <a:p>
            <a:r>
              <a:rPr lang="en-IN" sz="1200" kern="1200" dirty="0" smtClean="0">
                <a:solidFill>
                  <a:schemeClr val="tx1"/>
                </a:solidFill>
                <a:effectLst/>
                <a:latin typeface="+mn-lt"/>
                <a:ea typeface="+mn-ea"/>
                <a:cs typeface="+mn-cs"/>
              </a:rPr>
              <a:t> </a:t>
            </a:r>
          </a:p>
          <a:p>
            <a:r>
              <a:rPr lang="en-IN" sz="1200" kern="1200" dirty="0" smtClean="0">
                <a:solidFill>
                  <a:schemeClr val="tx1"/>
                </a:solidFill>
                <a:effectLst/>
                <a:latin typeface="+mn-lt"/>
                <a:ea typeface="+mn-ea"/>
                <a:cs typeface="+mn-cs"/>
              </a:rPr>
              <a:t>When you are done, you close the pipe like a file:</a:t>
            </a:r>
          </a:p>
          <a:p>
            <a:r>
              <a:rPr lang="en-IN" sz="1200" kern="1200" dirty="0" smtClean="0">
                <a:solidFill>
                  <a:schemeClr val="tx1"/>
                </a:solidFill>
                <a:effectLst/>
                <a:latin typeface="+mn-lt"/>
                <a:ea typeface="+mn-ea"/>
                <a:cs typeface="+mn-cs"/>
              </a:rPr>
              <a:t> </a:t>
            </a:r>
          </a:p>
          <a:p>
            <a:r>
              <a:rPr lang="en-IN" sz="1200" kern="1200" dirty="0" smtClean="0">
                <a:solidFill>
                  <a:schemeClr val="tx1"/>
                </a:solidFill>
                <a:effectLst/>
                <a:latin typeface="+mn-lt"/>
                <a:ea typeface="+mn-ea"/>
                <a:cs typeface="+mn-cs"/>
              </a:rPr>
              <a:t>&gt;&gt;&gt; stat = </a:t>
            </a:r>
            <a:r>
              <a:rPr lang="en-IN" sz="1200" kern="1200" dirty="0" err="1" smtClean="0">
                <a:solidFill>
                  <a:schemeClr val="tx1"/>
                </a:solidFill>
                <a:effectLst/>
                <a:latin typeface="+mn-lt"/>
                <a:ea typeface="+mn-ea"/>
                <a:cs typeface="+mn-cs"/>
              </a:rPr>
              <a:t>fp.close</a:t>
            </a:r>
            <a:r>
              <a:rPr lang="en-IN" sz="1200" kern="1200" dirty="0" smtClean="0">
                <a:solidFill>
                  <a:schemeClr val="tx1"/>
                </a:solidFill>
                <a:effectLst/>
                <a:latin typeface="+mn-lt"/>
                <a:ea typeface="+mn-ea"/>
                <a:cs typeface="+mn-cs"/>
              </a:rPr>
              <a:t>()</a:t>
            </a:r>
          </a:p>
          <a:p>
            <a:r>
              <a:rPr lang="en-IN" sz="1200" kern="1200" dirty="0" smtClean="0">
                <a:solidFill>
                  <a:schemeClr val="tx1"/>
                </a:solidFill>
                <a:effectLst/>
                <a:latin typeface="+mn-lt"/>
                <a:ea typeface="+mn-ea"/>
                <a:cs typeface="+mn-cs"/>
              </a:rPr>
              <a:t>&gt;&gt;&gt; print stat</a:t>
            </a:r>
          </a:p>
          <a:p>
            <a:r>
              <a:rPr lang="en-IN" sz="1200" kern="1200" dirty="0" smtClean="0">
                <a:solidFill>
                  <a:schemeClr val="tx1"/>
                </a:solidFill>
                <a:effectLst/>
                <a:latin typeface="+mn-lt"/>
                <a:ea typeface="+mn-ea"/>
                <a:cs typeface="+mn-cs"/>
              </a:rPr>
              <a:t>None</a:t>
            </a:r>
          </a:p>
          <a:p>
            <a:endParaRPr lang="en-IN" sz="1200" b="0" i="0" u="none" strike="noStrike" kern="1200" baseline="0" dirty="0" smtClean="0">
              <a:solidFill>
                <a:schemeClr val="tx1"/>
              </a:solidFill>
              <a:latin typeface="+mn-lt"/>
              <a:ea typeface="+mn-ea"/>
              <a:cs typeface="+mn-cs"/>
            </a:endParaRPr>
          </a:p>
          <a:p>
            <a:r>
              <a:rPr lang="en-IN" sz="1200" b="0" i="0" u="none" strike="noStrike" kern="1200" baseline="0" dirty="0" smtClean="0">
                <a:solidFill>
                  <a:schemeClr val="tx1"/>
                </a:solidFill>
                <a:latin typeface="+mn-lt"/>
                <a:ea typeface="+mn-ea"/>
                <a:cs typeface="+mn-cs"/>
              </a:rPr>
              <a:t>Note : The return value is the final status of the ls process; None as output means that it ended normally (with no errors).</a:t>
            </a:r>
            <a:endParaRPr lang="en-IN"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14</a:t>
            </a:fld>
            <a:endParaRPr lang="en-US"/>
          </a:p>
        </p:txBody>
      </p:sp>
    </p:spTree>
    <p:extLst>
      <p:ext uri="{BB962C8B-B14F-4D97-AF65-F5344CB8AC3E}">
        <p14:creationId xmlns:p14="http://schemas.microsoft.com/office/powerpoint/2010/main" val="2661319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smtClean="0">
                <a:latin typeface="Calibri" panose="020F0502020204030204" pitchFamily="34" charset="0"/>
                <a:ea typeface="Calibri" panose="020F0502020204030204" pitchFamily="34" charset="0"/>
                <a:cs typeface="Times New Roman" panose="02020603050405020304" pitchFamily="18" charset="0"/>
              </a:rPr>
              <a:t>Solution:</a:t>
            </a: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latin typeface="Calibri" panose="020F0502020204030204" pitchFamily="34" charset="0"/>
                <a:ea typeface="Calibri" panose="020F0502020204030204" pitchFamily="34" charset="0"/>
                <a:cs typeface="Times New Roman" panose="02020603050405020304" pitchFamily="18" charset="0"/>
              </a:rPr>
              <a:t>Prerequisite: </a:t>
            </a:r>
            <a:r>
              <a:rPr lang="en-US" sz="1600" dirty="0" smtClean="0"/>
              <a:t>For this activity you need to use </a:t>
            </a:r>
            <a:r>
              <a:rPr lang="en-US" sz="1600" b="1" dirty="0" smtClean="0"/>
              <a:t>images</a:t>
            </a:r>
            <a:r>
              <a:rPr lang="en-US" sz="1600" b="1" baseline="0" dirty="0" smtClean="0"/>
              <a:t> </a:t>
            </a:r>
            <a:r>
              <a:rPr lang="en-US" sz="1600" b="0" baseline="0" dirty="0" smtClean="0"/>
              <a:t>folder</a:t>
            </a:r>
            <a:r>
              <a:rPr lang="en-US" sz="1600" dirty="0" smtClean="0"/>
              <a:t> which is available with </a:t>
            </a:r>
            <a:r>
              <a:rPr lang="en-US" sz="1600" b="1" dirty="0" err="1" smtClean="0"/>
              <a:t>Data_File_For_Students</a:t>
            </a:r>
            <a:r>
              <a:rPr lang="en-US" sz="1600" b="0" dirty="0" smtClean="0">
                <a:latin typeface="Calibri" panose="020F0502020204030204" pitchFamily="34" charset="0"/>
                <a:cs typeface="Times New Roman" panose="02020603050405020304" pitchFamily="18" charset="0"/>
              </a:rPr>
              <a:t>.</a:t>
            </a:r>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r>
              <a:rPr lang="en-US" sz="1200" dirty="0" smtClean="0"/>
              <a:t>In order to do this activity, you need to perform the following tasks:</a:t>
            </a:r>
          </a:p>
          <a:p>
            <a:pPr marL="342900" indent="-342900">
              <a:buAutoNum type="arabicPeriod"/>
            </a:pPr>
            <a:r>
              <a:rPr lang="en-US" sz="1200" dirty="0" smtClean="0"/>
              <a:t>Create a</a:t>
            </a:r>
            <a:r>
              <a:rPr lang="en-US" sz="1200" baseline="0" dirty="0" smtClean="0"/>
              <a:t> </a:t>
            </a:r>
            <a:r>
              <a:rPr lang="en-US" sz="1200" dirty="0" smtClean="0"/>
              <a:t>Python empty project.</a:t>
            </a:r>
          </a:p>
          <a:p>
            <a:pPr marL="342900" indent="-342900">
              <a:buAutoNum type="arabicPeriod"/>
            </a:pPr>
            <a:r>
              <a:rPr lang="en-US" sz="1200" dirty="0" smtClean="0"/>
              <a:t>Use </a:t>
            </a:r>
            <a:r>
              <a:rPr lang="en-US" sz="1200" b="1" dirty="0" smtClean="0"/>
              <a:t>sys </a:t>
            </a:r>
            <a:r>
              <a:rPr lang="en-US" sz="1200" b="0" dirty="0" smtClean="0"/>
              <a:t>and</a:t>
            </a:r>
            <a:r>
              <a:rPr lang="en-US" sz="1200" b="1" dirty="0" smtClean="0"/>
              <a:t> </a:t>
            </a:r>
            <a:r>
              <a:rPr lang="en-US" sz="1200" b="1" dirty="0" err="1" smtClean="0"/>
              <a:t>os</a:t>
            </a:r>
            <a:r>
              <a:rPr lang="en-US" sz="1200" dirty="0" smtClean="0"/>
              <a:t> libraries to use command</a:t>
            </a:r>
            <a:r>
              <a:rPr lang="en-US" sz="1200" baseline="0" dirty="0" smtClean="0"/>
              <a:t> line prompt and operating system functions in program</a:t>
            </a:r>
            <a:r>
              <a:rPr lang="en-US" sz="1200" dirty="0" smtClean="0"/>
              <a:t>.</a:t>
            </a:r>
          </a:p>
          <a:p>
            <a:pPr marL="342900" indent="-342900">
              <a:buAutoNum type="arabicPeriod"/>
            </a:pPr>
            <a:endParaRPr lang="en-US" sz="1200" dirty="0" smtClean="0"/>
          </a:p>
          <a:p>
            <a:endParaRPr lang="en-US" dirty="0" smtClean="0"/>
          </a:p>
          <a:p>
            <a:r>
              <a:rPr lang="en-US" sz="1600" b="1" dirty="0" smtClean="0"/>
              <a:t>Task 1</a:t>
            </a:r>
            <a:r>
              <a:rPr lang="en-US" sz="1600" dirty="0" smtClean="0"/>
              <a:t>: Create a Python empty project:</a:t>
            </a:r>
          </a:p>
          <a:p>
            <a:r>
              <a:rPr lang="en-US" sz="1200" dirty="0" smtClean="0"/>
              <a:t>Step 1: Open </a:t>
            </a:r>
            <a:r>
              <a:rPr lang="en-US" sz="1200" b="1" dirty="0" smtClean="0"/>
              <a:t>NetBeans 8.0.2</a:t>
            </a:r>
            <a:r>
              <a:rPr lang="en-US" sz="12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2: Click </a:t>
            </a:r>
            <a:r>
              <a:rPr lang="en-US" sz="1200" b="1" dirty="0" smtClean="0"/>
              <a:t>File</a:t>
            </a:r>
            <a:r>
              <a:rPr lang="en-US" sz="1200" dirty="0" smtClean="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3: Select </a:t>
            </a:r>
            <a:r>
              <a:rPr lang="en-US" sz="1200" b="1" dirty="0" smtClean="0"/>
              <a:t>New Project</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 4:</a:t>
            </a:r>
            <a:r>
              <a:rPr lang="en-US" sz="1200" dirty="0" smtClean="0"/>
              <a:t> Select </a:t>
            </a:r>
            <a:r>
              <a:rPr lang="en-US" sz="1200" b="1" dirty="0" smtClean="0"/>
              <a:t>Python</a:t>
            </a:r>
            <a:r>
              <a:rPr lang="en-US" sz="1200" dirty="0" smtClean="0"/>
              <a:t> from Categories list and </a:t>
            </a:r>
            <a:r>
              <a:rPr lang="en-US" sz="1200" b="1" dirty="0" smtClean="0"/>
              <a:t>Python Project</a:t>
            </a:r>
            <a:r>
              <a:rPr lang="en-US" sz="1200" dirty="0" smtClean="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5: Click </a:t>
            </a:r>
            <a:r>
              <a:rPr lang="en-US" sz="1200" b="1" dirty="0" smtClean="0"/>
              <a:t>Next</a:t>
            </a:r>
            <a:r>
              <a:rPr lang="en-US" sz="1200" dirty="0" smtClean="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6: On New Python Project dialog box set the Project Name as </a:t>
            </a:r>
            <a:r>
              <a:rPr lang="en-US" sz="1200" b="1" dirty="0" smtClean="0"/>
              <a:t>CR_Session19_Activity01</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a:t>
            </a:r>
            <a:r>
              <a:rPr lang="en-US" sz="1200" b="0" baseline="0" dirty="0" smtClean="0"/>
              <a:t> 7:</a:t>
            </a:r>
            <a:r>
              <a:rPr lang="en-US" sz="1200" dirty="0" smtClean="0"/>
              <a:t> Select project Location by clicking </a:t>
            </a:r>
            <a:r>
              <a:rPr lang="en-US" sz="1200" b="1" dirty="0" smtClean="0"/>
              <a:t>Browse</a:t>
            </a:r>
            <a:r>
              <a:rPr lang="en-US" sz="1200" dirty="0" smtClean="0"/>
              <a:t> button.</a:t>
            </a:r>
          </a:p>
          <a:p>
            <a:r>
              <a:rPr lang="en-US" sz="1050" dirty="0" smtClean="0"/>
              <a:t>Step</a:t>
            </a:r>
            <a:r>
              <a:rPr lang="en-US" sz="1050" baseline="0" dirty="0" smtClean="0"/>
              <a:t> 8</a:t>
            </a:r>
            <a:r>
              <a:rPr lang="en-US" sz="1050" dirty="0" smtClean="0"/>
              <a:t>: Click </a:t>
            </a:r>
            <a:r>
              <a:rPr lang="en-US" sz="1050" b="1" dirty="0" smtClean="0"/>
              <a:t>Finish</a:t>
            </a:r>
            <a:r>
              <a:rPr lang="en-US" sz="1050" dirty="0" smtClean="0"/>
              <a:t> button.</a:t>
            </a:r>
          </a:p>
          <a:p>
            <a:endParaRPr lang="en-US" sz="1050" dirty="0" smtClean="0"/>
          </a:p>
          <a:p>
            <a:pPr lvl="0"/>
            <a:r>
              <a:rPr lang="en-US" sz="1200" b="1" dirty="0" smtClean="0"/>
              <a:t>Task 2</a:t>
            </a:r>
            <a:r>
              <a:rPr lang="en-US" sz="1200" dirty="0" smtClean="0"/>
              <a:t>: Use </a:t>
            </a:r>
            <a:r>
              <a:rPr lang="en-US" sz="1200" b="1" dirty="0" smtClean="0"/>
              <a:t>sys </a:t>
            </a:r>
            <a:r>
              <a:rPr lang="en-US" sz="1200" b="0" dirty="0" smtClean="0"/>
              <a:t>and</a:t>
            </a:r>
            <a:r>
              <a:rPr lang="en-US" sz="1200" b="1" dirty="0" smtClean="0"/>
              <a:t> </a:t>
            </a:r>
            <a:r>
              <a:rPr lang="en-US" sz="1200" b="1" dirty="0" err="1" smtClean="0"/>
              <a:t>os</a:t>
            </a:r>
            <a:r>
              <a:rPr lang="en-US" sz="1200" dirty="0" smtClean="0"/>
              <a:t> libraries to use command</a:t>
            </a:r>
            <a:r>
              <a:rPr lang="en-US" sz="1200" baseline="0" dirty="0" smtClean="0"/>
              <a:t> line prompt and operating system functions in program</a:t>
            </a:r>
            <a:r>
              <a:rPr lang="en-US" sz="1200" dirty="0" smtClean="0"/>
              <a:t>:</a:t>
            </a:r>
          </a:p>
          <a:p>
            <a:pPr lvl="0"/>
            <a:r>
              <a:rPr lang="en-US" sz="1200" dirty="0" smtClean="0"/>
              <a:t>Step</a:t>
            </a:r>
            <a:r>
              <a:rPr lang="en-US" sz="1200" baseline="0" dirty="0" smtClean="0"/>
              <a:t> 1: Type the following code:</a:t>
            </a:r>
          </a:p>
          <a:p>
            <a:pPr lvl="0"/>
            <a:endParaRPr lang="en-US" sz="1200" baseline="0" dirty="0" smtClean="0"/>
          </a:p>
          <a:p>
            <a:pPr lvl="2"/>
            <a:r>
              <a:rPr lang="en-US" sz="1200" dirty="0" smtClean="0"/>
              <a:t>import </a:t>
            </a:r>
            <a:r>
              <a:rPr lang="en-US" sz="1200" dirty="0" err="1" smtClean="0"/>
              <a:t>os</a:t>
            </a:r>
            <a:endParaRPr lang="en-US" sz="1200" dirty="0" smtClean="0"/>
          </a:p>
          <a:p>
            <a:pPr lvl="2"/>
            <a:r>
              <a:rPr lang="en-US" sz="1200" dirty="0" smtClean="0"/>
              <a:t>import sys</a:t>
            </a:r>
          </a:p>
          <a:p>
            <a:pPr lvl="2"/>
            <a:r>
              <a:rPr lang="en-US" sz="1200" dirty="0" smtClean="0"/>
              <a:t>count = 0</a:t>
            </a:r>
          </a:p>
          <a:p>
            <a:pPr lvl="2"/>
            <a:r>
              <a:rPr lang="en-US" sz="1200" dirty="0" smtClean="0"/>
              <a:t>for </a:t>
            </a:r>
            <a:r>
              <a:rPr lang="en-US" sz="1200" dirty="0" err="1" smtClean="0"/>
              <a:t>arg</a:t>
            </a:r>
            <a:r>
              <a:rPr lang="en-US" sz="1200" dirty="0" smtClean="0"/>
              <a:t> in </a:t>
            </a:r>
            <a:r>
              <a:rPr lang="en-US" sz="1200" dirty="0" err="1" smtClean="0"/>
              <a:t>sys.argv</a:t>
            </a:r>
            <a:r>
              <a:rPr lang="en-US" sz="1200" dirty="0" smtClean="0"/>
              <a:t>:</a:t>
            </a:r>
          </a:p>
          <a:p>
            <a:pPr lvl="2"/>
            <a:r>
              <a:rPr lang="en-US" sz="1200" dirty="0" smtClean="0"/>
              <a:t>    for (</a:t>
            </a:r>
            <a:r>
              <a:rPr lang="en-US" sz="1200" dirty="0" err="1" smtClean="0"/>
              <a:t>dirname</a:t>
            </a:r>
            <a:r>
              <a:rPr lang="en-US" sz="1200" dirty="0" smtClean="0"/>
              <a:t>, </a:t>
            </a:r>
            <a:r>
              <a:rPr lang="en-US" sz="1200" dirty="0" err="1" smtClean="0"/>
              <a:t>dirs</a:t>
            </a:r>
            <a:r>
              <a:rPr lang="en-US" sz="1200" dirty="0" smtClean="0"/>
              <a:t>, files) in </a:t>
            </a:r>
            <a:r>
              <a:rPr lang="en-US" sz="1200" dirty="0" err="1" smtClean="0"/>
              <a:t>os.walk</a:t>
            </a:r>
            <a:r>
              <a:rPr lang="en-US" sz="1200" dirty="0" smtClean="0"/>
              <a:t>(</a:t>
            </a:r>
            <a:r>
              <a:rPr lang="en-US" sz="1200" dirty="0" err="1" smtClean="0"/>
              <a:t>arg</a:t>
            </a:r>
            <a:r>
              <a:rPr lang="en-US" sz="1200" dirty="0" smtClean="0"/>
              <a:t>):</a:t>
            </a:r>
          </a:p>
          <a:p>
            <a:pPr lvl="2"/>
            <a:r>
              <a:rPr lang="en-US" sz="1200" dirty="0" smtClean="0"/>
              <a:t>        for filename in files:</a:t>
            </a:r>
          </a:p>
          <a:p>
            <a:pPr lvl="2"/>
            <a:r>
              <a:rPr lang="en-US" sz="1200" dirty="0" smtClean="0"/>
              <a:t>            if </a:t>
            </a:r>
            <a:r>
              <a:rPr lang="en-US" sz="1200" dirty="0" err="1" smtClean="0"/>
              <a:t>filename.endswith</a:t>
            </a:r>
            <a:r>
              <a:rPr lang="en-US" sz="1200" dirty="0" smtClean="0"/>
              <a:t>('.jpg') :</a:t>
            </a:r>
          </a:p>
          <a:p>
            <a:pPr lvl="2"/>
            <a:r>
              <a:rPr lang="en-US" sz="1200" dirty="0" smtClean="0"/>
              <a:t>                count = count + 1</a:t>
            </a:r>
          </a:p>
          <a:p>
            <a:pPr lvl="2"/>
            <a:r>
              <a:rPr lang="en-US" sz="1200" dirty="0" smtClean="0"/>
              <a:t>                </a:t>
            </a:r>
            <a:r>
              <a:rPr lang="en-US" sz="1200" dirty="0" err="1" smtClean="0"/>
              <a:t>thefile</a:t>
            </a:r>
            <a:r>
              <a:rPr lang="en-US" sz="1200" dirty="0" smtClean="0"/>
              <a:t>=</a:t>
            </a:r>
            <a:r>
              <a:rPr lang="en-US" sz="1200" dirty="0" err="1" smtClean="0"/>
              <a:t>os.path.join</a:t>
            </a:r>
            <a:r>
              <a:rPr lang="en-US" sz="1200" dirty="0" smtClean="0"/>
              <a:t>(</a:t>
            </a:r>
            <a:r>
              <a:rPr lang="en-US" sz="1200" dirty="0" err="1" smtClean="0"/>
              <a:t>dirname,filename</a:t>
            </a:r>
            <a:r>
              <a:rPr lang="en-US" sz="1200" dirty="0" smtClean="0"/>
              <a:t>)</a:t>
            </a:r>
          </a:p>
          <a:p>
            <a:pPr lvl="2"/>
            <a:r>
              <a:rPr lang="en-US" sz="1200" dirty="0" smtClean="0"/>
              <a:t>                </a:t>
            </a:r>
            <a:r>
              <a:rPr lang="en-US" sz="1200" dirty="0" err="1" smtClean="0"/>
              <a:t>os.remove</a:t>
            </a:r>
            <a:r>
              <a:rPr lang="en-US" sz="1200" dirty="0" smtClean="0"/>
              <a:t>(</a:t>
            </a:r>
            <a:r>
              <a:rPr lang="en-US" sz="1200" dirty="0" err="1" smtClean="0"/>
              <a:t>thefile</a:t>
            </a:r>
            <a:r>
              <a:rPr lang="en-US" sz="1200" dirty="0" smtClean="0"/>
              <a:t>)</a:t>
            </a:r>
          </a:p>
          <a:p>
            <a:pPr lvl="2"/>
            <a:r>
              <a:rPr lang="en-US" sz="1200" dirty="0" smtClean="0"/>
              <a:t>print 'Files:', count</a:t>
            </a:r>
          </a:p>
          <a:p>
            <a:pPr lvl="2"/>
            <a:r>
              <a:rPr lang="en-US" sz="1200" dirty="0" smtClean="0"/>
              <a:t>print 'Files removed' </a:t>
            </a:r>
          </a:p>
          <a:p>
            <a:pPr lvl="2"/>
            <a:endParaRPr lang="en-US" altLang="en-US" sz="1200" dirty="0" smtClean="0">
              <a:latin typeface="+mn-lt"/>
            </a:endParaRP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smtClean="0">
                <a:latin typeface="+mn-lt"/>
              </a:rPr>
              <a:t>Step</a:t>
            </a:r>
            <a:r>
              <a:rPr lang="en-US" altLang="en-US" sz="1200" baseline="0" dirty="0" smtClean="0">
                <a:latin typeface="+mn-lt"/>
              </a:rPr>
              <a:t> 2</a:t>
            </a:r>
            <a:r>
              <a:rPr lang="en-US" altLang="en-US" sz="1200" dirty="0" smtClean="0">
                <a:latin typeface="+mn-lt"/>
              </a:rPr>
              <a:t>: Run the program.</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15</a:t>
            </a:fld>
            <a:endParaRPr lang="en-US"/>
          </a:p>
        </p:txBody>
      </p:sp>
    </p:spTree>
    <p:extLst>
      <p:ext uri="{BB962C8B-B14F-4D97-AF65-F5344CB8AC3E}">
        <p14:creationId xmlns:p14="http://schemas.microsoft.com/office/powerpoint/2010/main" val="2693883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178906743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303692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smtClean="0"/>
              <a:pPr/>
              <a:t>10/15/2015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31855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smtClean="0"/>
              <a:pPr/>
              <a:t>10/15/2015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29713917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smtClean="0"/>
              <a:pPr/>
              <a:t>10/15/2015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28710979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smtClean="0"/>
              <a:pPr/>
              <a:t>10/15/2015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89934360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smtClean="0"/>
              <a:pPr/>
              <a:t>10/15/2015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71325988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pPr/>
              <a:t>10/15/2015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9790146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pPr/>
              <a:t>10/15/2015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125810308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27448313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10/15/2015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a:p>
        </p:txBody>
      </p:sp>
    </p:spTree>
    <p:extLst>
      <p:ext uri="{BB962C8B-B14F-4D97-AF65-F5344CB8AC3E}">
        <p14:creationId xmlns:p14="http://schemas.microsoft.com/office/powerpoint/2010/main" val="38848115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65743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29867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962977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64827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2926220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053370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996486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171540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186031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142778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915690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a:blipFill>
            <a:blip r:embed="rId14"/>
            <a:tile tx="0" ty="0" sx="100000" sy="100000" flip="none" algn="tl"/>
          </a:blipFill>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smtClean="0"/>
              <a:pPr/>
              <a:t>10/15/2015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smtClean="0"/>
              <a:pPr/>
              <a:t>‹#›</a:t>
            </a:fld>
            <a:endParaRPr lang="en-US"/>
          </a:p>
        </p:txBody>
      </p:sp>
    </p:spTree>
    <p:extLst>
      <p:ext uri="{BB962C8B-B14F-4D97-AF65-F5344CB8AC3E}">
        <p14:creationId xmlns:p14="http://schemas.microsoft.com/office/powerpoint/2010/main" val="3851785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10/15/2015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390432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hemeOverride" Target="../theme/themeOverride1.xml"/><Relationship Id="rId5" Type="http://schemas.openxmlformats.org/officeDocument/2006/relationships/image" Target="../media/image5.jpe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hemeOverride" Target="../theme/themeOverride2.xml"/><Relationship Id="rId5" Type="http://schemas.openxmlformats.org/officeDocument/2006/relationships/image" Target="../media/image5.jpe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hemeOverride" Target="../theme/themeOverride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hemeOverride" Target="../theme/themeOverride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hemeOverride" Target="../theme/themeOverride5.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hemeOverride" Target="../theme/themeOverride6.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hemeOverride" Target="../theme/themeOverride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hemeOverride" Target="../theme/themeOverride8.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0000" y="1260000"/>
            <a:ext cx="6480000" cy="1800000"/>
          </a:xfrm>
        </p:spPr>
        <p:txBody>
          <a:bodyPr>
            <a:normAutofit/>
          </a:bodyPr>
          <a:lstStyle/>
          <a:p>
            <a:r>
              <a:rPr lang="en-IN" dirty="0" smtClean="0">
                <a:solidFill>
                  <a:schemeClr val="bg1"/>
                </a:solidFill>
              </a:rPr>
              <a:t>Automating Task and Using Command Line Argument</a:t>
            </a:r>
            <a:endParaRPr lang="en-US"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407237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itchFamily="34" charset="0"/>
                <a:cs typeface="Vrinda" pitchFamily="34" charset="0"/>
              </a:rPr>
              <a:t>Objectives</a:t>
            </a:r>
          </a:p>
        </p:txBody>
      </p:sp>
      <p:sp>
        <p:nvSpPr>
          <p:cNvPr id="5" name="Content Placeholder 2"/>
          <p:cNvSpPr txBox="1">
            <a:spLocks/>
          </p:cNvSpPr>
          <p:nvPr/>
        </p:nvSpPr>
        <p:spPr>
          <a:xfrm>
            <a:off x="381000" y="16002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3"/>
              </a:buBlip>
            </a:pPr>
            <a:endParaRPr lang="en-IN"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r>
              <a:rPr lang="en-IN" sz="2400" dirty="0" smtClean="0">
                <a:solidFill>
                  <a:srgbClr val="6600CC"/>
                </a:solidFill>
                <a:cs typeface="Vrinda" pitchFamily="34" charset="0"/>
              </a:rPr>
              <a:t>In </a:t>
            </a:r>
            <a:r>
              <a:rPr lang="en-IN" sz="2400" dirty="0">
                <a:solidFill>
                  <a:srgbClr val="6600CC"/>
                </a:solidFill>
                <a:cs typeface="Vrinda" pitchFamily="34" charset="0"/>
              </a:rPr>
              <a:t>this </a:t>
            </a:r>
            <a:r>
              <a:rPr lang="en-IN" sz="2400" dirty="0" smtClean="0">
                <a:solidFill>
                  <a:srgbClr val="6600CC"/>
                </a:solidFill>
                <a:cs typeface="Vrinda" pitchFamily="34" charset="0"/>
              </a:rPr>
              <a:t>session, </a:t>
            </a:r>
            <a:r>
              <a:rPr lang="en-IN" sz="2400" dirty="0">
                <a:solidFill>
                  <a:srgbClr val="6600CC"/>
                </a:solidFill>
                <a:cs typeface="Vrinda" pitchFamily="34" charset="0"/>
              </a:rPr>
              <a:t>you will learn to</a:t>
            </a:r>
            <a:r>
              <a:rPr lang="en-IN" sz="2400" dirty="0" smtClean="0">
                <a:solidFill>
                  <a:srgbClr val="6600CC"/>
                </a:solidFill>
                <a:cs typeface="Vrinda" pitchFamily="34" charset="0"/>
              </a:rPr>
              <a:t>:</a:t>
            </a:r>
          </a:p>
          <a:p>
            <a:pPr marL="900000" lvl="1" indent="-396875" defTabSz="914363">
              <a:lnSpc>
                <a:spcPct val="90000"/>
              </a:lnSpc>
              <a:buSzPct val="120000"/>
              <a:buBlip>
                <a:blip r:embed="rId4"/>
              </a:buBlip>
            </a:pPr>
            <a:endParaRPr lang="en-US" sz="2000" dirty="0" smtClean="0">
              <a:solidFill>
                <a:srgbClr val="6600CC"/>
              </a:solidFill>
              <a:latin typeface="Vrinda" pitchFamily="34" charset="0"/>
              <a:cs typeface="Vrinda" pitchFamily="34" charset="0"/>
            </a:endParaRPr>
          </a:p>
          <a:p>
            <a:pPr marL="900000" lvl="1" indent="-396875" defTabSz="914363">
              <a:lnSpc>
                <a:spcPct val="90000"/>
              </a:lnSpc>
              <a:buSzPct val="120000"/>
              <a:buBlip>
                <a:blip r:embed="rId4"/>
              </a:buBlip>
            </a:pPr>
            <a:r>
              <a:rPr lang="en-US" sz="2000" dirty="0" smtClean="0">
                <a:solidFill>
                  <a:srgbClr val="6600CC"/>
                </a:solidFill>
                <a:cs typeface="Vrinda" pitchFamily="34" charset="0"/>
              </a:rPr>
              <a:t>Automate Common Tasks.</a:t>
            </a:r>
          </a:p>
          <a:p>
            <a:pPr marL="900000" lvl="1" indent="-396875" defTabSz="914363">
              <a:lnSpc>
                <a:spcPct val="90000"/>
              </a:lnSpc>
              <a:buSzPct val="120000"/>
              <a:buBlip>
                <a:blip r:embed="rId4"/>
              </a:buBlip>
            </a:pPr>
            <a:r>
              <a:rPr lang="en-US" sz="2000" dirty="0" smtClean="0">
                <a:solidFill>
                  <a:srgbClr val="6600CC"/>
                </a:solidFill>
                <a:cs typeface="Vrinda" pitchFamily="34" charset="0"/>
              </a:rPr>
              <a:t>Use File </a:t>
            </a:r>
            <a:r>
              <a:rPr lang="en-US" sz="2000" dirty="0">
                <a:solidFill>
                  <a:srgbClr val="6600CC"/>
                </a:solidFill>
                <a:cs typeface="Vrinda" pitchFamily="34" charset="0"/>
              </a:rPr>
              <a:t>N</a:t>
            </a:r>
            <a:r>
              <a:rPr lang="en-US" sz="2000" dirty="0" smtClean="0">
                <a:solidFill>
                  <a:srgbClr val="6600CC"/>
                </a:solidFill>
                <a:cs typeface="Vrinda" pitchFamily="34" charset="0"/>
              </a:rPr>
              <a:t>ames and Paths.</a:t>
            </a:r>
          </a:p>
          <a:p>
            <a:pPr marL="900000" lvl="1" indent="-396875" defTabSz="914363">
              <a:lnSpc>
                <a:spcPct val="90000"/>
              </a:lnSpc>
              <a:buSzPct val="120000"/>
              <a:buBlip>
                <a:blip r:embed="rId4"/>
              </a:buBlip>
            </a:pPr>
            <a:r>
              <a:rPr lang="en-IN" sz="2000" dirty="0" smtClean="0">
                <a:solidFill>
                  <a:srgbClr val="6600CC"/>
                </a:solidFill>
                <a:cs typeface="Vrinda" pitchFamily="34" charset="0"/>
              </a:rPr>
              <a:t>Use Command </a:t>
            </a:r>
            <a:r>
              <a:rPr lang="en-IN" sz="2000" dirty="0">
                <a:solidFill>
                  <a:srgbClr val="6600CC"/>
                </a:solidFill>
                <a:cs typeface="Vrinda" pitchFamily="34" charset="0"/>
              </a:rPr>
              <a:t>L</a:t>
            </a:r>
            <a:r>
              <a:rPr lang="en-IN" sz="2000" dirty="0" smtClean="0">
                <a:solidFill>
                  <a:srgbClr val="6600CC"/>
                </a:solidFill>
                <a:cs typeface="Vrinda" pitchFamily="34" charset="0"/>
              </a:rPr>
              <a:t>ine Arguments and Pipes</a:t>
            </a:r>
            <a:r>
              <a:rPr lang="en-IN" sz="2000" dirty="0" smtClean="0">
                <a:solidFill>
                  <a:srgbClr val="6600CC"/>
                </a:solidFill>
                <a:latin typeface="Vrinda" pitchFamily="34" charset="0"/>
                <a:cs typeface="Vrinda" pitchFamily="34" charset="0"/>
              </a:rPr>
              <a:t>.</a:t>
            </a:r>
          </a:p>
          <a:p>
            <a:pPr marL="503125" lvl="1" indent="0" defTabSz="914363">
              <a:lnSpc>
                <a:spcPct val="90000"/>
              </a:lnSpc>
              <a:buSzPct val="120000"/>
              <a:buNone/>
            </a:pPr>
            <a:endParaRPr lang="en-IN" sz="1800" dirty="0" smtClean="0">
              <a:solidFill>
                <a:srgbClr val="6600CC"/>
              </a:solidFill>
              <a:latin typeface="Vrinda" pitchFamily="34" charset="0"/>
              <a:cs typeface="Vrinda" pitchFamily="34" charset="0"/>
            </a:endParaRPr>
          </a:p>
          <a:p>
            <a:pPr marL="503125" lvl="1" indent="0" defTabSz="914363">
              <a:lnSpc>
                <a:spcPct val="90000"/>
              </a:lnSpc>
              <a:buSzPct val="120000"/>
              <a:buNone/>
            </a:pPr>
            <a:endParaRPr lang="en-IN" sz="1800" dirty="0" smtClean="0">
              <a:solidFill>
                <a:srgbClr val="6600CC"/>
              </a:solidFill>
              <a:latin typeface="Vrinda" pitchFamily="34" charset="0"/>
              <a:cs typeface="Vrinda" pitchFamily="34" charset="0"/>
            </a:endParaRPr>
          </a:p>
        </p:txBody>
      </p:sp>
    </p:spTree>
    <p:extLst>
      <p:ext uri="{BB962C8B-B14F-4D97-AF65-F5344CB8AC3E}">
        <p14:creationId xmlns:p14="http://schemas.microsoft.com/office/powerpoint/2010/main" val="26424962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03225" lvl="1" defTabSz="914363">
              <a:lnSpc>
                <a:spcPct val="90000"/>
              </a:lnSpc>
              <a:buSzPct val="100000"/>
              <a:buFont typeface="Arial" panose="020B0604020202020204" pitchFamily="34" charset="0"/>
              <a:buChar char="•"/>
            </a:pPr>
            <a:endParaRPr lang="en-US" sz="1600" dirty="0" smtClean="0">
              <a:solidFill>
                <a:srgbClr val="6600CC"/>
              </a:solidFill>
            </a:endParaRPr>
          </a:p>
          <a:p>
            <a:pPr marL="514350" lvl="1" indent="-396875" defTabSz="914363">
              <a:lnSpc>
                <a:spcPct val="90000"/>
              </a:lnSpc>
              <a:buSzPct val="100000"/>
              <a:buBlip>
                <a:blip r:embed="rId4"/>
              </a:buBlip>
            </a:pPr>
            <a:r>
              <a:rPr lang="en-US" sz="2400" dirty="0">
                <a:solidFill>
                  <a:srgbClr val="6600CC"/>
                </a:solidFill>
              </a:rPr>
              <a:t>Python helps in automating the tasks that are commonly implemented by using a computer system. </a:t>
            </a:r>
          </a:p>
          <a:p>
            <a:pPr marL="117475" lvl="1" indent="0" defTabSz="914363">
              <a:lnSpc>
                <a:spcPct val="90000"/>
              </a:lnSpc>
              <a:buSzPct val="100000"/>
              <a:buNone/>
            </a:pPr>
            <a:endParaRPr lang="en-US" sz="2400" dirty="0" smtClean="0">
              <a:solidFill>
                <a:srgbClr val="6600CC"/>
              </a:solidFill>
            </a:endParaRPr>
          </a:p>
          <a:p>
            <a:pPr marL="514350" lvl="1" indent="-396875" defTabSz="914363">
              <a:lnSpc>
                <a:spcPct val="90000"/>
              </a:lnSpc>
              <a:buSzPct val="100000"/>
              <a:buBlip>
                <a:blip r:embed="rId4"/>
              </a:buBlip>
            </a:pPr>
            <a:r>
              <a:rPr lang="en-US" sz="2400" dirty="0">
                <a:solidFill>
                  <a:srgbClr val="6600CC"/>
                </a:solidFill>
              </a:rPr>
              <a:t>Some of the tasks which can be automated by Python are</a:t>
            </a:r>
          </a:p>
          <a:p>
            <a:pPr marL="403225" lvl="1" defTabSz="914363">
              <a:lnSpc>
                <a:spcPct val="90000"/>
              </a:lnSpc>
              <a:buSzPct val="100000"/>
              <a:buFont typeface="Arial" panose="020B0604020202020204" pitchFamily="34" charset="0"/>
              <a:buChar char="•"/>
            </a:pPr>
            <a:endParaRPr lang="en-US" sz="2400" dirty="0">
              <a:solidFill>
                <a:srgbClr val="6600CC"/>
              </a:solidFill>
            </a:endParaRPr>
          </a:p>
          <a:p>
            <a:pPr marL="900000" lvl="1" indent="-396875" defTabSz="914363">
              <a:lnSpc>
                <a:spcPct val="90000"/>
              </a:lnSpc>
              <a:buSzPct val="120000"/>
              <a:buBlip>
                <a:blip r:embed="rId5"/>
              </a:buBlip>
            </a:pPr>
            <a:r>
              <a:rPr lang="en-US" sz="2000" dirty="0" smtClean="0">
                <a:solidFill>
                  <a:srgbClr val="6600CC"/>
                </a:solidFill>
              </a:rPr>
              <a:t>Importing </a:t>
            </a:r>
            <a:r>
              <a:rPr lang="en-US" sz="2000" dirty="0">
                <a:solidFill>
                  <a:srgbClr val="6600CC"/>
                </a:solidFill>
              </a:rPr>
              <a:t>.csv files.</a:t>
            </a:r>
          </a:p>
          <a:p>
            <a:pPr marL="900000" lvl="1" indent="-396875" defTabSz="914363">
              <a:lnSpc>
                <a:spcPct val="90000"/>
              </a:lnSpc>
              <a:buSzPct val="120000"/>
              <a:buBlip>
                <a:blip r:embed="rId5"/>
              </a:buBlip>
            </a:pPr>
            <a:r>
              <a:rPr lang="en-US" sz="2000" dirty="0">
                <a:solidFill>
                  <a:srgbClr val="6600CC"/>
                </a:solidFill>
              </a:rPr>
              <a:t>Extracting data from XML</a:t>
            </a:r>
          </a:p>
          <a:p>
            <a:pPr marL="900000" lvl="1" indent="-396875" defTabSz="914363">
              <a:lnSpc>
                <a:spcPct val="90000"/>
              </a:lnSpc>
              <a:buSzPct val="120000"/>
              <a:buBlip>
                <a:blip r:embed="rId5"/>
              </a:buBlip>
            </a:pPr>
            <a:r>
              <a:rPr lang="en-US" sz="2000" dirty="0">
                <a:solidFill>
                  <a:srgbClr val="6600CC"/>
                </a:solidFill>
              </a:rPr>
              <a:t>Controlling the browser.</a:t>
            </a:r>
          </a:p>
          <a:p>
            <a:pPr marL="900000" lvl="1" indent="-396875" defTabSz="914363">
              <a:lnSpc>
                <a:spcPct val="90000"/>
              </a:lnSpc>
              <a:buSzPct val="120000"/>
              <a:buBlip>
                <a:blip r:embed="rId5"/>
              </a:buBlip>
            </a:pPr>
            <a:r>
              <a:rPr lang="en-US" sz="2000" dirty="0">
                <a:solidFill>
                  <a:srgbClr val="6600CC"/>
                </a:solidFill>
              </a:rPr>
              <a:t>Accessing SQL via SQLite.</a:t>
            </a:r>
          </a:p>
          <a:p>
            <a:pPr marL="117475" lvl="1" indent="0" defTabSz="914363">
              <a:lnSpc>
                <a:spcPct val="90000"/>
              </a:lnSpc>
              <a:buSzPct val="100000"/>
              <a:buNone/>
            </a:pPr>
            <a:endParaRPr lang="en-IN" sz="2000" dirty="0">
              <a:solidFill>
                <a:srgbClr val="6600CC"/>
              </a:solidFill>
            </a:endParaRPr>
          </a:p>
        </p:txBody>
      </p:sp>
      <p:sp>
        <p:nvSpPr>
          <p:cNvPr id="4"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chemeClr val="bg1"/>
                </a:solidFill>
                <a:latin typeface="Vrinda" pitchFamily="34" charset="0"/>
                <a:cs typeface="Vrinda" pitchFamily="34" charset="0"/>
              </a:rPr>
              <a:t>Automating Common Tasks</a:t>
            </a:r>
          </a:p>
        </p:txBody>
      </p:sp>
    </p:spTree>
    <p:extLst>
      <p:ext uri="{BB962C8B-B14F-4D97-AF65-F5344CB8AC3E}">
        <p14:creationId xmlns:p14="http://schemas.microsoft.com/office/powerpoint/2010/main" val="2824217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382000" cy="4724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4"/>
              </a:buBlip>
            </a:pPr>
            <a:r>
              <a:rPr lang="en-US" sz="2400" dirty="0" smtClean="0">
                <a:solidFill>
                  <a:srgbClr val="6600CC"/>
                </a:solidFill>
              </a:rPr>
              <a:t>Any </a:t>
            </a:r>
            <a:r>
              <a:rPr lang="en-US" sz="2400" dirty="0">
                <a:solidFill>
                  <a:srgbClr val="6600CC"/>
                </a:solidFill>
              </a:rPr>
              <a:t>program which runs inside the OS of the computer system has a current directory.</a:t>
            </a:r>
          </a:p>
          <a:p>
            <a:pPr marL="514350" lvl="1" indent="-396875" defTabSz="914363">
              <a:lnSpc>
                <a:spcPct val="90000"/>
              </a:lnSpc>
              <a:buSzPct val="100000"/>
              <a:buBlip>
                <a:blip r:embed="rId4"/>
              </a:buBlip>
            </a:pPr>
            <a:r>
              <a:rPr lang="en-US" sz="2400" dirty="0">
                <a:solidFill>
                  <a:srgbClr val="6600CC"/>
                </a:solidFill>
              </a:rPr>
              <a:t>It is  also called as current working directory used by a Python program to open and read the files.</a:t>
            </a:r>
          </a:p>
          <a:p>
            <a:pPr marL="514350" lvl="1" indent="-396875" defTabSz="914363">
              <a:lnSpc>
                <a:spcPct val="90000"/>
              </a:lnSpc>
              <a:buSzPct val="100000"/>
              <a:buBlip>
                <a:blip r:embed="rId4"/>
              </a:buBlip>
            </a:pPr>
            <a:r>
              <a:rPr lang="en-US" sz="2400" dirty="0">
                <a:solidFill>
                  <a:srgbClr val="6600CC"/>
                </a:solidFill>
              </a:rPr>
              <a:t>OS module (Operating System module) provides a set of functions which helps  a programmer in performing various operations related with working on files and directories. </a:t>
            </a:r>
          </a:p>
          <a:p>
            <a:pPr marL="514350" lvl="1" indent="-396875" defTabSz="914363">
              <a:lnSpc>
                <a:spcPct val="90000"/>
              </a:lnSpc>
              <a:buSzPct val="100000"/>
              <a:buBlip>
                <a:blip r:embed="rId4"/>
              </a:buBlip>
            </a:pPr>
            <a:r>
              <a:rPr lang="en-US" sz="2400" dirty="0">
                <a:solidFill>
                  <a:srgbClr val="6600CC"/>
                </a:solidFill>
              </a:rPr>
              <a:t>Some of the important functions are :-</a:t>
            </a:r>
          </a:p>
          <a:p>
            <a:pPr marL="900000" lvl="1" indent="-396875" defTabSz="914363">
              <a:lnSpc>
                <a:spcPct val="90000"/>
              </a:lnSpc>
              <a:buSzPct val="120000"/>
              <a:buBlip>
                <a:blip r:embed="rId5"/>
              </a:buBlip>
            </a:pPr>
            <a:r>
              <a:rPr lang="en-US" sz="2000" dirty="0" err="1">
                <a:solidFill>
                  <a:srgbClr val="6600CC"/>
                </a:solidFill>
              </a:rPr>
              <a:t>getcwd</a:t>
            </a:r>
            <a:r>
              <a:rPr lang="en-US" sz="2000" dirty="0">
                <a:solidFill>
                  <a:srgbClr val="6600CC"/>
                </a:solidFill>
              </a:rPr>
              <a:t>()</a:t>
            </a:r>
          </a:p>
          <a:p>
            <a:pPr marL="900000" lvl="1" indent="-396875" defTabSz="914363">
              <a:lnSpc>
                <a:spcPct val="90000"/>
              </a:lnSpc>
              <a:buSzPct val="120000"/>
              <a:buBlip>
                <a:blip r:embed="rId5"/>
              </a:buBlip>
            </a:pPr>
            <a:r>
              <a:rPr lang="en-US" sz="2000" dirty="0" err="1">
                <a:solidFill>
                  <a:srgbClr val="6600CC"/>
                </a:solidFill>
              </a:rPr>
              <a:t>abspath</a:t>
            </a:r>
            <a:r>
              <a:rPr lang="en-US" sz="2000" dirty="0">
                <a:solidFill>
                  <a:srgbClr val="6600CC"/>
                </a:solidFill>
              </a:rPr>
              <a:t>()</a:t>
            </a:r>
          </a:p>
          <a:p>
            <a:pPr marL="900000" lvl="1" indent="-396875" defTabSz="914363">
              <a:lnSpc>
                <a:spcPct val="90000"/>
              </a:lnSpc>
              <a:buSzPct val="120000"/>
              <a:buBlip>
                <a:blip r:embed="rId5"/>
              </a:buBlip>
            </a:pPr>
            <a:r>
              <a:rPr lang="en-US" sz="2000" dirty="0">
                <a:solidFill>
                  <a:srgbClr val="6600CC"/>
                </a:solidFill>
              </a:rPr>
              <a:t>exists()</a:t>
            </a:r>
          </a:p>
          <a:p>
            <a:pPr marL="900000" lvl="1" indent="-396875" defTabSz="914363">
              <a:lnSpc>
                <a:spcPct val="90000"/>
              </a:lnSpc>
              <a:buSzPct val="120000"/>
              <a:buBlip>
                <a:blip r:embed="rId5"/>
              </a:buBlip>
            </a:pPr>
            <a:r>
              <a:rPr lang="en-US" sz="2000" dirty="0" err="1">
                <a:solidFill>
                  <a:srgbClr val="6600CC"/>
                </a:solidFill>
              </a:rPr>
              <a:t>isdir</a:t>
            </a:r>
            <a:r>
              <a:rPr lang="en-US" sz="2000" dirty="0">
                <a:solidFill>
                  <a:srgbClr val="6600CC"/>
                </a:solidFill>
              </a:rPr>
              <a:t>()</a:t>
            </a:r>
          </a:p>
          <a:p>
            <a:pPr marL="900000" lvl="1" indent="-396875" defTabSz="914363">
              <a:lnSpc>
                <a:spcPct val="90000"/>
              </a:lnSpc>
              <a:buSzPct val="120000"/>
              <a:buBlip>
                <a:blip r:embed="rId5"/>
              </a:buBlip>
            </a:pPr>
            <a:r>
              <a:rPr lang="en-US" sz="2000" dirty="0" err="1">
                <a:solidFill>
                  <a:srgbClr val="6600CC"/>
                </a:solidFill>
              </a:rPr>
              <a:t>isfile</a:t>
            </a:r>
            <a:r>
              <a:rPr lang="en-US" sz="2000" dirty="0">
                <a:solidFill>
                  <a:srgbClr val="6600CC"/>
                </a:solidFill>
              </a:rPr>
              <a:t>()</a:t>
            </a:r>
          </a:p>
        </p:txBody>
      </p:sp>
      <p:sp>
        <p:nvSpPr>
          <p:cNvPr id="4"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chemeClr val="bg1"/>
                </a:solidFill>
                <a:latin typeface="Vrinda" pitchFamily="34" charset="0"/>
                <a:cs typeface="Vrinda" pitchFamily="34" charset="0"/>
              </a:rPr>
              <a:t>File Names and Paths</a:t>
            </a:r>
          </a:p>
        </p:txBody>
      </p:sp>
    </p:spTree>
    <p:extLst>
      <p:ext uri="{BB962C8B-B14F-4D97-AF65-F5344CB8AC3E}">
        <p14:creationId xmlns:p14="http://schemas.microsoft.com/office/powerpoint/2010/main" val="2861729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331640" y="2564904"/>
            <a:ext cx="3913230" cy="1823991"/>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err="1" smtClean="0"/>
              <a:t>isdir</a:t>
            </a:r>
            <a:r>
              <a:rPr lang="en-US" dirty="0"/>
              <a:t>() </a:t>
            </a:r>
            <a:r>
              <a:rPr lang="en-US" dirty="0" smtClean="0"/>
              <a:t>method </a:t>
            </a:r>
            <a:r>
              <a:rPr lang="en-IN" dirty="0" smtClean="0"/>
              <a:t>returns</a:t>
            </a:r>
            <a:r>
              <a:rPr lang="en-IN" dirty="0"/>
              <a:t> </a:t>
            </a:r>
            <a:r>
              <a:rPr lang="en-IN" dirty="0" smtClean="0"/>
              <a:t>False</a:t>
            </a:r>
            <a:r>
              <a:rPr lang="en-IN" dirty="0"/>
              <a:t> if path is an existing </a:t>
            </a:r>
            <a:r>
              <a:rPr lang="en-IN" dirty="0" smtClean="0"/>
              <a:t>directory.</a:t>
            </a:r>
          </a:p>
          <a:p>
            <a:pPr marL="342900" indent="-342900" algn="ctr">
              <a:buAutoNum type="arabicPeriod"/>
            </a:pPr>
            <a:r>
              <a:rPr lang="en-IN" dirty="0" smtClean="0"/>
              <a:t>True</a:t>
            </a:r>
          </a:p>
          <a:p>
            <a:pPr marL="342900" indent="-342900" algn="ctr">
              <a:buAutoNum type="arabicPeriod"/>
            </a:pPr>
            <a:r>
              <a:rPr lang="en-IN" dirty="0" smtClean="0"/>
              <a:t>False</a:t>
            </a:r>
            <a:endParaRPr lang="en-IN" dirty="0"/>
          </a:p>
        </p:txBody>
      </p:sp>
    </p:spTree>
    <p:extLst>
      <p:ext uri="{BB962C8B-B14F-4D97-AF65-F5344CB8AC3E}">
        <p14:creationId xmlns:p14="http://schemas.microsoft.com/office/powerpoint/2010/main" val="19676588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331640" y="2564904"/>
            <a:ext cx="3913230" cy="1823991"/>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err="1" smtClean="0"/>
              <a:t>isdir</a:t>
            </a:r>
            <a:r>
              <a:rPr lang="en-US" dirty="0"/>
              <a:t>() </a:t>
            </a:r>
            <a:r>
              <a:rPr lang="en-US" dirty="0" smtClean="0"/>
              <a:t>method </a:t>
            </a:r>
            <a:r>
              <a:rPr lang="en-IN" dirty="0" smtClean="0"/>
              <a:t>returns</a:t>
            </a:r>
            <a:r>
              <a:rPr lang="en-IN" dirty="0"/>
              <a:t> </a:t>
            </a:r>
            <a:r>
              <a:rPr lang="en-IN" dirty="0" smtClean="0"/>
              <a:t>False</a:t>
            </a:r>
            <a:r>
              <a:rPr lang="en-IN" dirty="0"/>
              <a:t> if path is an existing </a:t>
            </a:r>
            <a:r>
              <a:rPr lang="en-IN" dirty="0" smtClean="0"/>
              <a:t>directory.</a:t>
            </a:r>
          </a:p>
          <a:p>
            <a:pPr marL="342900" indent="-342900" algn="ctr">
              <a:buAutoNum type="arabicPeriod"/>
            </a:pPr>
            <a:r>
              <a:rPr lang="en-IN" dirty="0" smtClean="0"/>
              <a:t>True</a:t>
            </a:r>
          </a:p>
          <a:p>
            <a:pPr marL="342900" indent="-342900" algn="ctr">
              <a:buAutoNum type="arabicPeriod"/>
            </a:pPr>
            <a:r>
              <a:rPr lang="en-IN" dirty="0" smtClean="0"/>
              <a:t>False</a:t>
            </a:r>
            <a:endParaRPr lang="en-IN" dirty="0"/>
          </a:p>
        </p:txBody>
      </p:sp>
      <p:grpSp>
        <p:nvGrpSpPr>
          <p:cNvPr id="5" name="Group 4"/>
          <p:cNvGrpSpPr/>
          <p:nvPr/>
        </p:nvGrpSpPr>
        <p:grpSpPr>
          <a:xfrm>
            <a:off x="2733802" y="4974021"/>
            <a:ext cx="4475060" cy="977946"/>
            <a:chOff x="304808" y="5638800"/>
            <a:chExt cx="2821669"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705796" y="6053229"/>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dirty="0" smtClean="0">
                  <a:solidFill>
                    <a:schemeClr val="bg1"/>
                  </a:solidFill>
                  <a:cs typeface="Vrinda" pitchFamily="34" charset="0"/>
                </a:rPr>
                <a:t>False</a:t>
              </a:r>
              <a:endParaRPr lang="en-IN" sz="1600" dirty="0">
                <a:solidFill>
                  <a:schemeClr val="bg1"/>
                </a:solidFill>
                <a:cs typeface="Vrinda" pitchFamily="34" charset="0"/>
              </a:endParaRP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Tree>
    <p:extLst>
      <p:ext uri="{BB962C8B-B14F-4D97-AF65-F5344CB8AC3E}">
        <p14:creationId xmlns:p14="http://schemas.microsoft.com/office/powerpoint/2010/main" val="2725903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defTabSz="914363">
              <a:lnSpc>
                <a:spcPct val="90000"/>
              </a:lnSpc>
              <a:buSzPct val="100000"/>
              <a:buNone/>
            </a:pPr>
            <a:endParaRPr lang="en-US" sz="1600" dirty="0">
              <a:solidFill>
                <a:srgbClr val="6600CC"/>
              </a:solidFill>
            </a:endParaRPr>
          </a:p>
          <a:p>
            <a:pPr marL="117475" lvl="1" indent="0" defTabSz="914363">
              <a:lnSpc>
                <a:spcPct val="90000"/>
              </a:lnSpc>
              <a:buSzPct val="100000"/>
              <a:buNone/>
            </a:pPr>
            <a:r>
              <a:rPr lang="en-US" sz="2400" b="1" u="sng" dirty="0" err="1" smtClean="0">
                <a:solidFill>
                  <a:srgbClr val="6600CC"/>
                </a:solidFill>
              </a:rPr>
              <a:t>getcwd</a:t>
            </a:r>
            <a:r>
              <a:rPr lang="en-US" sz="2400" b="1" u="sng" dirty="0" smtClean="0">
                <a:solidFill>
                  <a:srgbClr val="6600CC"/>
                </a:solidFill>
              </a:rPr>
              <a:t>()</a:t>
            </a:r>
            <a:r>
              <a:rPr lang="en-US" sz="2400" dirty="0" smtClean="0">
                <a:solidFill>
                  <a:srgbClr val="6600CC"/>
                </a:solidFill>
              </a:rPr>
              <a:t>  - Returns </a:t>
            </a:r>
            <a:r>
              <a:rPr lang="en-US" sz="2400" dirty="0">
                <a:solidFill>
                  <a:srgbClr val="6600CC"/>
                </a:solidFill>
              </a:rPr>
              <a:t>the name of the </a:t>
            </a:r>
            <a:r>
              <a:rPr lang="en-US" sz="2400" dirty="0" smtClean="0">
                <a:solidFill>
                  <a:srgbClr val="6600CC"/>
                </a:solidFill>
              </a:rPr>
              <a:t>current </a:t>
            </a:r>
            <a:r>
              <a:rPr lang="en-US" sz="2400" dirty="0">
                <a:solidFill>
                  <a:srgbClr val="6600CC"/>
                </a:solidFill>
              </a:rPr>
              <a:t>directory</a:t>
            </a:r>
            <a:r>
              <a:rPr lang="en-US" sz="2400" dirty="0" smtClean="0">
                <a:solidFill>
                  <a:srgbClr val="6600CC"/>
                </a:solidFill>
              </a:rPr>
              <a:t>. </a:t>
            </a:r>
          </a:p>
          <a:p>
            <a:pPr marL="117475" lvl="1" indent="0" defTabSz="914363">
              <a:lnSpc>
                <a:spcPct val="90000"/>
              </a:lnSpc>
              <a:buSzPct val="100000"/>
              <a:buNone/>
            </a:pPr>
            <a:endParaRPr lang="en-US" sz="2000" dirty="0">
              <a:solidFill>
                <a:srgbClr val="6600CC"/>
              </a:solidFill>
            </a:endParaRPr>
          </a:p>
          <a:p>
            <a:pPr marL="117475" lvl="1" indent="0" defTabSz="914363">
              <a:lnSpc>
                <a:spcPct val="90000"/>
              </a:lnSpc>
              <a:buSzPct val="100000"/>
              <a:buNone/>
            </a:pPr>
            <a:r>
              <a:rPr lang="en-US" sz="2000" b="1" dirty="0" smtClean="0">
                <a:solidFill>
                  <a:srgbClr val="6600CC"/>
                </a:solidFill>
              </a:rPr>
              <a:t>Example:-</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595" y="3352800"/>
            <a:ext cx="7696200" cy="1804987"/>
          </a:xfrm>
          <a:prstGeom prst="rect">
            <a:avLst/>
          </a:prstGeom>
          <a:ln w="9525">
            <a:solidFill>
              <a:schemeClr val="tx1"/>
            </a:solidFill>
            <a:miter lim="800000"/>
            <a:headEnd/>
            <a:tailEnd/>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6"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chemeClr val="bg1"/>
                </a:solidFill>
                <a:latin typeface="Vrinda" pitchFamily="34" charset="0"/>
                <a:cs typeface="Vrinda" pitchFamily="34" charset="0"/>
              </a:rPr>
              <a:t>File Names and Paths (Contd.)</a:t>
            </a:r>
          </a:p>
        </p:txBody>
      </p:sp>
    </p:spTree>
    <p:extLst>
      <p:ext uri="{BB962C8B-B14F-4D97-AF65-F5344CB8AC3E}">
        <p14:creationId xmlns:p14="http://schemas.microsoft.com/office/powerpoint/2010/main" val="40201036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413950" y="1600200"/>
            <a:ext cx="8349049" cy="4724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defTabSz="914363">
              <a:lnSpc>
                <a:spcPct val="90000"/>
              </a:lnSpc>
              <a:buSzPct val="100000"/>
              <a:buNone/>
            </a:pPr>
            <a:endParaRPr lang="en-US" sz="1600" dirty="0" smtClean="0">
              <a:solidFill>
                <a:srgbClr val="6600CC"/>
              </a:solidFill>
            </a:endParaRPr>
          </a:p>
          <a:p>
            <a:pPr marL="117475" lvl="1" indent="0" defTabSz="914363">
              <a:lnSpc>
                <a:spcPct val="90000"/>
              </a:lnSpc>
              <a:buSzPct val="100000"/>
              <a:buNone/>
            </a:pPr>
            <a:r>
              <a:rPr lang="en-US" sz="2400" b="1" u="sng" dirty="0" err="1" smtClean="0">
                <a:solidFill>
                  <a:srgbClr val="6600CC"/>
                </a:solidFill>
              </a:rPr>
              <a:t>abspath</a:t>
            </a:r>
            <a:r>
              <a:rPr lang="en-US" sz="2400" b="1" u="sng" dirty="0" smtClean="0">
                <a:solidFill>
                  <a:srgbClr val="6600CC"/>
                </a:solidFill>
              </a:rPr>
              <a:t>()</a:t>
            </a:r>
            <a:r>
              <a:rPr lang="en-US" sz="2400" dirty="0" smtClean="0">
                <a:solidFill>
                  <a:srgbClr val="6600CC"/>
                </a:solidFill>
              </a:rPr>
              <a:t> </a:t>
            </a:r>
            <a:r>
              <a:rPr lang="en-US" sz="2400" dirty="0">
                <a:solidFill>
                  <a:srgbClr val="6600CC"/>
                </a:solidFill>
              </a:rPr>
              <a:t>-</a:t>
            </a:r>
            <a:r>
              <a:rPr lang="en-US" sz="2400" dirty="0" smtClean="0">
                <a:solidFill>
                  <a:srgbClr val="6600CC"/>
                </a:solidFill>
              </a:rPr>
              <a:t>  Finds </a:t>
            </a:r>
            <a:r>
              <a:rPr lang="en-US" sz="2400" dirty="0">
                <a:solidFill>
                  <a:srgbClr val="6600CC"/>
                </a:solidFill>
              </a:rPr>
              <a:t>the absolute path to a file</a:t>
            </a:r>
            <a:r>
              <a:rPr lang="en-US" sz="2400" dirty="0" smtClean="0">
                <a:solidFill>
                  <a:srgbClr val="6600CC"/>
                </a:solidFill>
              </a:rPr>
              <a:t>.</a:t>
            </a:r>
          </a:p>
          <a:p>
            <a:pPr marL="117475" lvl="1" indent="0" defTabSz="914363">
              <a:lnSpc>
                <a:spcPct val="90000"/>
              </a:lnSpc>
              <a:buSzPct val="100000"/>
              <a:buNone/>
            </a:pPr>
            <a:endParaRPr lang="en-US" sz="2000" dirty="0">
              <a:solidFill>
                <a:srgbClr val="6600CC"/>
              </a:solidFill>
            </a:endParaRPr>
          </a:p>
          <a:p>
            <a:pPr marL="117475" lvl="1" indent="0" defTabSz="914363">
              <a:lnSpc>
                <a:spcPct val="90000"/>
              </a:lnSpc>
              <a:buSzPct val="100000"/>
              <a:buNone/>
            </a:pPr>
            <a:r>
              <a:rPr lang="en-US" sz="2000" b="1" dirty="0" smtClean="0">
                <a:solidFill>
                  <a:srgbClr val="6600CC"/>
                </a:solidFill>
              </a:rPr>
              <a:t>Example:-</a:t>
            </a:r>
          </a:p>
        </p:txBody>
      </p:sp>
      <p:pic>
        <p:nvPicPr>
          <p:cNvPr id="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921" y="3472249"/>
            <a:ext cx="7715250" cy="1371600"/>
          </a:xfrm>
          <a:prstGeom prst="rect">
            <a:avLst/>
          </a:prstGeom>
          <a:ln w="9525">
            <a:solidFill>
              <a:schemeClr val="tx1"/>
            </a:solidFill>
            <a:miter lim="800000"/>
            <a:headEnd/>
            <a:tailEnd/>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6"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chemeClr val="bg1"/>
                </a:solidFill>
                <a:latin typeface="Vrinda" pitchFamily="34" charset="0"/>
                <a:cs typeface="Vrinda" pitchFamily="34" charset="0"/>
              </a:rPr>
              <a:t>File Names and Paths (Contd.)</a:t>
            </a:r>
          </a:p>
        </p:txBody>
      </p:sp>
    </p:spTree>
    <p:extLst>
      <p:ext uri="{BB962C8B-B14F-4D97-AF65-F5344CB8AC3E}">
        <p14:creationId xmlns:p14="http://schemas.microsoft.com/office/powerpoint/2010/main" val="6880436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defTabSz="914363">
              <a:lnSpc>
                <a:spcPct val="90000"/>
              </a:lnSpc>
              <a:buSzPct val="100000"/>
              <a:buNone/>
            </a:pPr>
            <a:endParaRPr lang="en-US" sz="1600" dirty="0" smtClean="0">
              <a:solidFill>
                <a:srgbClr val="6600CC"/>
              </a:solidFill>
            </a:endParaRPr>
          </a:p>
          <a:p>
            <a:pPr marL="117475" lvl="1" indent="0" defTabSz="914363">
              <a:lnSpc>
                <a:spcPct val="90000"/>
              </a:lnSpc>
              <a:buSzPct val="100000"/>
              <a:buNone/>
            </a:pPr>
            <a:r>
              <a:rPr lang="en-US" sz="2400" b="1" u="sng" dirty="0" smtClean="0">
                <a:solidFill>
                  <a:srgbClr val="6600CC"/>
                </a:solidFill>
              </a:rPr>
              <a:t>exists() </a:t>
            </a:r>
            <a:r>
              <a:rPr lang="en-US" sz="2400" dirty="0" smtClean="0">
                <a:solidFill>
                  <a:srgbClr val="6600CC"/>
                </a:solidFill>
              </a:rPr>
              <a:t>- Checks </a:t>
            </a:r>
            <a:r>
              <a:rPr lang="en-US" sz="2400" dirty="0">
                <a:solidFill>
                  <a:srgbClr val="6600CC"/>
                </a:solidFill>
              </a:rPr>
              <a:t>whether a file or directory </a:t>
            </a:r>
            <a:r>
              <a:rPr lang="en-US" sz="2400" dirty="0" smtClean="0">
                <a:solidFill>
                  <a:srgbClr val="6600CC"/>
                </a:solidFill>
              </a:rPr>
              <a:t>exist.</a:t>
            </a:r>
          </a:p>
          <a:p>
            <a:pPr marL="117475" lvl="1" indent="0" defTabSz="914363">
              <a:lnSpc>
                <a:spcPct val="90000"/>
              </a:lnSpc>
              <a:buSzPct val="100000"/>
              <a:buNone/>
            </a:pPr>
            <a:endParaRPr lang="en-US" sz="2000" dirty="0">
              <a:solidFill>
                <a:srgbClr val="6600CC"/>
              </a:solidFill>
            </a:endParaRPr>
          </a:p>
          <a:p>
            <a:pPr marL="117475" lvl="1" indent="0" defTabSz="914363">
              <a:lnSpc>
                <a:spcPct val="90000"/>
              </a:lnSpc>
              <a:buSzPct val="100000"/>
              <a:buNone/>
            </a:pPr>
            <a:r>
              <a:rPr lang="en-US" sz="2000" b="1" dirty="0" smtClean="0">
                <a:solidFill>
                  <a:srgbClr val="6600CC"/>
                </a:solidFill>
              </a:rPr>
              <a:t>Example:-</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026" y="3657600"/>
            <a:ext cx="7715250" cy="1457325"/>
          </a:xfrm>
          <a:prstGeom prst="rect">
            <a:avLst/>
          </a:prstGeom>
          <a:ln w="9525">
            <a:solidFill>
              <a:schemeClr val="tx1"/>
            </a:solidFill>
            <a:miter lim="800000"/>
            <a:headEnd/>
            <a:tailEnd/>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sp>
        <p:nvSpPr>
          <p:cNvPr id="6"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chemeClr val="bg1"/>
                </a:solidFill>
                <a:latin typeface="Vrinda" pitchFamily="34" charset="0"/>
                <a:cs typeface="Vrinda" pitchFamily="34" charset="0"/>
              </a:rPr>
              <a:t>File Names and Paths (Contd.)</a:t>
            </a:r>
          </a:p>
        </p:txBody>
      </p:sp>
    </p:spTree>
    <p:extLst>
      <p:ext uri="{BB962C8B-B14F-4D97-AF65-F5344CB8AC3E}">
        <p14:creationId xmlns:p14="http://schemas.microsoft.com/office/powerpoint/2010/main" val="40454337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382000" cy="4800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4"/>
              </a:buBlip>
            </a:pPr>
            <a:r>
              <a:rPr lang="en-IN" sz="2400" dirty="0" smtClean="0">
                <a:solidFill>
                  <a:srgbClr val="6600CC"/>
                </a:solidFill>
              </a:rPr>
              <a:t>Command </a:t>
            </a:r>
            <a:r>
              <a:rPr lang="en-IN" sz="2400" dirty="0">
                <a:solidFill>
                  <a:srgbClr val="6600CC"/>
                </a:solidFill>
              </a:rPr>
              <a:t>line arguments help the user to pass the argument during the execution of the program using command prompt. </a:t>
            </a:r>
          </a:p>
          <a:p>
            <a:pPr marL="514350" lvl="1" indent="-396875" defTabSz="914363">
              <a:lnSpc>
                <a:spcPct val="90000"/>
              </a:lnSpc>
              <a:buSzPct val="100000"/>
              <a:buBlip>
                <a:blip r:embed="rId4"/>
              </a:buBlip>
            </a:pPr>
            <a:r>
              <a:rPr lang="en-IN" sz="2400" dirty="0">
                <a:solidFill>
                  <a:srgbClr val="6600CC"/>
                </a:solidFill>
              </a:rPr>
              <a:t> Python also uses command line arguments to pass the values, such as file name or any data for variables of the program.</a:t>
            </a:r>
          </a:p>
          <a:p>
            <a:pPr marL="514350" lvl="1" indent="-396875" defTabSz="914363">
              <a:lnSpc>
                <a:spcPct val="90000"/>
              </a:lnSpc>
              <a:buSzPct val="100000"/>
              <a:buBlip>
                <a:blip r:embed="rId4"/>
              </a:buBlip>
            </a:pPr>
            <a:r>
              <a:rPr lang="en-IN" sz="2400" dirty="0">
                <a:solidFill>
                  <a:srgbClr val="6600CC"/>
                </a:solidFill>
              </a:rPr>
              <a:t>Inside the program these arguments are accessible through the list variable </a:t>
            </a:r>
            <a:r>
              <a:rPr lang="en-IN" sz="2400" dirty="0" err="1">
                <a:solidFill>
                  <a:srgbClr val="6600CC"/>
                </a:solidFill>
              </a:rPr>
              <a:t>sys.argv</a:t>
            </a:r>
            <a:r>
              <a:rPr lang="en-IN" sz="2400" dirty="0">
                <a:solidFill>
                  <a:srgbClr val="6600CC"/>
                </a:solidFill>
              </a:rPr>
              <a:t>.</a:t>
            </a:r>
          </a:p>
          <a:p>
            <a:pPr marL="514350" lvl="1" indent="-396875" defTabSz="914363">
              <a:lnSpc>
                <a:spcPct val="90000"/>
              </a:lnSpc>
              <a:buSzPct val="100000"/>
              <a:buBlip>
                <a:blip r:embed="rId4"/>
              </a:buBlip>
            </a:pPr>
            <a:r>
              <a:rPr lang="en-IN" sz="2400" dirty="0">
                <a:solidFill>
                  <a:srgbClr val="6600CC"/>
                </a:solidFill>
              </a:rPr>
              <a:t>The name of the script is included in this list at </a:t>
            </a:r>
            <a:r>
              <a:rPr lang="en-IN" sz="2400" dirty="0" err="1">
                <a:solidFill>
                  <a:srgbClr val="6600CC"/>
                </a:solidFill>
              </a:rPr>
              <a:t>sys.argv</a:t>
            </a:r>
            <a:r>
              <a:rPr lang="en-IN" sz="2400" dirty="0">
                <a:solidFill>
                  <a:srgbClr val="6600CC"/>
                </a:solidFill>
              </a:rPr>
              <a:t>[0] where as  </a:t>
            </a:r>
            <a:r>
              <a:rPr lang="en-IN" sz="2400" dirty="0" err="1">
                <a:solidFill>
                  <a:srgbClr val="6600CC"/>
                </a:solidFill>
              </a:rPr>
              <a:t>sys.argv</a:t>
            </a:r>
            <a:r>
              <a:rPr lang="en-IN" sz="2400" dirty="0">
                <a:solidFill>
                  <a:srgbClr val="6600CC"/>
                </a:solidFill>
              </a:rPr>
              <a:t>[1] contains the first parameter, </a:t>
            </a:r>
            <a:r>
              <a:rPr lang="en-IN" sz="2400" dirty="0" err="1">
                <a:solidFill>
                  <a:srgbClr val="6600CC"/>
                </a:solidFill>
              </a:rPr>
              <a:t>sys.argv</a:t>
            </a:r>
            <a:r>
              <a:rPr lang="en-IN" sz="2400" dirty="0">
                <a:solidFill>
                  <a:srgbClr val="6600CC"/>
                </a:solidFill>
              </a:rPr>
              <a:t>[2] the second and so on.</a:t>
            </a:r>
          </a:p>
          <a:p>
            <a:pPr marL="514350" lvl="1" indent="-396875" defTabSz="914363">
              <a:lnSpc>
                <a:spcPct val="90000"/>
              </a:lnSpc>
              <a:buSzPct val="100000"/>
              <a:buBlip>
                <a:blip r:embed="rId4"/>
              </a:buBlip>
            </a:pPr>
            <a:r>
              <a:rPr lang="en-IN" sz="2400" dirty="0">
                <a:solidFill>
                  <a:srgbClr val="6600CC"/>
                </a:solidFill>
              </a:rPr>
              <a:t>While executing the program from the command prompt, the arguments are placed after the program name. The command line arguments are separated by spaces.</a:t>
            </a:r>
          </a:p>
          <a:p>
            <a:pPr marL="117475" lvl="1" indent="0" defTabSz="914363">
              <a:lnSpc>
                <a:spcPct val="90000"/>
              </a:lnSpc>
              <a:buSzPct val="100000"/>
              <a:buNone/>
            </a:pPr>
            <a:endParaRPr lang="en-IN" sz="2000" dirty="0">
              <a:solidFill>
                <a:srgbClr val="6600CC"/>
              </a:solidFill>
              <a:latin typeface="Vrinda" pitchFamily="34" charset="0"/>
              <a:cs typeface="Vrinda" pitchFamily="34" charset="0"/>
            </a:endParaRPr>
          </a:p>
          <a:p>
            <a:pPr marL="403225" lvl="1" defTabSz="914363">
              <a:lnSpc>
                <a:spcPct val="90000"/>
              </a:lnSpc>
              <a:buSzPct val="100000"/>
              <a:buFont typeface="Arial" panose="020B0604020202020204" pitchFamily="34" charset="0"/>
              <a:buChar char="•"/>
            </a:pPr>
            <a:endParaRPr lang="en-IN" sz="2000" dirty="0">
              <a:solidFill>
                <a:srgbClr val="6600CC"/>
              </a:solidFill>
            </a:endParaRPr>
          </a:p>
          <a:p>
            <a:pPr marL="117475" lvl="1" indent="0" defTabSz="914363">
              <a:lnSpc>
                <a:spcPct val="90000"/>
              </a:lnSpc>
              <a:buSzPct val="100000"/>
              <a:buNone/>
            </a:pPr>
            <a:r>
              <a:rPr lang="en-IN" sz="1600" dirty="0">
                <a:solidFill>
                  <a:srgbClr val="6600CC"/>
                </a:solidFill>
              </a:rPr>
              <a:t/>
            </a:r>
            <a:br>
              <a:rPr lang="en-IN" sz="1600" dirty="0">
                <a:solidFill>
                  <a:srgbClr val="6600CC"/>
                </a:solidFill>
              </a:rPr>
            </a:br>
            <a:endParaRPr lang="en-IN" sz="1600" dirty="0">
              <a:solidFill>
                <a:srgbClr val="6600CC"/>
              </a:solidFill>
            </a:endParaRPr>
          </a:p>
          <a:p>
            <a:pPr marL="403225" lvl="1" defTabSz="914363">
              <a:lnSpc>
                <a:spcPct val="90000"/>
              </a:lnSpc>
              <a:buSzPct val="100000"/>
              <a:buFont typeface="Arial" panose="020B0604020202020204" pitchFamily="34" charset="0"/>
              <a:buChar char="•"/>
            </a:pPr>
            <a:endParaRPr lang="en-IN" sz="1600" dirty="0">
              <a:solidFill>
                <a:srgbClr val="6600CC"/>
              </a:solidFill>
            </a:endParaRPr>
          </a:p>
          <a:p>
            <a:pPr marL="403225" lvl="1" defTabSz="914363">
              <a:lnSpc>
                <a:spcPct val="90000"/>
              </a:lnSpc>
              <a:buSzPct val="100000"/>
              <a:buFont typeface="Arial" panose="020B0604020202020204" pitchFamily="34" charset="0"/>
              <a:buChar char="•"/>
            </a:pPr>
            <a:endParaRPr lang="en-US" sz="1600" dirty="0" smtClean="0">
              <a:solidFill>
                <a:srgbClr val="6600CC"/>
              </a:solidFill>
            </a:endParaRPr>
          </a:p>
        </p:txBody>
      </p:sp>
      <p:sp>
        <p:nvSpPr>
          <p:cNvPr id="4"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chemeClr val="bg1"/>
                </a:solidFill>
                <a:latin typeface="Vrinda" pitchFamily="34" charset="0"/>
                <a:cs typeface="Vrinda" pitchFamily="34" charset="0"/>
              </a:rPr>
              <a:t>Command Line Arguments</a:t>
            </a:r>
          </a:p>
        </p:txBody>
      </p:sp>
    </p:spTree>
    <p:extLst>
      <p:ext uri="{BB962C8B-B14F-4D97-AF65-F5344CB8AC3E}">
        <p14:creationId xmlns:p14="http://schemas.microsoft.com/office/powerpoint/2010/main" val="10722824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defTabSz="914363">
              <a:lnSpc>
                <a:spcPct val="90000"/>
              </a:lnSpc>
              <a:buSzPct val="100000"/>
              <a:buNone/>
            </a:pPr>
            <a:r>
              <a:rPr lang="en-US" sz="2000" b="1" dirty="0" smtClean="0">
                <a:solidFill>
                  <a:srgbClr val="6600CC"/>
                </a:solidFill>
              </a:rPr>
              <a:t>Example:</a:t>
            </a:r>
          </a:p>
          <a:p>
            <a:pPr marL="117475" lvl="1" indent="0" defTabSz="914363">
              <a:lnSpc>
                <a:spcPct val="90000"/>
              </a:lnSpc>
              <a:buSzPct val="100000"/>
              <a:buNone/>
            </a:pPr>
            <a:endParaRPr lang="en-US" sz="1600" dirty="0" smtClean="0">
              <a:solidFill>
                <a:srgbClr val="6600CC"/>
              </a:solidFill>
            </a:endParaRPr>
          </a:p>
          <a:p>
            <a:pPr marL="117475" lvl="1" indent="0" defTabSz="914363">
              <a:lnSpc>
                <a:spcPct val="90000"/>
              </a:lnSpc>
              <a:buSzPct val="100000"/>
              <a:buNone/>
            </a:pPr>
            <a:r>
              <a:rPr lang="en-US" sz="1600" dirty="0" smtClean="0">
                <a:solidFill>
                  <a:srgbClr val="6600CC"/>
                </a:solidFill>
              </a:rPr>
              <a:t>import </a:t>
            </a:r>
            <a:r>
              <a:rPr lang="en-US" sz="1600" dirty="0">
                <a:solidFill>
                  <a:srgbClr val="6600CC"/>
                </a:solidFill>
              </a:rPr>
              <a:t>sys</a:t>
            </a:r>
          </a:p>
          <a:p>
            <a:pPr marL="117475" lvl="1" indent="0" defTabSz="914363">
              <a:lnSpc>
                <a:spcPct val="90000"/>
              </a:lnSpc>
              <a:buSzPct val="100000"/>
              <a:buNone/>
            </a:pPr>
            <a:r>
              <a:rPr lang="en-US" sz="1600" dirty="0">
                <a:solidFill>
                  <a:srgbClr val="6600CC"/>
                </a:solidFill>
              </a:rPr>
              <a:t>print 'Count',</a:t>
            </a:r>
            <a:r>
              <a:rPr lang="en-US" sz="1600" dirty="0" err="1">
                <a:solidFill>
                  <a:srgbClr val="6600CC"/>
                </a:solidFill>
              </a:rPr>
              <a:t>len</a:t>
            </a:r>
            <a:r>
              <a:rPr lang="en-US" sz="1600" dirty="0">
                <a:solidFill>
                  <a:srgbClr val="6600CC"/>
                </a:solidFill>
              </a:rPr>
              <a:t>(</a:t>
            </a:r>
            <a:r>
              <a:rPr lang="en-US" sz="1600" dirty="0" err="1">
                <a:solidFill>
                  <a:srgbClr val="6600CC"/>
                </a:solidFill>
              </a:rPr>
              <a:t>sys.argv</a:t>
            </a:r>
            <a:r>
              <a:rPr lang="en-US" sz="1600" dirty="0">
                <a:solidFill>
                  <a:srgbClr val="6600CC"/>
                </a:solidFill>
              </a:rPr>
              <a:t>)</a:t>
            </a:r>
          </a:p>
          <a:p>
            <a:pPr marL="117475" lvl="1" indent="0" defTabSz="914363">
              <a:lnSpc>
                <a:spcPct val="90000"/>
              </a:lnSpc>
              <a:buSzPct val="100000"/>
              <a:buNone/>
            </a:pPr>
            <a:r>
              <a:rPr lang="en-US" sz="1600" dirty="0">
                <a:solidFill>
                  <a:srgbClr val="6600CC"/>
                </a:solidFill>
              </a:rPr>
              <a:t>print ('</a:t>
            </a:r>
            <a:r>
              <a:rPr lang="en-US" sz="1600" dirty="0" err="1">
                <a:solidFill>
                  <a:srgbClr val="6600CC"/>
                </a:solidFill>
              </a:rPr>
              <a:t>Type',type</a:t>
            </a:r>
            <a:r>
              <a:rPr lang="en-US" sz="1600" dirty="0">
                <a:solidFill>
                  <a:srgbClr val="6600CC"/>
                </a:solidFill>
              </a:rPr>
              <a:t>(</a:t>
            </a:r>
            <a:r>
              <a:rPr lang="en-US" sz="1600" dirty="0" err="1">
                <a:solidFill>
                  <a:srgbClr val="6600CC"/>
                </a:solidFill>
              </a:rPr>
              <a:t>sys.argv</a:t>
            </a:r>
            <a:r>
              <a:rPr lang="en-US" sz="1600" dirty="0">
                <a:solidFill>
                  <a:srgbClr val="6600CC"/>
                </a:solidFill>
              </a:rPr>
              <a:t>))</a:t>
            </a:r>
          </a:p>
          <a:p>
            <a:pPr marL="117475" lvl="1" indent="0" defTabSz="914363">
              <a:lnSpc>
                <a:spcPct val="90000"/>
              </a:lnSpc>
              <a:buSzPct val="100000"/>
              <a:buNone/>
            </a:pPr>
            <a:r>
              <a:rPr lang="en-US" sz="1600" dirty="0">
                <a:solidFill>
                  <a:srgbClr val="6600CC"/>
                </a:solidFill>
              </a:rPr>
              <a:t>for </a:t>
            </a:r>
            <a:r>
              <a:rPr lang="en-US" sz="1600" dirty="0" err="1">
                <a:solidFill>
                  <a:srgbClr val="6600CC"/>
                </a:solidFill>
              </a:rPr>
              <a:t>arg</a:t>
            </a:r>
            <a:r>
              <a:rPr lang="en-US" sz="1600" dirty="0">
                <a:solidFill>
                  <a:srgbClr val="6600CC"/>
                </a:solidFill>
              </a:rPr>
              <a:t> in </a:t>
            </a:r>
            <a:r>
              <a:rPr lang="en-US" sz="1600" dirty="0" err="1">
                <a:solidFill>
                  <a:srgbClr val="6600CC"/>
                </a:solidFill>
              </a:rPr>
              <a:t>sys.argv</a:t>
            </a:r>
            <a:r>
              <a:rPr lang="en-US" sz="1600" dirty="0">
                <a:solidFill>
                  <a:srgbClr val="6600CC"/>
                </a:solidFill>
              </a:rPr>
              <a:t>:</a:t>
            </a:r>
          </a:p>
          <a:p>
            <a:pPr marL="117475" lvl="1" indent="0" defTabSz="914363">
              <a:lnSpc>
                <a:spcPct val="90000"/>
              </a:lnSpc>
              <a:buSzPct val="100000"/>
              <a:buNone/>
            </a:pPr>
            <a:r>
              <a:rPr lang="en-US" sz="1600" dirty="0">
                <a:solidFill>
                  <a:srgbClr val="6600CC"/>
                </a:solidFill>
              </a:rPr>
              <a:t>	print('Argument',</a:t>
            </a:r>
            <a:r>
              <a:rPr lang="en-US" sz="1600" dirty="0" err="1">
                <a:solidFill>
                  <a:srgbClr val="6600CC"/>
                </a:solidFill>
              </a:rPr>
              <a:t>arg</a:t>
            </a:r>
            <a:r>
              <a:rPr lang="en-US" sz="1600" dirty="0" smtClean="0">
                <a:solidFill>
                  <a:srgbClr val="6600CC"/>
                </a:solidFill>
              </a:rPr>
              <a:t>)</a:t>
            </a:r>
          </a:p>
          <a:p>
            <a:pPr marL="117475" lvl="1" indent="0" defTabSz="914363">
              <a:lnSpc>
                <a:spcPct val="90000"/>
              </a:lnSpc>
              <a:buSzPct val="100000"/>
              <a:buNone/>
            </a:pPr>
            <a:endParaRPr lang="en-US" sz="1600" dirty="0" smtClean="0">
              <a:solidFill>
                <a:srgbClr val="6600CC"/>
              </a:solidFill>
            </a:endParaRPr>
          </a:p>
          <a:p>
            <a:pPr marL="117475" lvl="1" indent="0" defTabSz="914363">
              <a:lnSpc>
                <a:spcPct val="90000"/>
              </a:lnSpc>
              <a:buSzPct val="100000"/>
              <a:buNone/>
            </a:pPr>
            <a:r>
              <a:rPr lang="en-IN" sz="2000" b="1" dirty="0">
                <a:solidFill>
                  <a:srgbClr val="6600CC"/>
                </a:solidFill>
              </a:rPr>
              <a:t>Execution :-</a:t>
            </a:r>
          </a:p>
          <a:p>
            <a:pPr marL="117475" lvl="1" indent="0" defTabSz="914363">
              <a:lnSpc>
                <a:spcPct val="90000"/>
              </a:lnSpc>
              <a:buSzPct val="100000"/>
              <a:buNone/>
            </a:pPr>
            <a:r>
              <a:rPr lang="en-IN" sz="1600" i="1" dirty="0">
                <a:solidFill>
                  <a:srgbClr val="6600CC"/>
                </a:solidFill>
              </a:rPr>
              <a:t>python argumente.py python course for beginners</a:t>
            </a:r>
          </a:p>
          <a:p>
            <a:pPr marL="117475" lvl="1" indent="0" defTabSz="914363">
              <a:lnSpc>
                <a:spcPct val="90000"/>
              </a:lnSpc>
              <a:buSzPct val="100000"/>
              <a:buNone/>
            </a:pPr>
            <a:r>
              <a:rPr lang="en-IN" sz="1600" i="1" dirty="0" smtClean="0">
                <a:solidFill>
                  <a:srgbClr val="6600CC"/>
                </a:solidFill>
              </a:rPr>
              <a:t>Output </a:t>
            </a:r>
            <a:r>
              <a:rPr lang="en-IN" sz="1600" i="1" dirty="0">
                <a:solidFill>
                  <a:srgbClr val="6600CC"/>
                </a:solidFill>
              </a:rPr>
              <a:t>:-</a:t>
            </a:r>
          </a:p>
          <a:p>
            <a:pPr marL="117475" lvl="1" indent="0" defTabSz="914363">
              <a:lnSpc>
                <a:spcPct val="90000"/>
              </a:lnSpc>
              <a:buSzPct val="100000"/>
              <a:buNone/>
            </a:pPr>
            <a:r>
              <a:rPr lang="en-IN" sz="1600" i="1" dirty="0" smtClean="0">
                <a:solidFill>
                  <a:srgbClr val="6600CC"/>
                </a:solidFill>
              </a:rPr>
              <a:t>argumente.py </a:t>
            </a:r>
            <a:endParaRPr lang="en-IN" sz="1600" i="1" dirty="0">
              <a:solidFill>
                <a:srgbClr val="6600CC"/>
              </a:solidFill>
            </a:endParaRPr>
          </a:p>
          <a:p>
            <a:pPr marL="117475" lvl="1" indent="0" defTabSz="914363">
              <a:lnSpc>
                <a:spcPct val="90000"/>
              </a:lnSpc>
              <a:buSzPct val="100000"/>
              <a:buNone/>
            </a:pPr>
            <a:r>
              <a:rPr lang="en-IN" sz="1600" i="1" dirty="0">
                <a:solidFill>
                  <a:srgbClr val="6600CC"/>
                </a:solidFill>
              </a:rPr>
              <a:t>python </a:t>
            </a:r>
            <a:endParaRPr lang="en-IN" sz="1600" i="1" dirty="0" smtClean="0">
              <a:solidFill>
                <a:srgbClr val="6600CC"/>
              </a:solidFill>
            </a:endParaRPr>
          </a:p>
          <a:p>
            <a:pPr marL="117475" lvl="1" indent="0" defTabSz="914363">
              <a:lnSpc>
                <a:spcPct val="90000"/>
              </a:lnSpc>
              <a:buSzPct val="100000"/>
              <a:buNone/>
            </a:pPr>
            <a:r>
              <a:rPr lang="en-IN" sz="1600" i="1" dirty="0" smtClean="0">
                <a:solidFill>
                  <a:srgbClr val="6600CC"/>
                </a:solidFill>
              </a:rPr>
              <a:t>course </a:t>
            </a:r>
          </a:p>
          <a:p>
            <a:pPr marL="117475" lvl="1" indent="0" defTabSz="914363">
              <a:lnSpc>
                <a:spcPct val="90000"/>
              </a:lnSpc>
              <a:buSzPct val="100000"/>
              <a:buNone/>
            </a:pPr>
            <a:r>
              <a:rPr lang="en-IN" sz="1600" i="1" dirty="0" smtClean="0">
                <a:solidFill>
                  <a:srgbClr val="6600CC"/>
                </a:solidFill>
              </a:rPr>
              <a:t>for </a:t>
            </a:r>
          </a:p>
          <a:p>
            <a:pPr marL="117475" lvl="1" indent="0" defTabSz="914363">
              <a:lnSpc>
                <a:spcPct val="90000"/>
              </a:lnSpc>
              <a:buSzPct val="100000"/>
              <a:buNone/>
            </a:pPr>
            <a:r>
              <a:rPr lang="en-IN" sz="1600" i="1" dirty="0" smtClean="0">
                <a:solidFill>
                  <a:srgbClr val="6600CC"/>
                </a:solidFill>
              </a:rPr>
              <a:t>beginners</a:t>
            </a:r>
            <a:endParaRPr lang="en-IN" sz="1600" i="1" dirty="0">
              <a:solidFill>
                <a:srgbClr val="6600CC"/>
              </a:solidFill>
            </a:endParaRPr>
          </a:p>
          <a:p>
            <a:pPr marL="117475" lvl="1" indent="0" defTabSz="914363">
              <a:lnSpc>
                <a:spcPct val="90000"/>
              </a:lnSpc>
              <a:buSzPct val="100000"/>
              <a:buNone/>
            </a:pPr>
            <a:endParaRPr lang="en-US" sz="1600" dirty="0" smtClean="0">
              <a:solidFill>
                <a:srgbClr val="6600CC"/>
              </a:solidFill>
            </a:endParaRPr>
          </a:p>
          <a:p>
            <a:pPr marL="117475" lvl="1" indent="0" defTabSz="914363">
              <a:lnSpc>
                <a:spcPct val="90000"/>
              </a:lnSpc>
              <a:buSzPct val="100000"/>
              <a:buNone/>
            </a:pPr>
            <a:endParaRPr lang="en-US" sz="1600" dirty="0">
              <a:solidFill>
                <a:srgbClr val="6600CC"/>
              </a:solidFill>
            </a:endParaRPr>
          </a:p>
          <a:p>
            <a:pPr marL="117475" lvl="1" indent="0" defTabSz="914363">
              <a:lnSpc>
                <a:spcPct val="90000"/>
              </a:lnSpc>
              <a:buSzPct val="100000"/>
              <a:buNone/>
            </a:pPr>
            <a:endParaRPr lang="en-US" sz="1600" i="1" dirty="0">
              <a:solidFill>
                <a:srgbClr val="6600CC"/>
              </a:solidFill>
            </a:endParaRPr>
          </a:p>
          <a:p>
            <a:pPr marL="117475" lvl="1" indent="0" defTabSz="914363">
              <a:lnSpc>
                <a:spcPct val="90000"/>
              </a:lnSpc>
              <a:buSzPct val="100000"/>
              <a:buNone/>
            </a:pPr>
            <a:endParaRPr lang="en-US" sz="1600" dirty="0" smtClean="0">
              <a:solidFill>
                <a:srgbClr val="6600CC"/>
              </a:solidFill>
            </a:endParaRPr>
          </a:p>
        </p:txBody>
      </p:sp>
      <p:sp>
        <p:nvSpPr>
          <p:cNvPr id="7"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chemeClr val="bg1"/>
                </a:solidFill>
                <a:latin typeface="Vrinda" pitchFamily="34" charset="0"/>
                <a:cs typeface="Vrinda" pitchFamily="34" charset="0"/>
              </a:rPr>
              <a:t>Command Line </a:t>
            </a:r>
            <a:r>
              <a:rPr lang="en-US" sz="2400" b="1" dirty="0" smtClean="0">
                <a:solidFill>
                  <a:schemeClr val="bg1"/>
                </a:solidFill>
                <a:latin typeface="Vrinda" pitchFamily="34" charset="0"/>
                <a:cs typeface="Vrinda" pitchFamily="34" charset="0"/>
              </a:rPr>
              <a:t>Arguments (Contd.)</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669324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331640" y="2564904"/>
            <a:ext cx="3913230" cy="1823991"/>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IN" dirty="0" smtClean="0"/>
              <a:t>Inside </a:t>
            </a:r>
            <a:r>
              <a:rPr lang="en-IN" dirty="0"/>
              <a:t>the program </a:t>
            </a:r>
            <a:r>
              <a:rPr lang="en-IN" dirty="0" smtClean="0"/>
              <a:t>command line arguments are </a:t>
            </a:r>
            <a:r>
              <a:rPr lang="en-IN" dirty="0"/>
              <a:t>accessible through the list variable </a:t>
            </a:r>
            <a:r>
              <a:rPr lang="en-IN" dirty="0" smtClean="0"/>
              <a:t>_________.</a:t>
            </a:r>
            <a:endParaRPr lang="en-IN" dirty="0"/>
          </a:p>
          <a:p>
            <a:pPr algn="ctr"/>
            <a:endParaRPr lang="en-US" sz="1600" dirty="0"/>
          </a:p>
        </p:txBody>
      </p:sp>
    </p:spTree>
    <p:extLst>
      <p:ext uri="{BB962C8B-B14F-4D97-AF65-F5344CB8AC3E}">
        <p14:creationId xmlns:p14="http://schemas.microsoft.com/office/powerpoint/2010/main" val="11597493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331640" y="2564904"/>
            <a:ext cx="3913230" cy="1823991"/>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IN" dirty="0" smtClean="0"/>
              <a:t>Inside </a:t>
            </a:r>
            <a:r>
              <a:rPr lang="en-IN" dirty="0"/>
              <a:t>the program </a:t>
            </a:r>
            <a:r>
              <a:rPr lang="en-IN" dirty="0" smtClean="0"/>
              <a:t>command line arguments are </a:t>
            </a:r>
            <a:r>
              <a:rPr lang="en-IN" dirty="0"/>
              <a:t>accessible through the list variable </a:t>
            </a:r>
            <a:r>
              <a:rPr lang="en-IN" dirty="0" smtClean="0"/>
              <a:t>_________.</a:t>
            </a:r>
            <a:endParaRPr lang="en-IN" dirty="0"/>
          </a:p>
          <a:p>
            <a:pPr algn="ctr"/>
            <a:endParaRPr lang="en-US" sz="1600" dirty="0"/>
          </a:p>
        </p:txBody>
      </p:sp>
      <p:grpSp>
        <p:nvGrpSpPr>
          <p:cNvPr id="5" name="Group 4"/>
          <p:cNvGrpSpPr/>
          <p:nvPr/>
        </p:nvGrpSpPr>
        <p:grpSpPr>
          <a:xfrm>
            <a:off x="2733802" y="4974021"/>
            <a:ext cx="4319944" cy="977946"/>
            <a:chOff x="304808" y="5638800"/>
            <a:chExt cx="2723863"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607990" y="6017987"/>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dirty="0" err="1" smtClean="0">
                  <a:solidFill>
                    <a:schemeClr val="bg1"/>
                  </a:solidFill>
                  <a:cs typeface="Vrinda" pitchFamily="34" charset="0"/>
                </a:rPr>
                <a:t>Sys.argv</a:t>
              </a:r>
              <a:endParaRPr lang="en-IN" sz="1600" dirty="0">
                <a:solidFill>
                  <a:schemeClr val="bg1"/>
                </a:solidFill>
                <a:cs typeface="Vrinda" pitchFamily="34" charset="0"/>
              </a:endParaRP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Tree>
    <p:extLst>
      <p:ext uri="{BB962C8B-B14F-4D97-AF65-F5344CB8AC3E}">
        <p14:creationId xmlns:p14="http://schemas.microsoft.com/office/powerpoint/2010/main" val="18778234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382000" cy="48006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4"/>
              </a:buBlip>
            </a:pPr>
            <a:r>
              <a:rPr lang="en-US" sz="2400" dirty="0">
                <a:solidFill>
                  <a:srgbClr val="6600CC"/>
                </a:solidFill>
              </a:rPr>
              <a:t>Pipe is an important concept used in Unix and Linux OS. Small elements can be put together using Pipes and the processing of these elements are chained together by standard streams.</a:t>
            </a:r>
          </a:p>
          <a:p>
            <a:pPr marL="514350" lvl="1" indent="-396875" defTabSz="914363">
              <a:lnSpc>
                <a:spcPct val="90000"/>
              </a:lnSpc>
              <a:buSzPct val="100000"/>
              <a:buBlip>
                <a:blip r:embed="rId4"/>
              </a:buBlip>
            </a:pPr>
            <a:endParaRPr lang="en-US" sz="2400" dirty="0">
              <a:solidFill>
                <a:srgbClr val="6600CC"/>
              </a:solidFill>
            </a:endParaRPr>
          </a:p>
          <a:p>
            <a:pPr marL="514350" lvl="1" indent="-396875" defTabSz="914363">
              <a:lnSpc>
                <a:spcPct val="90000"/>
              </a:lnSpc>
              <a:buSzPct val="100000"/>
              <a:buBlip>
                <a:blip r:embed="rId4"/>
              </a:buBlip>
            </a:pPr>
            <a:r>
              <a:rPr lang="en-US" sz="2400" dirty="0">
                <a:solidFill>
                  <a:srgbClr val="6600CC"/>
                </a:solidFill>
              </a:rPr>
              <a:t>A pipe is an object in </a:t>
            </a:r>
            <a:r>
              <a:rPr lang="en-US" sz="2400" dirty="0" smtClean="0">
                <a:solidFill>
                  <a:srgbClr val="6600CC"/>
                </a:solidFill>
              </a:rPr>
              <a:t>Python </a:t>
            </a:r>
            <a:r>
              <a:rPr lang="en-US" sz="2400" dirty="0">
                <a:solidFill>
                  <a:srgbClr val="6600CC"/>
                </a:solidFill>
              </a:rPr>
              <a:t>which represents a running process. Any program that we can launch from the shell can also be launched from Python program using a pipe.</a:t>
            </a:r>
          </a:p>
          <a:p>
            <a:pPr marL="460375" lvl="1" indent="-342900" defTabSz="914363">
              <a:lnSpc>
                <a:spcPct val="90000"/>
              </a:lnSpc>
              <a:buSzPct val="100000"/>
              <a:buFont typeface="Arial" panose="020B0604020202020204" pitchFamily="34" charset="0"/>
              <a:buChar char="•"/>
            </a:pPr>
            <a:endParaRPr lang="en-US" sz="2000" dirty="0">
              <a:solidFill>
                <a:srgbClr val="6600CC"/>
              </a:solidFill>
            </a:endParaRPr>
          </a:p>
          <a:p>
            <a:pPr marL="117475" lvl="1" indent="0" defTabSz="914363">
              <a:lnSpc>
                <a:spcPct val="90000"/>
              </a:lnSpc>
              <a:buSzPct val="100000"/>
              <a:buNone/>
            </a:pPr>
            <a:r>
              <a:rPr lang="en-US" sz="2000" b="1" dirty="0" smtClean="0">
                <a:solidFill>
                  <a:srgbClr val="6600CC"/>
                </a:solidFill>
              </a:rPr>
              <a:t>Example:</a:t>
            </a:r>
            <a:endParaRPr lang="en-US" sz="2000" b="1" dirty="0">
              <a:solidFill>
                <a:srgbClr val="6600CC"/>
              </a:solidFill>
            </a:endParaRPr>
          </a:p>
          <a:p>
            <a:pPr marL="460375" lvl="1" indent="-342900" defTabSz="914363">
              <a:lnSpc>
                <a:spcPct val="90000"/>
              </a:lnSpc>
              <a:buSzPct val="100000"/>
              <a:buFont typeface="Arial" panose="020B0604020202020204" pitchFamily="34" charset="0"/>
              <a:buChar char="•"/>
            </a:pPr>
            <a:endParaRPr lang="en-US" sz="2000" dirty="0">
              <a:solidFill>
                <a:srgbClr val="6600CC"/>
              </a:solidFill>
            </a:endParaRPr>
          </a:p>
          <a:p>
            <a:pPr marL="514350" lvl="1" indent="-396875" defTabSz="914363">
              <a:lnSpc>
                <a:spcPct val="90000"/>
              </a:lnSpc>
              <a:buSzPct val="100000"/>
              <a:buBlip>
                <a:blip r:embed="rId4"/>
              </a:buBlip>
            </a:pPr>
            <a:r>
              <a:rPr lang="en-US" sz="2400" dirty="0">
                <a:solidFill>
                  <a:srgbClr val="6600CC"/>
                </a:solidFill>
              </a:rPr>
              <a:t>A DOS command "</a:t>
            </a:r>
            <a:r>
              <a:rPr lang="en-US" sz="2400" dirty="0" err="1">
                <a:solidFill>
                  <a:srgbClr val="6600CC"/>
                </a:solidFill>
              </a:rPr>
              <a:t>dir</a:t>
            </a:r>
            <a:r>
              <a:rPr lang="en-US" sz="2400" dirty="0">
                <a:solidFill>
                  <a:srgbClr val="6600CC"/>
                </a:solidFill>
              </a:rPr>
              <a:t>" normally displays the content of the current directory. We can launch </a:t>
            </a:r>
            <a:r>
              <a:rPr lang="en-US" sz="2400" dirty="0" err="1">
                <a:solidFill>
                  <a:srgbClr val="6600CC"/>
                </a:solidFill>
              </a:rPr>
              <a:t>dir</a:t>
            </a:r>
            <a:r>
              <a:rPr lang="en-US" sz="2400" dirty="0">
                <a:solidFill>
                  <a:srgbClr val="6600CC"/>
                </a:solidFill>
              </a:rPr>
              <a:t> with </a:t>
            </a:r>
            <a:r>
              <a:rPr lang="en-US" sz="2400" dirty="0" err="1">
                <a:solidFill>
                  <a:srgbClr val="6600CC"/>
                </a:solidFill>
              </a:rPr>
              <a:t>os.popen</a:t>
            </a:r>
            <a:r>
              <a:rPr lang="en-US" sz="2400" dirty="0">
                <a:solidFill>
                  <a:srgbClr val="6600CC"/>
                </a:solidFill>
              </a:rPr>
              <a:t>() in </a:t>
            </a:r>
            <a:r>
              <a:rPr lang="en-US" sz="2400" dirty="0" smtClean="0">
                <a:solidFill>
                  <a:srgbClr val="6600CC"/>
                </a:solidFill>
              </a:rPr>
              <a:t>Python</a:t>
            </a:r>
            <a:r>
              <a:rPr lang="en-US" sz="2400" dirty="0">
                <a:solidFill>
                  <a:srgbClr val="6600CC"/>
                </a:solidFill>
              </a:rPr>
              <a:t>.</a:t>
            </a:r>
          </a:p>
        </p:txBody>
      </p:sp>
      <p:sp>
        <p:nvSpPr>
          <p:cNvPr id="4"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chemeClr val="bg1"/>
                </a:solidFill>
                <a:latin typeface="Vrinda" pitchFamily="34" charset="0"/>
                <a:cs typeface="Vrinda" pitchFamily="34" charset="0"/>
              </a:rPr>
              <a:t>Pipes</a:t>
            </a:r>
          </a:p>
        </p:txBody>
      </p:sp>
    </p:spTree>
    <p:extLst>
      <p:ext uri="{BB962C8B-B14F-4D97-AF65-F5344CB8AC3E}">
        <p14:creationId xmlns:p14="http://schemas.microsoft.com/office/powerpoint/2010/main" val="22834508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Activity</a:t>
            </a:r>
            <a:endParaRPr lang="en-US" sz="2400" b="1" dirty="0">
              <a:solidFill>
                <a:schemeClr val="bg1"/>
              </a:solidFill>
              <a:latin typeface="Vrinda" pitchFamily="34" charset="0"/>
              <a:cs typeface="Vrinda" pitchFamily="34" charset="0"/>
            </a:endParaRPr>
          </a:p>
        </p:txBody>
      </p:sp>
      <p:sp>
        <p:nvSpPr>
          <p:cNvPr id="2" name="Rectangle 1"/>
          <p:cNvSpPr/>
          <p:nvPr/>
        </p:nvSpPr>
        <p:spPr>
          <a:xfrm>
            <a:off x="588704" y="1744674"/>
            <a:ext cx="7848872" cy="487506"/>
          </a:xfrm>
          <a:prstGeom prst="rect">
            <a:avLst/>
          </a:prstGeom>
        </p:spPr>
        <p:txBody>
          <a:bodyPr wrap="square">
            <a:spAutoFit/>
          </a:bodyPr>
          <a:lstStyle/>
          <a:p>
            <a:pPr>
              <a:lnSpc>
                <a:spcPct val="107000"/>
              </a:lnSpc>
              <a:spcAft>
                <a:spcPts val="800"/>
              </a:spcAft>
            </a:pPr>
            <a:r>
              <a:rPr lang="en-US" sz="2400" b="1" dirty="0" smtClean="0">
                <a:solidFill>
                  <a:srgbClr val="6600CC"/>
                </a:solidFill>
                <a:latin typeface="Calibri" panose="020F0502020204030204" pitchFamily="34" charset="0"/>
                <a:ea typeface="Calibri" panose="020F0502020204030204" pitchFamily="34" charset="0"/>
                <a:cs typeface="Times New Roman" panose="02020603050405020304" pitchFamily="18" charset="0"/>
              </a:rPr>
              <a:t>Activity :   Handling Files Using Command Line Argument</a:t>
            </a:r>
            <a:endParaRPr lang="en-US" sz="2400" dirty="0">
              <a:solidFill>
                <a:srgbClr val="6600CC"/>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1"/>
          <p:cNvSpPr>
            <a:spLocks noChangeArrowheads="1"/>
          </p:cNvSpPr>
          <p:nvPr/>
        </p:nvSpPr>
        <p:spPr bwMode="auto">
          <a:xfrm>
            <a:off x="597872" y="2322255"/>
            <a:ext cx="7848872"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6600CC"/>
                </a:solidFill>
                <a:effectLst/>
                <a:ea typeface="Calibri" panose="020F0502020204030204" pitchFamily="34" charset="0"/>
                <a:cs typeface="Times New Roman" panose="02020603050405020304" pitchFamily="18" charset="0"/>
              </a:rPr>
              <a:t>Problem Statement: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rgbClr val="6600CC"/>
              </a:solidFill>
              <a:effectLst/>
            </a:endParaRPr>
          </a:p>
          <a:p>
            <a:r>
              <a:rPr lang="en-US" sz="2000" dirty="0">
                <a:solidFill>
                  <a:srgbClr val="6600CC"/>
                </a:solidFill>
              </a:rPr>
              <a:t>Write a </a:t>
            </a:r>
            <a:r>
              <a:rPr lang="en-US" sz="2000" dirty="0" smtClean="0">
                <a:solidFill>
                  <a:srgbClr val="6600CC"/>
                </a:solidFill>
              </a:rPr>
              <a:t>program to perform file operation using command line arguments.</a:t>
            </a:r>
          </a:p>
          <a:p>
            <a:endParaRPr lang="en-US" sz="2000" dirty="0">
              <a:solidFill>
                <a:srgbClr val="6600CC"/>
              </a:solidFill>
            </a:endParaRPr>
          </a:p>
          <a:p>
            <a:r>
              <a:rPr lang="en-US" sz="2000" b="1" dirty="0">
                <a:solidFill>
                  <a:srgbClr val="6600CC"/>
                </a:solidFill>
                <a:ea typeface="Calibri" panose="020F0502020204030204" pitchFamily="34" charset="0"/>
                <a:cs typeface="Times New Roman" panose="02020603050405020304" pitchFamily="18" charset="0"/>
              </a:rPr>
              <a:t>Prerequisite: </a:t>
            </a:r>
            <a:r>
              <a:rPr lang="en-US" sz="2000" dirty="0">
                <a:solidFill>
                  <a:srgbClr val="6600CC"/>
                </a:solidFill>
              </a:rPr>
              <a:t>For this activity </a:t>
            </a:r>
            <a:r>
              <a:rPr lang="en-US" sz="2000" dirty="0" smtClean="0">
                <a:solidFill>
                  <a:srgbClr val="6600CC"/>
                </a:solidFill>
              </a:rPr>
              <a:t>please refer “</a:t>
            </a:r>
            <a:r>
              <a:rPr lang="en-US" sz="2000" b="1" dirty="0" smtClean="0">
                <a:solidFill>
                  <a:srgbClr val="6600CC"/>
                </a:solidFill>
              </a:rPr>
              <a:t>images”</a:t>
            </a:r>
            <a:r>
              <a:rPr lang="en-US" sz="2000" dirty="0" smtClean="0">
                <a:solidFill>
                  <a:srgbClr val="6600CC"/>
                </a:solidFill>
              </a:rPr>
              <a:t> folder available in “</a:t>
            </a:r>
            <a:r>
              <a:rPr lang="en-US" sz="2000" b="1" dirty="0" err="1" smtClean="0">
                <a:solidFill>
                  <a:srgbClr val="6600CC"/>
                </a:solidFill>
              </a:rPr>
              <a:t>Data_File_For_Students</a:t>
            </a:r>
            <a:r>
              <a:rPr lang="en-US" sz="2000" dirty="0" smtClean="0">
                <a:solidFill>
                  <a:srgbClr val="6600CC"/>
                </a:solidFill>
                <a:cs typeface="Times New Roman" panose="02020603050405020304" pitchFamily="18" charset="0"/>
              </a:rPr>
              <a:t>” folder.</a:t>
            </a:r>
            <a:endParaRPr lang="en-US" sz="2000" dirty="0">
              <a:solidFill>
                <a:srgbClr val="6600CC"/>
              </a:solidFill>
              <a:ea typeface="Calibri" panose="020F0502020204030204" pitchFamily="34" charset="0"/>
              <a:cs typeface="Times New Roman" panose="02020603050405020304" pitchFamily="18" charset="0"/>
            </a:endParaRPr>
          </a:p>
          <a:p>
            <a:endParaRPr lang="en-US" sz="2000" dirty="0">
              <a:solidFill>
                <a:srgbClr val="6600CC"/>
              </a:solidFill>
            </a:endParaRPr>
          </a:p>
        </p:txBody>
      </p:sp>
    </p:spTree>
    <p:extLst>
      <p:ext uri="{BB962C8B-B14F-4D97-AF65-F5344CB8AC3E}">
        <p14:creationId xmlns:p14="http://schemas.microsoft.com/office/powerpoint/2010/main" val="18815908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381000" y="16002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algn="just" defTabSz="914363">
              <a:lnSpc>
                <a:spcPct val="90000"/>
              </a:lnSpc>
              <a:buSzPct val="100000"/>
              <a:buNone/>
            </a:pPr>
            <a:endParaRPr lang="en-US" sz="2400" dirty="0" smtClean="0">
              <a:solidFill>
                <a:srgbClr val="6600CC"/>
              </a:solidFill>
            </a:endParaRPr>
          </a:p>
          <a:p>
            <a:pPr marL="403225" lvl="1" algn="just" defTabSz="914363">
              <a:lnSpc>
                <a:spcPct val="90000"/>
              </a:lnSpc>
              <a:buSzPct val="100000"/>
              <a:buFont typeface="Wingdings" panose="05000000000000000000" pitchFamily="2" charset="2"/>
              <a:buChar char="q"/>
            </a:pPr>
            <a:r>
              <a:rPr lang="en-US" sz="2400" dirty="0" smtClean="0">
                <a:solidFill>
                  <a:srgbClr val="6600CC"/>
                </a:solidFill>
              </a:rPr>
              <a:t>In </a:t>
            </a:r>
            <a:r>
              <a:rPr lang="en-US" sz="2400" dirty="0">
                <a:solidFill>
                  <a:srgbClr val="6600CC"/>
                </a:solidFill>
              </a:rPr>
              <a:t>this </a:t>
            </a:r>
            <a:r>
              <a:rPr lang="en-US" sz="2400" dirty="0" smtClean="0">
                <a:solidFill>
                  <a:srgbClr val="6600CC"/>
                </a:solidFill>
              </a:rPr>
              <a:t>lesson, </a:t>
            </a:r>
            <a:r>
              <a:rPr lang="en-US" sz="2400" dirty="0">
                <a:solidFill>
                  <a:srgbClr val="6600CC"/>
                </a:solidFill>
              </a:rPr>
              <a:t>we </a:t>
            </a:r>
            <a:r>
              <a:rPr lang="en-US" sz="2400" dirty="0" smtClean="0">
                <a:solidFill>
                  <a:srgbClr val="6600CC"/>
                </a:solidFill>
              </a:rPr>
              <a:t>learned:</a:t>
            </a:r>
          </a:p>
          <a:p>
            <a:pPr marL="803275" lvl="2" algn="just" defTabSz="914363">
              <a:lnSpc>
                <a:spcPct val="90000"/>
              </a:lnSpc>
              <a:buSzPct val="100000"/>
              <a:buFont typeface="Wingdings" panose="05000000000000000000" pitchFamily="2" charset="2"/>
              <a:buChar char="q"/>
            </a:pPr>
            <a:endParaRPr lang="en-US" sz="1800" dirty="0" smtClean="0">
              <a:solidFill>
                <a:srgbClr val="6600CC"/>
              </a:solidFill>
            </a:endParaRPr>
          </a:p>
          <a:p>
            <a:pPr marL="803275" lvl="2" algn="just" defTabSz="914363">
              <a:lnSpc>
                <a:spcPct val="90000"/>
              </a:lnSpc>
              <a:buSzPct val="100000"/>
              <a:buFont typeface="Wingdings" panose="05000000000000000000" pitchFamily="2" charset="2"/>
              <a:buChar char="q"/>
            </a:pPr>
            <a:r>
              <a:rPr lang="en-US" sz="2000" dirty="0" smtClean="0">
                <a:solidFill>
                  <a:srgbClr val="6600CC"/>
                </a:solidFill>
              </a:rPr>
              <a:t>Python </a:t>
            </a:r>
            <a:r>
              <a:rPr lang="en-US" sz="2000" dirty="0">
                <a:solidFill>
                  <a:srgbClr val="6600CC"/>
                </a:solidFill>
              </a:rPr>
              <a:t>can </a:t>
            </a:r>
            <a:r>
              <a:rPr lang="en-US" sz="2000" dirty="0" smtClean="0">
                <a:solidFill>
                  <a:srgbClr val="6600CC"/>
                </a:solidFill>
              </a:rPr>
              <a:t>automate </a:t>
            </a:r>
            <a:r>
              <a:rPr lang="en-US" sz="2000" dirty="0">
                <a:solidFill>
                  <a:srgbClr val="6600CC"/>
                </a:solidFill>
              </a:rPr>
              <a:t>some of the tasks that </a:t>
            </a:r>
            <a:r>
              <a:rPr lang="en-US" sz="2000" dirty="0" smtClean="0">
                <a:solidFill>
                  <a:srgbClr val="6600CC"/>
                </a:solidFill>
              </a:rPr>
              <a:t>commonly </a:t>
            </a:r>
            <a:r>
              <a:rPr lang="en-US" sz="2000" dirty="0">
                <a:solidFill>
                  <a:srgbClr val="6600CC"/>
                </a:solidFill>
              </a:rPr>
              <a:t>come across in a daily routine</a:t>
            </a:r>
            <a:r>
              <a:rPr lang="en-US" sz="2000" dirty="0" smtClean="0">
                <a:solidFill>
                  <a:srgbClr val="6600CC"/>
                </a:solidFill>
              </a:rPr>
              <a:t>.</a:t>
            </a:r>
          </a:p>
          <a:p>
            <a:pPr marL="803275" lvl="2" defTabSz="914363">
              <a:lnSpc>
                <a:spcPct val="90000"/>
              </a:lnSpc>
              <a:buSzPct val="100000"/>
              <a:buFont typeface="Wingdings" panose="05000000000000000000" pitchFamily="2" charset="2"/>
              <a:buChar char="q"/>
            </a:pPr>
            <a:r>
              <a:rPr lang="en-US" sz="2000" dirty="0" smtClean="0">
                <a:solidFill>
                  <a:srgbClr val="6600CC"/>
                </a:solidFill>
              </a:rPr>
              <a:t>A Python </a:t>
            </a:r>
            <a:r>
              <a:rPr lang="en-US" sz="2000" dirty="0">
                <a:solidFill>
                  <a:srgbClr val="6600CC"/>
                </a:solidFill>
              </a:rPr>
              <a:t>script can do a task which has to be done for hundreds of files</a:t>
            </a:r>
            <a:r>
              <a:rPr lang="en-US" sz="2000" dirty="0" smtClean="0">
                <a:solidFill>
                  <a:srgbClr val="6600CC"/>
                </a:solidFill>
              </a:rPr>
              <a:t>.</a:t>
            </a:r>
          </a:p>
          <a:p>
            <a:pPr marL="803275" lvl="2" defTabSz="914363">
              <a:lnSpc>
                <a:spcPct val="90000"/>
              </a:lnSpc>
              <a:buSzPct val="100000"/>
              <a:buFont typeface="Wingdings" panose="05000000000000000000" pitchFamily="2" charset="2"/>
              <a:buChar char="q"/>
            </a:pPr>
            <a:r>
              <a:rPr lang="en-US" sz="2000" dirty="0" smtClean="0">
                <a:solidFill>
                  <a:srgbClr val="6600CC"/>
                </a:solidFill>
              </a:rPr>
              <a:t>An operating </a:t>
            </a:r>
            <a:r>
              <a:rPr lang="en-US" sz="2000" dirty="0">
                <a:solidFill>
                  <a:srgbClr val="6600CC"/>
                </a:solidFill>
              </a:rPr>
              <a:t>System module provides the functions for working with files and directories</a:t>
            </a:r>
            <a:r>
              <a:rPr lang="en-US" sz="2000" dirty="0" smtClean="0">
                <a:solidFill>
                  <a:srgbClr val="6600CC"/>
                </a:solidFill>
              </a:rPr>
              <a:t>.</a:t>
            </a:r>
            <a:endParaRPr lang="en-US" sz="2000" dirty="0">
              <a:solidFill>
                <a:srgbClr val="6600CC"/>
              </a:solidFill>
            </a:endParaRPr>
          </a:p>
          <a:p>
            <a:pPr marL="803275" lvl="2" defTabSz="914363">
              <a:lnSpc>
                <a:spcPct val="90000"/>
              </a:lnSpc>
              <a:buSzPct val="100000"/>
              <a:buFont typeface="Wingdings" panose="05000000000000000000" pitchFamily="2" charset="2"/>
              <a:buChar char="q"/>
            </a:pPr>
            <a:r>
              <a:rPr lang="en-US" sz="2000" dirty="0">
                <a:solidFill>
                  <a:srgbClr val="6600CC"/>
                </a:solidFill>
              </a:rPr>
              <a:t>It is possible to pass some values from the command line to your python programs when they are executed</a:t>
            </a:r>
            <a:r>
              <a:rPr lang="en-US" sz="2000" dirty="0" smtClean="0">
                <a:solidFill>
                  <a:srgbClr val="6600CC"/>
                </a:solidFill>
              </a:rPr>
              <a:t>.</a:t>
            </a:r>
            <a:endParaRPr lang="en-US" sz="2000" dirty="0">
              <a:solidFill>
                <a:srgbClr val="6600CC"/>
              </a:solidFill>
            </a:endParaRPr>
          </a:p>
          <a:p>
            <a:pPr marL="803275" lvl="2" defTabSz="914363">
              <a:lnSpc>
                <a:spcPct val="90000"/>
              </a:lnSpc>
              <a:buSzPct val="100000"/>
              <a:buFont typeface="Wingdings" panose="05000000000000000000" pitchFamily="2" charset="2"/>
              <a:buChar char="q"/>
            </a:pPr>
            <a:r>
              <a:rPr lang="en-US" sz="2000" dirty="0" smtClean="0">
                <a:solidFill>
                  <a:srgbClr val="6600CC"/>
                </a:solidFill>
              </a:rPr>
              <a:t>Parsing arguments is important for the program specially </a:t>
            </a:r>
            <a:r>
              <a:rPr lang="en-US" sz="2000" dirty="0">
                <a:solidFill>
                  <a:srgbClr val="6600CC"/>
                </a:solidFill>
              </a:rPr>
              <a:t>when </a:t>
            </a:r>
            <a:r>
              <a:rPr lang="en-US" sz="2000" dirty="0" smtClean="0">
                <a:solidFill>
                  <a:srgbClr val="6600CC"/>
                </a:solidFill>
              </a:rPr>
              <a:t>there is need to control from outside instead of hardcoding.</a:t>
            </a:r>
            <a:endParaRPr lang="en-US" sz="2000" dirty="0">
              <a:solidFill>
                <a:srgbClr val="6600CC"/>
              </a:solidFill>
            </a:endParaRPr>
          </a:p>
          <a:p>
            <a:pPr marL="803275" lvl="2" defTabSz="914363">
              <a:lnSpc>
                <a:spcPct val="90000"/>
              </a:lnSpc>
              <a:buSzPct val="100000"/>
              <a:buFont typeface="Wingdings" panose="05000000000000000000" pitchFamily="2" charset="2"/>
              <a:buChar char="q"/>
            </a:pPr>
            <a:r>
              <a:rPr lang="en-US" sz="2000" dirty="0">
                <a:solidFill>
                  <a:srgbClr val="6600CC"/>
                </a:solidFill>
              </a:rPr>
              <a:t>A pipe is an object that represents a running process.</a:t>
            </a:r>
          </a:p>
          <a:p>
            <a:pPr marL="403225" lvl="1" defTabSz="914363">
              <a:lnSpc>
                <a:spcPct val="90000"/>
              </a:lnSpc>
              <a:buSzPct val="100000"/>
            </a:pPr>
            <a:endParaRPr lang="en-US" sz="1600" dirty="0">
              <a:solidFill>
                <a:srgbClr val="6600CC"/>
              </a:solidFill>
            </a:endParaRPr>
          </a:p>
          <a:p>
            <a:pPr marL="403225" lvl="1" defTabSz="914363">
              <a:lnSpc>
                <a:spcPct val="90000"/>
              </a:lnSpc>
              <a:buSzPct val="100000"/>
            </a:pPr>
            <a:endParaRPr lang="en-US" sz="1600" dirty="0">
              <a:solidFill>
                <a:srgbClr val="6600CC"/>
              </a:solidFill>
            </a:endParaRPr>
          </a:p>
          <a:p>
            <a:pPr marL="403225" lvl="1" defTabSz="914363">
              <a:lnSpc>
                <a:spcPct val="90000"/>
              </a:lnSpc>
              <a:buSzPct val="100000"/>
            </a:pPr>
            <a:endParaRPr lang="en-US" sz="1600" dirty="0" smtClean="0">
              <a:solidFill>
                <a:srgbClr val="6600CC"/>
              </a:solidFill>
            </a:endParaRPr>
          </a:p>
          <a:p>
            <a:pPr marL="403225" lvl="1" defTabSz="914363">
              <a:lnSpc>
                <a:spcPct val="90000"/>
              </a:lnSpc>
              <a:buSzPct val="100000"/>
            </a:pPr>
            <a:endParaRPr lang="en-US" sz="1600" dirty="0">
              <a:solidFill>
                <a:srgbClr val="6600CC"/>
              </a:solidFill>
            </a:endParaRPr>
          </a:p>
          <a:p>
            <a:pPr marL="403225" lvl="1" defTabSz="914363">
              <a:lnSpc>
                <a:spcPct val="90000"/>
              </a:lnSpc>
              <a:buSzPct val="100000"/>
            </a:pPr>
            <a:endParaRPr lang="en-US" sz="1600" dirty="0">
              <a:solidFill>
                <a:srgbClr val="6600CC"/>
              </a:solidFill>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000" b="1" dirty="0" smtClean="0">
                <a:solidFill>
                  <a:schemeClr val="bg1"/>
                </a:solidFill>
                <a:latin typeface="Vrinda" pitchFamily="34" charset="0"/>
                <a:cs typeface="Vrinda" pitchFamily="34" charset="0"/>
              </a:rPr>
              <a:t>Summary</a:t>
            </a:r>
            <a:endParaRPr lang="en-US" sz="20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6739291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ARTICULATE_PROJECT_OPEN" val="0"/>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Logic Building and Effective Problem Solving&amp;quot;&quot;/&gt;&lt;property id=&quot;20307&quot; value=&quot;256&quot;/&gt;&lt;/object&gt;&lt;object type=&quot;3&quot; unique_id=&quot;10005&quot;&gt;&lt;property id=&quot;20148&quot; value=&quot;5&quot;/&gt;&lt;property id=&quot;20300&quot; value=&quot;Slide 2 - &amp;quot;Objectives&amp;quot;&quot;/&gt;&lt;property id=&quot;20307&quot; value=&quot;257&quot;/&gt;&lt;/object&gt;&lt;object type=&quot;3&quot; unique_id=&quot;10006&quot;&gt;&lt;property id=&quot;20148&quot; value=&quot;5&quot;/&gt;&lt;property id=&quot;20300&quot; value=&quot;Slide 3 - &amp;quot;Input, Process, and Output&amp;quot;&quot;/&gt;&lt;property id=&quot;20307&quot; value=&quot;269&quot;/&gt;&lt;/object&gt;&lt;object type=&quot;3&quot; unique_id=&quot;10007&quot;&gt;&lt;property id=&quot;20148&quot; value=&quot;5&quot;/&gt;&lt;property id=&quot;20300&quot; value=&quot;Slide 4 - &amp;quot;Phases&amp;quot;&quot;/&gt;&lt;property id=&quot;20307&quot; value=&quot;270&quot;/&gt;&lt;/object&gt;&lt;object type=&quot;3&quot; unique_id=&quot;10008&quot;&gt;&lt;property id=&quot;20148&quot; value=&quot;5&quot;/&gt;&lt;property id=&quot;20300&quot; value=&quot;Slide 5 - &amp;quot;I-P-O Cycle&amp;quot;&quot;/&gt;&lt;property id=&quot;20307&quot; value=&quot;334&quot;/&gt;&lt;/object&gt;&lt;object type=&quot;3&quot; unique_id=&quot;10009&quot;&gt;&lt;property id=&quot;20148&quot; value=&quot;5&quot;/&gt;&lt;property id=&quot;20300&quot; value=&quot;Slide 6 - &amp;quot;1.1 Let’s Practice &amp;quot;&quot;/&gt;&lt;property id=&quot;20307&quot; value=&quot;271&quot;/&gt;&lt;/object&gt;&lt;object type=&quot;3&quot; unique_id=&quot;10011&quot;&gt;&lt;property id=&quot;20148&quot; value=&quot;5&quot;/&gt;&lt;property id=&quot;20300&quot; value=&quot;Slide 9 - &amp;quot;Programs and Programming Languages&amp;quot;&quot;/&gt;&lt;property id=&quot;20307&quot; value=&quot;335&quot;/&gt;&lt;/object&gt;&lt;object type=&quot;3&quot; unique_id=&quot;10012&quot;&gt;&lt;property id=&quot;20148&quot; value=&quot;5&quot;/&gt;&lt;property id=&quot;20300&quot; value=&quot;Slide 10 - &amp;quot;Programs&amp;quot;&quot;/&gt;&lt;property id=&quot;20307&quot; value=&quot;272&quot;/&gt;&lt;/object&gt;&lt;object type=&quot;3&quot; unique_id=&quot;10013&quot;&gt;&lt;property id=&quot;20148&quot; value=&quot;5&quot;/&gt;&lt;property id=&quot;20300&quot; value=&quot;Slide 11 - &amp;quot;Programs (Contd.)&amp;quot;&quot;/&gt;&lt;property id=&quot;20307&quot; value=&quot;348&quot;/&gt;&lt;/object&gt;&lt;object type=&quot;3&quot; unique_id=&quot;10014&quot;&gt;&lt;property id=&quot;20148&quot; value=&quot;5&quot;/&gt;&lt;property id=&quot;20300&quot; value=&quot;Slide 12 - &amp;quot;Programming Languages&amp;quot;&quot;/&gt;&lt;property id=&quot;20307&quot; value=&quot;273&quot;/&gt;&lt;/object&gt;&lt;object type=&quot;3&quot; unique_id=&quot;10015&quot;&gt;&lt;property id=&quot;20148&quot; value=&quot;5&quot;/&gt;&lt;property id=&quot;20300&quot; value=&quot;Slide 13 - &amp;quot;Programming Languages (Contd.)&amp;quot;&quot;/&gt;&lt;property id=&quot;20307&quot; value=&quot;349&quot;/&gt;&lt;/object&gt;&lt;object type=&quot;3&quot; unique_id=&quot;10016&quot;&gt;&lt;property id=&quot;20148&quot; value=&quot;5&quot;/&gt;&lt;property id=&quot;20300&quot; value=&quot;Slide 15 - &amp;quot;Compilers&amp;quot;&quot;/&gt;&lt;property id=&quot;20307&quot; value=&quot;351&quot;/&gt;&lt;/object&gt;&lt;object type=&quot;3&quot; unique_id=&quot;10017&quot;&gt;&lt;property id=&quot;20148&quot; value=&quot;5&quot;/&gt;&lt;property id=&quot;20300&quot; value=&quot;Slide 17 - &amp;quot;Compilers (Contd.)&amp;quot;&quot;/&gt;&lt;property id=&quot;20307&quot; value=&quot;336&quot;/&gt;&lt;/object&gt;&lt;object type=&quot;3&quot; unique_id=&quot;10018&quot;&gt;&lt;property id=&quot;20148&quot; value=&quot;5&quot;/&gt;&lt;property id=&quot;20300&quot; value=&quot;Slide 18 - &amp;quot;Just a Minute &amp;quot;&quot;/&gt;&lt;property id=&quot;20307&quot; value=&quot;352&quot;/&gt;&lt;/object&gt;&lt;object type=&quot;3&quot; unique_id=&quot;10031&quot;&gt;&lt;property id=&quot;20148&quot; value=&quot;5&quot;/&gt;&lt;property id=&quot;20300&quot; value=&quot;Slide 19 - &amp;quot;Summary&amp;quot;&quot;/&gt;&lt;property id=&quot;20307&quot; value=&quot;362&quot;/&gt;&lt;/object&gt;&lt;object type=&quot;3&quot; unique_id=&quot;10033&quot;&gt;&lt;property id=&quot;20148&quot; value=&quot;5&quot;/&gt;&lt;property id=&quot;20300&quot; value=&quot;Slide 7 - &amp;quot;1.1 Let’s Practice (Contd.) &amp;quot;&quot;/&gt;&lt;property id=&quot;20307&quot; value=&quot;365&quot;/&gt;&lt;/object&gt;&lt;object type=&quot;3&quot; unique_id=&quot;10034&quot;&gt;&lt;property id=&quot;20148&quot; value=&quot;5&quot;/&gt;&lt;property id=&quot;20300&quot; value=&quot;Slide 8 - &amp;quot;1.1 Let’s Practice (Contd.) &amp;quot;&quot;/&gt;&lt;property id=&quot;20307&quot; value=&quot;366&quot;/&gt;&lt;/object&gt;&lt;object type=&quot;3&quot; unique_id=&quot;10037&quot;&gt;&lt;property id=&quot;20148&quot; value=&quot;5&quot;/&gt;&lt;property id=&quot;20300&quot; value=&quot;Slide 14 - &amp;quot;Programming Languages (Contd.)&amp;quot;&quot;/&gt;&lt;property id=&quot;20307&quot; value=&quot;370&quot;/&gt;&lt;/object&gt;&lt;object type=&quot;3&quot; unique_id=&quot;10038&quot;&gt;&lt;property id=&quot;20148&quot; value=&quot;5&quot;/&gt;&lt;property id=&quot;20300&quot; value=&quot;Slide 16 - &amp;quot;Compilers (Contd.)&amp;quot;&quot;/&gt;&lt;property id=&quot;20307&quot; value=&quot;371&quot;/&gt;&lt;/object&gt;&lt;object type=&quot;3&quot; unique_id=&quot;10039&quot;&gt;&lt;property id=&quot;20148&quot; value=&quot;5&quot;/&gt;&lt;property id=&quot;20300&quot; value=&quot;Slide 20 - &amp;quot;What’s Next?&amp;quot;&quot;/&gt;&lt;property id=&quot;20307&quot; value=&quot;369&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marL="514350" indent="-396875" defTabSz="914363">
          <a:lnSpc>
            <a:spcPct val="90000"/>
          </a:lnSpc>
          <a:spcBef>
            <a:spcPct val="20000"/>
          </a:spcBef>
          <a:buSzPct val="100000"/>
          <a:buBlip>
            <a:blip xmlns:r="http://schemas.openxmlformats.org/officeDocument/2006/relationships" r:embed="rId1"/>
          </a:buBlip>
          <a:defRPr sz="2000" dirty="0">
            <a:solidFill>
              <a:srgbClr val="6600CC"/>
            </a:solidFill>
            <a:latin typeface="Vrinda" pitchFamily="34" charset="0"/>
            <a:cs typeface="Vrinda" pitchFamily="34" charset="0"/>
          </a:defRPr>
        </a:defPPr>
      </a:lstStyle>
    </a:spDef>
  </a:objectDefaults>
  <a:extraClrSchemeLst/>
</a:theme>
</file>

<file path=ppt/theme/theme2.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10074</TotalTime>
  <Words>1162</Words>
  <Application>Microsoft Office PowerPoint</Application>
  <PresentationFormat>On-screen Show (4:3)</PresentationFormat>
  <Paragraphs>216</Paragraphs>
  <Slides>16</Slides>
  <Notes>14</Notes>
  <HiddenSlides>0</HiddenSlides>
  <MMClips>0</MMClips>
  <ScaleCrop>false</ScaleCrop>
  <HeadingPairs>
    <vt:vector size="4" baseType="variant">
      <vt:variant>
        <vt:lpstr>Theme</vt:lpstr>
      </vt:variant>
      <vt:variant>
        <vt:i4>2</vt:i4>
      </vt:variant>
      <vt:variant>
        <vt:lpstr>Slide Titles</vt:lpstr>
      </vt:variant>
      <vt:variant>
        <vt:i4>16</vt:i4>
      </vt:variant>
    </vt:vector>
  </HeadingPairs>
  <TitlesOfParts>
    <vt:vector size="18" baseType="lpstr">
      <vt:lpstr>Office Theme</vt:lpstr>
      <vt:lpstr>6_Office Theme</vt:lpstr>
      <vt:lpstr>Automating Task and Using Command Line Argument</vt:lpstr>
      <vt:lpstr>Objectives</vt:lpstr>
      <vt:lpstr>PowerPoint Presentation</vt:lpstr>
      <vt:lpstr>PowerPoint Presentation</vt:lpstr>
      <vt:lpstr>Just a Minute</vt:lpstr>
      <vt:lpstr>Just a Minute</vt:lpstr>
      <vt:lpstr>PowerPoint Presentation</vt:lpstr>
      <vt:lpstr>PowerPoint Presentation</vt:lpstr>
      <vt:lpstr>PowerPoint Presentation</vt:lpstr>
      <vt:lpstr>PowerPoint Presentation</vt:lpstr>
      <vt:lpstr>PowerPoint Presentation</vt:lpstr>
      <vt:lpstr>Just a Minute</vt:lpstr>
      <vt:lpstr>Just a Minute</vt:lpstr>
      <vt:lpstr>PowerPoint Presentation</vt:lpstr>
      <vt:lpstr>Activity</vt:lpstr>
      <vt:lpstr>Summary</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Jasneet Kaur</dc:creator>
  <cp:lastModifiedBy>AnnuS</cp:lastModifiedBy>
  <cp:revision>679</cp:revision>
  <dcterms:created xsi:type="dcterms:W3CDTF">2012-02-06T03:44:02Z</dcterms:created>
  <dcterms:modified xsi:type="dcterms:W3CDTF">2015-10-15T11:36:34Z</dcterms:modified>
</cp:coreProperties>
</file>