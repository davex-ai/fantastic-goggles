
<file path=[Content_Types].xml><?xml version="1.0" encoding="utf-8"?>
<Types xmlns="http://schemas.openxmlformats.org/package/2006/content-types">
  <Default Extension="png" ContentType="image/png"/>
  <Default Extension="tmp"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theme/themeOverride2.xml" ContentType="application/vnd.openxmlformats-officedocument.themeOverride+xml"/>
  <Override PartName="/ppt/notesSlides/notesSlide8.xml" ContentType="application/vnd.openxmlformats-officedocument.presentationml.notesSlide+xml"/>
  <Override PartName="/ppt/theme/themeOverride3.xml" ContentType="application/vnd.openxmlformats-officedocument.themeOverride+xml"/>
  <Override PartName="/ppt/notesSlides/notesSlide9.xml" ContentType="application/vnd.openxmlformats-officedocument.presentationml.notesSlide+xml"/>
  <Override PartName="/ppt/theme/themeOverride4.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20" r:id="rId2"/>
    <p:sldMasterId id="2147483756" r:id="rId3"/>
  </p:sldMasterIdLst>
  <p:notesMasterIdLst>
    <p:notesMasterId r:id="rId23"/>
  </p:notesMasterIdLst>
  <p:sldIdLst>
    <p:sldId id="256" r:id="rId4"/>
    <p:sldId id="257" r:id="rId5"/>
    <p:sldId id="384" r:id="rId6"/>
    <p:sldId id="385" r:id="rId7"/>
    <p:sldId id="386" r:id="rId8"/>
    <p:sldId id="387" r:id="rId9"/>
    <p:sldId id="388" r:id="rId10"/>
    <p:sldId id="269" r:id="rId11"/>
    <p:sldId id="372" r:id="rId12"/>
    <p:sldId id="383" r:id="rId13"/>
    <p:sldId id="374" r:id="rId14"/>
    <p:sldId id="375" r:id="rId15"/>
    <p:sldId id="376" r:id="rId16"/>
    <p:sldId id="377" r:id="rId17"/>
    <p:sldId id="379" r:id="rId18"/>
    <p:sldId id="389" r:id="rId19"/>
    <p:sldId id="390" r:id="rId20"/>
    <p:sldId id="391" r:id="rId21"/>
    <p:sldId id="362" r:id="rId22"/>
  </p:sldIdLst>
  <p:sldSz cx="9144000" cy="6858000" type="screen4x3"/>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9900FF"/>
    <a:srgbClr val="0005CA"/>
    <a:srgbClr val="1D6D6B"/>
    <a:srgbClr val="000099"/>
    <a:srgbClr val="C60477"/>
    <a:srgbClr val="C60269"/>
    <a:srgbClr val="88064A"/>
    <a:srgbClr val="EE0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67" autoAdjust="0"/>
    <p:restoredTop sz="69675" autoAdjust="0"/>
  </p:normalViewPr>
  <p:slideViewPr>
    <p:cSldViewPr>
      <p:cViewPr varScale="1">
        <p:scale>
          <a:sx n="69" d="100"/>
          <a:sy n="69" d="100"/>
        </p:scale>
        <p:origin x="-1690"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gs" Target="tags/tag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073C2E-51A6-420F-8788-9A3EAC99032A}" type="datetimeFigureOut">
              <a:rPr lang="en-US" smtClean="0"/>
              <a:t>10/14/2015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091714-3304-44AF-AABA-9711959465C3}" type="slidenum">
              <a:rPr lang="en-US" smtClean="0"/>
              <a:t>‹#›</a:t>
            </a:fld>
            <a:endParaRPr lang="en-US"/>
          </a:p>
        </p:txBody>
      </p:sp>
    </p:spTree>
    <p:extLst>
      <p:ext uri="{BB962C8B-B14F-4D97-AF65-F5344CB8AC3E}">
        <p14:creationId xmlns:p14="http://schemas.microsoft.com/office/powerpoint/2010/main" val="3151996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2</a:t>
            </a:fld>
            <a:endParaRPr lang="en-US"/>
          </a:p>
        </p:txBody>
      </p:sp>
    </p:spTree>
    <p:extLst>
      <p:ext uri="{BB962C8B-B14F-4D97-AF65-F5344CB8AC3E}">
        <p14:creationId xmlns:p14="http://schemas.microsoft.com/office/powerpoint/2010/main" val="3727141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It</a:t>
            </a:r>
            <a:r>
              <a:rPr lang="en-US" baseline="0" dirty="0" smtClean="0"/>
              <a:t> is always important to check the integrity of the data in our table. This can be achieved by using keys and Constraints.</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3</a:t>
            </a:fld>
            <a:endParaRPr lang="en-US"/>
          </a:p>
        </p:txBody>
      </p:sp>
    </p:spTree>
    <p:extLst>
      <p:ext uri="{BB962C8B-B14F-4D97-AF65-F5344CB8AC3E}">
        <p14:creationId xmlns:p14="http://schemas.microsoft.com/office/powerpoint/2010/main" val="3727141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We can take advantage of these constraints in the following code:</a:t>
            </a:r>
          </a:p>
          <a:p>
            <a:r>
              <a:rPr lang="en-US" sz="1200" b="0" i="0" u="none" strike="noStrike" kern="1200" baseline="0" dirty="0" smtClean="0">
                <a:solidFill>
                  <a:schemeClr val="tx1"/>
                </a:solidFill>
                <a:latin typeface="+mn-lt"/>
                <a:ea typeface="+mn-ea"/>
                <a:cs typeface="+mn-cs"/>
              </a:rPr>
              <a:t>cur.execute('''INSERT OR IGNORE INTO People (name, retrieved) VALUES ( ?, 0)''', ( friend, ) )</a:t>
            </a:r>
          </a:p>
          <a:p>
            <a:r>
              <a:rPr lang="en-US" sz="1200" b="0" i="0" u="none" strike="noStrike" kern="1200" baseline="0" dirty="0" smtClean="0">
                <a:solidFill>
                  <a:schemeClr val="tx1"/>
                </a:solidFill>
                <a:latin typeface="+mn-lt"/>
                <a:ea typeface="+mn-ea"/>
                <a:cs typeface="+mn-cs"/>
              </a:rPr>
              <a:t>We add the OR IGNORE clause to our INSERT statement to indicate that if this particular INSERT would cause a violation of the “name must be unique” rule, the</a:t>
            </a:r>
          </a:p>
          <a:p>
            <a:r>
              <a:rPr lang="en-US" sz="1200" b="0" i="0" u="none" strike="noStrike" kern="1200" baseline="0" dirty="0" smtClean="0">
                <a:solidFill>
                  <a:schemeClr val="tx1"/>
                </a:solidFill>
                <a:latin typeface="+mn-lt"/>
                <a:ea typeface="+mn-ea"/>
                <a:cs typeface="+mn-cs"/>
              </a:rPr>
              <a:t>database system is allowed to ignore the INSERT.</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Similarly, the following code ensures that we don’t add the exact same Follows relationship twice.</a:t>
            </a:r>
          </a:p>
          <a:p>
            <a:r>
              <a:rPr lang="en-US" sz="1200" b="0" i="0" u="none" strike="noStrike" kern="1200" baseline="0" dirty="0" smtClean="0">
                <a:solidFill>
                  <a:schemeClr val="tx1"/>
                </a:solidFill>
                <a:latin typeface="+mn-lt"/>
                <a:ea typeface="+mn-ea"/>
                <a:cs typeface="+mn-cs"/>
              </a:rPr>
              <a:t>cur.execute('''INSERT OR IGNORE INTO Follows (from_id, to_id) VALUES (?, ?)''', (id, friend_id) )</a:t>
            </a:r>
          </a:p>
          <a:p>
            <a:r>
              <a:rPr lang="en-US" sz="1200" b="0" i="0" u="none" strike="noStrike" kern="1200" baseline="0" dirty="0" smtClean="0">
                <a:solidFill>
                  <a:schemeClr val="tx1"/>
                </a:solidFill>
                <a:latin typeface="+mn-lt"/>
                <a:ea typeface="+mn-ea"/>
                <a:cs typeface="+mn-cs"/>
              </a:rPr>
              <a:t>Again we simply tell the database to ignore our attempted INSERT if it would violate the uniqueness constraint that we specified for the Follows rows.</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4</a:t>
            </a:fld>
            <a:endParaRPr lang="en-US"/>
          </a:p>
        </p:txBody>
      </p:sp>
    </p:spTree>
    <p:extLst>
      <p:ext uri="{BB962C8B-B14F-4D97-AF65-F5344CB8AC3E}">
        <p14:creationId xmlns:p14="http://schemas.microsoft.com/office/powerpoint/2010/main" val="3727141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If we end up in the except code, it simply means that the row was not found so we must insert the row. We use INSERT OR IGNORE just to avoid errors and then</a:t>
            </a:r>
          </a:p>
          <a:p>
            <a:r>
              <a:rPr lang="en-US" sz="1200" b="0" i="0" u="none" strike="noStrike" kern="1200" baseline="0" dirty="0" smtClean="0">
                <a:solidFill>
                  <a:schemeClr val="tx1"/>
                </a:solidFill>
                <a:latin typeface="+mn-lt"/>
                <a:ea typeface="+mn-ea"/>
                <a:cs typeface="+mn-cs"/>
              </a:rPr>
              <a:t>call commit() to force the database to really be updated. </a:t>
            </a:r>
          </a:p>
          <a:p>
            <a:r>
              <a:rPr lang="en-US" sz="1200" b="0" i="0" u="none" strike="noStrike" kern="1200" baseline="0" dirty="0" smtClean="0">
                <a:solidFill>
                  <a:schemeClr val="tx1"/>
                </a:solidFill>
                <a:latin typeface="+mn-lt"/>
                <a:ea typeface="+mn-ea"/>
                <a:cs typeface="+mn-cs"/>
              </a:rPr>
              <a:t>After the write is done, we can check the cur.rowcount to see how many rows were affected. Since we are attempting to insert a single row, if the number of affected rows is something other than one, it is an error.</a:t>
            </a:r>
          </a:p>
          <a:p>
            <a:r>
              <a:rPr lang="en-US" sz="1200" b="0" i="0" u="none" strike="noStrike" kern="1200" baseline="0" dirty="0" smtClean="0">
                <a:solidFill>
                  <a:schemeClr val="tx1"/>
                </a:solidFill>
                <a:latin typeface="+mn-lt"/>
                <a:ea typeface="+mn-ea"/>
                <a:cs typeface="+mn-cs"/>
              </a:rPr>
              <a:t>If the INSERT is successful, we can look at cur.lastrowid to find out what value the database assigned to the id column in our newly created row.</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5</a:t>
            </a:fld>
            <a:endParaRPr lang="en-US"/>
          </a:p>
        </p:txBody>
      </p:sp>
    </p:spTree>
    <p:extLst>
      <p:ext uri="{BB962C8B-B14F-4D97-AF65-F5344CB8AC3E}">
        <p14:creationId xmlns:p14="http://schemas.microsoft.com/office/powerpoint/2010/main" val="3727141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 logical key is a key that the “real world” might use to look up a row. Since the logical key is how we look up a row from the outside world, it makes little sense to allow multiple rows with the same value in the table.</a:t>
            </a:r>
          </a:p>
          <a:p>
            <a:r>
              <a:rPr lang="en-US" sz="1200" b="0" i="0" u="none" strike="noStrike" kern="1200" baseline="0" dirty="0" smtClean="0">
                <a:solidFill>
                  <a:schemeClr val="tx1"/>
                </a:solidFill>
                <a:latin typeface="+mn-lt"/>
                <a:ea typeface="+mn-ea"/>
                <a:cs typeface="+mn-cs"/>
              </a:rPr>
              <a:t>A primary key is usually a number that is assigned automatically by the database. It generally has no meaning outside the program and is only used to link rows from different tables together.</a:t>
            </a:r>
          </a:p>
          <a:p>
            <a:r>
              <a:rPr lang="en-US" sz="1200" b="0" i="0" u="none" strike="noStrike" kern="1200" baseline="0" dirty="0" smtClean="0">
                <a:solidFill>
                  <a:schemeClr val="tx1"/>
                </a:solidFill>
                <a:latin typeface="+mn-lt"/>
                <a:ea typeface="+mn-ea"/>
                <a:cs typeface="+mn-cs"/>
              </a:rPr>
              <a:t>A foreign key is usually a number that points to the primary key of an associated row in a different table</a:t>
            </a:r>
          </a:p>
        </p:txBody>
      </p:sp>
      <p:sp>
        <p:nvSpPr>
          <p:cNvPr id="4" name="Slide Number Placeholder 3"/>
          <p:cNvSpPr>
            <a:spLocks noGrp="1"/>
          </p:cNvSpPr>
          <p:nvPr>
            <p:ph type="sldNum" sz="quarter" idx="10"/>
          </p:nvPr>
        </p:nvSpPr>
        <p:spPr/>
        <p:txBody>
          <a:bodyPr/>
          <a:lstStyle/>
          <a:p>
            <a:fld id="{35091714-3304-44AF-AABA-9711959465C3}" type="slidenum">
              <a:rPr lang="en-US" smtClean="0"/>
              <a:t>6</a:t>
            </a:fld>
            <a:endParaRPr lang="en-US"/>
          </a:p>
        </p:txBody>
      </p:sp>
    </p:spTree>
    <p:extLst>
      <p:ext uri="{BB962C8B-B14F-4D97-AF65-F5344CB8AC3E}">
        <p14:creationId xmlns:p14="http://schemas.microsoft.com/office/powerpoint/2010/main" val="3727141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SQL uses the JOIN clause to re-connect these tables. In the JOIN clause you specify the fields that are used to re-connect the rows between the tables.</a:t>
            </a:r>
          </a:p>
          <a:p>
            <a:r>
              <a:rPr lang="en-US" sz="1200" b="0" i="0" u="none" strike="noStrike" kern="1200" baseline="0" dirty="0" smtClean="0">
                <a:solidFill>
                  <a:schemeClr val="tx1"/>
                </a:solidFill>
                <a:latin typeface="+mn-lt"/>
                <a:ea typeface="+mn-ea"/>
                <a:cs typeface="+mn-cs"/>
              </a:rPr>
              <a:t>The following is an example of a SELECT with a JOIN clause:</a:t>
            </a:r>
          </a:p>
          <a:p>
            <a:r>
              <a:rPr lang="en-US" sz="1200" b="0" i="0" u="none" strike="noStrike" kern="1200" baseline="0" dirty="0" smtClean="0">
                <a:solidFill>
                  <a:schemeClr val="tx1"/>
                </a:solidFill>
                <a:latin typeface="+mn-lt"/>
                <a:ea typeface="+mn-ea"/>
                <a:cs typeface="+mn-cs"/>
              </a:rPr>
              <a:t>SELECT * FROM Follows JOIN People ON Follows.from_id = People.id WHERE People.id = 1</a:t>
            </a:r>
          </a:p>
          <a:p>
            <a:r>
              <a:rPr lang="en-US" sz="1200" b="0" i="0" u="none" strike="noStrike" kern="1200" baseline="0" dirty="0" smtClean="0">
                <a:solidFill>
                  <a:schemeClr val="tx1"/>
                </a:solidFill>
                <a:latin typeface="+mn-lt"/>
                <a:ea typeface="+mn-ea"/>
                <a:cs typeface="+mn-cs"/>
              </a:rPr>
              <a:t>The JOIN clause indicates that the fields we are selecting cross both the Follows and People tables. The ON clause indicates how the two tables are to be joined.</a:t>
            </a:r>
          </a:p>
          <a:p>
            <a:r>
              <a:rPr lang="en-US" sz="1200" b="0" i="0" u="none" strike="noStrike" kern="1200" baseline="0" dirty="0" smtClean="0">
                <a:solidFill>
                  <a:schemeClr val="tx1"/>
                </a:solidFill>
                <a:latin typeface="+mn-lt"/>
                <a:ea typeface="+mn-ea"/>
                <a:cs typeface="+mn-cs"/>
              </a:rPr>
              <a:t>Take the rows from Follows and append the row from People where the field from_id in Follows is the same the id value in the People table.</a:t>
            </a:r>
          </a:p>
        </p:txBody>
      </p:sp>
      <p:sp>
        <p:nvSpPr>
          <p:cNvPr id="4" name="Slide Number Placeholder 3"/>
          <p:cNvSpPr>
            <a:spLocks noGrp="1"/>
          </p:cNvSpPr>
          <p:nvPr>
            <p:ph type="sldNum" sz="quarter" idx="10"/>
          </p:nvPr>
        </p:nvSpPr>
        <p:spPr/>
        <p:txBody>
          <a:bodyPr/>
          <a:lstStyle/>
          <a:p>
            <a:fld id="{35091714-3304-44AF-AABA-9711959465C3}" type="slidenum">
              <a:rPr lang="en-US" smtClean="0"/>
              <a:t>7</a:t>
            </a:fld>
            <a:endParaRPr lang="en-US"/>
          </a:p>
        </p:txBody>
      </p:sp>
    </p:spTree>
    <p:extLst>
      <p:ext uri="{BB962C8B-B14F-4D97-AF65-F5344CB8AC3E}">
        <p14:creationId xmlns:p14="http://schemas.microsoft.com/office/powerpoint/2010/main" val="3727141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beauty of an art lies in the message it conveys. At times, reality is not what we see or perceive. The endless efforts from the likes of Vinci and Picasso have tried to bring people closer to the reality using their exceptional artworks on a certain topic/matter.</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Data scientists are no less than artists. They make paintings in form of digital visualization (of data) with a motive of manifesting the hidden patterns / insights in it. It is even more interesting to know that, the tendency of human perception, cognition and communication increases when he / she gets exposed to visualized form of any content/data.</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8</a:t>
            </a:fld>
            <a:endParaRPr lang="en-US"/>
          </a:p>
        </p:txBody>
      </p:sp>
    </p:spTree>
    <p:extLst>
      <p:ext uri="{BB962C8B-B14F-4D97-AF65-F5344CB8AC3E}">
        <p14:creationId xmlns:p14="http://schemas.microsoft.com/office/powerpoint/2010/main" val="4189704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Data Visualization takes the sample data from the repository that program will download,</a:t>
            </a:r>
            <a:r>
              <a:rPr lang="en-US" baseline="0" dirty="0" smtClean="0"/>
              <a:t> </a:t>
            </a:r>
            <a:r>
              <a:rPr lang="en-US" dirty="0" smtClean="0"/>
              <a:t>parse the sample data from columns and rows to a list of dictionaries, then render that data in two different graphs and in Google Maps.</a:t>
            </a:r>
          </a:p>
          <a:p>
            <a:endParaRPr lang="en-US" dirty="0" smtClean="0"/>
          </a:p>
          <a:p>
            <a:r>
              <a:rPr lang="en-US" dirty="0" smtClean="0"/>
              <a:t>Let’s discuss about a project where the Google geocoding API will clean up some user entered geographic locations of university names and then placing the data on a</a:t>
            </a:r>
          </a:p>
          <a:p>
            <a:r>
              <a:rPr lang="en-US" dirty="0" smtClean="0"/>
              <a:t>Google map.</a:t>
            </a:r>
          </a:p>
          <a:p>
            <a:endParaRPr lang="en-US" dirty="0" smtClean="0"/>
          </a:p>
          <a:p>
            <a:r>
              <a:rPr lang="en-US" dirty="0" smtClean="0"/>
              <a:t>In this project we have 5 files –  geoload.py, geodump.py,</a:t>
            </a:r>
            <a:r>
              <a:rPr lang="en-US" baseline="0" dirty="0" smtClean="0"/>
              <a:t> </a:t>
            </a:r>
            <a:r>
              <a:rPr lang="en-US" dirty="0" err="1" smtClean="0"/>
              <a:t>where.data</a:t>
            </a:r>
            <a:r>
              <a:rPr lang="en-US" dirty="0" smtClean="0"/>
              <a:t>, where.js and where.html.</a:t>
            </a:r>
          </a:p>
          <a:p>
            <a:r>
              <a:rPr lang="en-US" b="1" dirty="0" err="1" smtClean="0"/>
              <a:t>where.data</a:t>
            </a:r>
            <a:r>
              <a:rPr lang="en-US" b="1" dirty="0" smtClean="0"/>
              <a:t> </a:t>
            </a:r>
            <a:r>
              <a:rPr lang="en-US" dirty="0" smtClean="0"/>
              <a:t>–</a:t>
            </a:r>
            <a:r>
              <a:rPr lang="en-US" baseline="0" dirty="0" smtClean="0"/>
              <a:t> This file contains</a:t>
            </a:r>
            <a:r>
              <a:rPr lang="en-US" dirty="0" smtClean="0"/>
              <a:t> a few hundred data items like geographic locations of university names.</a:t>
            </a:r>
          </a:p>
          <a:p>
            <a:r>
              <a:rPr lang="en-US" b="1" dirty="0" smtClean="0"/>
              <a:t>geoload.py</a:t>
            </a:r>
            <a:r>
              <a:rPr lang="en-US" dirty="0" smtClean="0"/>
              <a:t> program</a:t>
            </a:r>
            <a:r>
              <a:rPr lang="en-US" baseline="0" dirty="0" smtClean="0"/>
              <a:t> - </a:t>
            </a:r>
            <a:r>
              <a:rPr lang="en-US" dirty="0" smtClean="0"/>
              <a:t>This program will read the input lines in </a:t>
            </a:r>
            <a:r>
              <a:rPr lang="en-US" dirty="0" err="1" smtClean="0"/>
              <a:t>where.data</a:t>
            </a:r>
            <a:r>
              <a:rPr lang="en-US" dirty="0" smtClean="0"/>
              <a:t> and for each line check to see if it is already in the database and if</a:t>
            </a:r>
            <a:r>
              <a:rPr lang="en-US" baseline="0" dirty="0" smtClean="0"/>
              <a:t> </a:t>
            </a:r>
            <a:r>
              <a:rPr lang="en-US" dirty="0" smtClean="0"/>
              <a:t>data is not present for the location, call the geocoding API to retrieve the data and store it in the database.</a:t>
            </a:r>
          </a:p>
          <a:p>
            <a:r>
              <a:rPr lang="en-US" b="1" dirty="0" smtClean="0"/>
              <a:t>geodump.py</a:t>
            </a:r>
            <a:r>
              <a:rPr lang="en-US" dirty="0" smtClean="0"/>
              <a:t> program - This program reads the database and writes the file where.js with the location, latitude, and longitude in the form of executable JavaScript code.</a:t>
            </a:r>
          </a:p>
          <a:p>
            <a:r>
              <a:rPr lang="en-US" b="1" dirty="0" smtClean="0"/>
              <a:t>where.js </a:t>
            </a:r>
            <a:r>
              <a:rPr lang="en-US" b="0" dirty="0" smtClean="0"/>
              <a:t>–</a:t>
            </a:r>
            <a:r>
              <a:rPr lang="en-US" b="1" dirty="0" smtClean="0"/>
              <a:t> </a:t>
            </a:r>
            <a:r>
              <a:rPr lang="en-US" b="0" dirty="0" smtClean="0"/>
              <a:t>This file is used </a:t>
            </a:r>
            <a:r>
              <a:rPr lang="en-US" dirty="0" smtClean="0"/>
              <a:t>to get the data to be visualized</a:t>
            </a:r>
            <a:r>
              <a:rPr lang="en-US" baseline="0" dirty="0" smtClean="0"/>
              <a:t> with</a:t>
            </a:r>
            <a:r>
              <a:rPr lang="en-US" dirty="0" smtClean="0"/>
              <a:t> the most recent data.</a:t>
            </a:r>
            <a:endParaRPr lang="en-US" b="1" dirty="0" smtClean="0"/>
          </a:p>
          <a:p>
            <a:r>
              <a:rPr lang="en-US" b="1" dirty="0" smtClean="0"/>
              <a:t>where.html </a:t>
            </a:r>
            <a:r>
              <a:rPr lang="en-US" b="0" dirty="0" smtClean="0"/>
              <a:t>–</a:t>
            </a:r>
            <a:r>
              <a:rPr lang="en-US" dirty="0" smtClean="0"/>
              <a:t> This file consists of HTML and JavaScript to visualize a Google map. </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9</a:t>
            </a:fld>
            <a:endParaRPr lang="en-US"/>
          </a:p>
        </p:txBody>
      </p:sp>
    </p:spTree>
    <p:extLst>
      <p:ext uri="{BB962C8B-B14F-4D97-AF65-F5344CB8AC3E}">
        <p14:creationId xmlns:p14="http://schemas.microsoft.com/office/powerpoint/2010/main" val="2304217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 the following URL and enter credential of google account  to get</a:t>
            </a:r>
            <a:r>
              <a:rPr lang="en-US" baseline="0" dirty="0" smtClean="0"/>
              <a:t> the developer console:</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solidFill>
                  <a:srgbClr val="C00000"/>
                </a:solidFill>
              </a:rPr>
              <a:t>https://console.developers.google.com/flows/enableapi?apiid=geocoding_backend&amp;keyType=SERVER_SIDE</a:t>
            </a:r>
          </a:p>
          <a:p>
            <a:endParaRPr lang="en-US" dirty="0" smtClean="0"/>
          </a:p>
        </p:txBody>
      </p:sp>
      <p:sp>
        <p:nvSpPr>
          <p:cNvPr id="4" name="Slide Number Placeholder 3"/>
          <p:cNvSpPr>
            <a:spLocks noGrp="1"/>
          </p:cNvSpPr>
          <p:nvPr>
            <p:ph type="sldNum" sz="quarter" idx="10"/>
          </p:nvPr>
        </p:nvSpPr>
        <p:spPr/>
        <p:txBody>
          <a:bodyPr/>
          <a:lstStyle/>
          <a:p>
            <a:fld id="{35091714-3304-44AF-AABA-9711959465C3}" type="slidenum">
              <a:rPr lang="en-US" smtClean="0"/>
              <a:t>10</a:t>
            </a:fld>
            <a:endParaRPr lang="en-US"/>
          </a:p>
        </p:txBody>
      </p:sp>
    </p:spTree>
    <p:extLst>
      <p:ext uri="{BB962C8B-B14F-4D97-AF65-F5344CB8AC3E}">
        <p14:creationId xmlns:p14="http://schemas.microsoft.com/office/powerpoint/2010/main" val="3372466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Agree with term</a:t>
            </a:r>
            <a:r>
              <a:rPr lang="en-US" baseline="0" dirty="0" smtClean="0"/>
              <a:t> and condition before registering the application for Geocoding API in Google Developer Console.</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11</a:t>
            </a:fld>
            <a:endParaRPr lang="en-US"/>
          </a:p>
        </p:txBody>
      </p:sp>
    </p:spTree>
    <p:extLst>
      <p:ext uri="{BB962C8B-B14F-4D97-AF65-F5344CB8AC3E}">
        <p14:creationId xmlns:p14="http://schemas.microsoft.com/office/powerpoint/2010/main" val="17257660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Once the project will be created the Geocoding API will be enabled. Also all</a:t>
            </a:r>
            <a:r>
              <a:rPr lang="en-US" baseline="0" dirty="0" smtClean="0"/>
              <a:t> the status related activities can be visualized on Project Dashboard.</a:t>
            </a:r>
          </a:p>
          <a:p>
            <a:endParaRPr lang="en-US" baseline="0" dirty="0" smtClean="0"/>
          </a:p>
          <a:p>
            <a:r>
              <a:rPr lang="en-US" baseline="0" dirty="0" smtClean="0"/>
              <a:t>This is the interface where developer can deploy any Geocoding program and can perform the following operations:</a:t>
            </a:r>
          </a:p>
          <a:p>
            <a:pPr marL="228600" indent="-228600">
              <a:buAutoNum type="arabicPeriod"/>
            </a:pPr>
            <a:r>
              <a:rPr lang="en-US" baseline="0" dirty="0" smtClean="0"/>
              <a:t>Monitoring Traces, Logs and Dashboard.</a:t>
            </a:r>
          </a:p>
          <a:p>
            <a:pPr marL="228600" indent="-228600">
              <a:buAutoNum type="arabicPeriod"/>
            </a:pPr>
            <a:r>
              <a:rPr lang="en-US" baseline="0" dirty="0" smtClean="0"/>
              <a:t>Browse and debug the source code.</a:t>
            </a:r>
          </a:p>
          <a:p>
            <a:pPr marL="228600" indent="-228600">
              <a:buAutoNum type="arabicPeriod"/>
            </a:pPr>
            <a:r>
              <a:rPr lang="en-US" baseline="0" dirty="0" smtClean="0"/>
              <a:t>Modify the network settings of project.</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12</a:t>
            </a:fld>
            <a:endParaRPr lang="en-US"/>
          </a:p>
        </p:txBody>
      </p:sp>
    </p:spTree>
    <p:extLst>
      <p:ext uri="{BB962C8B-B14F-4D97-AF65-F5344CB8AC3E}">
        <p14:creationId xmlns:p14="http://schemas.microsoft.com/office/powerpoint/2010/main" val="2791033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discuss</a:t>
            </a:r>
            <a:r>
              <a:rPr lang="en-US" baseline="0" dirty="0" smtClean="0"/>
              <a:t> another project about Visualizing networks and interconnections using some of the functions of a search engine.</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this project we have 8 files –</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spider.py</a:t>
            </a:r>
            <a:r>
              <a:rPr lang="en-US" baseline="0" dirty="0" smtClean="0"/>
              <a:t> - crawls a web site and pulls a series of pages into the database (</a:t>
            </a:r>
            <a:r>
              <a:rPr lang="en-US" baseline="0" dirty="0" err="1" smtClean="0"/>
              <a:t>spider.sqlite</a:t>
            </a:r>
            <a:r>
              <a:rPr lang="en-US" baseline="0" dirty="0" smtClean="0"/>
              <a:t>), recording the links between pages.</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spdump.py </a:t>
            </a:r>
            <a:r>
              <a:rPr lang="en-US" b="0" baseline="0" dirty="0" smtClean="0"/>
              <a:t>- </a:t>
            </a:r>
            <a:r>
              <a:rPr lang="en-US" baseline="0" dirty="0" smtClean="0"/>
              <a:t>to dump the contents of the </a:t>
            </a:r>
            <a:r>
              <a:rPr lang="en-US" baseline="0" dirty="0" err="1" smtClean="0"/>
              <a:t>spider.sqlite</a:t>
            </a:r>
            <a:r>
              <a:rPr lang="en-US" baseline="0" dirty="0" smtClean="0"/>
              <a:t> file.</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sprank.py </a:t>
            </a:r>
            <a:r>
              <a:rPr lang="en-US" b="0" baseline="0" dirty="0" smtClean="0"/>
              <a:t>– to get </a:t>
            </a:r>
            <a:r>
              <a:rPr lang="en-US" baseline="0" dirty="0" smtClean="0"/>
              <a:t>page rank on the pages. it will simply refine the page rank each time run it.</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smtClean="0"/>
              <a:t>spreset.py </a:t>
            </a:r>
            <a:r>
              <a:rPr lang="en-US" b="0" baseline="0" dirty="0" smtClean="0"/>
              <a:t>- </a:t>
            </a:r>
            <a:r>
              <a:rPr lang="en-US" baseline="0" dirty="0" smtClean="0"/>
              <a:t>to restart the page rank calculations without re-</a:t>
            </a:r>
            <a:r>
              <a:rPr lang="en-US" baseline="0" dirty="0" err="1" smtClean="0"/>
              <a:t>spidering</a:t>
            </a:r>
            <a:r>
              <a:rPr lang="en-US" baseline="0" dirty="0" smtClean="0"/>
              <a:t> the web pages.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prank.py</a:t>
            </a:r>
            <a:r>
              <a:rPr lang="en-US" dirty="0" smtClean="0"/>
              <a:t> – to the page rank values converge.</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spjson.py </a:t>
            </a:r>
            <a:r>
              <a:rPr lang="en-US" b="0" dirty="0" smtClean="0"/>
              <a:t>- </a:t>
            </a:r>
            <a:r>
              <a:rPr lang="en-US" dirty="0" smtClean="0"/>
              <a:t>to read the database and write the data for the most highly linked pages in JSON format to be viewed in a web browser.</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force.html </a:t>
            </a:r>
            <a:r>
              <a:rPr lang="en-US" b="0" dirty="0" smtClean="0"/>
              <a:t>-  t</a:t>
            </a:r>
            <a:r>
              <a:rPr lang="en-US" dirty="0" smtClean="0"/>
              <a:t>his shows an automatic layout of the nodes and links. User can click and drag any node and he/she can also double click on a node to find the URL that is</a:t>
            </a:r>
            <a:r>
              <a:rPr lang="en-US" baseline="0" dirty="0" smtClean="0"/>
              <a:t> </a:t>
            </a:r>
            <a:r>
              <a:rPr lang="en-US" dirty="0" smtClean="0"/>
              <a:t>represented by the node.</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err="1" smtClean="0"/>
              <a:t>spider.json</a:t>
            </a:r>
            <a:r>
              <a:rPr lang="en-US" b="1" dirty="0" smtClean="0"/>
              <a:t> </a:t>
            </a:r>
            <a:r>
              <a:rPr lang="en-US" b="0" dirty="0" smtClean="0"/>
              <a:t>- </a:t>
            </a:r>
            <a:r>
              <a:rPr lang="en-US" dirty="0" smtClean="0"/>
              <a:t>refresh in the browser to get the new data.</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14</a:t>
            </a:fld>
            <a:endParaRPr lang="en-US"/>
          </a:p>
        </p:txBody>
      </p:sp>
    </p:spTree>
    <p:extLst>
      <p:ext uri="{BB962C8B-B14F-4D97-AF65-F5344CB8AC3E}">
        <p14:creationId xmlns:p14="http://schemas.microsoft.com/office/powerpoint/2010/main" val="37881057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discuss</a:t>
            </a:r>
            <a:r>
              <a:rPr lang="en-US" baseline="0" dirty="0" smtClean="0"/>
              <a:t> another project about Visualizing mail data from servers and data is most complex so far and pull down nearly a gigabyte of data and visualize it.</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this project we have 7 files –</a:t>
            </a:r>
          </a:p>
          <a:p>
            <a:r>
              <a:rPr lang="en-US" b="1" dirty="0" smtClean="0"/>
              <a:t>gmane.py</a:t>
            </a:r>
            <a:r>
              <a:rPr lang="en-US" dirty="0" smtClean="0"/>
              <a:t> - operates as a responsible caching spider in that it runs slowly and retrieves one mail message per second so as to avoid getting throttled by </a:t>
            </a:r>
            <a:r>
              <a:rPr lang="en-US" dirty="0" err="1" smtClean="0"/>
              <a:t>gmane</a:t>
            </a:r>
            <a:r>
              <a:rPr lang="en-US" dirty="0" smtClean="0"/>
              <a:t>. It stores all of its data in a database and can be interrupted and re-started as often as needed. It may take many hours to pull all the data down. So</a:t>
            </a:r>
            <a:r>
              <a:rPr lang="en-US" baseline="0" dirty="0" smtClean="0"/>
              <a:t> User</a:t>
            </a:r>
            <a:r>
              <a:rPr lang="en-US" dirty="0" smtClean="0"/>
              <a:t> may need to restart several times.</a:t>
            </a:r>
          </a:p>
          <a:p>
            <a:r>
              <a:rPr lang="en-US" b="1" dirty="0" smtClean="0"/>
              <a:t>gmodel.py </a:t>
            </a:r>
            <a:r>
              <a:rPr lang="en-US" b="0" dirty="0" smtClean="0"/>
              <a:t>-</a:t>
            </a:r>
            <a:r>
              <a:rPr lang="en-US" dirty="0" smtClean="0"/>
              <a:t> reads the rough/raw data from </a:t>
            </a:r>
            <a:r>
              <a:rPr lang="en-US" dirty="0" err="1" smtClean="0"/>
              <a:t>content.sqlite</a:t>
            </a:r>
            <a:r>
              <a:rPr lang="en-US" dirty="0" smtClean="0"/>
              <a:t> and produces a cleaned-up and well-modeled version of the data in the file </a:t>
            </a:r>
            <a:r>
              <a:rPr lang="en-US" dirty="0" err="1" smtClean="0"/>
              <a:t>index.sqlite</a:t>
            </a:r>
            <a:r>
              <a:rPr lang="en-US" dirty="0" smtClean="0"/>
              <a:t>. The file </a:t>
            </a:r>
            <a:r>
              <a:rPr lang="en-US" dirty="0" err="1" smtClean="0"/>
              <a:t>index.sqlite</a:t>
            </a:r>
            <a:r>
              <a:rPr lang="en-US" dirty="0" smtClean="0"/>
              <a:t> will be much smaller (often 10X smaller) than </a:t>
            </a:r>
            <a:r>
              <a:rPr lang="en-US" dirty="0" err="1" smtClean="0"/>
              <a:t>content.sqlite</a:t>
            </a:r>
            <a:r>
              <a:rPr lang="en-US" dirty="0" smtClean="0"/>
              <a:t> because it also compresses the header and body text.</a:t>
            </a:r>
          </a:p>
          <a:p>
            <a:r>
              <a:rPr lang="en-US" b="1" dirty="0" smtClean="0"/>
              <a:t>gbasic.py</a:t>
            </a:r>
            <a:r>
              <a:rPr lang="en-US" dirty="0" smtClean="0"/>
              <a:t> </a:t>
            </a:r>
            <a:r>
              <a:rPr lang="en-US" b="1" dirty="0" smtClean="0"/>
              <a:t>- </a:t>
            </a:r>
            <a:r>
              <a:rPr lang="en-US" b="0" dirty="0" smtClean="0"/>
              <a:t>simplest data analysis is to determine ”who sent the most mail?” and ”which organization sent the most mail”? </a:t>
            </a:r>
          </a:p>
          <a:p>
            <a:r>
              <a:rPr lang="en-US" b="1" dirty="0" smtClean="0"/>
              <a:t>gword.py</a:t>
            </a:r>
            <a:r>
              <a:rPr lang="en-US" b="0" dirty="0" smtClean="0"/>
              <a:t> - produces a simple visualization of the word frequency in the subject lines.</a:t>
            </a:r>
          </a:p>
          <a:p>
            <a:r>
              <a:rPr lang="en-US" b="1" dirty="0" smtClean="0"/>
              <a:t>gline.py </a:t>
            </a:r>
            <a:r>
              <a:rPr lang="en-US" b="0" dirty="0" smtClean="0"/>
              <a:t>- computes e-mail participation by organizations over time.</a:t>
            </a:r>
          </a:p>
          <a:p>
            <a:r>
              <a:rPr lang="en-US" b="0" dirty="0" smtClean="0"/>
              <a:t>The output</a:t>
            </a:r>
            <a:r>
              <a:rPr lang="en-US" b="0" baseline="0" dirty="0" smtClean="0"/>
              <a:t> of this project output is written to </a:t>
            </a:r>
            <a:r>
              <a:rPr lang="en-US" b="1" baseline="0" dirty="0" smtClean="0"/>
              <a:t>gline.js</a:t>
            </a:r>
            <a:r>
              <a:rPr lang="en-US" b="0" baseline="0" dirty="0" smtClean="0"/>
              <a:t> which is visualized using </a:t>
            </a:r>
            <a:r>
              <a:rPr lang="en-US" b="1" baseline="0" dirty="0" smtClean="0"/>
              <a:t>gline.htm</a:t>
            </a:r>
            <a:r>
              <a:rPr lang="en-US" b="0" baseline="0" dirty="0" smtClean="0"/>
              <a:t>.</a:t>
            </a:r>
            <a:endParaRPr lang="en-US" b="0" dirty="0"/>
          </a:p>
        </p:txBody>
      </p:sp>
      <p:sp>
        <p:nvSpPr>
          <p:cNvPr id="4" name="Slide Number Placeholder 3"/>
          <p:cNvSpPr>
            <a:spLocks noGrp="1"/>
          </p:cNvSpPr>
          <p:nvPr>
            <p:ph type="sldNum" sz="quarter" idx="10"/>
          </p:nvPr>
        </p:nvSpPr>
        <p:spPr/>
        <p:txBody>
          <a:bodyPr/>
          <a:lstStyle/>
          <a:p>
            <a:fld id="{35091714-3304-44AF-AABA-9711959465C3}" type="slidenum">
              <a:rPr lang="en-US" smtClean="0"/>
              <a:t>15</a:t>
            </a:fld>
            <a:endParaRPr lang="en-US"/>
          </a:p>
        </p:txBody>
      </p:sp>
    </p:spTree>
    <p:extLst>
      <p:ext uri="{BB962C8B-B14F-4D97-AF65-F5344CB8AC3E}">
        <p14:creationId xmlns:p14="http://schemas.microsoft.com/office/powerpoint/2010/main" val="502159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16</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17</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smtClean="0">
                <a:latin typeface="Calibri" panose="020F0502020204030204" pitchFamily="34" charset="0"/>
                <a:ea typeface="Calibri" panose="020F0502020204030204" pitchFamily="34" charset="0"/>
                <a:cs typeface="Times New Roman" panose="02020603050405020304" pitchFamily="18" charset="0"/>
              </a:rPr>
              <a:t>Solution:</a:t>
            </a:r>
          </a:p>
          <a:p>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r>
              <a:rPr lang="en-US" sz="1600" b="1" dirty="0" smtClean="0">
                <a:latin typeface="Calibri" panose="020F0502020204030204" pitchFamily="34" charset="0"/>
                <a:ea typeface="Calibri" panose="020F0502020204030204" pitchFamily="34" charset="0"/>
                <a:cs typeface="Times New Roman" panose="02020603050405020304" pitchFamily="18" charset="0"/>
              </a:rPr>
              <a:t>Prerequisite: </a:t>
            </a:r>
            <a:r>
              <a:rPr lang="en-US" sz="1600" dirty="0" smtClean="0"/>
              <a:t>For this activity you need to use </a:t>
            </a:r>
            <a:r>
              <a:rPr lang="en-US" sz="1600" b="1" dirty="0" err="1" smtClean="0"/>
              <a:t>school.db</a:t>
            </a:r>
            <a:r>
              <a:rPr lang="en-US" sz="1600" dirty="0" smtClean="0"/>
              <a:t> which is available with </a:t>
            </a:r>
            <a:r>
              <a:rPr lang="en-US" sz="1600" b="1" dirty="0" err="1" smtClean="0"/>
              <a:t>Data_File_For_Students</a:t>
            </a:r>
            <a:r>
              <a:rPr lang="en-US" sz="1600" b="0" dirty="0" smtClean="0">
                <a:latin typeface="Calibri" panose="020F0502020204030204" pitchFamily="34" charset="0"/>
                <a:cs typeface="Times New Roman" panose="02020603050405020304" pitchFamily="18" charset="0"/>
              </a:rPr>
              <a:t>.</a:t>
            </a:r>
            <a:endParaRPr lang="en-US" sz="1600" b="0" dirty="0" smtClean="0">
              <a:latin typeface="Calibri" panose="020F0502020204030204" pitchFamily="34" charset="0"/>
              <a:ea typeface="Calibri" panose="020F0502020204030204" pitchFamily="34" charset="0"/>
              <a:cs typeface="Times New Roman" panose="02020603050405020304" pitchFamily="18" charset="0"/>
            </a:endParaRPr>
          </a:p>
          <a:p>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r>
              <a:rPr lang="en-US" sz="1200" dirty="0" smtClean="0"/>
              <a:t>In order to do this activity, you need to perform the following tasks:</a:t>
            </a:r>
          </a:p>
          <a:p>
            <a:pPr marL="342900" indent="-342900">
              <a:buAutoNum type="arabicPeriod"/>
            </a:pPr>
            <a:r>
              <a:rPr lang="en-US" sz="1200" dirty="0" smtClean="0"/>
              <a:t>Create a</a:t>
            </a:r>
            <a:r>
              <a:rPr lang="en-US" sz="1200" baseline="0" dirty="0" smtClean="0"/>
              <a:t> </a:t>
            </a:r>
            <a:r>
              <a:rPr lang="en-US" sz="1200" dirty="0" smtClean="0"/>
              <a:t>Python empty project.</a:t>
            </a:r>
          </a:p>
          <a:p>
            <a:pPr marL="342900" indent="-342900">
              <a:buAutoNum type="arabicPeriod"/>
            </a:pPr>
            <a:r>
              <a:rPr lang="en-US" sz="1200" dirty="0" smtClean="0"/>
              <a:t>Use </a:t>
            </a:r>
            <a:r>
              <a:rPr lang="en-US" sz="1200" b="1" dirty="0" smtClean="0"/>
              <a:t>sqlite3</a:t>
            </a:r>
            <a:r>
              <a:rPr lang="en-US" sz="1200" dirty="0" smtClean="0"/>
              <a:t> library to access python database API.</a:t>
            </a:r>
          </a:p>
          <a:p>
            <a:pPr marL="342900" indent="-342900">
              <a:buAutoNum type="arabicPeriod"/>
            </a:pPr>
            <a:r>
              <a:rPr lang="en-US" sz="1200" dirty="0" smtClean="0"/>
              <a:t>Use </a:t>
            </a:r>
            <a:r>
              <a:rPr lang="en-US" sz="1200" b="1" dirty="0" smtClean="0"/>
              <a:t>connect()</a:t>
            </a:r>
            <a:r>
              <a:rPr lang="en-US" sz="1200" dirty="0" smtClean="0"/>
              <a:t> to create and open the connection.</a:t>
            </a:r>
          </a:p>
          <a:p>
            <a:pPr marL="342900" indent="-342900">
              <a:buAutoNum type="arabicPeriod"/>
            </a:pPr>
            <a:r>
              <a:rPr lang="en-US" sz="1200" dirty="0" smtClean="0"/>
              <a:t>Use </a:t>
            </a:r>
            <a:r>
              <a:rPr lang="en-US" sz="1200" b="1" dirty="0" smtClean="0"/>
              <a:t>execute()</a:t>
            </a:r>
            <a:r>
              <a:rPr lang="en-US" sz="1200" dirty="0" smtClean="0"/>
              <a:t> to write </a:t>
            </a:r>
            <a:r>
              <a:rPr lang="en-US" sz="1200" b="1" dirty="0" smtClean="0"/>
              <a:t>SQL select</a:t>
            </a:r>
            <a:r>
              <a:rPr lang="en-US" sz="1200" dirty="0" smtClean="0"/>
              <a:t> statement to join</a:t>
            </a:r>
            <a:r>
              <a:rPr lang="en-US" sz="1200" baseline="0" dirty="0" smtClean="0"/>
              <a:t> </a:t>
            </a:r>
            <a:r>
              <a:rPr lang="en-US" sz="1200" dirty="0" smtClean="0"/>
              <a:t>two table.</a:t>
            </a:r>
          </a:p>
          <a:p>
            <a:pPr marL="342900" indent="-342900">
              <a:buAutoNum type="arabicPeriod"/>
            </a:pPr>
            <a:r>
              <a:rPr lang="en-US" sz="1200" dirty="0" smtClean="0"/>
              <a:t>Use </a:t>
            </a:r>
            <a:r>
              <a:rPr lang="en-US" sz="1200" b="1" dirty="0" smtClean="0"/>
              <a:t>close()</a:t>
            </a:r>
            <a:r>
              <a:rPr lang="en-US" sz="1200" dirty="0" smtClean="0"/>
              <a:t> to close the connection</a:t>
            </a:r>
          </a:p>
          <a:p>
            <a:endParaRPr lang="en-US" dirty="0" smtClean="0"/>
          </a:p>
          <a:p>
            <a:r>
              <a:rPr lang="en-US" sz="1600" b="1" dirty="0" smtClean="0"/>
              <a:t>Task 1</a:t>
            </a:r>
            <a:r>
              <a:rPr lang="en-US" sz="1600" dirty="0" smtClean="0"/>
              <a:t>: Create a Python empty project:</a:t>
            </a:r>
          </a:p>
          <a:p>
            <a:r>
              <a:rPr lang="en-US" sz="1200" dirty="0" smtClean="0"/>
              <a:t>Step 1: Open </a:t>
            </a:r>
            <a:r>
              <a:rPr lang="en-US" sz="1200" b="1" dirty="0" smtClean="0"/>
              <a:t>NetBeans 8.0.2</a:t>
            </a:r>
            <a:r>
              <a:rPr lang="en-US" sz="120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2: Click </a:t>
            </a:r>
            <a:r>
              <a:rPr lang="en-US" sz="1200" b="1" dirty="0" smtClean="0"/>
              <a:t>File</a:t>
            </a:r>
            <a:r>
              <a:rPr lang="en-US" sz="1200" dirty="0" smtClean="0"/>
              <a:t> menu.</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3: Select </a:t>
            </a:r>
            <a:r>
              <a:rPr lang="en-US" sz="1200" b="1" dirty="0" smtClean="0"/>
              <a:t>New Project</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 4:</a:t>
            </a:r>
            <a:r>
              <a:rPr lang="en-US" sz="1200" dirty="0" smtClean="0"/>
              <a:t> Select </a:t>
            </a:r>
            <a:r>
              <a:rPr lang="en-US" sz="1200" b="1" dirty="0" smtClean="0"/>
              <a:t>Python</a:t>
            </a:r>
            <a:r>
              <a:rPr lang="en-US" sz="1200" dirty="0" smtClean="0"/>
              <a:t> from Categories list and </a:t>
            </a:r>
            <a:r>
              <a:rPr lang="en-US" sz="1200" b="1" dirty="0" smtClean="0"/>
              <a:t>Python Project</a:t>
            </a:r>
            <a:r>
              <a:rPr lang="en-US" sz="1200" dirty="0" smtClean="0"/>
              <a:t> from Projects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5: Click </a:t>
            </a:r>
            <a:r>
              <a:rPr lang="en-US" sz="1200" b="1" dirty="0" smtClean="0"/>
              <a:t>Next</a:t>
            </a:r>
            <a:r>
              <a:rPr lang="en-US" sz="1200" dirty="0" smtClean="0"/>
              <a:t> button.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6: On New Python Project dialog box set the Project Name as </a:t>
            </a:r>
            <a:r>
              <a:rPr lang="en-US" sz="1200" b="1" dirty="0" smtClean="0"/>
              <a:t>CR_Session17_Activity01</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a:t>
            </a:r>
            <a:r>
              <a:rPr lang="en-US" sz="1200" b="0" baseline="0" dirty="0" smtClean="0"/>
              <a:t> 7:</a:t>
            </a:r>
            <a:r>
              <a:rPr lang="en-US" sz="1200" dirty="0" smtClean="0"/>
              <a:t> Select project Location by clicking </a:t>
            </a:r>
            <a:r>
              <a:rPr lang="en-US" sz="1200" b="1" dirty="0" smtClean="0"/>
              <a:t>Browse</a:t>
            </a:r>
            <a:r>
              <a:rPr lang="en-US" sz="1200" dirty="0" smtClean="0"/>
              <a:t> button.</a:t>
            </a:r>
          </a:p>
          <a:p>
            <a:r>
              <a:rPr lang="en-US" sz="1050" dirty="0" smtClean="0"/>
              <a:t>Step</a:t>
            </a:r>
            <a:r>
              <a:rPr lang="en-US" sz="1050" baseline="0" dirty="0" smtClean="0"/>
              <a:t> 8</a:t>
            </a:r>
            <a:r>
              <a:rPr lang="en-US" sz="1050" dirty="0" smtClean="0"/>
              <a:t>: Click </a:t>
            </a:r>
            <a:r>
              <a:rPr lang="en-US" sz="1050" b="1" dirty="0" smtClean="0"/>
              <a:t>Finish</a:t>
            </a:r>
            <a:r>
              <a:rPr lang="en-US" sz="1050" dirty="0" smtClean="0"/>
              <a:t> button.</a:t>
            </a:r>
          </a:p>
          <a:p>
            <a:endParaRPr lang="en-US" sz="1050" dirty="0" smtClean="0"/>
          </a:p>
          <a:p>
            <a:pPr lvl="0"/>
            <a:r>
              <a:rPr lang="en-US" sz="1200" b="1" dirty="0" smtClean="0"/>
              <a:t>Task 2</a:t>
            </a:r>
            <a:r>
              <a:rPr lang="en-US" sz="1200" dirty="0" smtClean="0"/>
              <a:t>: Use </a:t>
            </a:r>
            <a:r>
              <a:rPr lang="en-US" sz="1200" b="1" dirty="0" smtClean="0"/>
              <a:t>sqlite3</a:t>
            </a:r>
            <a:r>
              <a:rPr lang="en-US" sz="1200" dirty="0" smtClean="0"/>
              <a:t> library to access python database API,</a:t>
            </a:r>
            <a:r>
              <a:rPr lang="en-US" sz="1200" baseline="0" dirty="0" smtClean="0"/>
              <a:t> </a:t>
            </a:r>
            <a:r>
              <a:rPr lang="en-US" sz="1200" dirty="0" smtClean="0"/>
              <a:t>use </a:t>
            </a:r>
            <a:r>
              <a:rPr lang="en-US" sz="1200" b="1" dirty="0" smtClean="0"/>
              <a:t>connect()</a:t>
            </a:r>
            <a:r>
              <a:rPr lang="en-US" sz="1200" dirty="0" smtClean="0"/>
              <a:t> to create and open the connection,</a:t>
            </a:r>
            <a:r>
              <a:rPr lang="en-US" sz="1200" baseline="0" dirty="0" smtClean="0"/>
              <a:t> </a:t>
            </a:r>
            <a:r>
              <a:rPr lang="en-US" sz="1200" dirty="0" smtClean="0"/>
              <a:t>use </a:t>
            </a:r>
            <a:r>
              <a:rPr lang="en-US" sz="1200" b="1" dirty="0" smtClean="0"/>
              <a:t>execute()</a:t>
            </a:r>
            <a:r>
              <a:rPr lang="en-US" sz="1200" dirty="0" smtClean="0"/>
              <a:t> to execute </a:t>
            </a:r>
            <a:r>
              <a:rPr lang="en-US" sz="1200" b="1" dirty="0" smtClean="0"/>
              <a:t>SQL select</a:t>
            </a:r>
            <a:r>
              <a:rPr lang="en-US" sz="1200" baseline="0" dirty="0" smtClean="0"/>
              <a:t> </a:t>
            </a:r>
            <a:r>
              <a:rPr lang="en-US" sz="1200" dirty="0" smtClean="0"/>
              <a:t>statement</a:t>
            </a:r>
            <a:r>
              <a:rPr lang="en-US" sz="1200" baseline="0" dirty="0" smtClean="0"/>
              <a:t> to join two tables</a:t>
            </a:r>
            <a:r>
              <a:rPr lang="en-US" sz="1200" dirty="0" smtClean="0"/>
              <a:t>,</a:t>
            </a:r>
            <a:r>
              <a:rPr lang="en-US" sz="1200" baseline="0" dirty="0" smtClean="0"/>
              <a:t> u</a:t>
            </a:r>
            <a:r>
              <a:rPr lang="en-US" sz="1200" dirty="0" smtClean="0"/>
              <a:t>se </a:t>
            </a:r>
            <a:r>
              <a:rPr lang="en-US" sz="1200" b="1" dirty="0" smtClean="0"/>
              <a:t>close()</a:t>
            </a:r>
            <a:r>
              <a:rPr lang="en-US" sz="1200" dirty="0" smtClean="0"/>
              <a:t> to close the connection:</a:t>
            </a:r>
          </a:p>
          <a:p>
            <a:pPr lvl="0"/>
            <a:r>
              <a:rPr lang="en-US" sz="1200" dirty="0" smtClean="0"/>
              <a:t>Step</a:t>
            </a:r>
            <a:r>
              <a:rPr lang="en-US" sz="1200" baseline="0" dirty="0" smtClean="0"/>
              <a:t> 1: Type the following code:</a:t>
            </a:r>
          </a:p>
          <a:p>
            <a:pPr lvl="0"/>
            <a:endParaRPr lang="en-US" sz="1200" dirty="0" smtClean="0"/>
          </a:p>
          <a:p>
            <a:pPr lvl="2"/>
            <a:r>
              <a:rPr lang="en-US" altLang="en-US" sz="1200" dirty="0" smtClean="0">
                <a:latin typeface="+mn-lt"/>
              </a:rPr>
              <a:t>	</a:t>
            </a:r>
            <a:endParaRPr lang="en-US" sz="1200" dirty="0" smtClean="0">
              <a:latin typeface="+mn-lt"/>
            </a:endParaRPr>
          </a:p>
          <a:p>
            <a:pPr lvl="2"/>
            <a:r>
              <a:rPr lang="en-US" sz="1200" dirty="0" smtClean="0">
                <a:latin typeface="+mn-lt"/>
              </a:rPr>
              <a:t>import sqlite3</a:t>
            </a:r>
          </a:p>
          <a:p>
            <a:pPr lvl="2"/>
            <a:r>
              <a:rPr lang="en-US" sz="1200" dirty="0" smtClean="0">
                <a:latin typeface="+mn-lt"/>
              </a:rPr>
              <a:t>    </a:t>
            </a:r>
          </a:p>
          <a:p>
            <a:pPr lvl="2"/>
            <a:r>
              <a:rPr lang="en-US" sz="1200" dirty="0" smtClean="0">
                <a:latin typeface="+mn-lt"/>
              </a:rPr>
              <a:t>conn = sqlite3.connect('</a:t>
            </a:r>
            <a:r>
              <a:rPr lang="en-US" sz="1200" dirty="0" err="1" smtClean="0">
                <a:latin typeface="+mn-lt"/>
              </a:rPr>
              <a:t>school.db</a:t>
            </a:r>
            <a:r>
              <a:rPr lang="en-US" sz="1200" dirty="0" smtClean="0">
                <a:latin typeface="+mn-lt"/>
              </a:rPr>
              <a:t>')</a:t>
            </a:r>
          </a:p>
          <a:p>
            <a:pPr lvl="2"/>
            <a:r>
              <a:rPr lang="en-US" sz="1200" dirty="0" smtClean="0">
                <a:latin typeface="+mn-lt"/>
              </a:rPr>
              <a:t>cur = </a:t>
            </a:r>
            <a:r>
              <a:rPr lang="en-US" sz="1200" dirty="0" err="1" smtClean="0">
                <a:latin typeface="+mn-lt"/>
              </a:rPr>
              <a:t>conn.cursor</a:t>
            </a:r>
            <a:r>
              <a:rPr lang="en-US" sz="1200" dirty="0" smtClean="0">
                <a:latin typeface="+mn-lt"/>
              </a:rPr>
              <a:t>()</a:t>
            </a:r>
          </a:p>
          <a:p>
            <a:pPr lvl="2"/>
            <a:r>
              <a:rPr lang="en-US" sz="1200" dirty="0" err="1" smtClean="0">
                <a:latin typeface="+mn-lt"/>
              </a:rPr>
              <a:t>cur.execute</a:t>
            </a:r>
            <a:r>
              <a:rPr lang="en-US" sz="1200" dirty="0" smtClean="0">
                <a:latin typeface="+mn-lt"/>
              </a:rPr>
              <a:t>('SELECT * FROM teacher')</a:t>
            </a:r>
          </a:p>
          <a:p>
            <a:pPr lvl="2"/>
            <a:r>
              <a:rPr lang="en-US" sz="1200" dirty="0" smtClean="0">
                <a:latin typeface="+mn-lt"/>
              </a:rPr>
              <a:t>count = 0</a:t>
            </a:r>
          </a:p>
          <a:p>
            <a:pPr lvl="2"/>
            <a:r>
              <a:rPr lang="en-US" sz="1200" dirty="0" smtClean="0">
                <a:latin typeface="+mn-lt"/>
              </a:rPr>
              <a:t>print 'Teacher:'</a:t>
            </a:r>
          </a:p>
          <a:p>
            <a:pPr lvl="2"/>
            <a:r>
              <a:rPr lang="en-US" sz="1200" dirty="0" smtClean="0">
                <a:latin typeface="+mn-lt"/>
              </a:rPr>
              <a:t>for row in cur :</a:t>
            </a:r>
          </a:p>
          <a:p>
            <a:pPr lvl="2"/>
            <a:r>
              <a:rPr lang="en-US" sz="1200" dirty="0" smtClean="0">
                <a:latin typeface="+mn-lt"/>
              </a:rPr>
              <a:t>    if count &lt; 5: </a:t>
            </a:r>
          </a:p>
          <a:p>
            <a:pPr lvl="2"/>
            <a:r>
              <a:rPr lang="en-US" sz="1200" dirty="0" smtClean="0">
                <a:latin typeface="+mn-lt"/>
              </a:rPr>
              <a:t>        print("{0}  {1}".format(row[0],row[1]))</a:t>
            </a:r>
          </a:p>
          <a:p>
            <a:pPr lvl="2"/>
            <a:r>
              <a:rPr lang="en-US" sz="1200" dirty="0" smtClean="0">
                <a:latin typeface="+mn-lt"/>
              </a:rPr>
              <a:t>    count = count + 1</a:t>
            </a:r>
          </a:p>
          <a:p>
            <a:pPr lvl="2"/>
            <a:r>
              <a:rPr lang="en-US" sz="1200" dirty="0" smtClean="0">
                <a:latin typeface="+mn-lt"/>
              </a:rPr>
              <a:t>    print count, 'rows.'</a:t>
            </a:r>
          </a:p>
          <a:p>
            <a:pPr lvl="2"/>
            <a:r>
              <a:rPr lang="en-US" sz="1200" dirty="0" err="1" smtClean="0">
                <a:latin typeface="+mn-lt"/>
              </a:rPr>
              <a:t>cur.execute</a:t>
            </a:r>
            <a:r>
              <a:rPr lang="en-US" sz="1200" dirty="0" smtClean="0">
                <a:latin typeface="+mn-lt"/>
              </a:rPr>
              <a:t>('SELECT * FROM course')</a:t>
            </a:r>
          </a:p>
          <a:p>
            <a:pPr lvl="2"/>
            <a:r>
              <a:rPr lang="en-US" sz="1200" dirty="0" smtClean="0">
                <a:latin typeface="+mn-lt"/>
              </a:rPr>
              <a:t>count = 0</a:t>
            </a:r>
          </a:p>
          <a:p>
            <a:pPr lvl="2"/>
            <a:r>
              <a:rPr lang="en-US" sz="1200" dirty="0" smtClean="0">
                <a:latin typeface="+mn-lt"/>
              </a:rPr>
              <a:t>print 'Course:'</a:t>
            </a:r>
          </a:p>
          <a:p>
            <a:pPr lvl="2"/>
            <a:r>
              <a:rPr lang="en-US" sz="1200" dirty="0" smtClean="0">
                <a:latin typeface="+mn-lt"/>
              </a:rPr>
              <a:t>for row in cur :</a:t>
            </a:r>
          </a:p>
          <a:p>
            <a:pPr lvl="2"/>
            <a:r>
              <a:rPr lang="en-US" sz="1200" dirty="0" smtClean="0">
                <a:latin typeface="+mn-lt"/>
              </a:rPr>
              <a:t>    if count &lt; 5: </a:t>
            </a:r>
          </a:p>
          <a:p>
            <a:pPr lvl="2"/>
            <a:r>
              <a:rPr lang="en-US" sz="1200" dirty="0" smtClean="0">
                <a:latin typeface="+mn-lt"/>
              </a:rPr>
              <a:t>        print("{0}  {1}    {2}".format(row[0],row[1],row[2]))</a:t>
            </a:r>
          </a:p>
          <a:p>
            <a:pPr lvl="2"/>
            <a:r>
              <a:rPr lang="en-US" sz="1200" dirty="0" smtClean="0">
                <a:latin typeface="+mn-lt"/>
              </a:rPr>
              <a:t>    count = count + 1</a:t>
            </a:r>
          </a:p>
          <a:p>
            <a:pPr lvl="2"/>
            <a:r>
              <a:rPr lang="en-US" sz="1200" dirty="0" smtClean="0">
                <a:latin typeface="+mn-lt"/>
              </a:rPr>
              <a:t>    print count, 'rows.'</a:t>
            </a:r>
          </a:p>
          <a:p>
            <a:pPr lvl="2"/>
            <a:r>
              <a:rPr lang="en-US" sz="1200" dirty="0" err="1" smtClean="0">
                <a:latin typeface="+mn-lt"/>
              </a:rPr>
              <a:t>cur.execute</a:t>
            </a:r>
            <a:r>
              <a:rPr lang="en-US" sz="1200" dirty="0" smtClean="0">
                <a:latin typeface="+mn-lt"/>
              </a:rPr>
              <a:t>('''SELECT * FROM teacher JOIN course</a:t>
            </a:r>
          </a:p>
          <a:p>
            <a:pPr lvl="2"/>
            <a:r>
              <a:rPr lang="en-US" sz="1200" dirty="0" smtClean="0">
                <a:latin typeface="+mn-lt"/>
              </a:rPr>
              <a:t>ON teacher.id = </a:t>
            </a:r>
            <a:r>
              <a:rPr lang="en-US" sz="1200" dirty="0" err="1" smtClean="0">
                <a:latin typeface="+mn-lt"/>
              </a:rPr>
              <a:t>course.teacherid</a:t>
            </a:r>
            <a:r>
              <a:rPr lang="en-US" sz="1200" dirty="0" smtClean="0">
                <a:latin typeface="+mn-lt"/>
              </a:rPr>
              <a:t>''')</a:t>
            </a:r>
          </a:p>
          <a:p>
            <a:pPr lvl="2"/>
            <a:r>
              <a:rPr lang="en-US" sz="1200" dirty="0" smtClean="0">
                <a:latin typeface="+mn-lt"/>
              </a:rPr>
              <a:t>count = 0</a:t>
            </a:r>
          </a:p>
          <a:p>
            <a:pPr lvl="2"/>
            <a:r>
              <a:rPr lang="en-US" sz="1200" dirty="0" smtClean="0">
                <a:latin typeface="+mn-lt"/>
              </a:rPr>
              <a:t>print("</a:t>
            </a:r>
            <a:r>
              <a:rPr lang="en-US" sz="1200" dirty="0" err="1" smtClean="0">
                <a:latin typeface="+mn-lt"/>
              </a:rPr>
              <a:t>TeacherId</a:t>
            </a:r>
            <a:r>
              <a:rPr lang="en-US" sz="1200" dirty="0" smtClean="0">
                <a:latin typeface="+mn-lt"/>
              </a:rPr>
              <a:t>    </a:t>
            </a:r>
            <a:r>
              <a:rPr lang="en-US" sz="1200" dirty="0" err="1" smtClean="0">
                <a:latin typeface="+mn-lt"/>
              </a:rPr>
              <a:t>TeacherName</a:t>
            </a:r>
            <a:r>
              <a:rPr lang="en-US" sz="1200" dirty="0" smtClean="0">
                <a:latin typeface="+mn-lt"/>
              </a:rPr>
              <a:t>     </a:t>
            </a:r>
            <a:r>
              <a:rPr lang="en-US" sz="1200" dirty="0" err="1" smtClean="0">
                <a:latin typeface="+mn-lt"/>
              </a:rPr>
              <a:t>CourseId</a:t>
            </a:r>
            <a:r>
              <a:rPr lang="en-US" sz="1200" dirty="0" smtClean="0">
                <a:latin typeface="+mn-lt"/>
              </a:rPr>
              <a:t>    </a:t>
            </a:r>
            <a:r>
              <a:rPr lang="en-US" sz="1200" dirty="0" err="1" smtClean="0">
                <a:latin typeface="+mn-lt"/>
              </a:rPr>
              <a:t>CourseName</a:t>
            </a:r>
            <a:r>
              <a:rPr lang="en-US" sz="1200" dirty="0" smtClean="0">
                <a:latin typeface="+mn-lt"/>
              </a:rPr>
              <a:t>          </a:t>
            </a:r>
            <a:r>
              <a:rPr lang="en-US" sz="1200" dirty="0" err="1" smtClean="0">
                <a:latin typeface="+mn-lt"/>
              </a:rPr>
              <a:t>TeacherId</a:t>
            </a:r>
            <a:r>
              <a:rPr lang="en-US" sz="1200" dirty="0" smtClean="0">
                <a:latin typeface="+mn-lt"/>
              </a:rPr>
              <a:t>")</a:t>
            </a:r>
          </a:p>
          <a:p>
            <a:pPr lvl="2"/>
            <a:r>
              <a:rPr lang="en-US" sz="1200" dirty="0" smtClean="0">
                <a:latin typeface="+mn-lt"/>
              </a:rPr>
              <a:t>for row in cur :</a:t>
            </a:r>
          </a:p>
          <a:p>
            <a:pPr lvl="2"/>
            <a:r>
              <a:rPr lang="en-US" sz="1200" dirty="0" smtClean="0">
                <a:latin typeface="+mn-lt"/>
              </a:rPr>
              <a:t>    if count &lt; 5: </a:t>
            </a:r>
          </a:p>
          <a:p>
            <a:pPr lvl="2"/>
            <a:r>
              <a:rPr lang="en-US" sz="1200" dirty="0" smtClean="0">
                <a:latin typeface="+mn-lt"/>
              </a:rPr>
              <a:t>        print("{0}      {1}    {2}      {3}         {4}".format(row[0],row[1],row[2],row[3],row[4]))</a:t>
            </a:r>
          </a:p>
          <a:p>
            <a:pPr lvl="2"/>
            <a:r>
              <a:rPr lang="en-US" sz="1200" dirty="0" smtClean="0">
                <a:latin typeface="+mn-lt"/>
              </a:rPr>
              <a:t>    count = count + 1</a:t>
            </a:r>
          </a:p>
          <a:p>
            <a:pPr lvl="2"/>
            <a:r>
              <a:rPr lang="en-US" sz="1200" dirty="0" smtClean="0">
                <a:latin typeface="+mn-lt"/>
              </a:rPr>
              <a:t>    print count, 'rows.'</a:t>
            </a:r>
          </a:p>
          <a:p>
            <a:pPr lvl="2"/>
            <a:r>
              <a:rPr lang="en-US" sz="1200" dirty="0" err="1" smtClean="0">
                <a:latin typeface="+mn-lt"/>
              </a:rPr>
              <a:t>cur.close</a:t>
            </a:r>
            <a:r>
              <a:rPr lang="en-US" sz="1200" dirty="0" smtClean="0">
                <a:latin typeface="+mn-lt"/>
              </a:rPr>
              <a:t>()</a:t>
            </a:r>
          </a:p>
          <a:p>
            <a:pPr lvl="2"/>
            <a:endParaRPr lang="en-US" altLang="en-US" sz="1200" dirty="0" smtClean="0">
              <a:latin typeface="+mn-lt"/>
            </a:endParaRPr>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smtClean="0">
                <a:latin typeface="+mn-lt"/>
              </a:rPr>
              <a:t>Step</a:t>
            </a:r>
            <a:r>
              <a:rPr lang="en-US" altLang="en-US" sz="1200" baseline="0" dirty="0" smtClean="0">
                <a:latin typeface="+mn-lt"/>
              </a:rPr>
              <a:t> 2</a:t>
            </a:r>
            <a:r>
              <a:rPr lang="en-US" altLang="en-US" sz="1200" dirty="0" smtClean="0">
                <a:latin typeface="+mn-lt"/>
              </a:rPr>
              <a:t>: Run the program.</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18</a:t>
            </a:fld>
            <a:endParaRPr lang="en-US"/>
          </a:p>
        </p:txBody>
      </p:sp>
    </p:spTree>
    <p:extLst>
      <p:ext uri="{BB962C8B-B14F-4D97-AF65-F5344CB8AC3E}">
        <p14:creationId xmlns:p14="http://schemas.microsoft.com/office/powerpoint/2010/main" val="2583064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t>10/14/2015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178906743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t>10/14/2015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2303692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smtClean="0"/>
              <a:t>10/14/2015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231855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smtClean="0"/>
              <a:t>10/14/2015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329713917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smtClean="0"/>
              <a:t>10/14/2015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328710979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smtClean="0"/>
              <a:t>10/14/2015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89934360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smtClean="0"/>
              <a:t>10/14/2015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371325988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t>10/14/2015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29790146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t>10/14/2015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125810308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t>10/14/2015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27448313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t>10/14/2015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F7C62-785B-4A6A-BA6E-4ECCE5259ECC}" type="slidenum">
              <a:rPr lang="en-US" smtClean="0"/>
              <a:t>‹#›</a:t>
            </a:fld>
            <a:endParaRPr lang="en-US"/>
          </a:p>
        </p:txBody>
      </p:sp>
    </p:spTree>
    <p:extLst>
      <p:ext uri="{BB962C8B-B14F-4D97-AF65-F5344CB8AC3E}">
        <p14:creationId xmlns:p14="http://schemas.microsoft.com/office/powerpoint/2010/main" val="38848115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65743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29867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9962977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964827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2926220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053370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996486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171540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186031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142778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915690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3360882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0035339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7242054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6353246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12461276"/>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5676993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522436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5531920"/>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81432647"/>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2910761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3506078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jp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a:blipFill>
            <a:blip r:embed="rId14"/>
            <a:tile tx="0" ty="0" sx="100000" sy="100000" flip="none" algn="tl"/>
          </a:blipFill>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smtClean="0"/>
              <a:t>10/14/2015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smtClean="0"/>
              <a:t>‹#›</a:t>
            </a:fld>
            <a:endParaRPr lang="en-US"/>
          </a:p>
        </p:txBody>
      </p:sp>
    </p:spTree>
    <p:extLst>
      <p:ext uri="{BB962C8B-B14F-4D97-AF65-F5344CB8AC3E}">
        <p14:creationId xmlns:p14="http://schemas.microsoft.com/office/powerpoint/2010/main" val="3851785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390432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10/14/2015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2902802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hemeOverride" Target="../theme/themeOverride1.xm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hemeOverride" Target="../theme/themeOverride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hemeOverride" Target="../theme/themeOverride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hemeOverride" Target="../theme/themeOverride4.xml"/><Relationship Id="rId4" Type="http://schemas.openxmlformats.org/officeDocument/2006/relationships/image" Target="../media/image9.tmp"/></Relationships>
</file>

<file path=ppt/slides/_rels/slide12.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13.emf"/></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1260000"/>
            <a:ext cx="6408360" cy="1736952"/>
          </a:xfrm>
        </p:spPr>
        <p:txBody>
          <a:bodyPr>
            <a:normAutofit/>
          </a:bodyPr>
          <a:lstStyle/>
          <a:p>
            <a:r>
              <a:rPr lang="en-IN" sz="4000" dirty="0">
                <a:solidFill>
                  <a:schemeClr val="bg1"/>
                </a:solidFill>
              </a:rPr>
              <a:t>Visualizing D</a:t>
            </a:r>
            <a:r>
              <a:rPr lang="en-IN" sz="4000" dirty="0" smtClean="0">
                <a:solidFill>
                  <a:schemeClr val="bg1"/>
                </a:solidFill>
              </a:rPr>
              <a:t>ata in Python</a:t>
            </a:r>
            <a:br>
              <a:rPr lang="en-IN" sz="4000" dirty="0" smtClean="0">
                <a:solidFill>
                  <a:schemeClr val="bg1"/>
                </a:solidFill>
              </a:rPr>
            </a:br>
            <a:endParaRPr lang="en-US" sz="40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407237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US" sz="2400" b="1" dirty="0">
                <a:solidFill>
                  <a:schemeClr val="bg1"/>
                </a:solidFill>
                <a:latin typeface="Vrinda" pitchFamily="34" charset="0"/>
                <a:cs typeface="Vrinda" pitchFamily="34" charset="0"/>
              </a:rPr>
              <a:t>Objectives</a:t>
            </a:r>
          </a:p>
        </p:txBody>
      </p:sp>
      <p:sp>
        <p:nvSpPr>
          <p:cNvPr id="5" name="Content Placeholder 2"/>
          <p:cNvSpPr txBox="1">
            <a:spLocks/>
          </p:cNvSpPr>
          <p:nvPr/>
        </p:nvSpPr>
        <p:spPr>
          <a:xfrm>
            <a:off x="395536" y="1556792"/>
            <a:ext cx="8352928" cy="46805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3"/>
              </a:buBlip>
            </a:pPr>
            <a:endParaRPr lang="en-IN" sz="2000" dirty="0" smtClean="0">
              <a:solidFill>
                <a:srgbClr val="6600CC"/>
              </a:solidFill>
              <a:latin typeface="Vrinda" pitchFamily="34" charset="0"/>
              <a:cs typeface="Vrinda" pitchFamily="34" charset="0"/>
            </a:endParaRPr>
          </a:p>
          <a:p>
            <a:pPr marL="514350" lvl="1" indent="-396875" defTabSz="914363">
              <a:lnSpc>
                <a:spcPct val="90000"/>
              </a:lnSpc>
              <a:buSzPct val="100000"/>
              <a:buBlip>
                <a:blip r:embed="rId3"/>
              </a:buBlip>
            </a:pPr>
            <a:r>
              <a:rPr lang="en-IN" sz="2400" dirty="0" smtClean="0">
                <a:solidFill>
                  <a:srgbClr val="6600CC"/>
                </a:solidFill>
                <a:cs typeface="Vrinda" pitchFamily="34" charset="0"/>
              </a:rPr>
              <a:t>In </a:t>
            </a:r>
            <a:r>
              <a:rPr lang="en-IN" sz="2400" dirty="0">
                <a:solidFill>
                  <a:srgbClr val="6600CC"/>
                </a:solidFill>
                <a:cs typeface="Vrinda" pitchFamily="34" charset="0"/>
              </a:rPr>
              <a:t>this session, you will learn to:</a:t>
            </a:r>
          </a:p>
          <a:p>
            <a:pPr marL="503125" lvl="1" indent="0" defTabSz="365760">
              <a:lnSpc>
                <a:spcPct val="90000"/>
              </a:lnSpc>
              <a:buSzPct val="120000"/>
              <a:buNone/>
            </a:pPr>
            <a:endParaRPr lang="en-IN" sz="1800" dirty="0" smtClean="0">
              <a:solidFill>
                <a:srgbClr val="6600CC"/>
              </a:solidFill>
              <a:cs typeface="Vrinda" pitchFamily="34" charset="0"/>
            </a:endParaRPr>
          </a:p>
          <a:p>
            <a:pPr marL="900000" lvl="1" indent="-396875" defTabSz="365760">
              <a:lnSpc>
                <a:spcPct val="90000"/>
              </a:lnSpc>
              <a:buSzPct val="120000"/>
              <a:buBlip>
                <a:blip r:embed="rId4"/>
              </a:buBlip>
            </a:pPr>
            <a:r>
              <a:rPr lang="en-IN" sz="2000" dirty="0" smtClean="0">
                <a:solidFill>
                  <a:srgbClr val="6600CC"/>
                </a:solidFill>
                <a:cs typeface="Vrinda" pitchFamily="34" charset="0"/>
              </a:rPr>
              <a:t>Implement Programming </a:t>
            </a:r>
            <a:r>
              <a:rPr lang="en-IN" sz="2000" dirty="0">
                <a:solidFill>
                  <a:srgbClr val="6600CC"/>
                </a:solidFill>
                <a:cs typeface="Vrinda" pitchFamily="34" charset="0"/>
              </a:rPr>
              <a:t>with multiple </a:t>
            </a:r>
            <a:r>
              <a:rPr lang="en-IN" sz="2000" dirty="0" smtClean="0">
                <a:solidFill>
                  <a:srgbClr val="6600CC"/>
                </a:solidFill>
                <a:cs typeface="Vrinda" pitchFamily="34" charset="0"/>
              </a:rPr>
              <a:t>Tables.</a:t>
            </a:r>
            <a:endParaRPr lang="en-IN" sz="2000" dirty="0">
              <a:solidFill>
                <a:srgbClr val="6600CC"/>
              </a:solidFill>
              <a:cs typeface="Vrinda" pitchFamily="34" charset="0"/>
            </a:endParaRPr>
          </a:p>
          <a:p>
            <a:pPr marL="900000" lvl="1" indent="-396875" defTabSz="365760">
              <a:lnSpc>
                <a:spcPct val="90000"/>
              </a:lnSpc>
              <a:buSzPct val="120000"/>
              <a:buBlip>
                <a:blip r:embed="rId4"/>
              </a:buBlip>
            </a:pPr>
            <a:r>
              <a:rPr lang="en-IN" sz="2000" dirty="0" smtClean="0">
                <a:solidFill>
                  <a:srgbClr val="6600CC"/>
                </a:solidFill>
                <a:cs typeface="Vrinda" pitchFamily="34" charset="0"/>
              </a:rPr>
              <a:t>Uses of Keys.</a:t>
            </a:r>
            <a:endParaRPr lang="en-IN" sz="2000" dirty="0">
              <a:solidFill>
                <a:srgbClr val="6600CC"/>
              </a:solidFill>
              <a:cs typeface="Vrinda" pitchFamily="34" charset="0"/>
            </a:endParaRPr>
          </a:p>
          <a:p>
            <a:pPr marL="900000" lvl="1" indent="-396875" defTabSz="365760">
              <a:lnSpc>
                <a:spcPct val="90000"/>
              </a:lnSpc>
              <a:buSzPct val="120000"/>
              <a:buBlip>
                <a:blip r:embed="rId4"/>
              </a:buBlip>
            </a:pPr>
            <a:r>
              <a:rPr lang="en-IN" sz="2000" dirty="0" smtClean="0">
                <a:solidFill>
                  <a:srgbClr val="6600CC"/>
                </a:solidFill>
                <a:cs typeface="Vrinda" pitchFamily="34" charset="0"/>
              </a:rPr>
              <a:t>Implement Joins to </a:t>
            </a:r>
            <a:r>
              <a:rPr lang="en-IN" sz="2000" dirty="0">
                <a:solidFill>
                  <a:srgbClr val="6600CC"/>
                </a:solidFill>
                <a:cs typeface="Vrinda" pitchFamily="34" charset="0"/>
              </a:rPr>
              <a:t>R</a:t>
            </a:r>
            <a:r>
              <a:rPr lang="en-IN" sz="2000" dirty="0" smtClean="0">
                <a:solidFill>
                  <a:srgbClr val="6600CC"/>
                </a:solidFill>
                <a:cs typeface="Vrinda" pitchFamily="34" charset="0"/>
              </a:rPr>
              <a:t>etrieve </a:t>
            </a:r>
            <a:r>
              <a:rPr lang="en-IN" sz="2000" dirty="0">
                <a:solidFill>
                  <a:srgbClr val="6600CC"/>
                </a:solidFill>
                <a:cs typeface="Vrinda" pitchFamily="34" charset="0"/>
              </a:rPr>
              <a:t>D</a:t>
            </a:r>
            <a:r>
              <a:rPr lang="en-IN" sz="2000" dirty="0" smtClean="0">
                <a:solidFill>
                  <a:srgbClr val="6600CC"/>
                </a:solidFill>
                <a:cs typeface="Vrinda" pitchFamily="34" charset="0"/>
              </a:rPr>
              <a:t>ata.</a:t>
            </a:r>
            <a:endParaRPr lang="en-IN" sz="2000" dirty="0">
              <a:solidFill>
                <a:srgbClr val="6600CC"/>
              </a:solidFill>
              <a:cs typeface="Vrinda" pitchFamily="34" charset="0"/>
            </a:endParaRPr>
          </a:p>
          <a:p>
            <a:pPr marL="900000" lvl="1" indent="-396875" defTabSz="365760">
              <a:lnSpc>
                <a:spcPct val="90000"/>
              </a:lnSpc>
              <a:buSzPct val="120000"/>
              <a:buBlip>
                <a:blip r:embed="rId4"/>
              </a:buBlip>
            </a:pPr>
            <a:r>
              <a:rPr lang="en-IN" sz="2000" dirty="0">
                <a:solidFill>
                  <a:srgbClr val="6600CC"/>
                </a:solidFill>
                <a:cs typeface="Vrinda" pitchFamily="34" charset="0"/>
              </a:rPr>
              <a:t>Visualize D</a:t>
            </a:r>
            <a:r>
              <a:rPr lang="en-IN" sz="2000" dirty="0" smtClean="0">
                <a:solidFill>
                  <a:srgbClr val="6600CC"/>
                </a:solidFill>
                <a:cs typeface="Vrinda" pitchFamily="34" charset="0"/>
              </a:rPr>
              <a:t>ata.</a:t>
            </a:r>
            <a:endParaRPr lang="en-IN" sz="2000" dirty="0">
              <a:solidFill>
                <a:srgbClr val="6600CC"/>
              </a:solidFill>
              <a:cs typeface="Vrinda" pitchFamily="34" charset="0"/>
            </a:endParaRPr>
          </a:p>
          <a:p>
            <a:pPr marL="900000" lvl="1" indent="-396875" defTabSz="365760">
              <a:lnSpc>
                <a:spcPct val="90000"/>
              </a:lnSpc>
              <a:buSzPct val="120000"/>
              <a:buBlip>
                <a:blip r:embed="rId4"/>
              </a:buBlip>
            </a:pPr>
            <a:r>
              <a:rPr lang="en-IN" sz="2000" dirty="0">
                <a:solidFill>
                  <a:srgbClr val="6600CC"/>
                </a:solidFill>
                <a:cs typeface="Vrinda" pitchFamily="34" charset="0"/>
              </a:rPr>
              <a:t>Build a </a:t>
            </a:r>
            <a:r>
              <a:rPr lang="en-IN" sz="2000" dirty="0" smtClean="0">
                <a:solidFill>
                  <a:srgbClr val="6600CC"/>
                </a:solidFill>
                <a:cs typeface="Vrinda" pitchFamily="34" charset="0"/>
              </a:rPr>
              <a:t>Google </a:t>
            </a:r>
            <a:r>
              <a:rPr lang="en-IN" sz="2000" dirty="0">
                <a:solidFill>
                  <a:srgbClr val="6600CC"/>
                </a:solidFill>
                <a:cs typeface="Vrinda" pitchFamily="34" charset="0"/>
              </a:rPr>
              <a:t>M</a:t>
            </a:r>
            <a:r>
              <a:rPr lang="en-IN" sz="2000" dirty="0" smtClean="0">
                <a:solidFill>
                  <a:srgbClr val="6600CC"/>
                </a:solidFill>
                <a:cs typeface="Vrinda" pitchFamily="34" charset="0"/>
              </a:rPr>
              <a:t>ap </a:t>
            </a:r>
            <a:r>
              <a:rPr lang="en-IN" sz="2000" dirty="0">
                <a:solidFill>
                  <a:srgbClr val="6600CC"/>
                </a:solidFill>
                <a:cs typeface="Vrinda" pitchFamily="34" charset="0"/>
              </a:rPr>
              <a:t>from </a:t>
            </a:r>
            <a:r>
              <a:rPr lang="en-IN" sz="2000" dirty="0" smtClean="0">
                <a:solidFill>
                  <a:srgbClr val="6600CC"/>
                </a:solidFill>
                <a:cs typeface="Vrinda" pitchFamily="34" charset="0"/>
              </a:rPr>
              <a:t>Geocoding.</a:t>
            </a:r>
            <a:endParaRPr lang="en-IN" sz="2000" dirty="0">
              <a:solidFill>
                <a:srgbClr val="6600CC"/>
              </a:solidFill>
              <a:cs typeface="Vrinda" pitchFamily="34" charset="0"/>
            </a:endParaRPr>
          </a:p>
          <a:p>
            <a:pPr marL="900000" lvl="1" indent="-396875" defTabSz="365760">
              <a:lnSpc>
                <a:spcPct val="90000"/>
              </a:lnSpc>
              <a:buSzPct val="120000"/>
              <a:buBlip>
                <a:blip r:embed="rId4"/>
              </a:buBlip>
            </a:pPr>
            <a:r>
              <a:rPr lang="en-IN" sz="2000" dirty="0">
                <a:solidFill>
                  <a:srgbClr val="6600CC"/>
                </a:solidFill>
                <a:cs typeface="Vrinda" pitchFamily="34" charset="0"/>
              </a:rPr>
              <a:t>Visualize </a:t>
            </a:r>
            <a:r>
              <a:rPr lang="en-IN" sz="2000" dirty="0" smtClean="0">
                <a:solidFill>
                  <a:srgbClr val="6600CC"/>
                </a:solidFill>
                <a:cs typeface="Vrinda" pitchFamily="34" charset="0"/>
              </a:rPr>
              <a:t>Networks </a:t>
            </a:r>
            <a:r>
              <a:rPr lang="en-IN" sz="2000" dirty="0">
                <a:solidFill>
                  <a:srgbClr val="6600CC"/>
                </a:solidFill>
                <a:cs typeface="Vrinda" pitchFamily="34" charset="0"/>
              </a:rPr>
              <a:t>and </a:t>
            </a:r>
            <a:r>
              <a:rPr lang="en-IN" sz="2000" dirty="0" smtClean="0">
                <a:solidFill>
                  <a:srgbClr val="6600CC"/>
                </a:solidFill>
                <a:cs typeface="Vrinda" pitchFamily="34" charset="0"/>
              </a:rPr>
              <a:t>Interconnections.</a:t>
            </a:r>
            <a:endParaRPr lang="en-IN" sz="2000" dirty="0">
              <a:solidFill>
                <a:srgbClr val="6600CC"/>
              </a:solidFill>
              <a:cs typeface="Vrinda" pitchFamily="34" charset="0"/>
            </a:endParaRPr>
          </a:p>
          <a:p>
            <a:pPr marL="900000" lvl="1" indent="-396875" defTabSz="365760">
              <a:lnSpc>
                <a:spcPct val="90000"/>
              </a:lnSpc>
              <a:buSzPct val="120000"/>
              <a:buBlip>
                <a:blip r:embed="rId4"/>
              </a:buBlip>
            </a:pPr>
            <a:r>
              <a:rPr lang="en-IN" sz="2000" dirty="0">
                <a:solidFill>
                  <a:srgbClr val="6600CC"/>
                </a:solidFill>
                <a:cs typeface="Vrinda" pitchFamily="34" charset="0"/>
              </a:rPr>
              <a:t>Visualize </a:t>
            </a:r>
            <a:r>
              <a:rPr lang="en-IN" sz="2000" dirty="0" smtClean="0">
                <a:solidFill>
                  <a:srgbClr val="6600CC"/>
                </a:solidFill>
                <a:cs typeface="Vrinda" pitchFamily="34" charset="0"/>
              </a:rPr>
              <a:t>Mail </a:t>
            </a:r>
            <a:r>
              <a:rPr lang="en-IN" sz="2000" dirty="0">
                <a:solidFill>
                  <a:srgbClr val="6600CC"/>
                </a:solidFill>
                <a:cs typeface="Vrinda" pitchFamily="34" charset="0"/>
              </a:rPr>
              <a:t>D</a:t>
            </a:r>
            <a:r>
              <a:rPr lang="en-IN" sz="2000" dirty="0" smtClean="0">
                <a:solidFill>
                  <a:srgbClr val="6600CC"/>
                </a:solidFill>
                <a:cs typeface="Vrinda" pitchFamily="34" charset="0"/>
              </a:rPr>
              <a:t>ata.</a:t>
            </a:r>
            <a:endParaRPr lang="en-IN" sz="2000" dirty="0">
              <a:solidFill>
                <a:srgbClr val="6600CC"/>
              </a:solidFill>
              <a:cs typeface="Vrinda" pitchFamily="34" charset="0"/>
            </a:endParaRPr>
          </a:p>
        </p:txBody>
      </p:sp>
    </p:spTree>
    <p:extLst>
      <p:ext uri="{BB962C8B-B14F-4D97-AF65-F5344CB8AC3E}">
        <p14:creationId xmlns:p14="http://schemas.microsoft.com/office/powerpoint/2010/main" val="26424962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Autofit/>
          </a:bodyPr>
          <a:lstStyle/>
          <a:p>
            <a:pPr lvl="1" algn="l" rtl="0">
              <a:spcBef>
                <a:spcPct val="0"/>
              </a:spcBef>
            </a:pPr>
            <a:r>
              <a:rPr lang="en-IN" sz="2400" b="1" dirty="0" smtClean="0">
                <a:solidFill>
                  <a:schemeClr val="bg1"/>
                </a:solidFill>
                <a:latin typeface="Vrinda" panose="020B0502040204020203" pitchFamily="34" charset="0"/>
                <a:cs typeface="Vrinda" panose="020B0502040204020203" pitchFamily="34" charset="0"/>
              </a:rPr>
              <a:t>Implement Programming with Multiple </a:t>
            </a:r>
            <a:r>
              <a:rPr lang="en-IN" sz="2400" b="1" dirty="0">
                <a:solidFill>
                  <a:schemeClr val="bg1"/>
                </a:solidFill>
                <a:latin typeface="Vrinda" panose="020B0502040204020203" pitchFamily="34" charset="0"/>
                <a:cs typeface="Vrinda" panose="020B0502040204020203" pitchFamily="34" charset="0"/>
              </a:rPr>
              <a:t>T</a:t>
            </a:r>
            <a:r>
              <a:rPr lang="en-IN" sz="2400" b="1" dirty="0" smtClean="0">
                <a:solidFill>
                  <a:schemeClr val="bg1"/>
                </a:solidFill>
                <a:latin typeface="Vrinda" panose="020B0502040204020203" pitchFamily="34" charset="0"/>
                <a:cs typeface="Vrinda" panose="020B0502040204020203" pitchFamily="34" charset="0"/>
              </a:rPr>
              <a:t>ables</a:t>
            </a:r>
            <a:r>
              <a:rPr lang="en-IN" sz="2400" b="1" dirty="0" smtClean="0">
                <a:solidFill>
                  <a:srgbClr val="6600CC"/>
                </a:solidFill>
                <a:cs typeface="Arial" panose="020B0604020202020204" pitchFamily="34" charset="0"/>
              </a:rPr>
              <a:t/>
            </a:r>
            <a:br>
              <a:rPr lang="en-IN" sz="2400" b="1" dirty="0" smtClean="0">
                <a:solidFill>
                  <a:srgbClr val="6600CC"/>
                </a:solidFill>
                <a:cs typeface="Arial" panose="020B0604020202020204" pitchFamily="34" charset="0"/>
              </a:rPr>
            </a:br>
            <a:endParaRPr lang="en-US" sz="2400" b="1" dirty="0">
              <a:solidFill>
                <a:schemeClr val="bg1"/>
              </a:solidFill>
              <a:latin typeface="Vrinda" pitchFamily="34" charset="0"/>
              <a:cs typeface="Vrinda" pitchFamily="34" charset="0"/>
            </a:endParaRPr>
          </a:p>
        </p:txBody>
      </p:sp>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defTabSz="914363">
              <a:lnSpc>
                <a:spcPct val="90000"/>
              </a:lnSpc>
              <a:buSzPct val="100000"/>
              <a:buNone/>
            </a:pPr>
            <a:endParaRPr lang="en-IN" sz="1600" dirty="0">
              <a:solidFill>
                <a:srgbClr val="6600CC"/>
              </a:solidFill>
              <a:cs typeface="Arial" panose="020B0604020202020204" pitchFamily="34" charset="0"/>
            </a:endParaRPr>
          </a:p>
        </p:txBody>
      </p:sp>
      <p:sp>
        <p:nvSpPr>
          <p:cNvPr id="4" name="Rectangle 3"/>
          <p:cNvSpPr/>
          <p:nvPr/>
        </p:nvSpPr>
        <p:spPr>
          <a:xfrm>
            <a:off x="395536" y="1556792"/>
            <a:ext cx="8352928" cy="3293209"/>
          </a:xfrm>
          <a:prstGeom prst="rect">
            <a:avLst/>
          </a:prstGeom>
        </p:spPr>
        <p:txBody>
          <a:bodyPr wrap="square">
            <a:spAutoFit/>
          </a:bodyPr>
          <a:lstStyle/>
          <a:p>
            <a:endParaRPr lang="en-US" sz="2000" b="1" i="1" dirty="0" smtClean="0">
              <a:solidFill>
                <a:srgbClr val="9900FF"/>
              </a:solidFill>
            </a:endParaRPr>
          </a:p>
          <a:p>
            <a:r>
              <a:rPr lang="en-US" sz="2400" b="1" dirty="0" smtClean="0">
                <a:solidFill>
                  <a:srgbClr val="9900FF"/>
                </a:solidFill>
              </a:rPr>
              <a:t>The basic requirements to be considered for programming in tables are</a:t>
            </a:r>
          </a:p>
          <a:p>
            <a:pPr marL="285750" indent="-285750">
              <a:buFont typeface="Arial" panose="020B0604020202020204" pitchFamily="34" charset="0"/>
              <a:buChar char="•"/>
            </a:pPr>
            <a:endParaRPr lang="en-US" sz="2000" dirty="0" smtClean="0">
              <a:solidFill>
                <a:srgbClr val="9900FF"/>
              </a:solidFill>
            </a:endParaRPr>
          </a:p>
          <a:p>
            <a:pPr marL="900000" lvl="1" indent="-396875" defTabSz="365760">
              <a:lnSpc>
                <a:spcPct val="90000"/>
              </a:lnSpc>
              <a:spcBef>
                <a:spcPct val="20000"/>
              </a:spcBef>
              <a:buSzPct val="120000"/>
              <a:buBlip>
                <a:blip r:embed="rId3"/>
              </a:buBlip>
            </a:pPr>
            <a:r>
              <a:rPr lang="en-US" sz="2000" dirty="0">
                <a:solidFill>
                  <a:srgbClr val="6600CC"/>
                </a:solidFill>
                <a:cs typeface="Vrinda" pitchFamily="34" charset="0"/>
              </a:rPr>
              <a:t>Use unique id while retrieving, updating and deleting the data from Tables</a:t>
            </a:r>
            <a:r>
              <a:rPr lang="en-US" sz="2000" dirty="0" smtClean="0">
                <a:solidFill>
                  <a:srgbClr val="6600CC"/>
                </a:solidFill>
                <a:cs typeface="Vrinda" pitchFamily="34" charset="0"/>
              </a:rPr>
              <a:t>.</a:t>
            </a:r>
          </a:p>
          <a:p>
            <a:pPr marL="900000" lvl="1" indent="-396875" defTabSz="365760">
              <a:lnSpc>
                <a:spcPct val="90000"/>
              </a:lnSpc>
              <a:spcBef>
                <a:spcPct val="20000"/>
              </a:spcBef>
              <a:buSzPct val="120000"/>
              <a:buBlip>
                <a:blip r:embed="rId3"/>
              </a:buBlip>
            </a:pPr>
            <a:endParaRPr lang="en-US" sz="2000" dirty="0">
              <a:solidFill>
                <a:srgbClr val="6600CC"/>
              </a:solidFill>
              <a:cs typeface="Vrinda" pitchFamily="34" charset="0"/>
            </a:endParaRPr>
          </a:p>
          <a:p>
            <a:pPr marL="900000" lvl="1" indent="-396875" defTabSz="365760">
              <a:lnSpc>
                <a:spcPct val="90000"/>
              </a:lnSpc>
              <a:spcBef>
                <a:spcPct val="20000"/>
              </a:spcBef>
              <a:buSzPct val="120000"/>
              <a:buBlip>
                <a:blip r:embed="rId3"/>
              </a:buBlip>
            </a:pPr>
            <a:r>
              <a:rPr lang="en-US" sz="2000" dirty="0">
                <a:solidFill>
                  <a:srgbClr val="6600CC"/>
                </a:solidFill>
                <a:cs typeface="Vrinda" pitchFamily="34" charset="0"/>
              </a:rPr>
              <a:t>Follow all the constraints rules while inserting and updating the data.</a:t>
            </a:r>
          </a:p>
          <a:p>
            <a:pPr marL="285750" indent="-285750">
              <a:buFont typeface="Arial" panose="020B0604020202020204" pitchFamily="34" charset="0"/>
              <a:buChar char="•"/>
            </a:pPr>
            <a:endParaRPr lang="en-US" sz="2000" dirty="0" smtClean="0">
              <a:solidFill>
                <a:srgbClr val="9900FF"/>
              </a:solidFill>
            </a:endParaRPr>
          </a:p>
          <a:p>
            <a:pPr marL="285750" indent="-285750">
              <a:buFont typeface="Arial" panose="020B0604020202020204" pitchFamily="34" charset="0"/>
              <a:buChar char="•"/>
            </a:pPr>
            <a:endParaRPr lang="en-US" sz="1600" dirty="0">
              <a:solidFill>
                <a:srgbClr val="9900FF"/>
              </a:solidFill>
            </a:endParaRPr>
          </a:p>
        </p:txBody>
      </p:sp>
    </p:spTree>
    <p:extLst>
      <p:ext uri="{BB962C8B-B14F-4D97-AF65-F5344CB8AC3E}">
        <p14:creationId xmlns:p14="http://schemas.microsoft.com/office/powerpoint/2010/main" val="6542626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defTabSz="914363">
              <a:lnSpc>
                <a:spcPct val="90000"/>
              </a:lnSpc>
              <a:buSzPct val="100000"/>
              <a:buNone/>
            </a:pPr>
            <a:endParaRPr lang="en-IN" sz="1600" dirty="0">
              <a:solidFill>
                <a:srgbClr val="6600CC"/>
              </a:solidFill>
              <a:cs typeface="Arial" panose="020B0604020202020204" pitchFamily="34" charset="0"/>
            </a:endParaRPr>
          </a:p>
        </p:txBody>
      </p:sp>
      <p:sp>
        <p:nvSpPr>
          <p:cNvPr id="4" name="Rectangle 3"/>
          <p:cNvSpPr/>
          <p:nvPr/>
        </p:nvSpPr>
        <p:spPr>
          <a:xfrm>
            <a:off x="352597" y="1556792"/>
            <a:ext cx="8395867" cy="5050613"/>
          </a:xfrm>
          <a:prstGeom prst="rect">
            <a:avLst/>
          </a:prstGeom>
        </p:spPr>
        <p:txBody>
          <a:bodyPr wrap="square">
            <a:spAutoFit/>
          </a:bodyPr>
          <a:lstStyle/>
          <a:p>
            <a:endParaRPr lang="en-US" sz="1600" b="1" i="1" dirty="0" smtClean="0">
              <a:solidFill>
                <a:srgbClr val="9900FF"/>
              </a:solidFill>
            </a:endParaRPr>
          </a:p>
          <a:p>
            <a:r>
              <a:rPr lang="en-US" sz="2400" b="1" i="1" dirty="0" smtClean="0">
                <a:solidFill>
                  <a:srgbClr val="9900FF"/>
                </a:solidFill>
              </a:rPr>
              <a:t>Constraints in Database </a:t>
            </a:r>
            <a:r>
              <a:rPr lang="en-US" sz="2400" b="1" i="1" dirty="0">
                <a:solidFill>
                  <a:srgbClr val="9900FF"/>
                </a:solidFill>
              </a:rPr>
              <a:t>T</a:t>
            </a:r>
            <a:r>
              <a:rPr lang="en-US" sz="2400" b="1" i="1" dirty="0" smtClean="0">
                <a:solidFill>
                  <a:srgbClr val="9900FF"/>
                </a:solidFill>
              </a:rPr>
              <a:t>ables</a:t>
            </a:r>
          </a:p>
          <a:p>
            <a:endParaRPr lang="en-US" sz="1600" b="1" i="1" dirty="0" smtClean="0">
              <a:solidFill>
                <a:srgbClr val="9900FF"/>
              </a:solidFill>
            </a:endParaRPr>
          </a:p>
          <a:p>
            <a:endParaRPr lang="en-US" sz="1600" b="1" i="1" dirty="0">
              <a:solidFill>
                <a:srgbClr val="9900FF"/>
              </a:solidFill>
            </a:endParaRPr>
          </a:p>
          <a:p>
            <a:endParaRPr lang="en-US" sz="1600" b="1" i="1" dirty="0" smtClean="0">
              <a:solidFill>
                <a:srgbClr val="9900FF"/>
              </a:solidFill>
            </a:endParaRPr>
          </a:p>
          <a:p>
            <a:endParaRPr lang="en-US" sz="1600" b="1" i="1" dirty="0">
              <a:solidFill>
                <a:srgbClr val="9900FF"/>
              </a:solidFill>
            </a:endParaRPr>
          </a:p>
          <a:p>
            <a:endParaRPr lang="en-US" sz="1600" b="1" i="1" dirty="0" smtClean="0">
              <a:solidFill>
                <a:srgbClr val="9900FF"/>
              </a:solidFill>
            </a:endParaRPr>
          </a:p>
          <a:p>
            <a:r>
              <a:rPr lang="en-US" sz="2400" b="1" dirty="0" smtClean="0">
                <a:solidFill>
                  <a:srgbClr val="9900FF"/>
                </a:solidFill>
              </a:rPr>
              <a:t>Observations</a:t>
            </a:r>
          </a:p>
          <a:p>
            <a:pPr marL="900000" lvl="1" indent="-396875" defTabSz="914363">
              <a:lnSpc>
                <a:spcPct val="90000"/>
              </a:lnSpc>
              <a:buSzPct val="120000"/>
              <a:buBlip>
                <a:blip r:embed="rId3"/>
              </a:buBlip>
            </a:pPr>
            <a:endParaRPr lang="en-US" dirty="0" smtClean="0">
              <a:solidFill>
                <a:srgbClr val="9900FF"/>
              </a:solidFill>
            </a:endParaRPr>
          </a:p>
          <a:p>
            <a:pPr marL="900000" lvl="1" indent="-396875" defTabSz="914363">
              <a:lnSpc>
                <a:spcPct val="90000"/>
              </a:lnSpc>
              <a:buSzPct val="120000"/>
              <a:buBlip>
                <a:blip r:embed="rId3"/>
              </a:buBlip>
            </a:pPr>
            <a:r>
              <a:rPr lang="en-US" sz="2000" dirty="0" smtClean="0">
                <a:solidFill>
                  <a:srgbClr val="9900FF"/>
                </a:solidFill>
              </a:rPr>
              <a:t>“</a:t>
            </a:r>
            <a:r>
              <a:rPr lang="en-US" sz="2000" dirty="0">
                <a:solidFill>
                  <a:srgbClr val="9900FF"/>
                </a:solidFill>
              </a:rPr>
              <a:t>name” column in the “People” Table must be UNIQUE.</a:t>
            </a:r>
          </a:p>
          <a:p>
            <a:pPr marL="900000" lvl="1" indent="-396875" defTabSz="914363">
              <a:lnSpc>
                <a:spcPct val="90000"/>
              </a:lnSpc>
              <a:buSzPct val="120000"/>
              <a:buBlip>
                <a:blip r:embed="rId3"/>
              </a:buBlip>
            </a:pPr>
            <a:r>
              <a:rPr lang="en-US" sz="2000" dirty="0">
                <a:solidFill>
                  <a:srgbClr val="9900FF"/>
                </a:solidFill>
              </a:rPr>
              <a:t>Combination of the two numbers in each row of the “Follows” Table must be Unique</a:t>
            </a:r>
            <a:r>
              <a:rPr lang="en-US" sz="2000" dirty="0"/>
              <a:t>. </a:t>
            </a:r>
            <a:endParaRPr lang="en-US" sz="1600" dirty="0"/>
          </a:p>
          <a:p>
            <a:r>
              <a:rPr lang="en-US" sz="1600" b="1" dirty="0">
                <a:solidFill>
                  <a:schemeClr val="accent2">
                    <a:lumMod val="75000"/>
                  </a:schemeClr>
                </a:solidFill>
              </a:rPr>
              <a:t> </a:t>
            </a:r>
            <a:r>
              <a:rPr lang="en-US" sz="1600" b="1" dirty="0" smtClean="0">
                <a:solidFill>
                  <a:schemeClr val="accent2">
                    <a:lumMod val="75000"/>
                  </a:schemeClr>
                </a:solidFill>
              </a:rPr>
              <a:t>    </a:t>
            </a:r>
            <a:r>
              <a:rPr lang="en-US" sz="1600" b="1" dirty="0" err="1" smtClean="0">
                <a:solidFill>
                  <a:schemeClr val="accent2">
                    <a:lumMod val="75000"/>
                  </a:schemeClr>
                </a:solidFill>
              </a:rPr>
              <a:t>cur.execute</a:t>
            </a:r>
            <a:r>
              <a:rPr lang="en-US" sz="1600" b="1" dirty="0">
                <a:solidFill>
                  <a:schemeClr val="accent2">
                    <a:lumMod val="75000"/>
                  </a:schemeClr>
                </a:solidFill>
              </a:rPr>
              <a:t>('''INSERT OR IGNORE INTO People (name, retrieved)</a:t>
            </a:r>
          </a:p>
          <a:p>
            <a:r>
              <a:rPr lang="en-US" sz="1600" b="1" dirty="0" smtClean="0">
                <a:solidFill>
                  <a:schemeClr val="accent2">
                    <a:lumMod val="75000"/>
                  </a:schemeClr>
                </a:solidFill>
              </a:rPr>
              <a:t>     VALUES </a:t>
            </a:r>
            <a:r>
              <a:rPr lang="en-US" sz="1600" b="1" dirty="0">
                <a:solidFill>
                  <a:schemeClr val="accent2">
                    <a:lumMod val="75000"/>
                  </a:schemeClr>
                </a:solidFill>
              </a:rPr>
              <a:t>( ?, 0)''', ( friend, ) )</a:t>
            </a:r>
            <a:endParaRPr lang="en-US" sz="1600" b="1" i="1" dirty="0" smtClean="0">
              <a:solidFill>
                <a:schemeClr val="accent2">
                  <a:lumMod val="75000"/>
                </a:schemeClr>
              </a:solidFill>
            </a:endParaRPr>
          </a:p>
          <a:p>
            <a:endParaRPr lang="en-US" sz="2000" dirty="0" smtClean="0">
              <a:solidFill>
                <a:srgbClr val="9900FF"/>
              </a:solidFill>
            </a:endParaRPr>
          </a:p>
          <a:p>
            <a:r>
              <a:rPr lang="en-US" sz="2000" dirty="0" smtClean="0">
                <a:solidFill>
                  <a:srgbClr val="9900FF"/>
                </a:solidFill>
              </a:rPr>
              <a:t> “OR IGNORE” </a:t>
            </a:r>
            <a:r>
              <a:rPr lang="en-US" sz="2000" dirty="0">
                <a:solidFill>
                  <a:srgbClr val="9900FF"/>
                </a:solidFill>
              </a:rPr>
              <a:t>clause </a:t>
            </a:r>
            <a:r>
              <a:rPr lang="en-US" sz="2000" dirty="0" smtClean="0">
                <a:solidFill>
                  <a:srgbClr val="9900FF"/>
                </a:solidFill>
              </a:rPr>
              <a:t>should be added to the INSERT </a:t>
            </a:r>
            <a:r>
              <a:rPr lang="en-IN" sz="2000" dirty="0">
                <a:solidFill>
                  <a:srgbClr val="9900FF"/>
                </a:solidFill>
              </a:rPr>
              <a:t>statement to indicate that </a:t>
            </a:r>
            <a:r>
              <a:rPr lang="en-IN" sz="2000" dirty="0" smtClean="0">
                <a:solidFill>
                  <a:srgbClr val="9900FF"/>
                </a:solidFill>
              </a:rPr>
              <a:t>the INSERT statement should the violation </a:t>
            </a:r>
            <a:r>
              <a:rPr lang="en-IN" sz="2000" dirty="0">
                <a:solidFill>
                  <a:srgbClr val="9900FF"/>
                </a:solidFill>
              </a:rPr>
              <a:t>of </a:t>
            </a:r>
            <a:r>
              <a:rPr lang="en-IN" sz="2000" dirty="0" smtClean="0">
                <a:solidFill>
                  <a:srgbClr val="9900FF"/>
                </a:solidFill>
              </a:rPr>
              <a:t>rule  </a:t>
            </a:r>
            <a:r>
              <a:rPr lang="en-IN" sz="2000" dirty="0">
                <a:solidFill>
                  <a:srgbClr val="9900FF"/>
                </a:solidFill>
              </a:rPr>
              <a:t>“name must be unique</a:t>
            </a:r>
            <a:r>
              <a:rPr lang="en-IN" sz="2000" dirty="0" smtClean="0">
                <a:solidFill>
                  <a:srgbClr val="9900FF"/>
                </a:solidFill>
              </a:rPr>
              <a:t>”.</a:t>
            </a:r>
            <a:endParaRPr lang="en-US" sz="2000" dirty="0">
              <a:solidFill>
                <a:srgbClr val="9900FF"/>
              </a:solidFill>
            </a:endParaRPr>
          </a:p>
          <a:p>
            <a:endParaRPr lang="en-US" sz="1600" dirty="0">
              <a:solidFill>
                <a:srgbClr val="9900FF"/>
              </a:solidFill>
            </a:endParaRPr>
          </a:p>
        </p:txBody>
      </p:sp>
      <p:sp>
        <p:nvSpPr>
          <p:cNvPr id="6" name="Rectangle 5"/>
          <p:cNvSpPr/>
          <p:nvPr/>
        </p:nvSpPr>
        <p:spPr>
          <a:xfrm>
            <a:off x="559148" y="2207766"/>
            <a:ext cx="7676256" cy="1077218"/>
          </a:xfrm>
          <a:prstGeom prst="rect">
            <a:avLst/>
          </a:prstGeom>
        </p:spPr>
        <p:txBody>
          <a:bodyPr wrap="square">
            <a:spAutoFit/>
          </a:bodyPr>
          <a:lstStyle/>
          <a:p>
            <a:r>
              <a:rPr lang="en-US" sz="1600" b="1" dirty="0">
                <a:solidFill>
                  <a:schemeClr val="accent2">
                    <a:lumMod val="75000"/>
                  </a:schemeClr>
                </a:solidFill>
              </a:rPr>
              <a:t>cur.execute('''CREATE TABLE IF NOT EXISTS People</a:t>
            </a:r>
          </a:p>
          <a:p>
            <a:r>
              <a:rPr lang="en-US" sz="1600" b="1" dirty="0">
                <a:solidFill>
                  <a:schemeClr val="accent2">
                    <a:lumMod val="75000"/>
                  </a:schemeClr>
                </a:solidFill>
              </a:rPr>
              <a:t>(id INTEGER PRIMARY KEY, name TEXT UNIQUE, retrieved INTEGER)''')</a:t>
            </a:r>
          </a:p>
          <a:p>
            <a:r>
              <a:rPr lang="en-US" sz="1600" b="1" dirty="0">
                <a:solidFill>
                  <a:schemeClr val="accent2">
                    <a:lumMod val="75000"/>
                  </a:schemeClr>
                </a:solidFill>
              </a:rPr>
              <a:t>cur.execute('''CREATE TABLE IF NOT EXISTS Follows</a:t>
            </a:r>
          </a:p>
          <a:p>
            <a:r>
              <a:rPr lang="en-US" sz="1600" b="1" dirty="0">
                <a:solidFill>
                  <a:schemeClr val="accent2">
                    <a:lumMod val="75000"/>
                  </a:schemeClr>
                </a:solidFill>
              </a:rPr>
              <a:t>(from_id INTEGER, to_id INTEGER, UNIQUE(from_id, to_id))''')</a:t>
            </a:r>
          </a:p>
        </p:txBody>
      </p:sp>
      <p:sp>
        <p:nvSpPr>
          <p:cNvPr id="8" name="Title 1"/>
          <p:cNvSpPr txBox="1">
            <a:spLocks/>
          </p:cNvSpPr>
          <p:nvPr/>
        </p:nvSpPr>
        <p:spPr>
          <a:xfrm>
            <a:off x="540000" y="540000"/>
            <a:ext cx="3960000" cy="900000"/>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lvl="1" algn="l" rtl="0">
              <a:spcBef>
                <a:spcPct val="0"/>
              </a:spcBef>
            </a:pPr>
            <a:r>
              <a:rPr lang="en-IN" sz="2400" b="1" kern="0" dirty="0" smtClean="0">
                <a:solidFill>
                  <a:schemeClr val="bg1"/>
                </a:solidFill>
                <a:latin typeface="Vrinda" panose="020B0502040204020203" pitchFamily="34" charset="0"/>
                <a:cs typeface="Vrinda" panose="020B0502040204020203" pitchFamily="34" charset="0"/>
              </a:rPr>
              <a:t>Implement Programming with Multiple Tables (Contd.)</a:t>
            </a:r>
            <a:r>
              <a:rPr lang="en-IN" sz="2400" b="1" kern="0" dirty="0" smtClean="0">
                <a:solidFill>
                  <a:srgbClr val="6600CC"/>
                </a:solidFill>
                <a:cs typeface="Arial" panose="020B0604020202020204" pitchFamily="34" charset="0"/>
              </a:rPr>
              <a:t/>
            </a:r>
            <a:br>
              <a:rPr lang="en-IN" sz="2400" b="1" kern="0" dirty="0" smtClean="0">
                <a:solidFill>
                  <a:srgbClr val="6600CC"/>
                </a:solidFill>
                <a:cs typeface="Arial" panose="020B0604020202020204" pitchFamily="34" charset="0"/>
              </a:rPr>
            </a:br>
            <a:endParaRPr lang="en-US" sz="2400" b="1" kern="0"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27467537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defTabSz="914363">
              <a:lnSpc>
                <a:spcPct val="90000"/>
              </a:lnSpc>
              <a:buSzPct val="100000"/>
              <a:buNone/>
            </a:pPr>
            <a:endParaRPr lang="en-IN" sz="1600" dirty="0">
              <a:solidFill>
                <a:srgbClr val="6600CC"/>
              </a:solidFill>
              <a:cs typeface="Arial" panose="020B0604020202020204" pitchFamily="34" charset="0"/>
            </a:endParaRPr>
          </a:p>
        </p:txBody>
      </p:sp>
      <p:sp>
        <p:nvSpPr>
          <p:cNvPr id="4" name="Rectangle 3"/>
          <p:cNvSpPr/>
          <p:nvPr/>
        </p:nvSpPr>
        <p:spPr>
          <a:xfrm>
            <a:off x="539552" y="1664833"/>
            <a:ext cx="7882807" cy="584775"/>
          </a:xfrm>
          <a:prstGeom prst="rect">
            <a:avLst/>
          </a:prstGeom>
        </p:spPr>
        <p:txBody>
          <a:bodyPr wrap="square">
            <a:spAutoFit/>
          </a:bodyPr>
          <a:lstStyle/>
          <a:p>
            <a:endParaRPr lang="en-US" sz="1600" dirty="0">
              <a:solidFill>
                <a:srgbClr val="9900FF"/>
              </a:solidFill>
            </a:endParaRPr>
          </a:p>
          <a:p>
            <a:endParaRPr lang="en-US" sz="1600" dirty="0">
              <a:solidFill>
                <a:srgbClr val="9900FF"/>
              </a:solidFill>
            </a:endParaRPr>
          </a:p>
        </p:txBody>
      </p:sp>
      <p:sp>
        <p:nvSpPr>
          <p:cNvPr id="6" name="Rectangle 5"/>
          <p:cNvSpPr/>
          <p:nvPr/>
        </p:nvSpPr>
        <p:spPr>
          <a:xfrm>
            <a:off x="539552" y="1799347"/>
            <a:ext cx="7676256" cy="1631216"/>
          </a:xfrm>
          <a:prstGeom prst="rect">
            <a:avLst/>
          </a:prstGeom>
        </p:spPr>
        <p:txBody>
          <a:bodyPr wrap="square">
            <a:spAutoFit/>
          </a:bodyPr>
          <a:lstStyle/>
          <a:p>
            <a:r>
              <a:rPr lang="en-US" sz="2000" b="1" i="1" u="sng" dirty="0" smtClean="0"/>
              <a:t>Retrieve </a:t>
            </a:r>
            <a:r>
              <a:rPr lang="en-US" sz="2000" b="1" i="1" u="sng" dirty="0"/>
              <a:t>and/or insert a </a:t>
            </a:r>
            <a:r>
              <a:rPr lang="en-US" sz="2000" b="1" i="1" u="sng" dirty="0" smtClean="0"/>
              <a:t>record</a:t>
            </a:r>
          </a:p>
          <a:p>
            <a:endParaRPr lang="en-US" sz="1600" b="1" dirty="0">
              <a:solidFill>
                <a:schemeClr val="accent2">
                  <a:lumMod val="75000"/>
                </a:schemeClr>
              </a:solidFill>
            </a:endParaRPr>
          </a:p>
          <a:p>
            <a:endParaRPr lang="en-US" sz="1600" b="1" dirty="0" smtClean="0">
              <a:solidFill>
                <a:schemeClr val="accent2">
                  <a:lumMod val="75000"/>
                </a:schemeClr>
              </a:solidFill>
            </a:endParaRPr>
          </a:p>
          <a:p>
            <a:endParaRPr lang="en-US" sz="1600" b="1" dirty="0">
              <a:solidFill>
                <a:schemeClr val="accent2">
                  <a:lumMod val="75000"/>
                </a:schemeClr>
              </a:solidFill>
            </a:endParaRPr>
          </a:p>
          <a:p>
            <a:endParaRPr lang="en-US" sz="1600" b="1" dirty="0" smtClean="0">
              <a:solidFill>
                <a:schemeClr val="accent2">
                  <a:lumMod val="75000"/>
                </a:schemeClr>
              </a:solidFill>
            </a:endParaRPr>
          </a:p>
          <a:p>
            <a:endParaRPr lang="en-US" sz="1600" b="1" dirty="0">
              <a:solidFill>
                <a:schemeClr val="accent2">
                  <a:lumMod val="75000"/>
                </a:schemeClr>
              </a:solidFill>
            </a:endParaRPr>
          </a:p>
        </p:txBody>
      </p:sp>
      <p:sp>
        <p:nvSpPr>
          <p:cNvPr id="3" name="TextBox 2"/>
          <p:cNvSpPr txBox="1"/>
          <p:nvPr/>
        </p:nvSpPr>
        <p:spPr>
          <a:xfrm>
            <a:off x="539552" y="2060848"/>
            <a:ext cx="5184576" cy="4247317"/>
          </a:xfrm>
          <a:prstGeom prst="rect">
            <a:avLst/>
          </a:prstGeom>
          <a:noFill/>
        </p:spPr>
        <p:txBody>
          <a:bodyPr wrap="square" rtlCol="0">
            <a:spAutoFit/>
          </a:bodyPr>
          <a:lstStyle/>
          <a:p>
            <a:r>
              <a:rPr lang="en-US" b="1" dirty="0">
                <a:solidFill>
                  <a:schemeClr val="accent2">
                    <a:lumMod val="75000"/>
                  </a:schemeClr>
                </a:solidFill>
              </a:rPr>
              <a:t>friend = u['</a:t>
            </a:r>
            <a:r>
              <a:rPr lang="en-US" b="1" dirty="0" err="1">
                <a:solidFill>
                  <a:schemeClr val="accent2">
                    <a:lumMod val="75000"/>
                  </a:schemeClr>
                </a:solidFill>
              </a:rPr>
              <a:t>screen_name</a:t>
            </a:r>
            <a:r>
              <a:rPr lang="en-US" b="1" dirty="0">
                <a:solidFill>
                  <a:schemeClr val="accent2">
                    <a:lumMod val="75000"/>
                  </a:schemeClr>
                </a:solidFill>
              </a:rPr>
              <a:t>']</a:t>
            </a:r>
          </a:p>
          <a:p>
            <a:r>
              <a:rPr lang="en-US" b="1" dirty="0">
                <a:solidFill>
                  <a:schemeClr val="accent2">
                    <a:lumMod val="75000"/>
                  </a:schemeClr>
                </a:solidFill>
              </a:rPr>
              <a:t>cur.execute('SELECT id FROM People WHERE name = ? </a:t>
            </a:r>
            <a:r>
              <a:rPr lang="en-US" b="1" dirty="0" smtClean="0">
                <a:solidFill>
                  <a:schemeClr val="accent2">
                    <a:lumMod val="75000"/>
                  </a:schemeClr>
                </a:solidFill>
              </a:rPr>
              <a:t>LIMIT </a:t>
            </a:r>
            <a:r>
              <a:rPr lang="en-US" b="1" dirty="0">
                <a:solidFill>
                  <a:schemeClr val="accent2">
                    <a:lumMod val="75000"/>
                  </a:schemeClr>
                </a:solidFill>
              </a:rPr>
              <a:t>1</a:t>
            </a:r>
            <a:r>
              <a:rPr lang="en-US" b="1" dirty="0" smtClean="0">
                <a:solidFill>
                  <a:schemeClr val="accent2">
                    <a:lumMod val="75000"/>
                  </a:schemeClr>
                </a:solidFill>
              </a:rPr>
              <a:t>',(</a:t>
            </a:r>
            <a:r>
              <a:rPr lang="en-US" b="1" dirty="0">
                <a:solidFill>
                  <a:schemeClr val="accent2">
                    <a:lumMod val="75000"/>
                  </a:schemeClr>
                </a:solidFill>
              </a:rPr>
              <a:t>friend, ) )</a:t>
            </a:r>
          </a:p>
          <a:p>
            <a:r>
              <a:rPr lang="en-US" b="1" dirty="0">
                <a:solidFill>
                  <a:schemeClr val="accent2">
                    <a:lumMod val="75000"/>
                  </a:schemeClr>
                </a:solidFill>
              </a:rPr>
              <a:t>try:</a:t>
            </a:r>
          </a:p>
          <a:p>
            <a:r>
              <a:rPr lang="en-US" b="1" dirty="0">
                <a:solidFill>
                  <a:schemeClr val="accent2">
                    <a:lumMod val="75000"/>
                  </a:schemeClr>
                </a:solidFill>
              </a:rPr>
              <a:t>friend_id = </a:t>
            </a:r>
            <a:r>
              <a:rPr lang="en-US" b="1" dirty="0" err="1">
                <a:solidFill>
                  <a:schemeClr val="accent2">
                    <a:lumMod val="75000"/>
                  </a:schemeClr>
                </a:solidFill>
              </a:rPr>
              <a:t>cur.fetchone</a:t>
            </a:r>
            <a:r>
              <a:rPr lang="en-US" b="1" dirty="0">
                <a:solidFill>
                  <a:schemeClr val="accent2">
                    <a:lumMod val="75000"/>
                  </a:schemeClr>
                </a:solidFill>
              </a:rPr>
              <a:t>()[0]</a:t>
            </a:r>
          </a:p>
          <a:p>
            <a:r>
              <a:rPr lang="en-US" b="1" dirty="0" err="1">
                <a:solidFill>
                  <a:schemeClr val="accent2">
                    <a:lumMod val="75000"/>
                  </a:schemeClr>
                </a:solidFill>
              </a:rPr>
              <a:t>countold</a:t>
            </a:r>
            <a:r>
              <a:rPr lang="en-US" b="1" dirty="0">
                <a:solidFill>
                  <a:schemeClr val="accent2">
                    <a:lumMod val="75000"/>
                  </a:schemeClr>
                </a:solidFill>
              </a:rPr>
              <a:t> = </a:t>
            </a:r>
            <a:r>
              <a:rPr lang="en-US" b="1" dirty="0" err="1">
                <a:solidFill>
                  <a:schemeClr val="accent2">
                    <a:lumMod val="75000"/>
                  </a:schemeClr>
                </a:solidFill>
              </a:rPr>
              <a:t>countold</a:t>
            </a:r>
            <a:r>
              <a:rPr lang="en-US" b="1" dirty="0">
                <a:solidFill>
                  <a:schemeClr val="accent2">
                    <a:lumMod val="75000"/>
                  </a:schemeClr>
                </a:solidFill>
              </a:rPr>
              <a:t> + 1</a:t>
            </a:r>
          </a:p>
          <a:p>
            <a:r>
              <a:rPr lang="en-US" b="1" dirty="0">
                <a:solidFill>
                  <a:schemeClr val="accent2">
                    <a:lumMod val="75000"/>
                  </a:schemeClr>
                </a:solidFill>
              </a:rPr>
              <a:t>except:</a:t>
            </a:r>
          </a:p>
          <a:p>
            <a:r>
              <a:rPr lang="en-US" b="1" dirty="0">
                <a:solidFill>
                  <a:schemeClr val="accent2">
                    <a:lumMod val="75000"/>
                  </a:schemeClr>
                </a:solidFill>
              </a:rPr>
              <a:t>cur.execute('''INSERT OR IGNORE INTO </a:t>
            </a:r>
            <a:r>
              <a:rPr lang="en-US" b="1" dirty="0" smtClean="0">
                <a:solidFill>
                  <a:schemeClr val="accent2">
                    <a:lumMod val="75000"/>
                  </a:schemeClr>
                </a:solidFill>
              </a:rPr>
              <a:t>People</a:t>
            </a:r>
          </a:p>
          <a:p>
            <a:r>
              <a:rPr lang="en-US" b="1" dirty="0" smtClean="0">
                <a:solidFill>
                  <a:schemeClr val="accent2">
                    <a:lumMod val="75000"/>
                  </a:schemeClr>
                </a:solidFill>
              </a:rPr>
              <a:t> </a:t>
            </a:r>
            <a:r>
              <a:rPr lang="en-US" b="1" dirty="0">
                <a:solidFill>
                  <a:schemeClr val="accent2">
                    <a:lumMod val="75000"/>
                  </a:schemeClr>
                </a:solidFill>
              </a:rPr>
              <a:t>(name, </a:t>
            </a:r>
            <a:r>
              <a:rPr lang="en-US" b="1" dirty="0" smtClean="0">
                <a:solidFill>
                  <a:schemeClr val="accent2">
                    <a:lumMod val="75000"/>
                  </a:schemeClr>
                </a:solidFill>
              </a:rPr>
              <a:t>retrieved)VALUES </a:t>
            </a:r>
            <a:r>
              <a:rPr lang="en-US" b="1" dirty="0">
                <a:solidFill>
                  <a:schemeClr val="accent2">
                    <a:lumMod val="75000"/>
                  </a:schemeClr>
                </a:solidFill>
              </a:rPr>
              <a:t>( ?, 0)''', ( friend, ) )</a:t>
            </a:r>
          </a:p>
          <a:p>
            <a:r>
              <a:rPr lang="en-US" b="1" dirty="0" err="1">
                <a:solidFill>
                  <a:schemeClr val="accent2">
                    <a:lumMod val="75000"/>
                  </a:schemeClr>
                </a:solidFill>
              </a:rPr>
              <a:t>conn.commit</a:t>
            </a:r>
            <a:r>
              <a:rPr lang="en-US" b="1" dirty="0">
                <a:solidFill>
                  <a:schemeClr val="accent2">
                    <a:lumMod val="75000"/>
                  </a:schemeClr>
                </a:solidFill>
              </a:rPr>
              <a:t>()</a:t>
            </a:r>
          </a:p>
          <a:p>
            <a:r>
              <a:rPr lang="en-US" b="1" dirty="0">
                <a:solidFill>
                  <a:schemeClr val="accent2">
                    <a:lumMod val="75000"/>
                  </a:schemeClr>
                </a:solidFill>
              </a:rPr>
              <a:t>if cur.rowcount != 1 :</a:t>
            </a:r>
          </a:p>
          <a:p>
            <a:r>
              <a:rPr lang="en-US" b="1" dirty="0">
                <a:solidFill>
                  <a:schemeClr val="accent2">
                    <a:lumMod val="75000"/>
                  </a:schemeClr>
                </a:solidFill>
              </a:rPr>
              <a:t>print 'Error inserting </a:t>
            </a:r>
            <a:r>
              <a:rPr lang="en-US" b="1" dirty="0" err="1">
                <a:solidFill>
                  <a:schemeClr val="accent2">
                    <a:lumMod val="75000"/>
                  </a:schemeClr>
                </a:solidFill>
              </a:rPr>
              <a:t>account:',friend</a:t>
            </a:r>
            <a:endParaRPr lang="en-US" b="1" dirty="0">
              <a:solidFill>
                <a:schemeClr val="accent2">
                  <a:lumMod val="75000"/>
                </a:schemeClr>
              </a:solidFill>
            </a:endParaRPr>
          </a:p>
          <a:p>
            <a:r>
              <a:rPr lang="en-US" b="1" dirty="0">
                <a:solidFill>
                  <a:schemeClr val="accent2">
                    <a:lumMod val="75000"/>
                  </a:schemeClr>
                </a:solidFill>
              </a:rPr>
              <a:t>continue</a:t>
            </a:r>
          </a:p>
          <a:p>
            <a:r>
              <a:rPr lang="en-US" b="1" dirty="0">
                <a:solidFill>
                  <a:schemeClr val="accent2">
                    <a:lumMod val="75000"/>
                  </a:schemeClr>
                </a:solidFill>
              </a:rPr>
              <a:t>friend_id = cur.lastrowid</a:t>
            </a:r>
          </a:p>
          <a:p>
            <a:r>
              <a:rPr lang="en-US" b="1" dirty="0" err="1">
                <a:solidFill>
                  <a:schemeClr val="accent2">
                    <a:lumMod val="75000"/>
                  </a:schemeClr>
                </a:solidFill>
              </a:rPr>
              <a:t>countnew</a:t>
            </a:r>
            <a:r>
              <a:rPr lang="en-US" b="1" dirty="0">
                <a:solidFill>
                  <a:schemeClr val="accent2">
                    <a:lumMod val="75000"/>
                  </a:schemeClr>
                </a:solidFill>
              </a:rPr>
              <a:t> = </a:t>
            </a:r>
            <a:r>
              <a:rPr lang="en-US" b="1" dirty="0" err="1">
                <a:solidFill>
                  <a:schemeClr val="accent2">
                    <a:lumMod val="75000"/>
                  </a:schemeClr>
                </a:solidFill>
              </a:rPr>
              <a:t>countnew</a:t>
            </a:r>
            <a:r>
              <a:rPr lang="en-US" b="1" dirty="0">
                <a:solidFill>
                  <a:schemeClr val="accent2">
                    <a:lumMod val="75000"/>
                  </a:schemeClr>
                </a:solidFill>
              </a:rPr>
              <a:t> + 1</a:t>
            </a:r>
          </a:p>
        </p:txBody>
      </p:sp>
      <p:sp>
        <p:nvSpPr>
          <p:cNvPr id="7" name="TextBox 6"/>
          <p:cNvSpPr txBox="1"/>
          <p:nvPr/>
        </p:nvSpPr>
        <p:spPr>
          <a:xfrm>
            <a:off x="5292080" y="2924944"/>
            <a:ext cx="3347920" cy="2862322"/>
          </a:xfrm>
          <a:prstGeom prst="rect">
            <a:avLst/>
          </a:prstGeom>
          <a:noFill/>
        </p:spPr>
        <p:txBody>
          <a:bodyPr wrap="square" rtlCol="0">
            <a:spAutoFit/>
          </a:bodyPr>
          <a:lstStyle/>
          <a:p>
            <a:pPr marL="285750" indent="-285750">
              <a:buFont typeface="Wingdings" panose="05000000000000000000" pitchFamily="2" charset="2"/>
              <a:buChar char="q"/>
            </a:pPr>
            <a:r>
              <a:rPr lang="en-US" b="1" dirty="0" smtClean="0">
                <a:solidFill>
                  <a:srgbClr val="0005CA"/>
                </a:solidFill>
              </a:rPr>
              <a:t>except</a:t>
            </a:r>
            <a:r>
              <a:rPr lang="en-US" dirty="0" smtClean="0">
                <a:solidFill>
                  <a:srgbClr val="0005CA"/>
                </a:solidFill>
              </a:rPr>
              <a:t> </a:t>
            </a:r>
            <a:r>
              <a:rPr lang="en-US" dirty="0">
                <a:solidFill>
                  <a:srgbClr val="0005CA"/>
                </a:solidFill>
              </a:rPr>
              <a:t>– Indicates the instruction to be carried out in case of an exception. In this case row was not found hence should be inserted.  </a:t>
            </a:r>
          </a:p>
          <a:p>
            <a:pPr marL="285750" indent="-285750">
              <a:buFont typeface="Wingdings" panose="05000000000000000000" pitchFamily="2" charset="2"/>
              <a:buChar char="q"/>
            </a:pPr>
            <a:r>
              <a:rPr lang="en-US" b="1" dirty="0">
                <a:solidFill>
                  <a:srgbClr val="0005CA"/>
                </a:solidFill>
              </a:rPr>
              <a:t>INSERT OR IGNORE</a:t>
            </a:r>
            <a:r>
              <a:rPr lang="en-US" dirty="0">
                <a:solidFill>
                  <a:srgbClr val="0005CA"/>
                </a:solidFill>
              </a:rPr>
              <a:t> – Indicates errors to be avoided while inserting data.</a:t>
            </a:r>
          </a:p>
          <a:p>
            <a:pPr marL="285750" indent="-285750">
              <a:buFont typeface="Wingdings" panose="05000000000000000000" pitchFamily="2" charset="2"/>
              <a:buChar char="q"/>
            </a:pPr>
            <a:r>
              <a:rPr lang="en-US" b="1" dirty="0" err="1">
                <a:solidFill>
                  <a:srgbClr val="0005CA"/>
                </a:solidFill>
              </a:rPr>
              <a:t>cur.rowcount</a:t>
            </a:r>
            <a:r>
              <a:rPr lang="en-US" b="1" dirty="0">
                <a:solidFill>
                  <a:srgbClr val="0005CA"/>
                </a:solidFill>
              </a:rPr>
              <a:t> - </a:t>
            </a:r>
            <a:r>
              <a:rPr lang="en-US" dirty="0">
                <a:solidFill>
                  <a:srgbClr val="0005CA"/>
                </a:solidFill>
              </a:rPr>
              <a:t>Indicates how many rows are affected. </a:t>
            </a:r>
            <a:endParaRPr lang="en-US" dirty="0">
              <a:solidFill>
                <a:srgbClr val="0005CA"/>
              </a:solidFill>
            </a:endParaRPr>
          </a:p>
        </p:txBody>
      </p:sp>
      <p:sp>
        <p:nvSpPr>
          <p:cNvPr id="9" name="Title 1"/>
          <p:cNvSpPr txBox="1">
            <a:spLocks/>
          </p:cNvSpPr>
          <p:nvPr/>
        </p:nvSpPr>
        <p:spPr>
          <a:xfrm>
            <a:off x="540000" y="540000"/>
            <a:ext cx="3960000" cy="900000"/>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lvl="1" algn="l" rtl="0">
              <a:spcBef>
                <a:spcPct val="0"/>
              </a:spcBef>
            </a:pPr>
            <a:r>
              <a:rPr lang="en-IN" sz="2400" b="1" kern="0" dirty="0" smtClean="0">
                <a:solidFill>
                  <a:schemeClr val="bg1"/>
                </a:solidFill>
                <a:latin typeface="Vrinda" panose="020B0502040204020203" pitchFamily="34" charset="0"/>
                <a:cs typeface="Vrinda" panose="020B0502040204020203" pitchFamily="34" charset="0"/>
              </a:rPr>
              <a:t>Implement Programming with Multiple Tables (Contd.)</a:t>
            </a:r>
            <a:r>
              <a:rPr lang="en-IN" sz="2400" b="1" kern="0" dirty="0" smtClean="0">
                <a:solidFill>
                  <a:srgbClr val="6600CC"/>
                </a:solidFill>
                <a:cs typeface="Arial" panose="020B0604020202020204" pitchFamily="34" charset="0"/>
              </a:rPr>
              <a:t/>
            </a:r>
            <a:br>
              <a:rPr lang="en-IN" sz="2400" b="1" kern="0" dirty="0" smtClean="0">
                <a:solidFill>
                  <a:srgbClr val="6600CC"/>
                </a:solidFill>
                <a:cs typeface="Arial" panose="020B0604020202020204" pitchFamily="34" charset="0"/>
              </a:rPr>
            </a:br>
            <a:endParaRPr lang="en-US" sz="2400" b="1" kern="0"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2374211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lvl="1" algn="l" rtl="0">
              <a:spcBef>
                <a:spcPct val="0"/>
              </a:spcBef>
            </a:pPr>
            <a:r>
              <a:rPr lang="en-IN" sz="2400" b="1" dirty="0" smtClean="0">
                <a:solidFill>
                  <a:schemeClr val="bg1"/>
                </a:solidFill>
                <a:latin typeface="Vrinda" panose="020B0502040204020203" pitchFamily="34" charset="0"/>
                <a:cs typeface="Vrinda" panose="020B0502040204020203" pitchFamily="34" charset="0"/>
              </a:rPr>
              <a:t>Use </a:t>
            </a:r>
            <a:r>
              <a:rPr lang="en-IN" sz="2400" b="1" dirty="0">
                <a:solidFill>
                  <a:schemeClr val="bg1"/>
                </a:solidFill>
                <a:latin typeface="Vrinda" panose="020B0502040204020203" pitchFamily="34" charset="0"/>
                <a:cs typeface="Vrinda" panose="020B0502040204020203" pitchFamily="34" charset="0"/>
              </a:rPr>
              <a:t>D</a:t>
            </a:r>
            <a:r>
              <a:rPr lang="en-IN" sz="2400" b="1" dirty="0" smtClean="0">
                <a:solidFill>
                  <a:schemeClr val="bg1"/>
                </a:solidFill>
                <a:latin typeface="Vrinda" panose="020B0502040204020203" pitchFamily="34" charset="0"/>
                <a:cs typeface="Vrinda" panose="020B0502040204020203" pitchFamily="34" charset="0"/>
              </a:rPr>
              <a:t>ifferent Types of Keys</a:t>
            </a:r>
            <a:r>
              <a:rPr lang="en-IN" sz="1600" dirty="0" smtClean="0">
                <a:solidFill>
                  <a:srgbClr val="6600CC"/>
                </a:solidFill>
                <a:cs typeface="Arial" panose="020B0604020202020204" pitchFamily="34" charset="0"/>
              </a:rPr>
              <a:t/>
            </a:r>
            <a:br>
              <a:rPr lang="en-IN" sz="1600" dirty="0" smtClean="0">
                <a:solidFill>
                  <a:srgbClr val="6600CC"/>
                </a:solidFill>
                <a:cs typeface="Arial" panose="020B0604020202020204" pitchFamily="34" charset="0"/>
              </a:rPr>
            </a:br>
            <a:endParaRPr lang="en-US" sz="2400" b="1" dirty="0">
              <a:solidFill>
                <a:schemeClr val="bg1"/>
              </a:solidFill>
              <a:latin typeface="Vrinda" pitchFamily="34" charset="0"/>
              <a:cs typeface="Vrinda" pitchFamily="34" charset="0"/>
            </a:endParaRPr>
          </a:p>
        </p:txBody>
      </p:sp>
      <p:sp>
        <p:nvSpPr>
          <p:cNvPr id="5" name="Content Placeholder 2"/>
          <p:cNvSpPr txBox="1">
            <a:spLocks/>
          </p:cNvSpPr>
          <p:nvPr/>
        </p:nvSpPr>
        <p:spPr>
          <a:xfrm>
            <a:off x="395536" y="1556792"/>
            <a:ext cx="5904656" cy="475252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600" b="1" i="1" dirty="0" smtClean="0">
              <a:solidFill>
                <a:srgbClr val="9900FF"/>
              </a:solidFill>
            </a:endParaRPr>
          </a:p>
          <a:p>
            <a:pPr marL="514350" lvl="1" indent="-396875" defTabSz="914363">
              <a:lnSpc>
                <a:spcPct val="90000"/>
              </a:lnSpc>
              <a:buSzPct val="100000"/>
              <a:buBlip>
                <a:blip r:embed="rId3"/>
              </a:buBlip>
            </a:pPr>
            <a:r>
              <a:rPr lang="en-US" sz="2400" b="1" dirty="0" smtClean="0">
                <a:solidFill>
                  <a:srgbClr val="9900FF"/>
                </a:solidFill>
              </a:rPr>
              <a:t>Logical </a:t>
            </a:r>
            <a:r>
              <a:rPr lang="en-US" sz="2400" b="1" dirty="0">
                <a:solidFill>
                  <a:srgbClr val="9900FF"/>
                </a:solidFill>
              </a:rPr>
              <a:t>Key </a:t>
            </a:r>
            <a:r>
              <a:rPr lang="en-US" sz="2400" b="1" i="1" dirty="0">
                <a:solidFill>
                  <a:srgbClr val="9900FF"/>
                </a:solidFill>
              </a:rPr>
              <a:t>-  </a:t>
            </a:r>
            <a:r>
              <a:rPr lang="en-US" sz="2400" dirty="0">
                <a:solidFill>
                  <a:srgbClr val="9900FF"/>
                </a:solidFill>
              </a:rPr>
              <a:t>is a key that the “real world” might use to look up a row</a:t>
            </a:r>
            <a:r>
              <a:rPr lang="en-US" sz="2400" dirty="0" smtClean="0">
                <a:solidFill>
                  <a:srgbClr val="9900FF"/>
                </a:solidFill>
              </a:rPr>
              <a:t>.</a:t>
            </a:r>
          </a:p>
          <a:p>
            <a:pPr marL="514350" lvl="1" indent="-396875" defTabSz="914363">
              <a:lnSpc>
                <a:spcPct val="90000"/>
              </a:lnSpc>
              <a:buSzPct val="100000"/>
              <a:buBlip>
                <a:blip r:embed="rId3"/>
              </a:buBlip>
            </a:pPr>
            <a:endParaRPr lang="en-US" sz="2400" dirty="0">
              <a:solidFill>
                <a:srgbClr val="9900FF"/>
              </a:solidFill>
            </a:endParaRPr>
          </a:p>
          <a:p>
            <a:pPr marL="514350" lvl="1" indent="-396875" defTabSz="914363">
              <a:lnSpc>
                <a:spcPct val="90000"/>
              </a:lnSpc>
              <a:buSzPct val="100000"/>
              <a:buBlip>
                <a:blip r:embed="rId3"/>
              </a:buBlip>
            </a:pPr>
            <a:r>
              <a:rPr lang="en-US" sz="2400" b="1" dirty="0">
                <a:solidFill>
                  <a:srgbClr val="9900FF"/>
                </a:solidFill>
              </a:rPr>
              <a:t>Primary Key </a:t>
            </a:r>
            <a:r>
              <a:rPr lang="en-US" sz="2400" b="1" i="1" dirty="0">
                <a:solidFill>
                  <a:srgbClr val="9900FF"/>
                </a:solidFill>
              </a:rPr>
              <a:t>-  </a:t>
            </a:r>
            <a:r>
              <a:rPr lang="en-US" sz="2400" dirty="0">
                <a:solidFill>
                  <a:srgbClr val="9900FF"/>
                </a:solidFill>
              </a:rPr>
              <a:t>is usually a number that is assigned automatically by the </a:t>
            </a:r>
            <a:r>
              <a:rPr lang="en-US" sz="2400" dirty="0" smtClean="0">
                <a:solidFill>
                  <a:srgbClr val="9900FF"/>
                </a:solidFill>
              </a:rPr>
              <a:t>database.</a:t>
            </a:r>
          </a:p>
          <a:p>
            <a:pPr marL="514350" lvl="1" indent="-396875" defTabSz="914363">
              <a:lnSpc>
                <a:spcPct val="90000"/>
              </a:lnSpc>
              <a:buSzPct val="100000"/>
              <a:buBlip>
                <a:blip r:embed="rId3"/>
              </a:buBlip>
            </a:pPr>
            <a:endParaRPr lang="en-US" sz="2400" dirty="0">
              <a:solidFill>
                <a:srgbClr val="9900FF"/>
              </a:solidFill>
            </a:endParaRPr>
          </a:p>
          <a:p>
            <a:pPr marL="514350" lvl="1" indent="-396875" defTabSz="914363">
              <a:lnSpc>
                <a:spcPct val="90000"/>
              </a:lnSpc>
              <a:buSzPct val="100000"/>
              <a:buBlip>
                <a:blip r:embed="rId3"/>
              </a:buBlip>
            </a:pPr>
            <a:r>
              <a:rPr lang="en-US" sz="2400" b="1" dirty="0">
                <a:solidFill>
                  <a:srgbClr val="9900FF"/>
                </a:solidFill>
              </a:rPr>
              <a:t>Foreign Key  </a:t>
            </a:r>
            <a:r>
              <a:rPr lang="en-US" sz="2400" b="1" i="1" dirty="0">
                <a:solidFill>
                  <a:srgbClr val="9900FF"/>
                </a:solidFill>
              </a:rPr>
              <a:t>- </a:t>
            </a:r>
            <a:r>
              <a:rPr lang="en-US" sz="2400" dirty="0">
                <a:solidFill>
                  <a:srgbClr val="9900FF"/>
                </a:solidFill>
              </a:rPr>
              <a:t>is usually a number that points to the primary key of an associated row in a different table.</a:t>
            </a:r>
          </a:p>
          <a:p>
            <a:endParaRPr lang="en-IN" sz="1600" dirty="0">
              <a:solidFill>
                <a:srgbClr val="9900FF"/>
              </a:solidFill>
              <a:cs typeface="Arial" panose="020B0604020202020204" pitchFamily="34" charset="0"/>
            </a:endParaRPr>
          </a:p>
        </p:txBody>
      </p:sp>
      <p:sp>
        <p:nvSpPr>
          <p:cNvPr id="4" name="Rectangle 3"/>
          <p:cNvSpPr/>
          <p:nvPr/>
        </p:nvSpPr>
        <p:spPr>
          <a:xfrm>
            <a:off x="539552" y="1664833"/>
            <a:ext cx="7882807" cy="584775"/>
          </a:xfrm>
          <a:prstGeom prst="rect">
            <a:avLst/>
          </a:prstGeom>
        </p:spPr>
        <p:txBody>
          <a:bodyPr wrap="square">
            <a:spAutoFit/>
          </a:bodyPr>
          <a:lstStyle/>
          <a:p>
            <a:endParaRPr lang="en-US" sz="1600" dirty="0">
              <a:solidFill>
                <a:srgbClr val="9900FF"/>
              </a:solidFill>
            </a:endParaRPr>
          </a:p>
          <a:p>
            <a:endParaRPr lang="en-US" sz="1600" dirty="0">
              <a:solidFill>
                <a:srgbClr val="9900FF"/>
              </a:solidFill>
            </a:endParaRP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4273666">
            <a:off x="6624706" y="2678212"/>
            <a:ext cx="1714500" cy="1714500"/>
          </a:xfrm>
          <a:prstGeom prst="rect">
            <a:avLst/>
          </a:prstGeom>
        </p:spPr>
      </p:pic>
    </p:spTree>
    <p:extLst>
      <p:ext uri="{BB962C8B-B14F-4D97-AF65-F5344CB8AC3E}">
        <p14:creationId xmlns:p14="http://schemas.microsoft.com/office/powerpoint/2010/main" val="2208975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lvl="1" algn="l" rtl="0">
              <a:spcBef>
                <a:spcPct val="0"/>
              </a:spcBef>
            </a:pPr>
            <a:r>
              <a:rPr lang="en-IN" sz="2400" b="1" dirty="0" smtClean="0">
                <a:solidFill>
                  <a:schemeClr val="bg1"/>
                </a:solidFill>
                <a:latin typeface="Vrinda" panose="020B0502040204020203" pitchFamily="34" charset="0"/>
                <a:cs typeface="Vrinda" panose="020B0502040204020203" pitchFamily="34" charset="0"/>
              </a:rPr>
              <a:t>Use JOIN to Retrieve Data</a:t>
            </a:r>
            <a:r>
              <a:rPr lang="en-IN" sz="1600" dirty="0" smtClean="0">
                <a:solidFill>
                  <a:srgbClr val="6600CC"/>
                </a:solidFill>
                <a:cs typeface="Arial" panose="020B0604020202020204" pitchFamily="34" charset="0"/>
              </a:rPr>
              <a:t/>
            </a:r>
            <a:br>
              <a:rPr lang="en-IN" sz="1600" dirty="0" smtClean="0">
                <a:solidFill>
                  <a:srgbClr val="6600CC"/>
                </a:solidFill>
                <a:cs typeface="Arial" panose="020B0604020202020204" pitchFamily="34" charset="0"/>
              </a:rPr>
            </a:br>
            <a:endParaRPr lang="en-US" sz="2400" b="1" dirty="0">
              <a:solidFill>
                <a:schemeClr val="bg1"/>
              </a:solidFill>
              <a:latin typeface="Vrinda" pitchFamily="34" charset="0"/>
              <a:cs typeface="Vrinda" pitchFamily="34" charset="0"/>
            </a:endParaRPr>
          </a:p>
        </p:txBody>
      </p:sp>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a:solidFill>
                <a:srgbClr val="9900FF"/>
              </a:solidFill>
              <a:cs typeface="Arial" panose="020B0604020202020204" pitchFamily="34" charset="0"/>
            </a:endParaRPr>
          </a:p>
        </p:txBody>
      </p:sp>
      <p:sp>
        <p:nvSpPr>
          <p:cNvPr id="4" name="Rectangle 3"/>
          <p:cNvSpPr/>
          <p:nvPr/>
        </p:nvSpPr>
        <p:spPr>
          <a:xfrm>
            <a:off x="539552" y="1664833"/>
            <a:ext cx="7882807" cy="584775"/>
          </a:xfrm>
          <a:prstGeom prst="rect">
            <a:avLst/>
          </a:prstGeom>
        </p:spPr>
        <p:txBody>
          <a:bodyPr wrap="square">
            <a:spAutoFit/>
          </a:bodyPr>
          <a:lstStyle/>
          <a:p>
            <a:endParaRPr lang="en-US" sz="1600" dirty="0">
              <a:solidFill>
                <a:srgbClr val="9900FF"/>
              </a:solidFill>
            </a:endParaRPr>
          </a:p>
          <a:p>
            <a:endParaRPr lang="en-US" sz="1600" dirty="0">
              <a:solidFill>
                <a:srgbClr val="9900FF"/>
              </a:solidFill>
            </a:endParaRPr>
          </a:p>
        </p:txBody>
      </p:sp>
      <p:sp>
        <p:nvSpPr>
          <p:cNvPr id="6" name="Rectangle 5"/>
          <p:cNvSpPr/>
          <p:nvPr/>
        </p:nvSpPr>
        <p:spPr>
          <a:xfrm>
            <a:off x="395536" y="1800000"/>
            <a:ext cx="8352928" cy="4524315"/>
          </a:xfrm>
          <a:prstGeom prst="rect">
            <a:avLst/>
          </a:prstGeom>
        </p:spPr>
        <p:txBody>
          <a:bodyPr wrap="square">
            <a:spAutoFit/>
          </a:bodyPr>
          <a:lstStyle/>
          <a:p>
            <a:pPr marL="514350" lvl="1" indent="-396875" defTabSz="914363">
              <a:lnSpc>
                <a:spcPct val="90000"/>
              </a:lnSpc>
              <a:buSzPct val="100000"/>
              <a:buBlip>
                <a:blip r:embed="rId3"/>
              </a:buBlip>
            </a:pPr>
            <a:endParaRPr lang="en-US" sz="2000" b="1" i="1" dirty="0" smtClean="0">
              <a:solidFill>
                <a:srgbClr val="9900FF"/>
              </a:solidFill>
            </a:endParaRPr>
          </a:p>
          <a:p>
            <a:pPr marL="514350" lvl="1" indent="-396875" defTabSz="914363">
              <a:lnSpc>
                <a:spcPct val="90000"/>
              </a:lnSpc>
              <a:buSzPct val="100000"/>
              <a:buBlip>
                <a:blip r:embed="rId3"/>
              </a:buBlip>
            </a:pPr>
            <a:r>
              <a:rPr lang="en-US" sz="2400" b="1" dirty="0" smtClean="0">
                <a:solidFill>
                  <a:srgbClr val="9900FF"/>
                </a:solidFill>
              </a:rPr>
              <a:t>JOIN </a:t>
            </a:r>
            <a:r>
              <a:rPr lang="en-US" sz="2400" b="1" dirty="0">
                <a:solidFill>
                  <a:srgbClr val="9900FF"/>
                </a:solidFill>
              </a:rPr>
              <a:t>clause – </a:t>
            </a:r>
            <a:r>
              <a:rPr lang="en-US" sz="2400" dirty="0">
                <a:solidFill>
                  <a:srgbClr val="9900FF"/>
                </a:solidFill>
              </a:rPr>
              <a:t>used to combine data from different </a:t>
            </a:r>
            <a:r>
              <a:rPr lang="en-US" sz="2400" dirty="0" smtClean="0">
                <a:solidFill>
                  <a:srgbClr val="9900FF"/>
                </a:solidFill>
              </a:rPr>
              <a:t>tables.</a:t>
            </a:r>
            <a:endParaRPr lang="en-US" sz="2400" dirty="0">
              <a:solidFill>
                <a:srgbClr val="9900FF"/>
              </a:solidFill>
            </a:endParaRPr>
          </a:p>
          <a:p>
            <a:pPr marL="514350" lvl="1" indent="-396875" defTabSz="914363">
              <a:lnSpc>
                <a:spcPct val="90000"/>
              </a:lnSpc>
              <a:buSzPct val="100000"/>
              <a:buBlip>
                <a:blip r:embed="rId3"/>
              </a:buBlip>
            </a:pPr>
            <a:endParaRPr lang="en-IN" sz="2000" dirty="0">
              <a:solidFill>
                <a:srgbClr val="6600CC"/>
              </a:solidFill>
              <a:latin typeface="Vrinda" pitchFamily="34" charset="0"/>
              <a:cs typeface="Vrinda" pitchFamily="34" charset="0"/>
            </a:endParaRPr>
          </a:p>
          <a:p>
            <a:endParaRPr lang="en-US" dirty="0">
              <a:solidFill>
                <a:srgbClr val="9900FF"/>
              </a:solidFill>
            </a:endParaRPr>
          </a:p>
          <a:p>
            <a:r>
              <a:rPr lang="en-US" b="1" i="1" dirty="0" smtClean="0">
                <a:solidFill>
                  <a:schemeClr val="tx2">
                    <a:lumMod val="60000"/>
                    <a:lumOff val="40000"/>
                  </a:schemeClr>
                </a:solidFill>
              </a:rPr>
              <a:t>           SELECT </a:t>
            </a:r>
            <a:r>
              <a:rPr lang="en-US" b="1" i="1" dirty="0">
                <a:solidFill>
                  <a:schemeClr val="tx2">
                    <a:lumMod val="60000"/>
                    <a:lumOff val="40000"/>
                  </a:schemeClr>
                </a:solidFill>
              </a:rPr>
              <a:t>* FROM Follows JOIN People</a:t>
            </a:r>
          </a:p>
          <a:p>
            <a:r>
              <a:rPr lang="en-US" b="1" i="1" dirty="0" smtClean="0">
                <a:solidFill>
                  <a:schemeClr val="tx2">
                    <a:lumMod val="60000"/>
                    <a:lumOff val="40000"/>
                  </a:schemeClr>
                </a:solidFill>
              </a:rPr>
              <a:t>           ON </a:t>
            </a:r>
            <a:r>
              <a:rPr lang="en-US" b="1" i="1" dirty="0">
                <a:solidFill>
                  <a:schemeClr val="tx2">
                    <a:lumMod val="60000"/>
                    <a:lumOff val="40000"/>
                  </a:schemeClr>
                </a:solidFill>
              </a:rPr>
              <a:t>Follows.from_id = People.id WHERE People.id = 1</a:t>
            </a:r>
          </a:p>
          <a:p>
            <a:endParaRPr lang="en-US" dirty="0">
              <a:solidFill>
                <a:srgbClr val="9900FF"/>
              </a:solidFill>
            </a:endParaRPr>
          </a:p>
          <a:p>
            <a:pPr marL="514350" lvl="1" indent="-396875" defTabSz="914363">
              <a:lnSpc>
                <a:spcPct val="90000"/>
              </a:lnSpc>
              <a:buSzPct val="100000"/>
              <a:buBlip>
                <a:blip r:embed="rId3"/>
              </a:buBlip>
            </a:pPr>
            <a:r>
              <a:rPr lang="en-US" sz="2400" dirty="0" smtClean="0">
                <a:solidFill>
                  <a:srgbClr val="9900FF"/>
                </a:solidFill>
              </a:rPr>
              <a:t>JOIN </a:t>
            </a:r>
            <a:r>
              <a:rPr lang="en-US" sz="2400" dirty="0">
                <a:solidFill>
                  <a:srgbClr val="9900FF"/>
                </a:solidFill>
              </a:rPr>
              <a:t>clause indicates that the fields selected are from the Follows and People </a:t>
            </a:r>
            <a:r>
              <a:rPr lang="en-US" sz="2400" dirty="0" smtClean="0">
                <a:solidFill>
                  <a:srgbClr val="9900FF"/>
                </a:solidFill>
              </a:rPr>
              <a:t>Tables.</a:t>
            </a:r>
          </a:p>
          <a:p>
            <a:pPr marL="514350" lvl="1" indent="-396875" defTabSz="914363">
              <a:lnSpc>
                <a:spcPct val="90000"/>
              </a:lnSpc>
              <a:buSzPct val="100000"/>
              <a:buBlip>
                <a:blip r:embed="rId3"/>
              </a:buBlip>
            </a:pPr>
            <a:endParaRPr lang="en-US" sz="2400" dirty="0" smtClean="0">
              <a:solidFill>
                <a:srgbClr val="9900FF"/>
              </a:solidFill>
            </a:endParaRPr>
          </a:p>
          <a:p>
            <a:pPr marL="514350" lvl="1" indent="-396875" defTabSz="914363">
              <a:lnSpc>
                <a:spcPct val="90000"/>
              </a:lnSpc>
              <a:buSzPct val="100000"/>
              <a:buBlip>
                <a:blip r:embed="rId3"/>
              </a:buBlip>
            </a:pPr>
            <a:r>
              <a:rPr lang="en-US" sz="2400" dirty="0">
                <a:solidFill>
                  <a:srgbClr val="9900FF"/>
                </a:solidFill>
              </a:rPr>
              <a:t>The ON clause indicates how the two tables are to be joined.</a:t>
            </a:r>
          </a:p>
          <a:p>
            <a:pPr marL="285750" indent="-285750">
              <a:buFont typeface="Arial" panose="020B0604020202020204" pitchFamily="34" charset="0"/>
              <a:buChar char="•"/>
            </a:pPr>
            <a:endParaRPr lang="en-US" dirty="0" smtClean="0">
              <a:solidFill>
                <a:srgbClr val="9900FF"/>
              </a:solidFill>
            </a:endParaRPr>
          </a:p>
          <a:p>
            <a:pPr marL="285750" indent="-285750">
              <a:buFont typeface="Arial" panose="020B0604020202020204" pitchFamily="34" charset="0"/>
              <a:buChar char="•"/>
            </a:pPr>
            <a:endParaRPr lang="en-US" dirty="0">
              <a:solidFill>
                <a:srgbClr val="9900FF"/>
              </a:solidFill>
            </a:endParaRPr>
          </a:p>
          <a:p>
            <a:pPr marL="285750" indent="-285750">
              <a:buFont typeface="Arial" panose="020B0604020202020204" pitchFamily="34" charset="0"/>
              <a:buChar char="•"/>
            </a:pPr>
            <a:endParaRPr lang="en-US" dirty="0" smtClean="0">
              <a:solidFill>
                <a:srgbClr val="9900FF"/>
              </a:solidFill>
            </a:endParaRPr>
          </a:p>
          <a:p>
            <a:pPr marL="285750" indent="-285750">
              <a:buFont typeface="Arial" panose="020B0604020202020204" pitchFamily="34" charset="0"/>
              <a:buChar char="•"/>
            </a:pPr>
            <a:endParaRPr lang="en-US" dirty="0">
              <a:solidFill>
                <a:srgbClr val="9900FF"/>
              </a:solidFill>
            </a:endParaRPr>
          </a:p>
        </p:txBody>
      </p:sp>
    </p:spTree>
    <p:extLst>
      <p:ext uri="{BB962C8B-B14F-4D97-AF65-F5344CB8AC3E}">
        <p14:creationId xmlns:p14="http://schemas.microsoft.com/office/powerpoint/2010/main" val="3997514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55576" y="1748328"/>
            <a:ext cx="792088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IN" sz="2400" dirty="0" smtClean="0">
                <a:solidFill>
                  <a:srgbClr val="9900FF"/>
                </a:solidFill>
                <a:cs typeface="Arial" panose="020B0604020202020204" pitchFamily="34" charset="0"/>
              </a:rPr>
              <a:t>Data </a:t>
            </a:r>
            <a:r>
              <a:rPr lang="en-IN" sz="2400" dirty="0">
                <a:solidFill>
                  <a:srgbClr val="9900FF"/>
                </a:solidFill>
                <a:cs typeface="Arial" panose="020B0604020202020204" pitchFamily="34" charset="0"/>
              </a:rPr>
              <a:t>V</a:t>
            </a:r>
            <a:r>
              <a:rPr lang="en-IN" sz="2400" dirty="0" smtClean="0">
                <a:solidFill>
                  <a:srgbClr val="9900FF"/>
                </a:solidFill>
                <a:cs typeface="Arial" panose="020B0604020202020204" pitchFamily="34" charset="0"/>
              </a:rPr>
              <a:t>isualization </a:t>
            </a:r>
            <a:r>
              <a:rPr lang="en-IN" sz="2400" dirty="0">
                <a:solidFill>
                  <a:srgbClr val="9900FF"/>
                </a:solidFill>
                <a:cs typeface="Arial" panose="020B0604020202020204" pitchFamily="34" charset="0"/>
              </a:rPr>
              <a:t>refers to the techniques used to </a:t>
            </a:r>
            <a:r>
              <a:rPr lang="en-IN" sz="2400" dirty="0" smtClean="0">
                <a:solidFill>
                  <a:srgbClr val="9900FF"/>
                </a:solidFill>
                <a:cs typeface="Arial" panose="020B0604020202020204" pitchFamily="34" charset="0"/>
              </a:rPr>
              <a:t>communicate </a:t>
            </a:r>
            <a:r>
              <a:rPr lang="en-IN" sz="2400" dirty="0">
                <a:solidFill>
                  <a:srgbClr val="9900FF"/>
                </a:solidFill>
                <a:cs typeface="Arial" panose="020B0604020202020204" pitchFamily="34" charset="0"/>
              </a:rPr>
              <a:t>data or information by encoding it as visual </a:t>
            </a:r>
            <a:r>
              <a:rPr lang="en-IN" sz="2400" dirty="0" smtClean="0">
                <a:solidFill>
                  <a:srgbClr val="9900FF"/>
                </a:solidFill>
                <a:cs typeface="Arial" panose="020B0604020202020204" pitchFamily="34" charset="0"/>
              </a:rPr>
              <a:t>objects.</a:t>
            </a:r>
            <a:endParaRPr lang="en-IN" sz="2400" dirty="0">
              <a:solidFill>
                <a:srgbClr val="9900FF"/>
              </a:solidFill>
              <a:cs typeface="Arial" panose="020B0604020202020204" pitchFamily="34" charset="0"/>
            </a:endParaRPr>
          </a:p>
          <a:p>
            <a:pPr marL="0" indent="0" algn="just">
              <a:buNone/>
            </a:pPr>
            <a:r>
              <a:rPr lang="en-IN" sz="2400" dirty="0">
                <a:solidFill>
                  <a:srgbClr val="9900FF"/>
                </a:solidFill>
                <a:cs typeface="Arial" panose="020B0604020202020204" pitchFamily="34" charset="0"/>
              </a:rPr>
              <a:t>(e.g., points, lines or bars</a:t>
            </a:r>
            <a:r>
              <a:rPr lang="en-IN" sz="2400" dirty="0" smtClean="0">
                <a:solidFill>
                  <a:srgbClr val="9900FF"/>
                </a:solidFill>
                <a:cs typeface="Arial" panose="020B0604020202020204" pitchFamily="34" charset="0"/>
              </a:rPr>
              <a:t>)</a:t>
            </a:r>
            <a:endParaRPr lang="en-IN" sz="2400" dirty="0">
              <a:solidFill>
                <a:srgbClr val="9900FF"/>
              </a:solidFill>
              <a:cs typeface="Arial" panose="020B0604020202020204" pitchFamily="34" charset="0"/>
            </a:endParaRPr>
          </a:p>
          <a:p>
            <a:pPr marL="117475" lvl="1" indent="0" defTabSz="914363">
              <a:lnSpc>
                <a:spcPct val="90000"/>
              </a:lnSpc>
              <a:buSzPct val="100000"/>
              <a:buNone/>
            </a:pPr>
            <a:endParaRPr lang="en-IN" sz="2000" dirty="0" smtClean="0">
              <a:solidFill>
                <a:srgbClr val="6600CC"/>
              </a:solidFill>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3736" y="3393838"/>
            <a:ext cx="4752528" cy="2843474"/>
          </a:xfrm>
          <a:prstGeom prst="rect">
            <a:avLst/>
          </a:prstGeom>
        </p:spPr>
      </p:pic>
      <p:sp>
        <p:nvSpPr>
          <p:cNvPr id="7" name="Title 1"/>
          <p:cNvSpPr txBox="1">
            <a:spLocks/>
          </p:cNvSpPr>
          <p:nvPr/>
        </p:nvSpPr>
        <p:spPr>
          <a:xfrm>
            <a:off x="540000" y="540000"/>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lvl="1">
              <a:spcBef>
                <a:spcPct val="0"/>
              </a:spcBef>
            </a:pPr>
            <a:r>
              <a:rPr lang="en-IN" sz="2400" b="1" dirty="0">
                <a:solidFill>
                  <a:schemeClr val="bg1"/>
                </a:solidFill>
                <a:latin typeface="Vrinda" panose="020B0502040204020203" pitchFamily="34" charset="0"/>
                <a:cs typeface="Vrinda" panose="020B0502040204020203" pitchFamily="34" charset="0"/>
              </a:rPr>
              <a:t>Data Visualization</a:t>
            </a:r>
            <a:endParaRPr lang="en-US" sz="2400" b="1" kern="0"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2824217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defTabSz="914363">
              <a:lnSpc>
                <a:spcPct val="90000"/>
              </a:lnSpc>
              <a:buSzPct val="100000"/>
              <a:buNone/>
            </a:pPr>
            <a:endParaRPr lang="en-IN" sz="2000" dirty="0">
              <a:solidFill>
                <a:srgbClr val="6600CC"/>
              </a:solidFill>
              <a:latin typeface="Vrinda" pitchFamily="34" charset="0"/>
              <a:cs typeface="Vrinda" pitchFamily="34" charset="0"/>
            </a:endParaRPr>
          </a:p>
        </p:txBody>
      </p:sp>
      <p:sp>
        <p:nvSpPr>
          <p:cNvPr id="10" name="Content Placeholder 2"/>
          <p:cNvSpPr txBox="1">
            <a:spLocks/>
          </p:cNvSpPr>
          <p:nvPr/>
        </p:nvSpPr>
        <p:spPr>
          <a:xfrm>
            <a:off x="755576" y="1773296"/>
            <a:ext cx="792088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7475" lvl="1" indent="0" defTabSz="914363">
              <a:lnSpc>
                <a:spcPct val="90000"/>
              </a:lnSpc>
              <a:buSzPct val="100000"/>
              <a:buNone/>
            </a:pPr>
            <a:endParaRPr lang="en-IN" sz="2000" dirty="0" smtClean="0">
              <a:solidFill>
                <a:srgbClr val="6600CC"/>
              </a:solidFill>
              <a:latin typeface="Arial" panose="020B0604020202020204" pitchFamily="34" charset="0"/>
              <a:cs typeface="Arial" panose="020B0604020202020204" pitchFamily="34" charset="0"/>
            </a:endParaRPr>
          </a:p>
        </p:txBody>
      </p:sp>
      <p:sp>
        <p:nvSpPr>
          <p:cNvPr id="12" name="Rectangle 11"/>
          <p:cNvSpPr/>
          <p:nvPr/>
        </p:nvSpPr>
        <p:spPr>
          <a:xfrm>
            <a:off x="718636" y="1773296"/>
            <a:ext cx="7704856" cy="1938992"/>
          </a:xfrm>
          <a:prstGeom prst="rect">
            <a:avLst/>
          </a:prstGeom>
        </p:spPr>
        <p:txBody>
          <a:bodyPr wrap="square">
            <a:spAutoFit/>
          </a:bodyPr>
          <a:lstStyle/>
          <a:p>
            <a:pPr algn="just"/>
            <a:r>
              <a:rPr lang="en-IN" sz="2400" dirty="0" smtClean="0">
                <a:solidFill>
                  <a:srgbClr val="6600CC"/>
                </a:solidFill>
                <a:cs typeface="Arial" panose="020B0604020202020204" pitchFamily="34" charset="0"/>
              </a:rPr>
              <a:t>Geocoding </a:t>
            </a:r>
            <a:r>
              <a:rPr lang="en-IN" sz="2400" dirty="0">
                <a:solidFill>
                  <a:srgbClr val="6600CC"/>
                </a:solidFill>
                <a:cs typeface="Arial" panose="020B0604020202020204" pitchFamily="34" charset="0"/>
              </a:rPr>
              <a:t>is the process of converting addresses (like "1600 Amphitheatre Parkway, Mountain View, CA") into geographic coordinates (like latitude 37.423021 and longitude -122.083739), which </a:t>
            </a:r>
            <a:r>
              <a:rPr lang="en-IN" sz="2400" dirty="0" smtClean="0">
                <a:solidFill>
                  <a:srgbClr val="6600CC"/>
                </a:solidFill>
                <a:cs typeface="Arial" panose="020B0604020202020204" pitchFamily="34" charset="0"/>
              </a:rPr>
              <a:t>can be used </a:t>
            </a:r>
            <a:r>
              <a:rPr lang="en-IN" sz="2400" dirty="0">
                <a:solidFill>
                  <a:srgbClr val="6600CC"/>
                </a:solidFill>
                <a:cs typeface="Arial" panose="020B0604020202020204" pitchFamily="34" charset="0"/>
              </a:rPr>
              <a:t>to place markers on a map, or position the map.</a:t>
            </a: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76355" y="3738992"/>
            <a:ext cx="4189418" cy="231828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7" name="Title 1"/>
          <p:cNvSpPr txBox="1">
            <a:spLocks/>
          </p:cNvSpPr>
          <p:nvPr/>
        </p:nvSpPr>
        <p:spPr>
          <a:xfrm>
            <a:off x="395536" y="584784"/>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17475" lvl="1" defTabSz="914363">
              <a:lnSpc>
                <a:spcPct val="90000"/>
              </a:lnSpc>
              <a:buSzPct val="100000"/>
            </a:pPr>
            <a:r>
              <a:rPr lang="en-US" altLang="en-US" sz="2400" b="1" dirty="0">
                <a:solidFill>
                  <a:schemeClr val="bg1"/>
                </a:solidFill>
                <a:latin typeface="Vrinda" panose="020B0502040204020203" pitchFamily="34" charset="0"/>
                <a:cs typeface="Vrinda" panose="020B0502040204020203" pitchFamily="34" charset="0"/>
              </a:rPr>
              <a:t>Google </a:t>
            </a:r>
            <a:r>
              <a:rPr lang="en-IN" sz="2400" b="1" dirty="0">
                <a:solidFill>
                  <a:schemeClr val="bg1"/>
                </a:solidFill>
                <a:latin typeface="Vrinda" panose="020B0502040204020203" pitchFamily="34" charset="0"/>
                <a:cs typeface="Vrinda" panose="020B0502040204020203" pitchFamily="34" charset="0"/>
              </a:rPr>
              <a:t>Geocoding</a:t>
            </a:r>
          </a:p>
        </p:txBody>
      </p:sp>
    </p:spTree>
    <p:extLst>
      <p:ext uri="{BB962C8B-B14F-4D97-AF65-F5344CB8AC3E}">
        <p14:creationId xmlns:p14="http://schemas.microsoft.com/office/powerpoint/2010/main" val="29810548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136" y="1772816"/>
            <a:ext cx="7777304" cy="830997"/>
          </a:xfrm>
          <a:prstGeom prst="rect">
            <a:avLst/>
          </a:prstGeom>
        </p:spPr>
        <p:txBody>
          <a:bodyPr wrap="square">
            <a:spAutoFit/>
          </a:bodyPr>
          <a:lstStyle/>
          <a:p>
            <a:pPr algn="just"/>
            <a:r>
              <a:rPr lang="en-IN" sz="2400" dirty="0" smtClean="0">
                <a:solidFill>
                  <a:srgbClr val="6600CC"/>
                </a:solidFill>
                <a:cs typeface="Arial" panose="020B0604020202020204" pitchFamily="34" charset="0"/>
              </a:rPr>
              <a:t>To start </a:t>
            </a:r>
            <a:r>
              <a:rPr lang="en-IN" sz="2400" dirty="0">
                <a:solidFill>
                  <a:srgbClr val="6600CC"/>
                </a:solidFill>
                <a:cs typeface="Arial" panose="020B0604020202020204" pitchFamily="34" charset="0"/>
              </a:rPr>
              <a:t>using Geocoding API, </a:t>
            </a:r>
            <a:r>
              <a:rPr lang="en-IN" sz="2400" dirty="0" smtClean="0">
                <a:solidFill>
                  <a:srgbClr val="6600CC"/>
                </a:solidFill>
                <a:cs typeface="Arial" panose="020B0604020202020204" pitchFamily="34" charset="0"/>
              </a:rPr>
              <a:t>Create </a:t>
            </a:r>
            <a:r>
              <a:rPr lang="en-IN" sz="2400" dirty="0">
                <a:solidFill>
                  <a:srgbClr val="6600CC"/>
                </a:solidFill>
                <a:cs typeface="Arial" panose="020B0604020202020204" pitchFamily="34" charset="0"/>
              </a:rPr>
              <a:t>or </a:t>
            </a:r>
            <a:r>
              <a:rPr lang="en-IN" sz="2400" dirty="0" smtClean="0">
                <a:solidFill>
                  <a:srgbClr val="6600CC"/>
                </a:solidFill>
                <a:cs typeface="Arial" panose="020B0604020202020204" pitchFamily="34" charset="0"/>
              </a:rPr>
              <a:t>Select </a:t>
            </a:r>
            <a:r>
              <a:rPr lang="en-IN" sz="2400" dirty="0">
                <a:solidFill>
                  <a:srgbClr val="6600CC"/>
                </a:solidFill>
                <a:cs typeface="Arial" panose="020B0604020202020204" pitchFamily="34" charset="0"/>
              </a:rPr>
              <a:t>a </a:t>
            </a:r>
            <a:r>
              <a:rPr lang="en-IN" sz="2400" dirty="0" smtClean="0">
                <a:solidFill>
                  <a:srgbClr val="6600CC"/>
                </a:solidFill>
                <a:cs typeface="Arial" panose="020B0604020202020204" pitchFamily="34" charset="0"/>
              </a:rPr>
              <a:t>Project </a:t>
            </a:r>
            <a:r>
              <a:rPr lang="en-IN" sz="2400" dirty="0">
                <a:solidFill>
                  <a:srgbClr val="6600CC"/>
                </a:solidFill>
                <a:cs typeface="Arial" panose="020B0604020202020204" pitchFamily="34" charset="0"/>
              </a:rPr>
              <a:t>in the Google Developers Console and enable the </a:t>
            </a:r>
            <a:r>
              <a:rPr lang="en-IN" sz="2400" dirty="0" smtClean="0">
                <a:solidFill>
                  <a:srgbClr val="6600CC"/>
                </a:solidFill>
                <a:cs typeface="Arial" panose="020B0604020202020204" pitchFamily="34" charset="0"/>
              </a:rPr>
              <a:t>API.</a:t>
            </a:r>
            <a:endParaRPr lang="en-IN" sz="2400" dirty="0">
              <a:solidFill>
                <a:srgbClr val="6600CC"/>
              </a:solidFill>
              <a:cs typeface="Arial" panose="020B0604020202020204" pitchFamily="34" charset="0"/>
            </a:endParaRPr>
          </a:p>
        </p:txBody>
      </p:sp>
      <p:sp>
        <p:nvSpPr>
          <p:cNvPr id="8" name="Rectangle 7"/>
          <p:cNvSpPr/>
          <p:nvPr/>
        </p:nvSpPr>
        <p:spPr>
          <a:xfrm>
            <a:off x="1187624" y="3356992"/>
            <a:ext cx="6480720" cy="646331"/>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r>
              <a:rPr lang="en-IN" b="1" dirty="0">
                <a:solidFill>
                  <a:schemeClr val="bg1"/>
                </a:solidFill>
              </a:rPr>
              <a:t>https://console.developers.google.com/flows/enableapi?apiid=geocoding_backend&amp;keyType=SERVER_SIDE</a:t>
            </a:r>
          </a:p>
        </p:txBody>
      </p:sp>
      <p:sp>
        <p:nvSpPr>
          <p:cNvPr id="6" name="Title 1"/>
          <p:cNvSpPr txBox="1">
            <a:spLocks/>
          </p:cNvSpPr>
          <p:nvPr/>
        </p:nvSpPr>
        <p:spPr>
          <a:xfrm>
            <a:off x="395536" y="584784"/>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17475" lvl="1" defTabSz="914363">
              <a:lnSpc>
                <a:spcPct val="90000"/>
              </a:lnSpc>
              <a:buSzPct val="100000"/>
            </a:pPr>
            <a:r>
              <a:rPr lang="en-US" altLang="en-US" sz="2400" b="1" dirty="0">
                <a:solidFill>
                  <a:schemeClr val="bg1"/>
                </a:solidFill>
                <a:latin typeface="Vrinda" panose="020B0502040204020203" pitchFamily="34" charset="0"/>
                <a:cs typeface="Vrinda" panose="020B0502040204020203" pitchFamily="34" charset="0"/>
              </a:rPr>
              <a:t>Google </a:t>
            </a:r>
            <a:r>
              <a:rPr lang="en-IN" sz="2400" b="1" dirty="0" smtClean="0">
                <a:solidFill>
                  <a:schemeClr val="bg1"/>
                </a:solidFill>
                <a:latin typeface="Vrinda" panose="020B0502040204020203" pitchFamily="34" charset="0"/>
                <a:cs typeface="Vrinda" panose="020B0502040204020203" pitchFamily="34" charset="0"/>
              </a:rPr>
              <a:t>Geocoding (Contd.)</a:t>
            </a:r>
            <a:endParaRPr lang="en-IN" sz="2400" b="1" dirty="0">
              <a:solidFill>
                <a:schemeClr val="bg1"/>
              </a:solidFill>
              <a:latin typeface="Vrinda" panose="020B0502040204020203" pitchFamily="34" charset="0"/>
              <a:cs typeface="Vrinda" panose="020B0502040204020203" pitchFamily="34" charset="0"/>
            </a:endParaRPr>
          </a:p>
        </p:txBody>
      </p:sp>
    </p:spTree>
    <p:extLst>
      <p:ext uri="{BB962C8B-B14F-4D97-AF65-F5344CB8AC3E}">
        <p14:creationId xmlns:p14="http://schemas.microsoft.com/office/powerpoint/2010/main" val="42828639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p:nvPr/>
        </p:nvPicPr>
        <p:blipFill>
          <a:blip r:embed="rId4">
            <a:extLst>
              <a:ext uri="{28A0092B-C50C-407E-A947-70E740481C1C}">
                <a14:useLocalDpi xmlns:a14="http://schemas.microsoft.com/office/drawing/2010/main" val="0"/>
              </a:ext>
            </a:extLst>
          </a:blip>
          <a:stretch>
            <a:fillRect/>
          </a:stretch>
        </p:blipFill>
        <p:spPr>
          <a:xfrm>
            <a:off x="1475656" y="2060848"/>
            <a:ext cx="6480720" cy="3816424"/>
          </a:xfrm>
          <a:prstGeom prst="rect">
            <a:avLst/>
          </a:prstGeom>
          <a:ln w="88900" cap="sq" cmpd="thickThin">
            <a:solidFill>
              <a:srgbClr val="000000"/>
            </a:solidFill>
            <a:prstDash val="solid"/>
            <a:miter lim="800000"/>
          </a:ln>
          <a:effectLst>
            <a:innerShdw blurRad="76200">
              <a:srgbClr val="000000"/>
            </a:innerShdw>
          </a:effectLst>
        </p:spPr>
      </p:pic>
      <p:sp>
        <p:nvSpPr>
          <p:cNvPr id="4" name="Title 1"/>
          <p:cNvSpPr txBox="1">
            <a:spLocks/>
          </p:cNvSpPr>
          <p:nvPr/>
        </p:nvSpPr>
        <p:spPr>
          <a:xfrm>
            <a:off x="395536" y="584784"/>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17475" lvl="1" defTabSz="914363">
              <a:lnSpc>
                <a:spcPct val="90000"/>
              </a:lnSpc>
              <a:buSzPct val="100000"/>
            </a:pPr>
            <a:r>
              <a:rPr lang="en-US" altLang="en-US" sz="2400" b="1" dirty="0">
                <a:solidFill>
                  <a:schemeClr val="bg1"/>
                </a:solidFill>
                <a:latin typeface="Vrinda" panose="020B0502040204020203" pitchFamily="34" charset="0"/>
                <a:cs typeface="Vrinda" panose="020B0502040204020203" pitchFamily="34" charset="0"/>
              </a:rPr>
              <a:t>Google </a:t>
            </a:r>
            <a:r>
              <a:rPr lang="en-IN" sz="2400" b="1" dirty="0" smtClean="0">
                <a:solidFill>
                  <a:schemeClr val="bg1"/>
                </a:solidFill>
                <a:latin typeface="Vrinda" panose="020B0502040204020203" pitchFamily="34" charset="0"/>
                <a:cs typeface="Vrinda" panose="020B0502040204020203" pitchFamily="34" charset="0"/>
              </a:rPr>
              <a:t>Developers Console</a:t>
            </a:r>
            <a:endParaRPr lang="en-IN" sz="2400" b="1" dirty="0">
              <a:solidFill>
                <a:schemeClr val="bg1"/>
              </a:solidFill>
              <a:latin typeface="Vrinda" panose="020B0502040204020203" pitchFamily="34" charset="0"/>
              <a:cs typeface="Vrinda" panose="020B0502040204020203" pitchFamily="34" charset="0"/>
            </a:endParaRPr>
          </a:p>
        </p:txBody>
      </p:sp>
    </p:spTree>
    <p:extLst>
      <p:ext uri="{BB962C8B-B14F-4D97-AF65-F5344CB8AC3E}">
        <p14:creationId xmlns:p14="http://schemas.microsoft.com/office/powerpoint/2010/main" val="33877362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1403648" y="1988840"/>
            <a:ext cx="5616624" cy="3312368"/>
          </a:xfrm>
          <a:prstGeom prst="rect">
            <a:avLst/>
          </a:prstGeom>
          <a:ln w="88900" cap="sq" cmpd="thickThin">
            <a:solidFill>
              <a:srgbClr val="000000"/>
            </a:solidFill>
            <a:prstDash val="solid"/>
            <a:miter lim="800000"/>
          </a:ln>
          <a:effectLst>
            <a:innerShdw blurRad="76200">
              <a:srgbClr val="000000"/>
            </a:innerShdw>
          </a:effectLst>
        </p:spPr>
      </p:pic>
      <p:sp>
        <p:nvSpPr>
          <p:cNvPr id="6" name="Title 1"/>
          <p:cNvSpPr txBox="1">
            <a:spLocks/>
          </p:cNvSpPr>
          <p:nvPr/>
        </p:nvSpPr>
        <p:spPr>
          <a:xfrm>
            <a:off x="395536" y="584784"/>
            <a:ext cx="396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17475" lvl="1" defTabSz="914363">
              <a:lnSpc>
                <a:spcPct val="90000"/>
              </a:lnSpc>
              <a:buSzPct val="100000"/>
            </a:pPr>
            <a:r>
              <a:rPr lang="en-US" altLang="en-US" sz="2400" b="1" dirty="0">
                <a:solidFill>
                  <a:schemeClr val="bg1"/>
                </a:solidFill>
                <a:latin typeface="Vrinda" panose="020B0502040204020203" pitchFamily="34" charset="0"/>
                <a:cs typeface="Vrinda" panose="020B0502040204020203" pitchFamily="34" charset="0"/>
              </a:rPr>
              <a:t>Google </a:t>
            </a:r>
            <a:r>
              <a:rPr lang="en-IN" sz="2400" b="1" dirty="0" smtClean="0">
                <a:solidFill>
                  <a:schemeClr val="bg1"/>
                </a:solidFill>
                <a:latin typeface="Vrinda" panose="020B0502040204020203" pitchFamily="34" charset="0"/>
                <a:cs typeface="Vrinda" panose="020B0502040204020203" pitchFamily="34" charset="0"/>
              </a:rPr>
              <a:t>Developers Console</a:t>
            </a:r>
            <a:endParaRPr lang="en-IN" sz="2400" b="1" dirty="0">
              <a:solidFill>
                <a:schemeClr val="bg1"/>
              </a:solidFill>
              <a:latin typeface="Vrinda" panose="020B0502040204020203" pitchFamily="34" charset="0"/>
              <a:cs typeface="Vrinda" panose="020B0502040204020203" pitchFamily="34" charset="0"/>
            </a:endParaRPr>
          </a:p>
        </p:txBody>
      </p:sp>
    </p:spTree>
    <p:extLst>
      <p:ext uri="{BB962C8B-B14F-4D97-AF65-F5344CB8AC3E}">
        <p14:creationId xmlns:p14="http://schemas.microsoft.com/office/powerpoint/2010/main" val="1525625797"/>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40000" y="540000"/>
            <a:ext cx="3960000" cy="900000"/>
          </a:xfrm>
        </p:spPr>
        <p:txBody>
          <a:bodyPr anchor="t" anchorCtr="0">
            <a:normAutofit/>
          </a:bodyPr>
          <a:lstStyle/>
          <a:p>
            <a:pPr algn="l"/>
            <a:r>
              <a:rPr lang="en-IN" sz="2400" b="1" dirty="0">
                <a:solidFill>
                  <a:schemeClr val="bg1"/>
                </a:solidFill>
                <a:latin typeface="Vrinda" panose="020B0502040204020203" pitchFamily="34" charset="0"/>
                <a:cs typeface="Vrinda" panose="020B0502040204020203" pitchFamily="34" charset="0"/>
              </a:rPr>
              <a:t>Visualizing </a:t>
            </a:r>
            <a:r>
              <a:rPr lang="en-IN" sz="2400" b="1" dirty="0" smtClean="0">
                <a:solidFill>
                  <a:schemeClr val="bg1"/>
                </a:solidFill>
                <a:latin typeface="Vrinda" panose="020B0502040204020203" pitchFamily="34" charset="0"/>
                <a:cs typeface="Vrinda" panose="020B0502040204020203" pitchFamily="34" charset="0"/>
              </a:rPr>
              <a:t>Networks </a:t>
            </a:r>
            <a:r>
              <a:rPr lang="en-IN" sz="2400" b="1" dirty="0">
                <a:solidFill>
                  <a:schemeClr val="bg1"/>
                </a:solidFill>
                <a:latin typeface="Vrinda" panose="020B0502040204020203" pitchFamily="34" charset="0"/>
                <a:cs typeface="Vrinda" panose="020B0502040204020203" pitchFamily="34" charset="0"/>
              </a:rPr>
              <a:t>and </a:t>
            </a:r>
            <a:r>
              <a:rPr lang="en-IN" sz="2400" b="1" dirty="0" smtClean="0">
                <a:solidFill>
                  <a:schemeClr val="bg1"/>
                </a:solidFill>
                <a:latin typeface="Vrinda" panose="020B0502040204020203" pitchFamily="34" charset="0"/>
                <a:cs typeface="Vrinda" panose="020B0502040204020203" pitchFamily="34" charset="0"/>
              </a:rPr>
              <a:t>Interconnections</a:t>
            </a:r>
            <a:endParaRPr lang="en-US" sz="2400" b="1" dirty="0">
              <a:solidFill>
                <a:schemeClr val="bg1"/>
              </a:solidFill>
              <a:latin typeface="Vrinda" pitchFamily="34" charset="0"/>
              <a:cs typeface="Vrinda" pitchFamily="34" charset="0"/>
            </a:endParaRPr>
          </a:p>
        </p:txBody>
      </p:sp>
      <p:grpSp>
        <p:nvGrpSpPr>
          <p:cNvPr id="10" name="Group 10"/>
          <p:cNvGrpSpPr>
            <a:grpSpLocks/>
          </p:cNvGrpSpPr>
          <p:nvPr/>
        </p:nvGrpSpPr>
        <p:grpSpPr bwMode="auto">
          <a:xfrm>
            <a:off x="2209800" y="2057400"/>
            <a:ext cx="5602560" cy="3962400"/>
            <a:chOff x="2209800" y="2057400"/>
            <a:chExt cx="5602560" cy="3962400"/>
          </a:xfrm>
        </p:grpSpPr>
        <p:pic>
          <p:nvPicPr>
            <p:cNvPr id="11" name="Picture 4" descr="CCM01238.WM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9800" y="2400300"/>
              <a:ext cx="152400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loud Callout 11"/>
            <p:cNvSpPr/>
            <p:nvPr/>
          </p:nvSpPr>
          <p:spPr>
            <a:xfrm>
              <a:off x="3810000" y="2057400"/>
              <a:ext cx="4002360" cy="1587624"/>
            </a:xfrm>
            <a:prstGeom prst="cloudCallout">
              <a:avLst>
                <a:gd name="adj1" fmla="val -56626"/>
                <a:gd name="adj2" fmla="val 79272"/>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TextBox 11"/>
            <p:cNvSpPr txBox="1">
              <a:spLocks noChangeArrowheads="1"/>
            </p:cNvSpPr>
            <p:nvPr/>
          </p:nvSpPr>
          <p:spPr bwMode="auto">
            <a:xfrm>
              <a:off x="3962400" y="2362200"/>
              <a:ext cx="33528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dirty="0" smtClean="0">
                  <a:solidFill>
                    <a:srgbClr val="C00000"/>
                  </a:solidFill>
                  <a:latin typeface="Arial" panose="020B0604020202020204" pitchFamily="34" charset="0"/>
                  <a:cs typeface="Arial" panose="020B0604020202020204" pitchFamily="34" charset="0"/>
                </a:rPr>
                <a:t>What is </a:t>
              </a:r>
              <a:r>
                <a:rPr lang="en-IN" sz="2000" dirty="0">
                  <a:solidFill>
                    <a:srgbClr val="C00000"/>
                  </a:solidFill>
                  <a:latin typeface="Arial" panose="020B0604020202020204" pitchFamily="34" charset="0"/>
                  <a:cs typeface="Arial" panose="020B0604020202020204" pitchFamily="34" charset="0"/>
                </a:rPr>
                <a:t>Visualizing networks and </a:t>
              </a:r>
              <a:r>
                <a:rPr lang="en-IN" sz="2000" dirty="0" smtClean="0">
                  <a:solidFill>
                    <a:srgbClr val="C00000"/>
                  </a:solidFill>
                  <a:latin typeface="Arial" panose="020B0604020202020204" pitchFamily="34" charset="0"/>
                  <a:cs typeface="Arial" panose="020B0604020202020204" pitchFamily="34" charset="0"/>
                </a:rPr>
                <a:t>interconnections?</a:t>
              </a:r>
              <a:endParaRPr lang="en-US" altLang="en-US" sz="2000" dirty="0">
                <a:solidFill>
                  <a:srgbClr val="C0000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454357316"/>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39552" y="1778040"/>
            <a:ext cx="7841917" cy="1938992"/>
          </a:xfrm>
          <a:prstGeom prst="rect">
            <a:avLst/>
          </a:prstGeom>
        </p:spPr>
        <p:txBody>
          <a:bodyPr wrap="square">
            <a:spAutoFit/>
          </a:bodyPr>
          <a:lstStyle/>
          <a:p>
            <a:pPr algn="just"/>
            <a:r>
              <a:rPr lang="en-IN" sz="2400" b="1" dirty="0" smtClean="0">
                <a:solidFill>
                  <a:srgbClr val="6600CC"/>
                </a:solidFill>
                <a:cs typeface="Arial" panose="020B0604020202020204" pitchFamily="34" charset="0"/>
              </a:rPr>
              <a:t>The </a:t>
            </a:r>
            <a:r>
              <a:rPr lang="en-IN" sz="2400" b="1" dirty="0">
                <a:solidFill>
                  <a:srgbClr val="6600CC"/>
                </a:solidFill>
                <a:cs typeface="Arial" panose="020B0604020202020204" pitchFamily="34" charset="0"/>
              </a:rPr>
              <a:t>first program (spider.py) program crawls a web site and pulls a series of pages into the database (spider.sqlite), recording the links between pages. You can restart the process at any time by removing the spider.sqlite file and re-running spider.py. </a:t>
            </a:r>
          </a:p>
        </p:txBody>
      </p:sp>
      <p:sp>
        <p:nvSpPr>
          <p:cNvPr id="9" name="Title 1"/>
          <p:cNvSpPr txBox="1">
            <a:spLocks/>
          </p:cNvSpPr>
          <p:nvPr/>
        </p:nvSpPr>
        <p:spPr>
          <a:xfrm>
            <a:off x="540000" y="540000"/>
            <a:ext cx="3960000" cy="900000"/>
          </a:xfrm>
          <a:prstGeom prst="rect">
            <a:avLst/>
          </a:prstGeom>
        </p:spPr>
        <p:txBody>
          <a:bodyPr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smtClean="0">
                <a:solidFill>
                  <a:schemeClr val="bg1"/>
                </a:solidFill>
                <a:latin typeface="Vrinda" panose="020B0502040204020203" pitchFamily="34" charset="0"/>
                <a:cs typeface="Vrinda" panose="020B0502040204020203" pitchFamily="34" charset="0"/>
              </a:rPr>
              <a:t>Visualizing Networks and Interconnections (Contd.)</a:t>
            </a:r>
            <a:endParaRPr lang="en-US" sz="2400" b="1" dirty="0">
              <a:solidFill>
                <a:schemeClr val="bg1"/>
              </a:solidFill>
              <a:latin typeface="Vrinda" pitchFamily="34" charset="0"/>
              <a:cs typeface="Vrinda" pitchFamily="34" charset="0"/>
            </a:endParaRPr>
          </a:p>
        </p:txBody>
      </p:sp>
      <p:pic>
        <p:nvPicPr>
          <p:cNvPr id="5" name="Picture 2" descr="http://www.bethkanter.org/wp-content/uploads/4-25-2014-9-43-19-A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3715952"/>
            <a:ext cx="4029075" cy="23773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84918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665090"/>
            <a:ext cx="5472608" cy="4247317"/>
          </a:xfrm>
          <a:prstGeom prst="rect">
            <a:avLst/>
          </a:prstGeom>
        </p:spPr>
        <p:txBody>
          <a:bodyPr wrap="square">
            <a:spAutoFit/>
          </a:bodyPr>
          <a:lstStyle/>
          <a:p>
            <a:pPr marL="514350" lvl="1" indent="-396875" defTabSz="914363">
              <a:lnSpc>
                <a:spcPct val="90000"/>
              </a:lnSpc>
              <a:buSzPct val="100000"/>
              <a:buBlip>
                <a:blip r:embed="rId3"/>
              </a:buBlip>
            </a:pPr>
            <a:endParaRPr lang="en-IN" sz="2000" b="1" dirty="0" smtClean="0">
              <a:solidFill>
                <a:srgbClr val="6600CC"/>
              </a:solidFill>
              <a:cs typeface="Arial" panose="020B0604020202020204" pitchFamily="34" charset="0"/>
            </a:endParaRPr>
          </a:p>
          <a:p>
            <a:pPr marL="514350" lvl="1" indent="-396875" algn="just" defTabSz="914363">
              <a:lnSpc>
                <a:spcPct val="90000"/>
              </a:lnSpc>
              <a:buSzPct val="100000"/>
              <a:buBlip>
                <a:blip r:embed="rId3"/>
              </a:buBlip>
            </a:pPr>
            <a:r>
              <a:rPr lang="en-IN" sz="2400" dirty="0" smtClean="0">
                <a:solidFill>
                  <a:srgbClr val="6600CC"/>
                </a:solidFill>
                <a:cs typeface="Arial" panose="020B0604020202020204" pitchFamily="34" charset="0"/>
              </a:rPr>
              <a:t>Sometimes </a:t>
            </a:r>
            <a:r>
              <a:rPr lang="en-IN" sz="2400" dirty="0">
                <a:solidFill>
                  <a:srgbClr val="6600CC"/>
                </a:solidFill>
                <a:cs typeface="Arial" panose="020B0604020202020204" pitchFamily="34" charset="0"/>
              </a:rPr>
              <a:t>you have to pull down mail data from servers and that might take quite some time and the data might be inconsistent, error filled and need a lot of clean </a:t>
            </a:r>
            <a:r>
              <a:rPr lang="en-IN" sz="2400" dirty="0" smtClean="0">
                <a:solidFill>
                  <a:srgbClr val="6600CC"/>
                </a:solidFill>
                <a:cs typeface="Arial" panose="020B0604020202020204" pitchFamily="34" charset="0"/>
              </a:rPr>
              <a:t>up </a:t>
            </a:r>
            <a:r>
              <a:rPr lang="en-IN" sz="2400" dirty="0">
                <a:solidFill>
                  <a:srgbClr val="6600CC"/>
                </a:solidFill>
                <a:cs typeface="Arial" panose="020B0604020202020204" pitchFamily="34" charset="0"/>
              </a:rPr>
              <a:t>or </a:t>
            </a:r>
            <a:r>
              <a:rPr lang="en-IN" sz="2400" dirty="0" smtClean="0">
                <a:solidFill>
                  <a:srgbClr val="6600CC"/>
                </a:solidFill>
                <a:cs typeface="Arial" panose="020B0604020202020204" pitchFamily="34" charset="0"/>
              </a:rPr>
              <a:t>adjustment.</a:t>
            </a:r>
          </a:p>
          <a:p>
            <a:pPr marL="514350" lvl="1" indent="-396875" algn="just" defTabSz="914363">
              <a:lnSpc>
                <a:spcPct val="90000"/>
              </a:lnSpc>
              <a:buSzPct val="100000"/>
              <a:buBlip>
                <a:blip r:embed="rId3"/>
              </a:buBlip>
            </a:pPr>
            <a:endParaRPr lang="en-IN" sz="2400" dirty="0" smtClean="0">
              <a:solidFill>
                <a:srgbClr val="6600CC"/>
              </a:solidFill>
              <a:cs typeface="Arial" panose="020B0604020202020204" pitchFamily="34" charset="0"/>
            </a:endParaRPr>
          </a:p>
          <a:p>
            <a:pPr marL="514350" lvl="1" indent="-396875" algn="just" defTabSz="914363">
              <a:lnSpc>
                <a:spcPct val="90000"/>
              </a:lnSpc>
              <a:buSzPct val="100000"/>
              <a:buBlip>
                <a:blip r:embed="rId3"/>
              </a:buBlip>
            </a:pPr>
            <a:r>
              <a:rPr lang="en-IN" sz="2400" dirty="0">
                <a:solidFill>
                  <a:srgbClr val="6600CC"/>
                </a:solidFill>
                <a:cs typeface="Arial" panose="020B0604020202020204" pitchFamily="34" charset="0"/>
              </a:rPr>
              <a:t>We work with an application that is the most complex and pull down nearly a gigabyte of data and visualize it</a:t>
            </a:r>
            <a:r>
              <a:rPr lang="en-IN" sz="2400" dirty="0"/>
              <a:t>.</a:t>
            </a:r>
          </a:p>
          <a:p>
            <a:r>
              <a:rPr lang="en-IN" dirty="0"/>
              <a:t/>
            </a:r>
            <a:br>
              <a:rPr lang="en-IN" dirty="0"/>
            </a:br>
            <a:endParaRPr lang="en-IN" dirty="0"/>
          </a:p>
        </p:txBody>
      </p:sp>
      <p:pic>
        <p:nvPicPr>
          <p:cNvPr id="4" name="Picture 3"/>
          <p:cNvPicPr>
            <a:picLocks noChangeAspect="1"/>
          </p:cNvPicPr>
          <p:nvPr/>
        </p:nvPicPr>
        <p:blipFill>
          <a:blip r:embed="rId4"/>
          <a:stretch>
            <a:fillRect/>
          </a:stretch>
        </p:blipFill>
        <p:spPr>
          <a:xfrm>
            <a:off x="6156176" y="2060848"/>
            <a:ext cx="2390892" cy="3744416"/>
          </a:xfrm>
          <a:prstGeom prst="rect">
            <a:avLst/>
          </a:prstGeom>
        </p:spPr>
      </p:pic>
      <p:sp>
        <p:nvSpPr>
          <p:cNvPr id="5" name="Title 1"/>
          <p:cNvSpPr txBox="1">
            <a:spLocks/>
          </p:cNvSpPr>
          <p:nvPr/>
        </p:nvSpPr>
        <p:spPr>
          <a:xfrm>
            <a:off x="540000" y="540000"/>
            <a:ext cx="3960000" cy="900000"/>
          </a:xfrm>
          <a:prstGeom prst="rect">
            <a:avLst/>
          </a:prstGeom>
        </p:spPr>
        <p:txBody>
          <a:bodyPr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smtClean="0">
                <a:solidFill>
                  <a:schemeClr val="bg1"/>
                </a:solidFill>
                <a:latin typeface="Vrinda" panose="020B0502040204020203" pitchFamily="34" charset="0"/>
                <a:cs typeface="Vrinda" panose="020B0502040204020203" pitchFamily="34" charset="0"/>
              </a:rPr>
              <a:t>Visualizing Mail Data</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28594742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219200" y="2667000"/>
            <a:ext cx="5069160" cy="1600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r>
              <a:rPr lang="en-IN" dirty="0" smtClean="0"/>
              <a:t>__________Key is used to uniquely identify records in a table.</a:t>
            </a:r>
            <a:endParaRPr lang="en-IN" dirty="0"/>
          </a:p>
          <a:p>
            <a:endParaRPr lang="en-US" dirty="0"/>
          </a:p>
          <a:p>
            <a:pPr algn="ctr"/>
            <a:endParaRPr lang="en-IN" sz="1600" dirty="0" smtClean="0"/>
          </a:p>
          <a:p>
            <a:pPr algn="ctr"/>
            <a:endParaRPr lang="en-US" sz="1600" dirty="0"/>
          </a:p>
        </p:txBody>
      </p:sp>
    </p:spTree>
    <p:extLst>
      <p:ext uri="{BB962C8B-B14F-4D97-AF65-F5344CB8AC3E}">
        <p14:creationId xmlns:p14="http://schemas.microsoft.com/office/powerpoint/2010/main" val="41329050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grpSp>
        <p:nvGrpSpPr>
          <p:cNvPr id="5" name="Group 4"/>
          <p:cNvGrpSpPr/>
          <p:nvPr/>
        </p:nvGrpSpPr>
        <p:grpSpPr>
          <a:xfrm>
            <a:off x="2733802" y="4974021"/>
            <a:ext cx="4379376" cy="977946"/>
            <a:chOff x="304808" y="5638800"/>
            <a:chExt cx="2761337"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645464" y="6053229"/>
              <a:ext cx="1420681" cy="299289"/>
            </a:xfrm>
            <a:prstGeom prst="rect">
              <a:avLst/>
            </a:prstGeom>
            <a:ln>
              <a:noFill/>
            </a:ln>
            <a:effectLst>
              <a:glow rad="63500">
                <a:schemeClr val="accent3">
                  <a:satMod val="175000"/>
                  <a:alpha val="40000"/>
                </a:schemeClr>
              </a:glow>
            </a:effectLst>
          </p:spPr>
          <p:txBody>
            <a:bodyPr wrap="square">
              <a:spAutoFit/>
            </a:bodyPr>
            <a:lstStyle/>
            <a:p>
              <a:pPr marL="117475" indent="0" defTabSz="914363">
                <a:lnSpc>
                  <a:spcPct val="90000"/>
                </a:lnSpc>
                <a:spcBef>
                  <a:spcPct val="20000"/>
                </a:spcBef>
                <a:buSzPct val="100000"/>
                <a:buFont typeface="Arial" pitchFamily="34" charset="0"/>
                <a:buNone/>
              </a:pPr>
              <a:r>
                <a:rPr lang="en-IN" sz="1600" dirty="0" smtClean="0">
                  <a:solidFill>
                    <a:schemeClr val="bg1"/>
                  </a:solidFill>
                  <a:latin typeface="Vrinda" pitchFamily="34" charset="0"/>
                  <a:cs typeface="Vrinda" pitchFamily="34" charset="0"/>
                </a:rPr>
                <a:t>Primary</a:t>
              </a:r>
              <a:endParaRPr lang="en-IN" sz="1600" dirty="0">
                <a:solidFill>
                  <a:schemeClr val="bg1"/>
                </a:solidFill>
                <a:latin typeface="Vrinda" pitchFamily="34" charset="0"/>
                <a:cs typeface="Vrinda" pitchFamily="34" charset="0"/>
              </a:endParaRP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
        <p:nvSpPr>
          <p:cNvPr id="14" name="Oval Callout 13"/>
          <p:cNvSpPr/>
          <p:nvPr/>
        </p:nvSpPr>
        <p:spPr>
          <a:xfrm flipH="1">
            <a:off x="1219200" y="2667000"/>
            <a:ext cx="5069160" cy="1600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r>
              <a:rPr lang="en-IN" dirty="0" smtClean="0"/>
              <a:t>__________Key is used to uniquely identify records in a table.</a:t>
            </a:r>
            <a:endParaRPr lang="en-IN" dirty="0"/>
          </a:p>
          <a:p>
            <a:endParaRPr lang="en-US" sz="1600" dirty="0"/>
          </a:p>
          <a:p>
            <a:pPr algn="ctr"/>
            <a:endParaRPr lang="en-IN" sz="1600" dirty="0" smtClean="0"/>
          </a:p>
          <a:p>
            <a:pPr algn="ctr"/>
            <a:endParaRPr lang="en-US" sz="1600" dirty="0"/>
          </a:p>
        </p:txBody>
      </p:sp>
    </p:spTree>
    <p:extLst>
      <p:ext uri="{BB962C8B-B14F-4D97-AF65-F5344CB8AC3E}">
        <p14:creationId xmlns:p14="http://schemas.microsoft.com/office/powerpoint/2010/main" val="733219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smtClean="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414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Activity</a:t>
            </a:r>
            <a:endParaRPr lang="en-US" sz="2400" b="1" dirty="0">
              <a:solidFill>
                <a:schemeClr val="bg1"/>
              </a:solidFill>
              <a:latin typeface="Vrinda" pitchFamily="34" charset="0"/>
              <a:cs typeface="Vrinda" pitchFamily="34" charset="0"/>
            </a:endParaRPr>
          </a:p>
        </p:txBody>
      </p:sp>
      <p:sp>
        <p:nvSpPr>
          <p:cNvPr id="2" name="Rectangle 1"/>
          <p:cNvSpPr/>
          <p:nvPr/>
        </p:nvSpPr>
        <p:spPr>
          <a:xfrm>
            <a:off x="588704" y="1744674"/>
            <a:ext cx="7848872" cy="487506"/>
          </a:xfrm>
          <a:prstGeom prst="rect">
            <a:avLst/>
          </a:prstGeom>
        </p:spPr>
        <p:txBody>
          <a:bodyPr wrap="square">
            <a:spAutoFit/>
          </a:bodyPr>
          <a:lstStyle/>
          <a:p>
            <a:pPr>
              <a:lnSpc>
                <a:spcPct val="107000"/>
              </a:lnSpc>
              <a:spcAft>
                <a:spcPts val="800"/>
              </a:spcAft>
            </a:pPr>
            <a:r>
              <a:rPr lang="en-US" sz="2400" b="1" dirty="0" smtClean="0">
                <a:solidFill>
                  <a:srgbClr val="6600CC"/>
                </a:solidFill>
                <a:latin typeface="Calibri" panose="020F0502020204030204" pitchFamily="34" charset="0"/>
                <a:ea typeface="Calibri" panose="020F0502020204030204" pitchFamily="34" charset="0"/>
                <a:cs typeface="Times New Roman" panose="02020603050405020304" pitchFamily="18" charset="0"/>
              </a:rPr>
              <a:t>Activity :   Programming With Multiple Tables</a:t>
            </a:r>
            <a:endParaRPr lang="en-US" sz="2400" dirty="0">
              <a:solidFill>
                <a:srgbClr val="6600CC"/>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1"/>
          <p:cNvSpPr>
            <a:spLocks noChangeArrowheads="1"/>
          </p:cNvSpPr>
          <p:nvPr/>
        </p:nvSpPr>
        <p:spPr bwMode="auto">
          <a:xfrm>
            <a:off x="588704" y="2478955"/>
            <a:ext cx="7848872" cy="240065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6600CC"/>
                </a:solidFill>
                <a:effectLst/>
                <a:ea typeface="Calibri" panose="020F0502020204030204" pitchFamily="34" charset="0"/>
                <a:cs typeface="Times New Roman" panose="02020603050405020304" pitchFamily="18" charset="0"/>
              </a:rPr>
              <a:t>Problem Statement: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1" i="0" u="none" strike="noStrike" cap="none" normalizeH="0" baseline="0" dirty="0" smtClean="0">
              <a:ln>
                <a:noFill/>
              </a:ln>
              <a:solidFill>
                <a:srgbClr val="6600CC"/>
              </a:solidFill>
              <a:effectLst/>
            </a:endParaRPr>
          </a:p>
          <a:p>
            <a:r>
              <a:rPr lang="en-US" sz="2000" dirty="0">
                <a:solidFill>
                  <a:srgbClr val="6600CC"/>
                </a:solidFill>
              </a:rPr>
              <a:t>Write a simple program to </a:t>
            </a:r>
            <a:r>
              <a:rPr lang="en-US" sz="2000" dirty="0" smtClean="0">
                <a:solidFill>
                  <a:srgbClr val="6600CC"/>
                </a:solidFill>
              </a:rPr>
              <a:t>retrieve data from multiple tables.</a:t>
            </a:r>
          </a:p>
          <a:p>
            <a:endParaRPr lang="en-US" sz="2000" dirty="0">
              <a:solidFill>
                <a:srgbClr val="6600CC"/>
              </a:solidFill>
            </a:endParaRPr>
          </a:p>
          <a:p>
            <a:r>
              <a:rPr lang="en-US" sz="2000" b="1" dirty="0">
                <a:solidFill>
                  <a:srgbClr val="6600CC"/>
                </a:solidFill>
                <a:ea typeface="Calibri" panose="020F0502020204030204" pitchFamily="34" charset="0"/>
                <a:cs typeface="Times New Roman" panose="02020603050405020304" pitchFamily="18" charset="0"/>
              </a:rPr>
              <a:t>Prerequisite: </a:t>
            </a:r>
            <a:r>
              <a:rPr lang="en-US" sz="2000" dirty="0">
                <a:solidFill>
                  <a:srgbClr val="6600CC"/>
                </a:solidFill>
              </a:rPr>
              <a:t>For this activity please refer </a:t>
            </a:r>
            <a:r>
              <a:rPr lang="en-US" sz="2000" b="1" dirty="0" err="1">
                <a:solidFill>
                  <a:srgbClr val="6600CC"/>
                </a:solidFill>
              </a:rPr>
              <a:t>school.db</a:t>
            </a:r>
            <a:r>
              <a:rPr lang="en-US" sz="2000" b="1" dirty="0" smtClean="0">
                <a:solidFill>
                  <a:srgbClr val="6600CC"/>
                </a:solidFill>
              </a:rPr>
              <a:t> </a:t>
            </a:r>
            <a:r>
              <a:rPr lang="en-US" sz="2000" dirty="0">
                <a:solidFill>
                  <a:srgbClr val="6600CC"/>
                </a:solidFill>
              </a:rPr>
              <a:t>available in  “</a:t>
            </a:r>
            <a:r>
              <a:rPr lang="en-US" sz="2000" b="1" dirty="0" err="1">
                <a:solidFill>
                  <a:srgbClr val="6600CC"/>
                </a:solidFill>
              </a:rPr>
              <a:t>Data_File_For_Students</a:t>
            </a:r>
            <a:r>
              <a:rPr lang="en-US" sz="2000" dirty="0">
                <a:solidFill>
                  <a:srgbClr val="6600CC"/>
                </a:solidFill>
              </a:rPr>
              <a:t>” folder. </a:t>
            </a:r>
            <a:endParaRPr lang="en-US" sz="2000" dirty="0">
              <a:solidFill>
                <a:srgbClr val="6600CC"/>
              </a:solidFill>
              <a:ea typeface="Calibri" panose="020F0502020204030204" pitchFamily="34" charset="0"/>
              <a:cs typeface="Times New Roman" panose="02020603050405020304" pitchFamily="18" charset="0"/>
            </a:endParaRPr>
          </a:p>
          <a:p>
            <a:endParaRPr lang="en-US" sz="1400" dirty="0"/>
          </a:p>
        </p:txBody>
      </p:sp>
    </p:spTree>
    <p:extLst>
      <p:ext uri="{BB962C8B-B14F-4D97-AF65-F5344CB8AC3E}">
        <p14:creationId xmlns:p14="http://schemas.microsoft.com/office/powerpoint/2010/main" val="33502286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Summary</a:t>
            </a:r>
            <a:endParaRPr lang="en-US" sz="2400" b="1" dirty="0">
              <a:solidFill>
                <a:schemeClr val="bg1"/>
              </a:solidFill>
              <a:latin typeface="Vrinda" pitchFamily="34" charset="0"/>
              <a:cs typeface="Vrinda" pitchFamily="34" charset="0"/>
            </a:endParaRPr>
          </a:p>
        </p:txBody>
      </p:sp>
      <p:sp>
        <p:nvSpPr>
          <p:cNvPr id="3" name="Rectangle 2"/>
          <p:cNvSpPr/>
          <p:nvPr/>
        </p:nvSpPr>
        <p:spPr>
          <a:xfrm>
            <a:off x="611560" y="1772816"/>
            <a:ext cx="8064896" cy="2616101"/>
          </a:xfrm>
          <a:prstGeom prst="rect">
            <a:avLst/>
          </a:prstGeom>
        </p:spPr>
        <p:txBody>
          <a:bodyPr wrap="square">
            <a:spAutoFit/>
          </a:bodyPr>
          <a:lstStyle/>
          <a:p>
            <a:pPr marL="342900" indent="-342900">
              <a:buFont typeface="Wingdings" panose="05000000000000000000" pitchFamily="2" charset="2"/>
              <a:buChar char="q"/>
            </a:pPr>
            <a:r>
              <a:rPr lang="en-IN" sz="2400" dirty="0" smtClean="0">
                <a:solidFill>
                  <a:srgbClr val="6600CC"/>
                </a:solidFill>
                <a:cs typeface="Arial" panose="020B0604020202020204" pitchFamily="34" charset="0"/>
              </a:rPr>
              <a:t>In this session , you have learned that :</a:t>
            </a:r>
          </a:p>
          <a:p>
            <a:pPr marL="800100" lvl="1" indent="-342900">
              <a:buFont typeface="Wingdings" panose="05000000000000000000" pitchFamily="2" charset="2"/>
              <a:buChar char="q"/>
            </a:pPr>
            <a:endParaRPr lang="en-IN" sz="2000" dirty="0" smtClean="0">
              <a:solidFill>
                <a:srgbClr val="6600CC"/>
              </a:solidFill>
              <a:cs typeface="Arial" panose="020B0604020202020204" pitchFamily="34" charset="0"/>
            </a:endParaRPr>
          </a:p>
          <a:p>
            <a:pPr marL="800100" lvl="1" indent="-342900">
              <a:buFont typeface="Wingdings" panose="05000000000000000000" pitchFamily="2" charset="2"/>
              <a:buChar char="q"/>
            </a:pPr>
            <a:r>
              <a:rPr lang="en-IN" sz="2000" dirty="0" smtClean="0">
                <a:solidFill>
                  <a:srgbClr val="6600CC"/>
                </a:solidFill>
                <a:cs typeface="Arial" panose="020B0604020202020204" pitchFamily="34" charset="0"/>
              </a:rPr>
              <a:t>Data </a:t>
            </a:r>
            <a:r>
              <a:rPr lang="en-IN" sz="2000" dirty="0">
                <a:solidFill>
                  <a:srgbClr val="6600CC"/>
                </a:solidFill>
                <a:cs typeface="Arial" panose="020B0604020202020204" pitchFamily="34" charset="0"/>
              </a:rPr>
              <a:t>V</a:t>
            </a:r>
            <a:r>
              <a:rPr lang="en-IN" sz="2000" dirty="0" smtClean="0">
                <a:solidFill>
                  <a:srgbClr val="6600CC"/>
                </a:solidFill>
                <a:cs typeface="Arial" panose="020B0604020202020204" pitchFamily="34" charset="0"/>
              </a:rPr>
              <a:t>isualization </a:t>
            </a:r>
            <a:r>
              <a:rPr lang="en-IN" sz="2000" dirty="0">
                <a:solidFill>
                  <a:srgbClr val="6600CC"/>
                </a:solidFill>
                <a:cs typeface="Arial" panose="020B0604020202020204" pitchFamily="34" charset="0"/>
              </a:rPr>
              <a:t>refers to the techniques used to communicate </a:t>
            </a:r>
            <a:r>
              <a:rPr lang="en-IN" sz="2000" dirty="0" smtClean="0">
                <a:solidFill>
                  <a:srgbClr val="6600CC"/>
                </a:solidFill>
                <a:cs typeface="Arial" panose="020B0604020202020204" pitchFamily="34" charset="0"/>
              </a:rPr>
              <a:t>data.</a:t>
            </a:r>
          </a:p>
          <a:p>
            <a:pPr marL="800100" lvl="1" indent="-342900">
              <a:buFont typeface="Wingdings" panose="05000000000000000000" pitchFamily="2" charset="2"/>
              <a:buChar char="q"/>
            </a:pPr>
            <a:r>
              <a:rPr lang="en-IN" sz="2000" dirty="0" smtClean="0">
                <a:solidFill>
                  <a:srgbClr val="6600CC"/>
                </a:solidFill>
                <a:cs typeface="Arial" panose="020B0604020202020204" pitchFamily="34" charset="0"/>
              </a:rPr>
              <a:t>Geocoding </a:t>
            </a:r>
            <a:r>
              <a:rPr lang="en-IN" sz="2000" dirty="0">
                <a:solidFill>
                  <a:srgbClr val="6600CC"/>
                </a:solidFill>
                <a:cs typeface="Arial" panose="020B0604020202020204" pitchFamily="34" charset="0"/>
              </a:rPr>
              <a:t>is the process of converting </a:t>
            </a:r>
            <a:r>
              <a:rPr lang="en-IN" sz="2000" dirty="0" smtClean="0">
                <a:solidFill>
                  <a:srgbClr val="6600CC"/>
                </a:solidFill>
                <a:cs typeface="Arial" panose="020B0604020202020204" pitchFamily="34" charset="0"/>
              </a:rPr>
              <a:t>addresses.</a:t>
            </a:r>
            <a:endParaRPr lang="en-IN" sz="2000" dirty="0">
              <a:solidFill>
                <a:srgbClr val="6600CC"/>
              </a:solidFill>
              <a:cs typeface="Arial" panose="020B0604020202020204" pitchFamily="34" charset="0"/>
            </a:endParaRPr>
          </a:p>
          <a:p>
            <a:pPr marL="800100" lvl="1" indent="-342900">
              <a:buFont typeface="Wingdings" panose="05000000000000000000" pitchFamily="2" charset="2"/>
              <a:buChar char="q"/>
            </a:pPr>
            <a:r>
              <a:rPr lang="en-IN" sz="2000" dirty="0" smtClean="0">
                <a:solidFill>
                  <a:srgbClr val="6600CC"/>
                </a:solidFill>
                <a:cs typeface="Arial" panose="020B0604020202020204" pitchFamily="34" charset="0"/>
              </a:rPr>
              <a:t>Geocoding API is used for Visualizing Networks and Interconnections.</a:t>
            </a:r>
          </a:p>
          <a:p>
            <a:pPr marL="457200" indent="-457200">
              <a:buFont typeface="Wingdings" panose="05000000000000000000" pitchFamily="2" charset="2"/>
              <a:buChar char="q"/>
            </a:pPr>
            <a:endParaRPr lang="en-IN" sz="2000" dirty="0">
              <a:solidFill>
                <a:srgbClr val="6600C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0794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ARTICULATE_PROJECT_OPEN" val="0"/>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Logic Building and Effective Problem Solving&amp;quot;&quot;/&gt;&lt;property id=&quot;20307&quot; value=&quot;256&quot;/&gt;&lt;/object&gt;&lt;object type=&quot;3&quot; unique_id=&quot;10005&quot;&gt;&lt;property id=&quot;20148&quot; value=&quot;5&quot;/&gt;&lt;property id=&quot;20300&quot; value=&quot;Slide 2 - &amp;quot;Objectives&amp;quot;&quot;/&gt;&lt;property id=&quot;20307&quot; value=&quot;257&quot;/&gt;&lt;/object&gt;&lt;object type=&quot;3&quot; unique_id=&quot;10006&quot;&gt;&lt;property id=&quot;20148&quot; value=&quot;5&quot;/&gt;&lt;property id=&quot;20300&quot; value=&quot;Slide 3 - &amp;quot;Input, Process, and Output&amp;quot;&quot;/&gt;&lt;property id=&quot;20307&quot; value=&quot;269&quot;/&gt;&lt;/object&gt;&lt;object type=&quot;3&quot; unique_id=&quot;10007&quot;&gt;&lt;property id=&quot;20148&quot; value=&quot;5&quot;/&gt;&lt;property id=&quot;20300&quot; value=&quot;Slide 4 - &amp;quot;Phases&amp;quot;&quot;/&gt;&lt;property id=&quot;20307&quot; value=&quot;270&quot;/&gt;&lt;/object&gt;&lt;object type=&quot;3&quot; unique_id=&quot;10008&quot;&gt;&lt;property id=&quot;20148&quot; value=&quot;5&quot;/&gt;&lt;property id=&quot;20300&quot; value=&quot;Slide 5 - &amp;quot;I-P-O Cycle&amp;quot;&quot;/&gt;&lt;property id=&quot;20307&quot; value=&quot;334&quot;/&gt;&lt;/object&gt;&lt;object type=&quot;3&quot; unique_id=&quot;10009&quot;&gt;&lt;property id=&quot;20148&quot; value=&quot;5&quot;/&gt;&lt;property id=&quot;20300&quot; value=&quot;Slide 6 - &amp;quot;1.1 Let’s Practice &amp;quot;&quot;/&gt;&lt;property id=&quot;20307&quot; value=&quot;271&quot;/&gt;&lt;/object&gt;&lt;object type=&quot;3&quot; unique_id=&quot;10011&quot;&gt;&lt;property id=&quot;20148&quot; value=&quot;5&quot;/&gt;&lt;property id=&quot;20300&quot; value=&quot;Slide 9 - &amp;quot;Programs and Programming Languages&amp;quot;&quot;/&gt;&lt;property id=&quot;20307&quot; value=&quot;335&quot;/&gt;&lt;/object&gt;&lt;object type=&quot;3&quot; unique_id=&quot;10012&quot;&gt;&lt;property id=&quot;20148&quot; value=&quot;5&quot;/&gt;&lt;property id=&quot;20300&quot; value=&quot;Slide 10 - &amp;quot;Programs&amp;quot;&quot;/&gt;&lt;property id=&quot;20307&quot; value=&quot;272&quot;/&gt;&lt;/object&gt;&lt;object type=&quot;3&quot; unique_id=&quot;10013&quot;&gt;&lt;property id=&quot;20148&quot; value=&quot;5&quot;/&gt;&lt;property id=&quot;20300&quot; value=&quot;Slide 11 - &amp;quot;Programs (Contd.)&amp;quot;&quot;/&gt;&lt;property id=&quot;20307&quot; value=&quot;348&quot;/&gt;&lt;/object&gt;&lt;object type=&quot;3&quot; unique_id=&quot;10014&quot;&gt;&lt;property id=&quot;20148&quot; value=&quot;5&quot;/&gt;&lt;property id=&quot;20300&quot; value=&quot;Slide 12 - &amp;quot;Programming Languages&amp;quot;&quot;/&gt;&lt;property id=&quot;20307&quot; value=&quot;273&quot;/&gt;&lt;/object&gt;&lt;object type=&quot;3&quot; unique_id=&quot;10015&quot;&gt;&lt;property id=&quot;20148&quot; value=&quot;5&quot;/&gt;&lt;property id=&quot;20300&quot; value=&quot;Slide 13 - &amp;quot;Programming Languages (Contd.)&amp;quot;&quot;/&gt;&lt;property id=&quot;20307&quot; value=&quot;349&quot;/&gt;&lt;/object&gt;&lt;object type=&quot;3&quot; unique_id=&quot;10016&quot;&gt;&lt;property id=&quot;20148&quot; value=&quot;5&quot;/&gt;&lt;property id=&quot;20300&quot; value=&quot;Slide 15 - &amp;quot;Compilers&amp;quot;&quot;/&gt;&lt;property id=&quot;20307&quot; value=&quot;351&quot;/&gt;&lt;/object&gt;&lt;object type=&quot;3&quot; unique_id=&quot;10017&quot;&gt;&lt;property id=&quot;20148&quot; value=&quot;5&quot;/&gt;&lt;property id=&quot;20300&quot; value=&quot;Slide 17 - &amp;quot;Compilers (Contd.)&amp;quot;&quot;/&gt;&lt;property id=&quot;20307&quot; value=&quot;336&quot;/&gt;&lt;/object&gt;&lt;object type=&quot;3&quot; unique_id=&quot;10018&quot;&gt;&lt;property id=&quot;20148&quot; value=&quot;5&quot;/&gt;&lt;property id=&quot;20300&quot; value=&quot;Slide 18 - &amp;quot;Just a Minute &amp;quot;&quot;/&gt;&lt;property id=&quot;20307&quot; value=&quot;352&quot;/&gt;&lt;/object&gt;&lt;object type=&quot;3&quot; unique_id=&quot;10031&quot;&gt;&lt;property id=&quot;20148&quot; value=&quot;5&quot;/&gt;&lt;property id=&quot;20300&quot; value=&quot;Slide 19 - &amp;quot;Summary&amp;quot;&quot;/&gt;&lt;property id=&quot;20307&quot; value=&quot;362&quot;/&gt;&lt;/object&gt;&lt;object type=&quot;3&quot; unique_id=&quot;10033&quot;&gt;&lt;property id=&quot;20148&quot; value=&quot;5&quot;/&gt;&lt;property id=&quot;20300&quot; value=&quot;Slide 7 - &amp;quot;1.1 Let’s Practice (Contd.) &amp;quot;&quot;/&gt;&lt;property id=&quot;20307&quot; value=&quot;365&quot;/&gt;&lt;/object&gt;&lt;object type=&quot;3&quot; unique_id=&quot;10034&quot;&gt;&lt;property id=&quot;20148&quot; value=&quot;5&quot;/&gt;&lt;property id=&quot;20300&quot; value=&quot;Slide 8 - &amp;quot;1.1 Let’s Practice (Contd.) &amp;quot;&quot;/&gt;&lt;property id=&quot;20307&quot; value=&quot;366&quot;/&gt;&lt;/object&gt;&lt;object type=&quot;3&quot; unique_id=&quot;10037&quot;&gt;&lt;property id=&quot;20148&quot; value=&quot;5&quot;/&gt;&lt;property id=&quot;20300&quot; value=&quot;Slide 14 - &amp;quot;Programming Languages (Contd.)&amp;quot;&quot;/&gt;&lt;property id=&quot;20307&quot; value=&quot;370&quot;/&gt;&lt;/object&gt;&lt;object type=&quot;3&quot; unique_id=&quot;10038&quot;&gt;&lt;property id=&quot;20148&quot; value=&quot;5&quot;/&gt;&lt;property id=&quot;20300&quot; value=&quot;Slide 16 - &amp;quot;Compilers (Contd.)&amp;quot;&quot;/&gt;&lt;property id=&quot;20307&quot; value=&quot;371&quot;/&gt;&lt;/object&gt;&lt;object type=&quot;3&quot; unique_id=&quot;10039&quot;&gt;&lt;property id=&quot;20148&quot; value=&quot;5&quot;/&gt;&lt;property id=&quot;20300&quot; value=&quot;Slide 20 - &amp;quot;What’s Next?&amp;quot;&quot;/&gt;&lt;property id=&quot;20307&quot; value=&quot;369&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a:spAutoFit/>
      </a:bodyPr>
      <a:lstStyle>
        <a:defPPr marL="514350" indent="-396875" defTabSz="914363">
          <a:lnSpc>
            <a:spcPct val="90000"/>
          </a:lnSpc>
          <a:spcBef>
            <a:spcPct val="20000"/>
          </a:spcBef>
          <a:buSzPct val="100000"/>
          <a:buBlip>
            <a:blip xmlns:r="http://schemas.openxmlformats.org/officeDocument/2006/relationships" r:embed="rId1"/>
          </a:buBlip>
          <a:defRPr sz="2000" dirty="0">
            <a:solidFill>
              <a:srgbClr val="6600CC"/>
            </a:solidFill>
            <a:latin typeface="Vrinda" pitchFamily="34" charset="0"/>
            <a:cs typeface="Vrinda" pitchFamily="34" charset="0"/>
          </a:defRPr>
        </a:defPPr>
      </a:lstStyle>
    </a:spDef>
  </a:objectDefaults>
  <a:extraClrSchemeLst/>
</a:theme>
</file>

<file path=ppt/theme/theme2.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9013</TotalTime>
  <Words>2332</Words>
  <Application>Microsoft Office PowerPoint</Application>
  <PresentationFormat>On-screen Show (4:3)</PresentationFormat>
  <Paragraphs>264</Paragraphs>
  <Slides>19</Slides>
  <Notes>16</Notes>
  <HiddenSlides>0</HiddenSlides>
  <MMClips>0</MMClips>
  <ScaleCrop>false</ScaleCrop>
  <HeadingPairs>
    <vt:vector size="4" baseType="variant">
      <vt:variant>
        <vt:lpstr>Theme</vt:lpstr>
      </vt:variant>
      <vt:variant>
        <vt:i4>3</vt:i4>
      </vt:variant>
      <vt:variant>
        <vt:lpstr>Slide Titles</vt:lpstr>
      </vt:variant>
      <vt:variant>
        <vt:i4>19</vt:i4>
      </vt:variant>
    </vt:vector>
  </HeadingPairs>
  <TitlesOfParts>
    <vt:vector size="22" baseType="lpstr">
      <vt:lpstr>Office Theme</vt:lpstr>
      <vt:lpstr>6_Office Theme</vt:lpstr>
      <vt:lpstr>9_Office Theme</vt:lpstr>
      <vt:lpstr>Visualizing Data in Python </vt:lpstr>
      <vt:lpstr>Objectives</vt:lpstr>
      <vt:lpstr>Implement Programming with Multiple Tables </vt:lpstr>
      <vt:lpstr>PowerPoint Presentation</vt:lpstr>
      <vt:lpstr>PowerPoint Presentation</vt:lpstr>
      <vt:lpstr>Use Different Types of Keys </vt:lpstr>
      <vt:lpstr>Use JOIN to Retrieve Data </vt:lpstr>
      <vt:lpstr>PowerPoint Presentation</vt:lpstr>
      <vt:lpstr>PowerPoint Presentation</vt:lpstr>
      <vt:lpstr>PowerPoint Presentation</vt:lpstr>
      <vt:lpstr>PowerPoint Presentation</vt:lpstr>
      <vt:lpstr>PowerPoint Presentation</vt:lpstr>
      <vt:lpstr>Visualizing Networks and Interconnections</vt:lpstr>
      <vt:lpstr>PowerPoint Presentation</vt:lpstr>
      <vt:lpstr>PowerPoint Presentation</vt:lpstr>
      <vt:lpstr>Just a Minute</vt:lpstr>
      <vt:lpstr>Just a Minute</vt:lpstr>
      <vt:lpstr>Activity</vt:lpstr>
      <vt:lpstr>Summary</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Jasneet Kaur</dc:creator>
  <cp:lastModifiedBy>AnnuS</cp:lastModifiedBy>
  <cp:revision>634</cp:revision>
  <dcterms:created xsi:type="dcterms:W3CDTF">2012-02-06T03:44:02Z</dcterms:created>
  <dcterms:modified xsi:type="dcterms:W3CDTF">2015-10-14T06:13:23Z</dcterms:modified>
</cp:coreProperties>
</file>