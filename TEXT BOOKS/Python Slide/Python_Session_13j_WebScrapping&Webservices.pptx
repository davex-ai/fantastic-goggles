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1.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2.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3.xml" ContentType="application/vnd.openxmlformats-officedocument.themeOverride+xml"/>
  <Override PartName="/ppt/notesSlides/notesSlide15.xml" ContentType="application/vnd.openxmlformats-officedocument.presentationml.notesSlide+xml"/>
  <Override PartName="/ppt/theme/themeOverride4.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20" r:id="rId2"/>
    <p:sldMasterId id="2147483732" r:id="rId3"/>
    <p:sldMasterId id="2147483756" r:id="rId4"/>
  </p:sldMasterIdLst>
  <p:notesMasterIdLst>
    <p:notesMasterId r:id="rId26"/>
  </p:notesMasterIdLst>
  <p:sldIdLst>
    <p:sldId id="256" r:id="rId5"/>
    <p:sldId id="257" r:id="rId6"/>
    <p:sldId id="374" r:id="rId7"/>
    <p:sldId id="375" r:id="rId8"/>
    <p:sldId id="376" r:id="rId9"/>
    <p:sldId id="384" r:id="rId10"/>
    <p:sldId id="387" r:id="rId11"/>
    <p:sldId id="389" r:id="rId12"/>
    <p:sldId id="371" r:id="rId13"/>
    <p:sldId id="269" r:id="rId14"/>
    <p:sldId id="373" r:id="rId15"/>
    <p:sldId id="270" r:id="rId16"/>
    <p:sldId id="380" r:id="rId17"/>
    <p:sldId id="385" r:id="rId18"/>
    <p:sldId id="370" r:id="rId19"/>
    <p:sldId id="334" r:id="rId20"/>
    <p:sldId id="271" r:id="rId21"/>
    <p:sldId id="381" r:id="rId22"/>
    <p:sldId id="388" r:id="rId23"/>
    <p:sldId id="390" r:id="rId24"/>
    <p:sldId id="362" r:id="rId25"/>
  </p:sldIdLst>
  <p:sldSz cx="9144000" cy="6858000" type="screen4x3"/>
  <p:notesSz cx="6858000" cy="9144000"/>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CC"/>
    <a:srgbClr val="9900FF"/>
    <a:srgbClr val="0005CA"/>
    <a:srgbClr val="1D6D6B"/>
    <a:srgbClr val="000099"/>
    <a:srgbClr val="C60477"/>
    <a:srgbClr val="C60269"/>
    <a:srgbClr val="88064A"/>
    <a:srgbClr val="EE00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67" autoAdjust="0"/>
    <p:restoredTop sz="58485" autoAdjust="0"/>
  </p:normalViewPr>
  <p:slideViewPr>
    <p:cSldViewPr>
      <p:cViewPr varScale="1">
        <p:scale>
          <a:sx n="57" d="100"/>
          <a:sy n="57" d="100"/>
        </p:scale>
        <p:origin x="-2035" y="-91"/>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gs" Target="tags/tag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4073C2E-51A6-420F-8788-9A3EAC99032A}" type="datetimeFigureOut">
              <a:rPr lang="en-US" smtClean="0"/>
              <a:pPr/>
              <a:t>10/8/2015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091714-3304-44AF-AABA-9711959465C3}" type="slidenum">
              <a:rPr lang="en-US" smtClean="0"/>
              <a:pPr/>
              <a:t>‹#›</a:t>
            </a:fld>
            <a:endParaRPr lang="en-US"/>
          </a:p>
        </p:txBody>
      </p:sp>
    </p:spTree>
    <p:extLst>
      <p:ext uri="{BB962C8B-B14F-4D97-AF65-F5344CB8AC3E}">
        <p14:creationId xmlns:p14="http://schemas.microsoft.com/office/powerpoint/2010/main" val="3151996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ocs.python.org/2/library/xml.dom.html#xml.dom.getDOMImplementation"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a:t>
            </a:fld>
            <a:endParaRPr lang="en-US"/>
          </a:p>
        </p:txBody>
      </p:sp>
    </p:spTree>
    <p:extLst>
      <p:ext uri="{BB962C8B-B14F-4D97-AF65-F5344CB8AC3E}">
        <p14:creationId xmlns:p14="http://schemas.microsoft.com/office/powerpoint/2010/main" val="30583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2</a:t>
            </a:fld>
            <a:endParaRPr lang="en-US"/>
          </a:p>
        </p:txBody>
      </p:sp>
    </p:spTree>
    <p:extLst>
      <p:ext uri="{BB962C8B-B14F-4D97-AF65-F5344CB8AC3E}">
        <p14:creationId xmlns:p14="http://schemas.microsoft.com/office/powerpoint/2010/main" val="37271413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Parsing HTML :- One of the common uses of the </a:t>
            </a:r>
            <a:r>
              <a:rPr lang="en-IN" sz="1200" kern="1200" dirty="0" err="1" smtClean="0">
                <a:solidFill>
                  <a:schemeClr val="tx1"/>
                </a:solidFill>
                <a:effectLst/>
                <a:latin typeface="+mn-lt"/>
                <a:ea typeface="+mn-ea"/>
                <a:cs typeface="+mn-cs"/>
              </a:rPr>
              <a:t>urllib</a:t>
            </a:r>
            <a:r>
              <a:rPr lang="en-IN" sz="1200" kern="1200" dirty="0" smtClean="0">
                <a:solidFill>
                  <a:schemeClr val="tx1"/>
                </a:solidFill>
                <a:effectLst/>
                <a:latin typeface="+mn-lt"/>
                <a:ea typeface="+mn-ea"/>
                <a:cs typeface="+mn-cs"/>
              </a:rPr>
              <a:t> capability in Python is to scrape the web. Web scraping is when we write a program that pretends to be a web browser and retrieves pages and then examines the data in those pages looking for patterns.</a:t>
            </a:r>
          </a:p>
          <a:p>
            <a:r>
              <a:rPr lang="en-IN"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For Example when we use Google search it looks at the source of page and extracts the link to other pages and retrieves those pages. This process keeps on going till user gets the desired page. </a:t>
            </a:r>
            <a:r>
              <a:rPr lang="en-IN" sz="1200" kern="1200" dirty="0" smtClean="0">
                <a:solidFill>
                  <a:schemeClr val="tx1"/>
                </a:solidFill>
                <a:effectLst/>
                <a:latin typeface="+mn-lt"/>
                <a:ea typeface="+mn-ea"/>
                <a:cs typeface="+mn-cs"/>
              </a:rPr>
              <a:t>Using this technique, Google Spiders its way through nearly all of the pages on the web. Google also uses the frequency of links from pages it finds, to a particular page</a:t>
            </a:r>
            <a:r>
              <a:rPr lang="en-US" sz="1200" kern="1200" dirty="0" smtClean="0">
                <a:solidFill>
                  <a:schemeClr val="tx1"/>
                </a:solidFill>
                <a:effectLst/>
                <a:latin typeface="+mn-lt"/>
                <a:ea typeface="+mn-ea"/>
                <a:cs typeface="+mn-cs"/>
              </a:rPr>
              <a:t> </a:t>
            </a:r>
            <a:r>
              <a:rPr lang="en-IN" sz="1200" kern="1200" dirty="0" smtClean="0">
                <a:solidFill>
                  <a:schemeClr val="tx1"/>
                </a:solidFill>
                <a:effectLst/>
                <a:latin typeface="+mn-lt"/>
                <a:ea typeface="+mn-ea"/>
                <a:cs typeface="+mn-cs"/>
              </a:rPr>
              <a:t> as one measure of how “important” a page is and how highly the page should appear in its search results.</a:t>
            </a:r>
          </a:p>
          <a:p>
            <a:r>
              <a:rPr lang="en-IN" sz="1200" kern="1200" dirty="0" smtClean="0">
                <a:solidFill>
                  <a:schemeClr val="tx1"/>
                </a:solidFill>
                <a:effectLst/>
                <a:latin typeface="+mn-lt"/>
                <a:ea typeface="+mn-ea"/>
                <a:cs typeface="+mn-cs"/>
              </a:rPr>
              <a:t> </a:t>
            </a:r>
          </a:p>
          <a:p>
            <a:r>
              <a:rPr lang="en-IN" sz="1200" kern="1200" dirty="0" smtClean="0">
                <a:solidFill>
                  <a:schemeClr val="tx1"/>
                </a:solidFill>
                <a:effectLst/>
                <a:latin typeface="+mn-lt"/>
                <a:ea typeface="+mn-ea"/>
                <a:cs typeface="+mn-cs"/>
              </a:rPr>
              <a:t>Advantage of Web Scraping:-</a:t>
            </a:r>
          </a:p>
          <a:p>
            <a:pPr marL="228600" indent="-228600">
              <a:buAutoNum type="arabicPeriod"/>
            </a:pPr>
            <a:r>
              <a:rPr lang="en-IN" sz="1200" kern="1200" dirty="0" smtClean="0">
                <a:solidFill>
                  <a:schemeClr val="tx1"/>
                </a:solidFill>
                <a:effectLst/>
                <a:latin typeface="+mn-lt"/>
                <a:ea typeface="+mn-ea"/>
                <a:cs typeface="+mn-cs"/>
              </a:rPr>
              <a:t>It helps to pull the data from the Web Site.</a:t>
            </a:r>
          </a:p>
          <a:p>
            <a:pPr marL="228600" indent="-228600">
              <a:buAutoNum type="arabicPeriod"/>
            </a:pPr>
            <a:r>
              <a:rPr lang="en-IN" sz="1200" kern="1200" dirty="0" smtClean="0">
                <a:solidFill>
                  <a:schemeClr val="tx1"/>
                </a:solidFill>
                <a:effectLst/>
                <a:latin typeface="+mn-lt"/>
                <a:ea typeface="+mn-ea"/>
                <a:cs typeface="+mn-cs"/>
              </a:rPr>
              <a:t>It also helps to monitor the site for new data update.</a:t>
            </a:r>
          </a:p>
          <a:p>
            <a:pPr marL="228600" indent="-228600">
              <a:buAutoNum type="arabicPeriod"/>
            </a:pPr>
            <a:r>
              <a:rPr lang="en-IN" sz="1200" kern="1200" dirty="0" smtClean="0">
                <a:solidFill>
                  <a:schemeClr val="tx1"/>
                </a:solidFill>
                <a:effectLst/>
                <a:latin typeface="+mn-lt"/>
                <a:ea typeface="+mn-ea"/>
                <a:cs typeface="+mn-cs"/>
              </a:rPr>
              <a:t>It helps in creating database for search engine related Web Sites.</a:t>
            </a:r>
            <a:r>
              <a:rPr lang="en-US" sz="1200" kern="1200" dirty="0" smtClean="0">
                <a:solidFill>
                  <a:schemeClr val="tx1"/>
                </a:solidFill>
                <a:effectLst/>
                <a:latin typeface="+mn-lt"/>
                <a:ea typeface="+mn-ea"/>
                <a:cs typeface="+mn-cs"/>
              </a:rPr>
              <a:t> </a:t>
            </a:r>
            <a:endParaRPr lang="en-IN" sz="1200" kern="1200" dirty="0" smtClean="0">
              <a:solidFill>
                <a:schemeClr val="tx1"/>
              </a:solidFill>
              <a:effectLst/>
              <a:latin typeface="+mn-lt"/>
              <a:ea typeface="+mn-ea"/>
              <a:cs typeface="+mn-cs"/>
            </a:endParaRPr>
          </a:p>
          <a:p>
            <a:r>
              <a:rPr lang="en-IN" sz="1200" kern="1200" dirty="0" smtClean="0">
                <a:solidFill>
                  <a:schemeClr val="tx1"/>
                </a:solidFill>
                <a:effectLst/>
                <a:latin typeface="+mn-lt"/>
                <a:ea typeface="+mn-ea"/>
                <a:cs typeface="+mn-cs"/>
              </a:rPr>
              <a:t> </a:t>
            </a:r>
          </a:p>
          <a:p>
            <a:r>
              <a:rPr lang="en-IN" sz="1200" kern="1200" dirty="0" smtClean="0">
                <a:solidFill>
                  <a:schemeClr val="tx1"/>
                </a:solidFill>
                <a:effectLst/>
                <a:latin typeface="+mn-lt"/>
                <a:ea typeface="+mn-ea"/>
                <a:cs typeface="+mn-cs"/>
              </a:rPr>
              <a:t>Note :- Every Web Site owner does not like the concept of Web Scraping.</a:t>
            </a:r>
          </a:p>
          <a:p>
            <a:r>
              <a:rPr lang="en-US" sz="1200" kern="1200" dirty="0" smtClean="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pPr/>
              <a:t>3</a:t>
            </a:fld>
            <a:endParaRPr lang="en-US"/>
          </a:p>
        </p:txBody>
      </p:sp>
    </p:spTree>
    <p:extLst>
      <p:ext uri="{BB962C8B-B14F-4D97-AF65-F5344CB8AC3E}">
        <p14:creationId xmlns:p14="http://schemas.microsoft.com/office/powerpoint/2010/main" val="1771730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baseline="0" dirty="0" smtClean="0">
                <a:solidFill>
                  <a:schemeClr val="tx1"/>
                </a:solidFill>
                <a:latin typeface="+mn-lt"/>
                <a:ea typeface="+mn-ea"/>
                <a:cs typeface="+mn-cs"/>
              </a:rPr>
              <a:t>Example :-</a:t>
            </a:r>
          </a:p>
          <a:p>
            <a:endParaRPr lang="en-IN" sz="1200" b="0" i="0" u="none" strike="noStrike" kern="1200" baseline="0" dirty="0" smtClean="0">
              <a:solidFill>
                <a:schemeClr val="tx1"/>
              </a:solidFill>
              <a:latin typeface="+mn-lt"/>
              <a:ea typeface="+mn-ea"/>
              <a:cs typeface="+mn-cs"/>
            </a:endParaRPr>
          </a:p>
          <a:p>
            <a:r>
              <a:rPr lang="en-IN" sz="1200" b="0" i="0" u="none" strike="noStrike" kern="1200" baseline="0" dirty="0" smtClean="0">
                <a:solidFill>
                  <a:schemeClr val="tx1"/>
                </a:solidFill>
                <a:latin typeface="+mn-lt"/>
                <a:ea typeface="+mn-ea"/>
                <a:cs typeface="+mn-cs"/>
              </a:rPr>
              <a:t>Simple web page code which is used for HTML Parsing :</a:t>
            </a:r>
          </a:p>
          <a:p>
            <a:endParaRPr lang="en-IN" sz="1200" b="0" i="0" u="none" strike="noStrike" kern="1200" baseline="0" dirty="0" smtClean="0">
              <a:solidFill>
                <a:schemeClr val="tx1"/>
              </a:solidFill>
              <a:latin typeface="+mn-lt"/>
              <a:ea typeface="+mn-ea"/>
              <a:cs typeface="+mn-cs"/>
            </a:endParaRPr>
          </a:p>
          <a:p>
            <a:r>
              <a:rPr lang="en-IN" sz="1200" b="0" i="0" u="none" strike="noStrike" kern="1200" baseline="0" dirty="0" smtClean="0">
                <a:solidFill>
                  <a:schemeClr val="tx1"/>
                </a:solidFill>
                <a:latin typeface="+mn-lt"/>
                <a:ea typeface="+mn-ea"/>
                <a:cs typeface="+mn-cs"/>
              </a:rPr>
              <a:t>&lt;h1&gt;The First Page&lt;/h1&gt;</a:t>
            </a:r>
          </a:p>
          <a:p>
            <a:r>
              <a:rPr lang="en-IN" sz="1200" b="0" i="0" u="none" strike="noStrike" kern="1200" baseline="0" dirty="0" smtClean="0">
                <a:solidFill>
                  <a:schemeClr val="tx1"/>
                </a:solidFill>
                <a:latin typeface="+mn-lt"/>
                <a:ea typeface="+mn-ea"/>
                <a:cs typeface="+mn-cs"/>
              </a:rPr>
              <a:t>&lt;p&gt;</a:t>
            </a:r>
          </a:p>
          <a:p>
            <a:r>
              <a:rPr lang="en-IN" sz="1200" b="0" i="0" u="none" strike="noStrike" kern="1200" baseline="0" dirty="0" smtClean="0">
                <a:solidFill>
                  <a:schemeClr val="tx1"/>
                </a:solidFill>
                <a:latin typeface="+mn-lt"/>
                <a:ea typeface="+mn-ea"/>
                <a:cs typeface="+mn-cs"/>
              </a:rPr>
              <a:t>If you like, you can switch to the</a:t>
            </a:r>
          </a:p>
          <a:p>
            <a:r>
              <a:rPr lang="en-IN" sz="1200" b="0" i="0" u="none" strike="noStrike" kern="1200" baseline="0" dirty="0" smtClean="0">
                <a:solidFill>
                  <a:schemeClr val="tx1"/>
                </a:solidFill>
                <a:latin typeface="+mn-lt"/>
                <a:ea typeface="+mn-ea"/>
                <a:cs typeface="+mn-cs"/>
              </a:rPr>
              <a:t>&lt;a </a:t>
            </a:r>
            <a:r>
              <a:rPr lang="en-IN" sz="1200" b="0" i="0" u="none" strike="noStrike" kern="1200" baseline="0" dirty="0" err="1" smtClean="0">
                <a:solidFill>
                  <a:schemeClr val="tx1"/>
                </a:solidFill>
                <a:latin typeface="+mn-lt"/>
                <a:ea typeface="+mn-ea"/>
                <a:cs typeface="+mn-cs"/>
              </a:rPr>
              <a:t>href</a:t>
            </a:r>
            <a:r>
              <a:rPr lang="en-IN" sz="1200" b="0" i="0" u="none" strike="noStrike" kern="1200" baseline="0" dirty="0" smtClean="0">
                <a:solidFill>
                  <a:schemeClr val="tx1"/>
                </a:solidFill>
                <a:latin typeface="+mn-lt"/>
                <a:ea typeface="+mn-ea"/>
                <a:cs typeface="+mn-cs"/>
              </a:rPr>
              <a:t>="http://www.niit.com/page2.htm"&gt;Second Page&lt;/a&gt;.</a:t>
            </a:r>
          </a:p>
          <a:p>
            <a:r>
              <a:rPr lang="en-IN" sz="1200" b="0" i="0" u="none" strike="noStrike" kern="1200" baseline="0" dirty="0" smtClean="0">
                <a:solidFill>
                  <a:schemeClr val="tx1"/>
                </a:solidFill>
                <a:latin typeface="+mn-lt"/>
                <a:ea typeface="+mn-ea"/>
                <a:cs typeface="+mn-cs"/>
              </a:rPr>
              <a:t>&lt;/p&gt;</a:t>
            </a:r>
          </a:p>
          <a:p>
            <a:endParaRPr lang="en-IN" sz="1200" b="0" i="0" u="none" strike="noStrike" kern="1200" baseline="0" dirty="0" smtClean="0">
              <a:solidFill>
                <a:schemeClr val="tx1"/>
              </a:solidFill>
              <a:latin typeface="+mn-lt"/>
              <a:ea typeface="+mn-ea"/>
              <a:cs typeface="+mn-cs"/>
            </a:endParaRPr>
          </a:p>
          <a:p>
            <a:r>
              <a:rPr lang="en-IN" sz="1200" b="0" i="0" u="none" strike="noStrike" kern="1200" baseline="0" dirty="0" smtClean="0">
                <a:solidFill>
                  <a:schemeClr val="tx1"/>
                </a:solidFill>
                <a:latin typeface="+mn-lt"/>
                <a:ea typeface="+mn-ea"/>
                <a:cs typeface="+mn-cs"/>
              </a:rPr>
              <a:t>Now we can construct a well-formed regular expression to match and extract the link values from the above code as follows:</a:t>
            </a:r>
          </a:p>
          <a:p>
            <a:r>
              <a:rPr lang="en-IN" sz="1200" b="0" i="0" u="none" strike="noStrike" kern="1200" baseline="0" dirty="0" smtClean="0">
                <a:solidFill>
                  <a:schemeClr val="tx1"/>
                </a:solidFill>
                <a:latin typeface="+mn-lt"/>
                <a:ea typeface="+mn-ea"/>
                <a:cs typeface="+mn-cs"/>
              </a:rPr>
              <a:t> </a:t>
            </a:r>
          </a:p>
          <a:p>
            <a:r>
              <a:rPr lang="en-IN" sz="1200" b="0" i="0" u="none" strike="noStrike" kern="1200" baseline="0" dirty="0" err="1" smtClean="0">
                <a:solidFill>
                  <a:schemeClr val="tx1"/>
                </a:solidFill>
                <a:latin typeface="+mn-lt"/>
                <a:ea typeface="+mn-ea"/>
                <a:cs typeface="+mn-cs"/>
              </a:rPr>
              <a:t>href</a:t>
            </a:r>
            <a:r>
              <a:rPr lang="en-IN" sz="1200" b="0" i="0" u="none" strike="noStrike" kern="1200" baseline="0" dirty="0" smtClean="0">
                <a:solidFill>
                  <a:schemeClr val="tx1"/>
                </a:solidFill>
                <a:latin typeface="+mn-lt"/>
                <a:ea typeface="+mn-ea"/>
                <a:cs typeface="+mn-cs"/>
              </a:rPr>
              <a:t>="http://.+?"</a:t>
            </a:r>
          </a:p>
          <a:p>
            <a:endParaRPr lang="en-IN" sz="1200" b="0" i="0" u="none" strike="noStrike" kern="1200" baseline="0" dirty="0" smtClean="0">
              <a:solidFill>
                <a:schemeClr val="tx1"/>
              </a:solidFill>
              <a:latin typeface="+mn-lt"/>
              <a:ea typeface="+mn-ea"/>
              <a:cs typeface="+mn-cs"/>
            </a:endParaRPr>
          </a:p>
          <a:p>
            <a:r>
              <a:rPr lang="en-IN" sz="1200" b="0" i="0" u="none" strike="noStrike" kern="1200" baseline="0" dirty="0" smtClean="0">
                <a:solidFill>
                  <a:schemeClr val="tx1"/>
                </a:solidFill>
                <a:latin typeface="+mn-lt"/>
                <a:ea typeface="+mn-ea"/>
                <a:cs typeface="+mn-cs"/>
              </a:rPr>
              <a:t>Above mentioned regular expression looks for strings that start with “</a:t>
            </a:r>
            <a:r>
              <a:rPr lang="en-IN" sz="1200" b="0" i="0" u="none" strike="noStrike" kern="1200" baseline="0" dirty="0" err="1" smtClean="0">
                <a:solidFill>
                  <a:schemeClr val="tx1"/>
                </a:solidFill>
                <a:latin typeface="+mn-lt"/>
                <a:ea typeface="+mn-ea"/>
                <a:cs typeface="+mn-cs"/>
              </a:rPr>
              <a:t>href</a:t>
            </a:r>
            <a:r>
              <a:rPr lang="en-IN" sz="1200" b="0" i="0" u="none" strike="noStrike" kern="1200" baseline="0" dirty="0" smtClean="0">
                <a:solidFill>
                  <a:schemeClr val="tx1"/>
                </a:solidFill>
                <a:latin typeface="+mn-lt"/>
                <a:ea typeface="+mn-ea"/>
                <a:cs typeface="+mn-cs"/>
              </a:rPr>
              <a:t>=”http://”” followed by one or more characters “.+?” followed by another double quote. Question mark added to the “.+?” indicates that the match is to be done in a “non-greedy” fashion instead of a “greedy” fashion. </a:t>
            </a:r>
          </a:p>
          <a:p>
            <a:endParaRPr lang="en-IN" sz="1200" b="0" i="0" u="none" strike="noStrike" kern="1200" baseline="0" dirty="0" smtClean="0">
              <a:solidFill>
                <a:schemeClr val="tx1"/>
              </a:solidFill>
              <a:latin typeface="+mn-lt"/>
              <a:ea typeface="+mn-ea"/>
              <a:cs typeface="+mn-cs"/>
            </a:endParaRPr>
          </a:p>
          <a:p>
            <a:r>
              <a:rPr lang="en-IN" sz="1200" b="0" i="0" u="none" strike="noStrike" kern="1200" baseline="0" dirty="0" smtClean="0">
                <a:solidFill>
                  <a:schemeClr val="tx1"/>
                </a:solidFill>
                <a:latin typeface="+mn-lt"/>
                <a:ea typeface="+mn-ea"/>
                <a:cs typeface="+mn-cs"/>
              </a:rPr>
              <a:t>Note :- A non-greedy match tries to find the </a:t>
            </a:r>
            <a:r>
              <a:rPr lang="en-IN" sz="1200" b="0" i="1" u="none" strike="noStrike" kern="1200" baseline="0" dirty="0" smtClean="0">
                <a:solidFill>
                  <a:schemeClr val="tx1"/>
                </a:solidFill>
                <a:latin typeface="+mn-lt"/>
                <a:ea typeface="+mn-ea"/>
                <a:cs typeface="+mn-cs"/>
              </a:rPr>
              <a:t>smallest  </a:t>
            </a:r>
            <a:r>
              <a:rPr lang="en-IN" sz="1200" b="0" i="0" u="none" strike="noStrike" kern="1200" baseline="0" dirty="0" smtClean="0">
                <a:solidFill>
                  <a:schemeClr val="tx1"/>
                </a:solidFill>
                <a:latin typeface="+mn-lt"/>
                <a:ea typeface="+mn-ea"/>
                <a:cs typeface="+mn-cs"/>
              </a:rPr>
              <a:t>possible matching string and a greedy match tries to find the </a:t>
            </a:r>
            <a:r>
              <a:rPr lang="en-IN" sz="1200" b="0" i="1" u="none" strike="noStrike" kern="1200" baseline="0" dirty="0" smtClean="0">
                <a:solidFill>
                  <a:schemeClr val="tx1"/>
                </a:solidFill>
                <a:latin typeface="+mn-lt"/>
                <a:ea typeface="+mn-ea"/>
                <a:cs typeface="+mn-cs"/>
              </a:rPr>
              <a:t>largest </a:t>
            </a:r>
            <a:r>
              <a:rPr lang="en-IN" sz="1200" b="0" i="0" u="none" strike="noStrike" kern="1200" baseline="0" dirty="0" smtClean="0">
                <a:solidFill>
                  <a:schemeClr val="tx1"/>
                </a:solidFill>
                <a:latin typeface="+mn-lt"/>
                <a:ea typeface="+mn-ea"/>
                <a:cs typeface="+mn-cs"/>
              </a:rPr>
              <a:t>possible matching string. We need to add parentheses to our regular expression to indicate which part of our matched string we would like to extract and produce the following program:</a:t>
            </a:r>
          </a:p>
          <a:p>
            <a:endParaRPr lang="en-IN" sz="1200" b="0" i="0" u="none" strike="noStrike" kern="1200" baseline="0" dirty="0" smtClean="0">
              <a:solidFill>
                <a:schemeClr val="tx1"/>
              </a:solidFill>
              <a:latin typeface="+mn-lt"/>
              <a:ea typeface="+mn-ea"/>
              <a:cs typeface="+mn-cs"/>
            </a:endParaRPr>
          </a:p>
          <a:p>
            <a:r>
              <a:rPr lang="en-IN" sz="1200" b="0" i="0" u="none" strike="noStrike" kern="1200" baseline="0" dirty="0" smtClean="0">
                <a:solidFill>
                  <a:schemeClr val="tx1"/>
                </a:solidFill>
                <a:latin typeface="+mn-lt"/>
                <a:ea typeface="+mn-ea"/>
                <a:cs typeface="+mn-cs"/>
              </a:rPr>
              <a:t>While targeting large files for reading it is possible that program may crash therefore to avoid running out of memory problem we retrieve data in blocks and write each block to disk before retrieving other block.</a:t>
            </a:r>
          </a:p>
          <a:p>
            <a:endParaRPr lang="en-IN" sz="1200" b="0" i="0" u="none" strike="noStrike" kern="1200" baseline="0" dirty="0" smtClean="0">
              <a:solidFill>
                <a:schemeClr val="tx1"/>
              </a:solidFill>
              <a:latin typeface="+mn-lt"/>
              <a:ea typeface="+mn-ea"/>
              <a:cs typeface="+mn-cs"/>
            </a:endParaRPr>
          </a:p>
          <a:p>
            <a:r>
              <a:rPr lang="en-IN" sz="1200" b="0" i="0" u="none" strike="noStrike" kern="1200" baseline="0" dirty="0" smtClean="0">
                <a:solidFill>
                  <a:schemeClr val="tx1"/>
                </a:solidFill>
                <a:latin typeface="+mn-lt"/>
                <a:ea typeface="+mn-ea"/>
                <a:cs typeface="+mn-cs"/>
              </a:rPr>
              <a:t>For Example:</a:t>
            </a:r>
          </a:p>
          <a:p>
            <a:endParaRPr lang="en-IN" sz="1200" b="0" i="0" u="none" strike="noStrike" kern="1200" baseline="0" dirty="0" smtClean="0">
              <a:solidFill>
                <a:schemeClr val="tx1"/>
              </a:solidFill>
              <a:latin typeface="+mn-lt"/>
              <a:ea typeface="+mn-ea"/>
              <a:cs typeface="+mn-cs"/>
            </a:endParaRPr>
          </a:p>
          <a:p>
            <a:r>
              <a:rPr lang="en-IN" sz="1200" b="0" i="0" u="none" strike="noStrike" kern="1200" baseline="0" dirty="0" smtClean="0">
                <a:solidFill>
                  <a:schemeClr val="tx1"/>
                </a:solidFill>
                <a:latin typeface="+mn-lt"/>
                <a:ea typeface="+mn-ea"/>
                <a:cs typeface="+mn-cs"/>
              </a:rPr>
              <a:t>import </a:t>
            </a:r>
            <a:r>
              <a:rPr lang="en-IN" sz="1200" b="0" i="0" u="none" strike="noStrike" kern="1200" baseline="0" dirty="0" err="1" smtClean="0">
                <a:solidFill>
                  <a:schemeClr val="tx1"/>
                </a:solidFill>
                <a:latin typeface="+mn-lt"/>
                <a:ea typeface="+mn-ea"/>
                <a:cs typeface="+mn-cs"/>
              </a:rPr>
              <a:t>urllib</a:t>
            </a:r>
            <a:endParaRPr lang="en-IN" sz="1200" b="0" i="0" u="none" strike="noStrike" kern="1200" baseline="0" dirty="0" smtClean="0">
              <a:solidFill>
                <a:schemeClr val="tx1"/>
              </a:solidFill>
              <a:latin typeface="+mn-lt"/>
              <a:ea typeface="+mn-ea"/>
              <a:cs typeface="+mn-cs"/>
            </a:endParaRPr>
          </a:p>
          <a:p>
            <a:r>
              <a:rPr lang="en-IN" sz="1200" b="0" i="0" u="none" strike="noStrike" kern="1200" baseline="0" dirty="0" err="1" smtClean="0">
                <a:solidFill>
                  <a:schemeClr val="tx1"/>
                </a:solidFill>
                <a:latin typeface="+mn-lt"/>
                <a:ea typeface="+mn-ea"/>
                <a:cs typeface="+mn-cs"/>
              </a:rPr>
              <a:t>img</a:t>
            </a:r>
            <a:r>
              <a:rPr lang="en-IN" sz="1200" b="0" i="0" u="none" strike="noStrike" kern="1200" baseline="0" dirty="0" smtClean="0">
                <a:solidFill>
                  <a:schemeClr val="tx1"/>
                </a:solidFill>
                <a:latin typeface="+mn-lt"/>
                <a:ea typeface="+mn-ea"/>
                <a:cs typeface="+mn-cs"/>
              </a:rPr>
              <a:t> = </a:t>
            </a:r>
            <a:r>
              <a:rPr lang="en-IN" sz="1200" b="0" i="0" u="none" strike="noStrike" kern="1200" baseline="0" dirty="0" err="1" smtClean="0">
                <a:solidFill>
                  <a:schemeClr val="tx1"/>
                </a:solidFill>
                <a:latin typeface="+mn-lt"/>
                <a:ea typeface="+mn-ea"/>
                <a:cs typeface="+mn-cs"/>
              </a:rPr>
              <a:t>urllib.urlopen</a:t>
            </a:r>
            <a:r>
              <a:rPr lang="en-IN" sz="1200" b="0" i="0" u="none" strike="noStrike" kern="1200" baseline="0" dirty="0" smtClean="0">
                <a:solidFill>
                  <a:schemeClr val="tx1"/>
                </a:solidFill>
                <a:latin typeface="+mn-lt"/>
                <a:ea typeface="+mn-ea"/>
                <a:cs typeface="+mn-cs"/>
              </a:rPr>
              <a:t>('http://www.pyniit.com/niit.jpg')</a:t>
            </a:r>
          </a:p>
          <a:p>
            <a:r>
              <a:rPr lang="en-IN" sz="1200" b="0" i="0" u="none" strike="noStrike" kern="1200" baseline="0" dirty="0" err="1" smtClean="0">
                <a:solidFill>
                  <a:schemeClr val="tx1"/>
                </a:solidFill>
                <a:latin typeface="+mn-lt"/>
                <a:ea typeface="+mn-ea"/>
                <a:cs typeface="+mn-cs"/>
              </a:rPr>
              <a:t>fhand</a:t>
            </a:r>
            <a:r>
              <a:rPr lang="en-IN" sz="1200" b="0" i="0" u="none" strike="noStrike" kern="1200" baseline="0" dirty="0" smtClean="0">
                <a:solidFill>
                  <a:schemeClr val="tx1"/>
                </a:solidFill>
                <a:latin typeface="+mn-lt"/>
                <a:ea typeface="+mn-ea"/>
                <a:cs typeface="+mn-cs"/>
              </a:rPr>
              <a:t> = open(‘niit.jpg', 'w')</a:t>
            </a:r>
          </a:p>
          <a:p>
            <a:r>
              <a:rPr lang="en-IN" sz="1200" b="0" i="0" u="none" strike="noStrike" kern="1200" baseline="0" dirty="0" smtClean="0">
                <a:solidFill>
                  <a:schemeClr val="tx1"/>
                </a:solidFill>
                <a:latin typeface="+mn-lt"/>
                <a:ea typeface="+mn-ea"/>
                <a:cs typeface="+mn-cs"/>
              </a:rPr>
              <a:t>size = 0</a:t>
            </a:r>
          </a:p>
          <a:p>
            <a:r>
              <a:rPr lang="en-IN" sz="1200" b="0" i="0" u="none" strike="noStrike" kern="1200" baseline="0" dirty="0" smtClean="0">
                <a:solidFill>
                  <a:schemeClr val="tx1"/>
                </a:solidFill>
                <a:latin typeface="+mn-lt"/>
                <a:ea typeface="+mn-ea"/>
                <a:cs typeface="+mn-cs"/>
              </a:rPr>
              <a:t>while True:</a:t>
            </a:r>
          </a:p>
          <a:p>
            <a:r>
              <a:rPr lang="en-IN" sz="1200" b="0" i="0" u="none" strike="noStrike" kern="1200" baseline="0" dirty="0" smtClean="0">
                <a:solidFill>
                  <a:schemeClr val="tx1"/>
                </a:solidFill>
                <a:latin typeface="+mn-lt"/>
                <a:ea typeface="+mn-ea"/>
                <a:cs typeface="+mn-cs"/>
              </a:rPr>
              <a:t>     info = </a:t>
            </a:r>
            <a:r>
              <a:rPr lang="en-IN" sz="1200" b="0" i="0" u="none" strike="noStrike" kern="1200" baseline="0" dirty="0" err="1" smtClean="0">
                <a:solidFill>
                  <a:schemeClr val="tx1"/>
                </a:solidFill>
                <a:latin typeface="+mn-lt"/>
                <a:ea typeface="+mn-ea"/>
                <a:cs typeface="+mn-cs"/>
              </a:rPr>
              <a:t>img.read</a:t>
            </a:r>
            <a:r>
              <a:rPr lang="en-IN" sz="1200" b="0" i="0" u="none" strike="noStrike" kern="1200" baseline="0" dirty="0" smtClean="0">
                <a:solidFill>
                  <a:schemeClr val="tx1"/>
                </a:solidFill>
                <a:latin typeface="+mn-lt"/>
                <a:ea typeface="+mn-ea"/>
                <a:cs typeface="+mn-cs"/>
              </a:rPr>
              <a:t>(100000)</a:t>
            </a:r>
          </a:p>
          <a:p>
            <a:r>
              <a:rPr lang="en-IN" sz="1200" b="0" i="0" u="none" strike="noStrike" kern="1200" baseline="0" dirty="0" smtClean="0">
                <a:solidFill>
                  <a:schemeClr val="tx1"/>
                </a:solidFill>
                <a:latin typeface="+mn-lt"/>
                <a:ea typeface="+mn-ea"/>
                <a:cs typeface="+mn-cs"/>
              </a:rPr>
              <a:t>     if </a:t>
            </a:r>
            <a:r>
              <a:rPr lang="en-IN" sz="1200" b="0" i="0" u="none" strike="noStrike" kern="1200" baseline="0" dirty="0" err="1" smtClean="0">
                <a:solidFill>
                  <a:schemeClr val="tx1"/>
                </a:solidFill>
                <a:latin typeface="+mn-lt"/>
                <a:ea typeface="+mn-ea"/>
                <a:cs typeface="+mn-cs"/>
              </a:rPr>
              <a:t>len</a:t>
            </a:r>
            <a:r>
              <a:rPr lang="en-IN" sz="1200" b="0" i="0" u="none" strike="noStrike" kern="1200" baseline="0" dirty="0" smtClean="0">
                <a:solidFill>
                  <a:schemeClr val="tx1"/>
                </a:solidFill>
                <a:latin typeface="+mn-lt"/>
                <a:ea typeface="+mn-ea"/>
                <a:cs typeface="+mn-cs"/>
              </a:rPr>
              <a:t>(info) &lt; 1 : break</a:t>
            </a:r>
          </a:p>
          <a:p>
            <a:r>
              <a:rPr lang="en-IN" sz="1200" b="0" i="0" u="none" strike="noStrike" kern="1200" baseline="0" dirty="0" smtClean="0">
                <a:solidFill>
                  <a:schemeClr val="tx1"/>
                </a:solidFill>
                <a:latin typeface="+mn-lt"/>
                <a:ea typeface="+mn-ea"/>
                <a:cs typeface="+mn-cs"/>
              </a:rPr>
              <a:t>          size = size + </a:t>
            </a:r>
            <a:r>
              <a:rPr lang="en-IN" sz="1200" b="0" i="0" u="none" strike="noStrike" kern="1200" baseline="0" dirty="0" err="1" smtClean="0">
                <a:solidFill>
                  <a:schemeClr val="tx1"/>
                </a:solidFill>
                <a:latin typeface="+mn-lt"/>
                <a:ea typeface="+mn-ea"/>
                <a:cs typeface="+mn-cs"/>
              </a:rPr>
              <a:t>len</a:t>
            </a:r>
            <a:r>
              <a:rPr lang="en-IN" sz="1200" b="0" i="0" u="none" strike="noStrike" kern="1200" baseline="0" dirty="0" smtClean="0">
                <a:solidFill>
                  <a:schemeClr val="tx1"/>
                </a:solidFill>
                <a:latin typeface="+mn-lt"/>
                <a:ea typeface="+mn-ea"/>
                <a:cs typeface="+mn-cs"/>
              </a:rPr>
              <a:t>(info)</a:t>
            </a:r>
          </a:p>
          <a:p>
            <a:r>
              <a:rPr lang="en-IN" sz="1200" b="0" i="0" u="none" strike="noStrike" kern="1200" baseline="0" dirty="0" err="1" smtClean="0">
                <a:solidFill>
                  <a:schemeClr val="tx1"/>
                </a:solidFill>
                <a:latin typeface="+mn-lt"/>
                <a:ea typeface="+mn-ea"/>
                <a:cs typeface="+mn-cs"/>
              </a:rPr>
              <a:t>fhand.write</a:t>
            </a:r>
            <a:r>
              <a:rPr lang="en-IN" sz="1200" b="0" i="0" u="none" strike="noStrike" kern="1200" baseline="0" dirty="0" smtClean="0">
                <a:solidFill>
                  <a:schemeClr val="tx1"/>
                </a:solidFill>
                <a:latin typeface="+mn-lt"/>
                <a:ea typeface="+mn-ea"/>
                <a:cs typeface="+mn-cs"/>
              </a:rPr>
              <a:t>(info)</a:t>
            </a:r>
          </a:p>
          <a:p>
            <a:r>
              <a:rPr lang="en-IN" sz="1200" b="0" i="0" u="none" strike="noStrike" kern="1200" baseline="0" dirty="0" smtClean="0">
                <a:solidFill>
                  <a:schemeClr val="tx1"/>
                </a:solidFill>
                <a:latin typeface="+mn-lt"/>
                <a:ea typeface="+mn-ea"/>
                <a:cs typeface="+mn-cs"/>
              </a:rPr>
              <a:t>print </a:t>
            </a:r>
            <a:r>
              <a:rPr lang="en-IN" sz="1200" b="0" i="0" u="none" strike="noStrike" kern="1200" baseline="0" dirty="0" err="1" smtClean="0">
                <a:solidFill>
                  <a:schemeClr val="tx1"/>
                </a:solidFill>
                <a:latin typeface="+mn-lt"/>
                <a:ea typeface="+mn-ea"/>
                <a:cs typeface="+mn-cs"/>
              </a:rPr>
              <a:t>size,'characters</a:t>
            </a:r>
            <a:r>
              <a:rPr lang="en-IN" sz="1200" b="0" i="0" u="none" strike="noStrike" kern="1200" baseline="0" dirty="0" smtClean="0">
                <a:solidFill>
                  <a:schemeClr val="tx1"/>
                </a:solidFill>
                <a:latin typeface="+mn-lt"/>
                <a:ea typeface="+mn-ea"/>
                <a:cs typeface="+mn-cs"/>
              </a:rPr>
              <a:t> copied.'</a:t>
            </a:r>
          </a:p>
          <a:p>
            <a:r>
              <a:rPr lang="en-IN" sz="1200" b="0" i="0" u="none" strike="noStrike" kern="1200" baseline="0" dirty="0" err="1" smtClean="0">
                <a:solidFill>
                  <a:schemeClr val="tx1"/>
                </a:solidFill>
                <a:latin typeface="+mn-lt"/>
                <a:ea typeface="+mn-ea"/>
                <a:cs typeface="+mn-cs"/>
              </a:rPr>
              <a:t>fhand.close</a:t>
            </a:r>
            <a:r>
              <a:rPr lang="en-IN" sz="1200" b="0" i="0" u="none" strike="noStrike" kern="1200" baseline="0" dirty="0" smtClean="0">
                <a:solidFill>
                  <a:schemeClr val="tx1"/>
                </a:solidFill>
                <a:latin typeface="+mn-lt"/>
                <a:ea typeface="+mn-ea"/>
                <a:cs typeface="+mn-cs"/>
              </a:rPr>
              <a:t>()</a:t>
            </a:r>
          </a:p>
          <a:p>
            <a:endParaRPr lang="en-IN" sz="1200" b="0" i="0" u="none" strike="noStrike" kern="1200" baseline="0" dirty="0" smtClean="0">
              <a:solidFill>
                <a:schemeClr val="tx1"/>
              </a:solidFill>
              <a:latin typeface="+mn-lt"/>
              <a:ea typeface="+mn-ea"/>
              <a:cs typeface="+mn-cs"/>
            </a:endParaRPr>
          </a:p>
          <a:p>
            <a:r>
              <a:rPr lang="en-IN" sz="1200" b="0" i="0" u="none" strike="noStrike" kern="1200" baseline="0" dirty="0" smtClean="0">
                <a:solidFill>
                  <a:schemeClr val="tx1"/>
                </a:solidFill>
                <a:latin typeface="+mn-lt"/>
                <a:ea typeface="+mn-ea"/>
                <a:cs typeface="+mn-cs"/>
              </a:rPr>
              <a:t>In above mentioned example, we read only 100,000 characters at a time and then write those characters to the niit.jpg file before retrieving the next 100,000 characters of data from the web.</a:t>
            </a:r>
          </a:p>
        </p:txBody>
      </p:sp>
      <p:sp>
        <p:nvSpPr>
          <p:cNvPr id="4" name="Slide Number Placeholder 3"/>
          <p:cNvSpPr>
            <a:spLocks noGrp="1"/>
          </p:cNvSpPr>
          <p:nvPr>
            <p:ph type="sldNum" sz="quarter" idx="10"/>
          </p:nvPr>
        </p:nvSpPr>
        <p:spPr/>
        <p:txBody>
          <a:bodyPr/>
          <a:lstStyle/>
          <a:p>
            <a:fld id="{35091714-3304-44AF-AABA-9711959465C3}" type="slidenum">
              <a:rPr lang="en-US" smtClean="0"/>
              <a:pPr/>
              <a:t>4</a:t>
            </a:fld>
            <a:endParaRPr lang="en-US"/>
          </a:p>
        </p:txBody>
      </p:sp>
    </p:spTree>
    <p:extLst>
      <p:ext uri="{BB962C8B-B14F-4D97-AF65-F5344CB8AC3E}">
        <p14:creationId xmlns:p14="http://schemas.microsoft.com/office/powerpoint/2010/main" val="1771730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As</a:t>
            </a:r>
            <a:r>
              <a:rPr lang="en-US" sz="1200" kern="1200" baseline="0" dirty="0" smtClean="0">
                <a:solidFill>
                  <a:schemeClr val="tx1"/>
                </a:solidFill>
                <a:effectLst/>
                <a:latin typeface="+mn-lt"/>
                <a:ea typeface="+mn-ea"/>
                <a:cs typeface="+mn-cs"/>
              </a:rPr>
              <a:t> we know that </a:t>
            </a:r>
            <a:r>
              <a:rPr lang="en-US" sz="1200" kern="1200" dirty="0" smtClean="0">
                <a:solidFill>
                  <a:schemeClr val="tx1"/>
                </a:solidFill>
                <a:effectLst/>
                <a:latin typeface="+mn-lt"/>
                <a:ea typeface="+mn-ea"/>
                <a:cs typeface="+mn-cs"/>
              </a:rPr>
              <a:t>Html code vary from website to website but most of them follow the same structure. It is important to</a:t>
            </a:r>
            <a:r>
              <a:rPr lang="en-US" sz="1200" kern="1200" baseline="0" dirty="0" smtClean="0">
                <a:solidFill>
                  <a:schemeClr val="tx1"/>
                </a:solidFill>
                <a:effectLst/>
                <a:latin typeface="+mn-lt"/>
                <a:ea typeface="+mn-ea"/>
                <a:cs typeface="+mn-cs"/>
              </a:rPr>
              <a:t> k</a:t>
            </a:r>
            <a:r>
              <a:rPr lang="en-US" sz="1200" kern="1200" dirty="0" smtClean="0">
                <a:solidFill>
                  <a:schemeClr val="tx1"/>
                </a:solidFill>
                <a:effectLst/>
                <a:latin typeface="+mn-lt"/>
                <a:ea typeface="+mn-ea"/>
                <a:cs typeface="+mn-cs"/>
              </a:rPr>
              <a:t>eep in mind as that you may have to enter in different code corresponding to the website you’re looking to scrape. Instead of ‘</a:t>
            </a:r>
            <a:r>
              <a:rPr lang="en-US" sz="1200" kern="1200" dirty="0" err="1" smtClean="0">
                <a:solidFill>
                  <a:schemeClr val="tx1"/>
                </a:solidFill>
                <a:effectLst/>
                <a:latin typeface="+mn-lt"/>
                <a:ea typeface="+mn-ea"/>
                <a:cs typeface="+mn-cs"/>
              </a:rPr>
              <a:t>tr</a:t>
            </a:r>
            <a:r>
              <a:rPr lang="en-US" sz="1200" kern="1200" dirty="0" smtClean="0">
                <a:solidFill>
                  <a:schemeClr val="tx1"/>
                </a:solidFill>
                <a:effectLst/>
                <a:latin typeface="+mn-lt"/>
                <a:ea typeface="+mn-ea"/>
                <a:cs typeface="+mn-cs"/>
              </a:rPr>
              <a:t>’ a website may use something else like ‘p’ or ‘h1’, ‘h3’, etc. </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Steps for implementing </a:t>
            </a:r>
            <a:r>
              <a:rPr lang="en-US" sz="1200" kern="1200" dirty="0" err="1" smtClean="0">
                <a:solidFill>
                  <a:schemeClr val="tx1"/>
                </a:solidFill>
                <a:effectLst/>
                <a:latin typeface="+mn-lt"/>
                <a:ea typeface="+mn-ea"/>
                <a:cs typeface="+mn-cs"/>
              </a:rPr>
              <a:t>BeautifulSoup</a:t>
            </a:r>
            <a:r>
              <a:rPr lang="en-US" sz="1200" kern="1200" dirty="0" smtClean="0">
                <a:solidFill>
                  <a:schemeClr val="tx1"/>
                </a:solidFill>
                <a:effectLst/>
                <a:latin typeface="+mn-lt"/>
                <a:ea typeface="+mn-ea"/>
                <a:cs typeface="+mn-cs"/>
              </a:rPr>
              <a:t> :-</a:t>
            </a:r>
          </a:p>
          <a:p>
            <a:endParaRPr lang="en-IN" sz="1200" kern="1200" dirty="0" smtClean="0">
              <a:solidFill>
                <a:schemeClr val="tx1"/>
              </a:solidFill>
              <a:effectLst/>
              <a:latin typeface="+mn-lt"/>
              <a:ea typeface="+mn-ea"/>
              <a:cs typeface="+mn-cs"/>
            </a:endParaRPr>
          </a:p>
          <a:p>
            <a:pPr marL="228600" indent="-228600">
              <a:buAutoNum type="arabicPeriod"/>
            </a:pPr>
            <a:r>
              <a:rPr lang="en-US" sz="1200" kern="1200" dirty="0" smtClean="0">
                <a:solidFill>
                  <a:schemeClr val="tx1"/>
                </a:solidFill>
                <a:effectLst/>
                <a:latin typeface="+mn-lt"/>
                <a:ea typeface="+mn-ea"/>
                <a:cs typeface="+mn-cs"/>
              </a:rPr>
              <a:t>import urllib2</a:t>
            </a:r>
            <a:endParaRPr lang="en-IN" sz="1200" kern="1200" dirty="0" smtClean="0">
              <a:solidFill>
                <a:schemeClr val="tx1"/>
              </a:solidFill>
              <a:effectLst/>
              <a:latin typeface="+mn-lt"/>
              <a:ea typeface="+mn-ea"/>
              <a:cs typeface="+mn-cs"/>
            </a:endParaRPr>
          </a:p>
          <a:p>
            <a:pPr marL="228600" indent="-228600">
              <a:buAutoNum type="arabicPeriod"/>
            </a:pPr>
            <a:r>
              <a:rPr lang="en-US" sz="1200" kern="1200" dirty="0" smtClean="0">
                <a:solidFill>
                  <a:schemeClr val="tx1"/>
                </a:solidFill>
                <a:effectLst/>
                <a:latin typeface="+mn-lt"/>
                <a:ea typeface="+mn-ea"/>
                <a:cs typeface="+mn-cs"/>
              </a:rPr>
              <a:t>From </a:t>
            </a:r>
            <a:r>
              <a:rPr lang="en-US" sz="1200" kern="1200" dirty="0" err="1" smtClean="0">
                <a:solidFill>
                  <a:schemeClr val="tx1"/>
                </a:solidFill>
                <a:effectLst/>
                <a:latin typeface="+mn-lt"/>
                <a:ea typeface="+mn-ea"/>
                <a:cs typeface="+mn-cs"/>
              </a:rPr>
              <a:t>BeautifulSoup</a:t>
            </a:r>
            <a:r>
              <a:rPr lang="en-US" sz="1200" kern="1200" dirty="0" smtClean="0">
                <a:solidFill>
                  <a:schemeClr val="tx1"/>
                </a:solidFill>
                <a:effectLst/>
                <a:latin typeface="+mn-lt"/>
                <a:ea typeface="+mn-ea"/>
                <a:cs typeface="+mn-cs"/>
              </a:rPr>
              <a:t> import *</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#In Line 1 import the urllib4 module in Python allowing access to </a:t>
            </a:r>
            <a:r>
              <a:rPr lang="en-US" sz="1200" kern="1200" dirty="0" err="1" smtClean="0">
                <a:solidFill>
                  <a:schemeClr val="tx1"/>
                </a:solidFill>
                <a:effectLst/>
                <a:latin typeface="+mn-lt"/>
                <a:ea typeface="+mn-ea"/>
                <a:cs typeface="+mn-cs"/>
              </a:rPr>
              <a:t>url</a:t>
            </a:r>
            <a:r>
              <a:rPr lang="en-US" sz="1200" kern="1200" dirty="0" smtClean="0">
                <a:solidFill>
                  <a:schemeClr val="tx1"/>
                </a:solidFill>
                <a:effectLst/>
                <a:latin typeface="+mn-lt"/>
                <a:ea typeface="+mn-ea"/>
                <a:cs typeface="+mn-cs"/>
              </a:rPr>
              <a:t> links.</a:t>
            </a:r>
          </a:p>
          <a:p>
            <a:r>
              <a:rPr lang="en-US" sz="1200" kern="1200" dirty="0" smtClean="0">
                <a:solidFill>
                  <a:schemeClr val="tx1"/>
                </a:solidFill>
                <a:effectLst/>
                <a:latin typeface="+mn-lt"/>
                <a:ea typeface="+mn-ea"/>
                <a:cs typeface="+mn-cs"/>
              </a:rPr>
              <a:t>#In Line 2 calls the Beautiful Soup library which is used to scrape data from the web page.</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3.  soup = </a:t>
            </a:r>
            <a:r>
              <a:rPr lang="en-US" sz="1200" kern="1200" dirty="0" err="1" smtClean="0">
                <a:solidFill>
                  <a:schemeClr val="tx1"/>
                </a:solidFill>
                <a:effectLst/>
                <a:latin typeface="+mn-lt"/>
                <a:ea typeface="+mn-ea"/>
                <a:cs typeface="+mn-cs"/>
              </a:rPr>
              <a:t>BeautifulSoup</a:t>
            </a:r>
            <a:r>
              <a:rPr lang="en-US" sz="1200" kern="1200" dirty="0" smtClean="0">
                <a:solidFill>
                  <a:schemeClr val="tx1"/>
                </a:solidFill>
                <a:effectLst/>
                <a:latin typeface="+mn-lt"/>
                <a:ea typeface="+mn-ea"/>
                <a:cs typeface="+mn-cs"/>
              </a:rPr>
              <a:t>(urllib2.urlopen('http://www.niit.com’).read())</a:t>
            </a:r>
            <a:endParaRPr lang="en-IN" sz="1200" kern="1200" dirty="0" smtClean="0">
              <a:solidFill>
                <a:schemeClr val="tx1"/>
              </a:solidFill>
              <a:effectLst/>
              <a:latin typeface="+mn-lt"/>
              <a:ea typeface="+mn-ea"/>
              <a:cs typeface="+mn-cs"/>
            </a:endParaRPr>
          </a:p>
          <a:p>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#In Line 3 uses both the </a:t>
            </a:r>
            <a:r>
              <a:rPr lang="en-US" sz="1200" kern="1200" dirty="0" err="1" smtClean="0">
                <a:solidFill>
                  <a:schemeClr val="tx1"/>
                </a:solidFill>
                <a:effectLst/>
                <a:latin typeface="+mn-lt"/>
                <a:ea typeface="+mn-ea"/>
                <a:cs typeface="+mn-cs"/>
              </a:rPr>
              <a:t>BeautifulSoup</a:t>
            </a:r>
            <a:r>
              <a:rPr lang="en-US" sz="1200" kern="1200" dirty="0" smtClean="0">
                <a:solidFill>
                  <a:schemeClr val="tx1"/>
                </a:solidFill>
                <a:effectLst/>
                <a:latin typeface="+mn-lt"/>
                <a:ea typeface="+mn-ea"/>
                <a:cs typeface="+mn-cs"/>
              </a:rPr>
              <a:t> library and the urllib2 module to access the target webpage.</a:t>
            </a:r>
          </a:p>
          <a:p>
            <a:r>
              <a:rPr lang="en-US" sz="1200" kern="1200" dirty="0" smtClean="0">
                <a:solidFill>
                  <a:schemeClr val="tx1"/>
                </a:solidFill>
                <a:effectLst/>
                <a:latin typeface="+mn-lt"/>
                <a:ea typeface="+mn-ea"/>
                <a:cs typeface="+mn-cs"/>
              </a:rPr>
              <a:t>  </a:t>
            </a:r>
            <a:endParaRPr lang="en-IN" sz="1200" kern="1200" dirty="0" smtClean="0">
              <a:solidFill>
                <a:schemeClr val="tx1"/>
              </a:solidFill>
              <a:effectLst/>
              <a:latin typeface="+mn-lt"/>
              <a:ea typeface="+mn-ea"/>
              <a:cs typeface="+mn-cs"/>
            </a:endParaRPr>
          </a:p>
          <a:p>
            <a:pPr marL="228600" indent="-228600">
              <a:buAutoNum type="arabicPeriod" startAt="4"/>
            </a:pPr>
            <a:r>
              <a:rPr lang="en-US" sz="1200" kern="1200" dirty="0" smtClean="0">
                <a:solidFill>
                  <a:schemeClr val="tx1"/>
                </a:solidFill>
                <a:effectLst/>
                <a:latin typeface="+mn-lt"/>
                <a:ea typeface="+mn-ea"/>
                <a:cs typeface="+mn-cs"/>
              </a:rPr>
              <a:t>for row in soup('table', {'class': 'mod-data'})[0].</a:t>
            </a:r>
            <a:r>
              <a:rPr lang="en-US" sz="1200" kern="1200" dirty="0" err="1" smtClean="0">
                <a:solidFill>
                  <a:schemeClr val="tx1"/>
                </a:solidFill>
                <a:effectLst/>
                <a:latin typeface="+mn-lt"/>
                <a:ea typeface="+mn-ea"/>
                <a:cs typeface="+mn-cs"/>
              </a:rPr>
              <a:t>tbody</a:t>
            </a:r>
            <a:r>
              <a:rPr lang="en-US" sz="1200" kern="1200" dirty="0" smtClean="0">
                <a:solidFill>
                  <a:schemeClr val="tx1"/>
                </a:solidFill>
                <a:effectLst/>
                <a:latin typeface="+mn-lt"/>
                <a:ea typeface="+mn-ea"/>
                <a:cs typeface="+mn-cs"/>
              </a:rPr>
              <a:t>('</a:t>
            </a:r>
            <a:r>
              <a:rPr lang="en-US" sz="1200" kern="1200" dirty="0" err="1" smtClean="0">
                <a:solidFill>
                  <a:schemeClr val="tx1"/>
                </a:solidFill>
                <a:effectLst/>
                <a:latin typeface="+mn-lt"/>
                <a:ea typeface="+mn-ea"/>
                <a:cs typeface="+mn-cs"/>
              </a:rPr>
              <a:t>tr</a:t>
            </a:r>
            <a:r>
              <a:rPr lang="en-US" sz="1200" kern="1200" dirty="0" smtClean="0">
                <a:solidFill>
                  <a:schemeClr val="tx1"/>
                </a:solidFill>
                <a:effectLst/>
                <a:latin typeface="+mn-lt"/>
                <a:ea typeface="+mn-ea"/>
                <a:cs typeface="+mn-cs"/>
              </a:rPr>
              <a:t>'):</a:t>
            </a:r>
            <a:endParaRPr lang="en-IN" sz="1200" kern="1200" dirty="0" smtClean="0">
              <a:solidFill>
                <a:schemeClr val="tx1"/>
              </a:solidFill>
              <a:effectLst/>
              <a:latin typeface="+mn-lt"/>
              <a:ea typeface="+mn-ea"/>
              <a:cs typeface="+mn-cs"/>
            </a:endParaRPr>
          </a:p>
          <a:p>
            <a:pPr marL="228600" indent="-228600">
              <a:buAutoNum type="arabicPeriod" startAt="4"/>
            </a:pP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tds</a:t>
            </a:r>
            <a:r>
              <a:rPr lang="en-US" sz="1200" kern="1200" dirty="0" smtClean="0">
                <a:solidFill>
                  <a:schemeClr val="tx1"/>
                </a:solidFill>
                <a:effectLst/>
                <a:latin typeface="+mn-lt"/>
                <a:ea typeface="+mn-ea"/>
                <a:cs typeface="+mn-cs"/>
              </a:rPr>
              <a:t> = row('td')</a:t>
            </a:r>
            <a:endParaRPr lang="en-IN" sz="1200" kern="1200" dirty="0" smtClean="0">
              <a:solidFill>
                <a:schemeClr val="tx1"/>
              </a:solidFill>
              <a:effectLst/>
              <a:latin typeface="+mn-lt"/>
              <a:ea typeface="+mn-ea"/>
              <a:cs typeface="+mn-cs"/>
            </a:endParaRPr>
          </a:p>
          <a:p>
            <a:pPr marL="228600" indent="-228600">
              <a:buAutoNum type="arabicPeriod" startAt="4"/>
            </a:pPr>
            <a:r>
              <a:rPr lang="en-US" sz="1200" kern="1200" dirty="0" smtClean="0">
                <a:solidFill>
                  <a:schemeClr val="tx1"/>
                </a:solidFill>
                <a:effectLst/>
                <a:latin typeface="+mn-lt"/>
                <a:ea typeface="+mn-ea"/>
                <a:cs typeface="+mn-cs"/>
              </a:rPr>
              <a:t>   print </a:t>
            </a:r>
            <a:r>
              <a:rPr lang="en-US" sz="1200" kern="1200" dirty="0" err="1" smtClean="0">
                <a:solidFill>
                  <a:schemeClr val="tx1"/>
                </a:solidFill>
                <a:effectLst/>
                <a:latin typeface="+mn-lt"/>
                <a:ea typeface="+mn-ea"/>
                <a:cs typeface="+mn-cs"/>
              </a:rPr>
              <a:t>tds</a:t>
            </a:r>
            <a:r>
              <a:rPr lang="en-US" sz="1200" kern="1200" dirty="0" smtClean="0">
                <a:solidFill>
                  <a:schemeClr val="tx1"/>
                </a:solidFill>
                <a:effectLst/>
                <a:latin typeface="+mn-lt"/>
                <a:ea typeface="+mn-ea"/>
                <a:cs typeface="+mn-cs"/>
              </a:rPr>
              <a:t>[0].string, </a:t>
            </a:r>
            <a:r>
              <a:rPr lang="en-US" sz="1200" kern="1200" dirty="0" err="1" smtClean="0">
                <a:solidFill>
                  <a:schemeClr val="tx1"/>
                </a:solidFill>
                <a:effectLst/>
                <a:latin typeface="+mn-lt"/>
                <a:ea typeface="+mn-ea"/>
                <a:cs typeface="+mn-cs"/>
              </a:rPr>
              <a:t>tds</a:t>
            </a:r>
            <a:r>
              <a:rPr lang="en-US" sz="1200" kern="1200" dirty="0" smtClean="0">
                <a:solidFill>
                  <a:schemeClr val="tx1"/>
                </a:solidFill>
                <a:effectLst/>
                <a:latin typeface="+mn-lt"/>
                <a:ea typeface="+mn-ea"/>
                <a:cs typeface="+mn-cs"/>
              </a:rPr>
              <a:t>[1].string</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#In Line 4 using a function in the </a:t>
            </a:r>
            <a:r>
              <a:rPr lang="en-US" sz="1200" kern="1200" dirty="0" err="1" smtClean="0">
                <a:solidFill>
                  <a:schemeClr val="tx1"/>
                </a:solidFill>
                <a:effectLst/>
                <a:latin typeface="+mn-lt"/>
                <a:ea typeface="+mn-ea"/>
                <a:cs typeface="+mn-cs"/>
              </a:rPr>
              <a:t>BeautifulSoup</a:t>
            </a:r>
            <a:r>
              <a:rPr lang="en-US" sz="1200" kern="1200" dirty="0" smtClean="0">
                <a:solidFill>
                  <a:schemeClr val="tx1"/>
                </a:solidFill>
                <a:effectLst/>
                <a:latin typeface="+mn-lt"/>
                <a:ea typeface="+mn-ea"/>
                <a:cs typeface="+mn-cs"/>
              </a:rPr>
              <a:t> library to find the table with class = “mod-data” and extracts the information contained in the body(</a:t>
            </a:r>
            <a:r>
              <a:rPr lang="en-US" sz="1200" kern="1200" dirty="0" err="1" smtClean="0">
                <a:solidFill>
                  <a:schemeClr val="tx1"/>
                </a:solidFill>
                <a:effectLst/>
                <a:latin typeface="+mn-lt"/>
                <a:ea typeface="+mn-ea"/>
                <a:cs typeface="+mn-cs"/>
              </a:rPr>
              <a:t>tbody</a:t>
            </a:r>
            <a:r>
              <a:rPr lang="en-US" sz="1200" kern="1200" dirty="0" smtClean="0">
                <a:solidFill>
                  <a:schemeClr val="tx1"/>
                </a:solidFill>
                <a:effectLst/>
                <a:latin typeface="+mn-lt"/>
                <a:ea typeface="+mn-ea"/>
                <a:cs typeface="+mn-cs"/>
              </a:rPr>
              <a:t>) and tags(</a:t>
            </a:r>
            <a:r>
              <a:rPr lang="en-US" sz="1200" kern="1200" dirty="0" err="1" smtClean="0">
                <a:solidFill>
                  <a:schemeClr val="tx1"/>
                </a:solidFill>
                <a:effectLst/>
                <a:latin typeface="+mn-lt"/>
                <a:ea typeface="+mn-ea"/>
                <a:cs typeface="+mn-cs"/>
              </a:rPr>
              <a:t>tr</a:t>
            </a:r>
            <a:r>
              <a:rPr lang="en-US" sz="1200" kern="1200" dirty="0" smtClean="0">
                <a:solidFill>
                  <a:schemeClr val="tx1"/>
                </a:solidFill>
                <a:effectLst/>
                <a:latin typeface="+mn-lt"/>
                <a:ea typeface="+mn-ea"/>
                <a:cs typeface="+mn-cs"/>
              </a:rPr>
              <a:t>) in #the table . </a:t>
            </a:r>
          </a:p>
          <a:p>
            <a:r>
              <a:rPr lang="en-US" sz="1200" kern="1200" dirty="0" smtClean="0">
                <a:solidFill>
                  <a:schemeClr val="tx1"/>
                </a:solidFill>
                <a:effectLst/>
                <a:latin typeface="+mn-lt"/>
                <a:ea typeface="+mn-ea"/>
                <a:cs typeface="+mn-cs"/>
              </a:rPr>
              <a:t>#In Line 6 print the first two elements, or strings in this case, and displays it in the output code. </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r>
              <a:rPr lang="en-IN" sz="1200" kern="1200" dirty="0" smtClean="0">
                <a:solidFill>
                  <a:schemeClr val="tx1"/>
                </a:solidFill>
                <a:effectLst/>
                <a:latin typeface="+mn-lt"/>
                <a:ea typeface="+mn-ea"/>
                <a:cs typeface="+mn-cs"/>
              </a:rPr>
              <a:t>#</a:t>
            </a:r>
            <a:r>
              <a:rPr lang="en-US" sz="1200" kern="1200" dirty="0" smtClean="0">
                <a:solidFill>
                  <a:schemeClr val="tx1"/>
                </a:solidFill>
                <a:effectLst/>
                <a:latin typeface="+mn-lt"/>
                <a:ea typeface="+mn-ea"/>
                <a:cs typeface="+mn-cs"/>
              </a:rPr>
              <a:t>Notice lines 5 &amp; 6 are both indented as they are part of the for loop, not having them indented breaks them from the loop.</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As mentioned before you may have to use different code outside the give ‘</a:t>
            </a:r>
            <a:r>
              <a:rPr lang="en-US" sz="1200" kern="1200" dirty="0" err="1" smtClean="0">
                <a:solidFill>
                  <a:schemeClr val="tx1"/>
                </a:solidFill>
                <a:effectLst/>
                <a:latin typeface="+mn-lt"/>
                <a:ea typeface="+mn-ea"/>
                <a:cs typeface="+mn-cs"/>
              </a:rPr>
              <a:t>tr</a:t>
            </a:r>
            <a:r>
              <a:rPr lang="en-US" sz="1200" kern="1200" dirty="0" smtClean="0">
                <a:solidFill>
                  <a:schemeClr val="tx1"/>
                </a:solidFill>
                <a:effectLst/>
                <a:latin typeface="+mn-lt"/>
                <a:ea typeface="+mn-ea"/>
                <a:cs typeface="+mn-cs"/>
              </a:rPr>
              <a:t>’ found in this example. You</a:t>
            </a:r>
            <a:r>
              <a:rPr lang="en-US" sz="1200" kern="1200" baseline="0" dirty="0" smtClean="0">
                <a:solidFill>
                  <a:schemeClr val="tx1"/>
                </a:solidFill>
                <a:effectLst/>
                <a:latin typeface="+mn-lt"/>
                <a:ea typeface="+mn-ea"/>
                <a:cs typeface="+mn-cs"/>
              </a:rPr>
              <a:t> can also </a:t>
            </a:r>
            <a:r>
              <a:rPr lang="en-US" sz="1200" kern="1200" dirty="0" smtClean="0">
                <a:solidFill>
                  <a:schemeClr val="tx1"/>
                </a:solidFill>
                <a:effectLst/>
                <a:latin typeface="+mn-lt"/>
                <a:ea typeface="+mn-ea"/>
                <a:cs typeface="+mn-cs"/>
              </a:rPr>
              <a:t>experiment with different variables and increase or decrease the print out of </a:t>
            </a:r>
            <a:r>
              <a:rPr lang="en-US" sz="1200" kern="1200" dirty="0" err="1" smtClean="0">
                <a:solidFill>
                  <a:schemeClr val="tx1"/>
                </a:solidFill>
                <a:effectLst/>
                <a:latin typeface="+mn-lt"/>
                <a:ea typeface="+mn-ea"/>
                <a:cs typeface="+mn-cs"/>
              </a:rPr>
              <a:t>tds</a:t>
            </a:r>
            <a:r>
              <a:rPr lang="en-US" sz="1200" kern="1200" dirty="0" smtClean="0">
                <a:solidFill>
                  <a:schemeClr val="tx1"/>
                </a:solidFill>
                <a:effectLst/>
                <a:latin typeface="+mn-lt"/>
                <a:ea typeface="+mn-ea"/>
                <a:cs typeface="+mn-cs"/>
              </a:rPr>
              <a:t>[x].string, you can do as many printed strings as you like depending on how much data you wish to display.</a:t>
            </a:r>
            <a:endParaRPr lang="en-IN" sz="1200" kern="1200" dirty="0" smtClean="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5</a:t>
            </a:fld>
            <a:endParaRPr lang="en-US"/>
          </a:p>
        </p:txBody>
      </p:sp>
    </p:spTree>
    <p:extLst>
      <p:ext uri="{BB962C8B-B14F-4D97-AF65-F5344CB8AC3E}">
        <p14:creationId xmlns:p14="http://schemas.microsoft.com/office/powerpoint/2010/main" val="1771730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6</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7</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dirty="0" smtClean="0"/>
              <a:t>Solution:</a:t>
            </a:r>
          </a:p>
          <a:p>
            <a:endParaRPr lang="en-US" sz="1600" b="1" dirty="0" smtClean="0"/>
          </a:p>
          <a:p>
            <a:r>
              <a:rPr lang="en-US" sz="1200" b="1" dirty="0" smtClean="0"/>
              <a:t>Prerequisite:</a:t>
            </a:r>
            <a:r>
              <a:rPr lang="en-US" sz="1200" dirty="0" smtClean="0"/>
              <a:t> For this activity you need to use</a:t>
            </a:r>
            <a:r>
              <a:rPr lang="en-US" sz="1200" baseline="0" dirty="0" smtClean="0"/>
              <a:t> </a:t>
            </a:r>
            <a:r>
              <a:rPr lang="en-US" sz="1200" b="1" baseline="0" dirty="0" smtClean="0"/>
              <a:t>image.bmp</a:t>
            </a:r>
            <a:r>
              <a:rPr lang="en-US" sz="1200" dirty="0" smtClean="0"/>
              <a:t> which is available with </a:t>
            </a:r>
            <a:r>
              <a:rPr lang="en-US" sz="1200" b="1" dirty="0" err="1" smtClean="0"/>
              <a:t>Data_File_For_Students</a:t>
            </a:r>
            <a:r>
              <a:rPr lang="en-US" sz="1200" dirty="0" smtClean="0"/>
              <a:t>.</a:t>
            </a:r>
          </a:p>
          <a:p>
            <a:endParaRPr lang="en-US" sz="1600" dirty="0" smtClean="0"/>
          </a:p>
          <a:p>
            <a:r>
              <a:rPr lang="en-US" sz="1200" dirty="0" smtClean="0"/>
              <a:t>In order to do this activity, you need to perform the following tasks:</a:t>
            </a:r>
          </a:p>
          <a:p>
            <a:pPr marL="342900" lvl="0" indent="-342900">
              <a:buFont typeface="+mj-lt"/>
              <a:buAutoNum type="arabicPeriod"/>
            </a:pPr>
            <a:r>
              <a:rPr lang="en-US" sz="1200" dirty="0" smtClean="0"/>
              <a:t>Create an empty Python project.</a:t>
            </a:r>
          </a:p>
          <a:p>
            <a:pPr marL="342900" lvl="0" indent="-342900">
              <a:buFont typeface="+mj-lt"/>
              <a:buAutoNum type="arabicPeriod"/>
            </a:pPr>
            <a:r>
              <a:rPr lang="en-US" sz="1200" dirty="0" smtClean="0"/>
              <a:t>Use </a:t>
            </a:r>
            <a:r>
              <a:rPr lang="en-US" sz="1200" b="1" dirty="0" err="1" smtClean="0"/>
              <a:t>struct</a:t>
            </a:r>
            <a:r>
              <a:rPr lang="en-US" sz="1200" dirty="0" smtClean="0"/>
              <a:t> library to </a:t>
            </a:r>
            <a:r>
              <a:rPr lang="en-US" sz="1200" b="1" dirty="0" smtClean="0"/>
              <a:t>unpack()</a:t>
            </a:r>
            <a:r>
              <a:rPr lang="en-US" sz="1200" baseline="0" dirty="0" smtClean="0"/>
              <a:t> to decode the binary data</a:t>
            </a:r>
            <a:r>
              <a:rPr lang="en-US" sz="1200" dirty="0" smtClean="0"/>
              <a:t>. </a:t>
            </a:r>
          </a:p>
          <a:p>
            <a:pPr marL="342900" lvl="0" indent="-342900">
              <a:buFont typeface="+mj-lt"/>
              <a:buAutoNum type="arabicPeriod"/>
            </a:pPr>
            <a:r>
              <a:rPr lang="en-US" sz="1200" dirty="0" smtClean="0"/>
              <a:t>Use</a:t>
            </a:r>
            <a:r>
              <a:rPr lang="en-US" sz="1200" b="1" dirty="0" smtClean="0"/>
              <a:t> open() </a:t>
            </a:r>
            <a:r>
              <a:rPr lang="en-US" sz="1200" dirty="0" smtClean="0"/>
              <a:t>to open</a:t>
            </a:r>
            <a:r>
              <a:rPr lang="en-US" sz="1200" baseline="0" dirty="0" smtClean="0"/>
              <a:t> the binary image file</a:t>
            </a:r>
            <a:r>
              <a:rPr lang="en-US" sz="1200" dirty="0" smtClean="0"/>
              <a:t>.</a:t>
            </a:r>
          </a:p>
          <a:p>
            <a:pPr marL="342900" lvl="0" indent="-342900">
              <a:buFont typeface="+mj-lt"/>
              <a:buAutoNum type="arabicPeriod"/>
            </a:pPr>
            <a:r>
              <a:rPr lang="en-US" sz="1200" dirty="0" smtClean="0"/>
              <a:t>Use</a:t>
            </a:r>
            <a:r>
              <a:rPr lang="en-US" sz="1200" b="1" dirty="0" smtClean="0"/>
              <a:t> seek()</a:t>
            </a:r>
            <a:r>
              <a:rPr lang="en-US" sz="1200" dirty="0" smtClean="0"/>
              <a:t> to seek</a:t>
            </a:r>
            <a:r>
              <a:rPr lang="en-US" sz="1200" baseline="0" dirty="0" smtClean="0"/>
              <a:t> the position the reading of file will start</a:t>
            </a:r>
            <a:r>
              <a:rPr lang="en-US" sz="1200" dirty="0" smtClean="0"/>
              <a:t>.</a:t>
            </a:r>
          </a:p>
          <a:p>
            <a:pPr marL="342900" lvl="0" indent="-342900">
              <a:buFont typeface="+mj-lt"/>
              <a:buAutoNum type="arabicPeriod"/>
            </a:pPr>
            <a:r>
              <a:rPr lang="en-US" sz="1200" dirty="0" smtClean="0"/>
              <a:t>Use </a:t>
            </a:r>
            <a:r>
              <a:rPr lang="en-US" sz="1200" b="1" dirty="0" smtClean="0"/>
              <a:t>read()</a:t>
            </a:r>
            <a:r>
              <a:rPr lang="en-US" sz="1200" dirty="0" smtClean="0"/>
              <a:t> to start</a:t>
            </a:r>
            <a:r>
              <a:rPr lang="en-US" sz="1200" baseline="0" dirty="0" smtClean="0"/>
              <a:t> to read the file.</a:t>
            </a:r>
          </a:p>
          <a:p>
            <a:pPr marL="342900" lvl="0" indent="-342900">
              <a:buFont typeface="+mj-lt"/>
              <a:buAutoNum type="arabicPeriod"/>
            </a:pPr>
            <a:r>
              <a:rPr lang="en-US" sz="1200" baseline="0" dirty="0" smtClean="0"/>
              <a:t>Use </a:t>
            </a:r>
            <a:r>
              <a:rPr lang="en-US" sz="1200" b="1" baseline="0" dirty="0" smtClean="0"/>
              <a:t>unpack()</a:t>
            </a:r>
            <a:r>
              <a:rPr lang="en-US" sz="1200" baseline="0" dirty="0" smtClean="0"/>
              <a:t> to decode the binary data.</a:t>
            </a:r>
            <a:endParaRPr lang="en-US" sz="1200" dirty="0" smtClean="0"/>
          </a:p>
          <a:p>
            <a:pPr marL="342900" lvl="0" indent="-342900">
              <a:buFont typeface="+mj-lt"/>
              <a:buAutoNum type="arabicPeriod"/>
            </a:pPr>
            <a:endParaRPr lang="en-US" sz="1200" dirty="0" smtClean="0"/>
          </a:p>
          <a:p>
            <a:r>
              <a:rPr lang="en-US" sz="1600" b="1" dirty="0" smtClean="0"/>
              <a:t>Task 1</a:t>
            </a:r>
            <a:r>
              <a:rPr lang="en-US" sz="1600" dirty="0" smtClean="0"/>
              <a:t>: Create a Python empty project:</a:t>
            </a:r>
          </a:p>
          <a:p>
            <a:r>
              <a:rPr lang="en-US" sz="1200" dirty="0" smtClean="0"/>
              <a:t>Step 1: Open </a:t>
            </a:r>
            <a:r>
              <a:rPr lang="en-US" sz="1200" b="1" dirty="0" smtClean="0"/>
              <a:t>NetBeans 8.0.2</a:t>
            </a:r>
            <a:r>
              <a:rPr lang="en-US" sz="120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2: Click </a:t>
            </a:r>
            <a:r>
              <a:rPr lang="en-US" sz="1200" b="1" dirty="0" smtClean="0"/>
              <a:t>File</a:t>
            </a:r>
            <a:r>
              <a:rPr lang="en-US" sz="1200" dirty="0" smtClean="0"/>
              <a:t> menu.</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3: Select </a:t>
            </a:r>
            <a:r>
              <a:rPr lang="en-US" sz="1200" b="1" dirty="0" smtClean="0"/>
              <a:t>New Project</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 4:</a:t>
            </a:r>
            <a:r>
              <a:rPr lang="en-US" sz="1200" dirty="0" smtClean="0"/>
              <a:t> Select </a:t>
            </a:r>
            <a:r>
              <a:rPr lang="en-US" sz="1200" b="1" dirty="0" smtClean="0"/>
              <a:t>Python</a:t>
            </a:r>
            <a:r>
              <a:rPr lang="en-US" sz="1200" dirty="0" smtClean="0"/>
              <a:t> from Categories list and </a:t>
            </a:r>
            <a:r>
              <a:rPr lang="en-US" sz="1200" b="1" dirty="0" smtClean="0"/>
              <a:t>Python Project</a:t>
            </a:r>
            <a:r>
              <a:rPr lang="en-US" sz="1200" dirty="0" smtClean="0"/>
              <a:t> from Projects list.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5: Click </a:t>
            </a:r>
            <a:r>
              <a:rPr lang="en-US" sz="1200" b="1" dirty="0" smtClean="0"/>
              <a:t>Next</a:t>
            </a:r>
            <a:r>
              <a:rPr lang="en-US" sz="1200" dirty="0" smtClean="0"/>
              <a:t> button.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6: On New Python Project dialog box set the Project Name as </a:t>
            </a:r>
            <a:r>
              <a:rPr lang="en-US" sz="1200" b="1" dirty="0" smtClean="0"/>
              <a:t>CR_Session13_Activity01</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a:t>
            </a:r>
            <a:r>
              <a:rPr lang="en-US" sz="1200" b="0" baseline="0" dirty="0" smtClean="0"/>
              <a:t> 7:</a:t>
            </a:r>
            <a:r>
              <a:rPr lang="en-US" sz="1200" dirty="0" smtClean="0"/>
              <a:t> Select project Location by clicking </a:t>
            </a:r>
            <a:r>
              <a:rPr lang="en-US" sz="1200" b="1" dirty="0" smtClean="0"/>
              <a:t>Browse</a:t>
            </a:r>
            <a:r>
              <a:rPr lang="en-US" sz="1200" dirty="0" smtClean="0"/>
              <a:t> button.</a:t>
            </a:r>
          </a:p>
          <a:p>
            <a:r>
              <a:rPr lang="en-US" sz="1050" dirty="0" smtClean="0"/>
              <a:t>Step</a:t>
            </a:r>
            <a:r>
              <a:rPr lang="en-US" sz="1050" baseline="0" dirty="0" smtClean="0"/>
              <a:t> 8</a:t>
            </a:r>
            <a:r>
              <a:rPr lang="en-US" sz="1050" dirty="0" smtClean="0"/>
              <a:t>: Click </a:t>
            </a:r>
            <a:r>
              <a:rPr lang="en-US" sz="1050" b="1" dirty="0" smtClean="0"/>
              <a:t>Finish</a:t>
            </a:r>
            <a:r>
              <a:rPr lang="en-US" sz="1050" dirty="0" smtClean="0"/>
              <a:t> button.</a:t>
            </a:r>
          </a:p>
          <a:p>
            <a:endParaRPr lang="en-US" sz="1050" dirty="0" smtClean="0"/>
          </a:p>
          <a:p>
            <a:pPr marL="0" lvl="0" indent="0">
              <a:buFont typeface="+mj-lt"/>
              <a:buNone/>
            </a:pPr>
            <a:r>
              <a:rPr lang="en-US" sz="1200" b="1" dirty="0" smtClean="0"/>
              <a:t>Task 2</a:t>
            </a:r>
            <a:r>
              <a:rPr lang="en-US" sz="1200" dirty="0" smtClean="0"/>
              <a:t>: Use </a:t>
            </a:r>
            <a:r>
              <a:rPr lang="en-US" sz="1200" b="1" dirty="0" err="1" smtClean="0"/>
              <a:t>struct</a:t>
            </a:r>
            <a:r>
              <a:rPr lang="en-US" sz="1200" dirty="0" smtClean="0"/>
              <a:t> library to </a:t>
            </a:r>
            <a:r>
              <a:rPr lang="en-US" sz="1200" b="1" dirty="0" smtClean="0"/>
              <a:t>unpack()</a:t>
            </a:r>
            <a:r>
              <a:rPr lang="en-US" sz="1200" baseline="0" dirty="0" smtClean="0"/>
              <a:t> to decode the binary data, u</a:t>
            </a:r>
            <a:r>
              <a:rPr lang="en-US" sz="1200" dirty="0" smtClean="0"/>
              <a:t>se</a:t>
            </a:r>
            <a:r>
              <a:rPr lang="en-US" sz="1200" b="1" dirty="0" smtClean="0"/>
              <a:t> open() </a:t>
            </a:r>
            <a:r>
              <a:rPr lang="en-US" sz="1200" dirty="0" smtClean="0"/>
              <a:t>to open</a:t>
            </a:r>
            <a:r>
              <a:rPr lang="en-US" sz="1200" baseline="0" dirty="0" smtClean="0"/>
              <a:t> the binary image file, u</a:t>
            </a:r>
            <a:r>
              <a:rPr lang="en-US" sz="1200" dirty="0" smtClean="0"/>
              <a:t>se</a:t>
            </a:r>
            <a:r>
              <a:rPr lang="en-US" sz="1200" b="1" dirty="0" smtClean="0"/>
              <a:t> seek()</a:t>
            </a:r>
            <a:r>
              <a:rPr lang="en-US" sz="1200" dirty="0" smtClean="0"/>
              <a:t> to seek</a:t>
            </a:r>
            <a:r>
              <a:rPr lang="en-US" sz="1200" baseline="0" dirty="0" smtClean="0"/>
              <a:t> the position the reading of file will start, u</a:t>
            </a:r>
            <a:r>
              <a:rPr lang="en-US" sz="1200" dirty="0" smtClean="0"/>
              <a:t>se </a:t>
            </a:r>
            <a:r>
              <a:rPr lang="en-US" sz="1200" b="1" dirty="0" smtClean="0"/>
              <a:t>read()</a:t>
            </a:r>
            <a:r>
              <a:rPr lang="en-US" sz="1200" dirty="0" smtClean="0"/>
              <a:t> to start</a:t>
            </a:r>
            <a:r>
              <a:rPr lang="en-US" sz="1200" baseline="0" dirty="0" smtClean="0"/>
              <a:t> to read the file, use </a:t>
            </a:r>
            <a:r>
              <a:rPr lang="en-US" sz="1200" b="1" baseline="0" dirty="0" smtClean="0"/>
              <a:t>unpack()</a:t>
            </a:r>
            <a:r>
              <a:rPr lang="en-US" sz="1200" baseline="0" dirty="0" smtClean="0"/>
              <a:t> to decode the binary data:</a:t>
            </a:r>
            <a:endParaRPr lang="en-US" sz="1200" dirty="0" smtClean="0"/>
          </a:p>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pPr>
            <a:r>
              <a:rPr lang="en-US" sz="1200" dirty="0" smtClean="0"/>
              <a:t>Step 1: Type following code:</a:t>
            </a:r>
          </a:p>
          <a:p>
            <a:pPr marR="0" lvl="0" indent="0" eaLnBrk="1" fontAlgn="base"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lang="en-US" altLang="en-US" sz="1200" dirty="0" smtClean="0">
              <a:latin typeface="+mn-lt"/>
            </a:endParaRPr>
          </a:p>
          <a:p>
            <a:r>
              <a:rPr lang="en-US" sz="1200" dirty="0" smtClean="0"/>
              <a:t>	import </a:t>
            </a:r>
            <a:r>
              <a:rPr lang="en-US" sz="1200" dirty="0" err="1" smtClean="0"/>
              <a:t>struct</a:t>
            </a:r>
            <a:endParaRPr lang="en-US" sz="1200" dirty="0" smtClean="0"/>
          </a:p>
          <a:p>
            <a:endParaRPr lang="en-US" sz="1200" dirty="0" smtClean="0"/>
          </a:p>
          <a:p>
            <a:r>
              <a:rPr lang="en-US" sz="1200" dirty="0" smtClean="0"/>
              <a:t>	with open('image.bmp', '</a:t>
            </a:r>
            <a:r>
              <a:rPr lang="en-US" sz="1200" dirty="0" err="1" smtClean="0"/>
              <a:t>rb</a:t>
            </a:r>
            <a:r>
              <a:rPr lang="en-US" sz="1200" dirty="0" smtClean="0"/>
              <a:t>') as f:</a:t>
            </a:r>
          </a:p>
          <a:p>
            <a:r>
              <a:rPr lang="en-US" sz="1200" dirty="0" smtClean="0"/>
              <a:t>		</a:t>
            </a:r>
            <a:r>
              <a:rPr lang="en-US" sz="1200" dirty="0" err="1" smtClean="0"/>
              <a:t>f.seek</a:t>
            </a:r>
            <a:r>
              <a:rPr lang="en-US" sz="1200" dirty="0" smtClean="0"/>
              <a:t>(18)</a:t>
            </a:r>
          </a:p>
          <a:p>
            <a:endParaRPr lang="en-US" sz="1200" dirty="0" smtClean="0"/>
          </a:p>
          <a:p>
            <a:r>
              <a:rPr lang="en-US" sz="1200" dirty="0" smtClean="0"/>
              <a:t>		bytes = </a:t>
            </a:r>
            <a:r>
              <a:rPr lang="en-US" sz="1200" dirty="0" err="1" smtClean="0"/>
              <a:t>f.read</a:t>
            </a:r>
            <a:r>
              <a:rPr lang="en-US" sz="1200" dirty="0" smtClean="0"/>
              <a:t>(8)</a:t>
            </a:r>
          </a:p>
          <a:p>
            <a:endParaRPr lang="en-US" sz="1200" dirty="0" smtClean="0"/>
          </a:p>
          <a:p>
            <a:r>
              <a:rPr lang="en-US" sz="1200" dirty="0" smtClean="0"/>
              <a:t>		size = </a:t>
            </a:r>
            <a:r>
              <a:rPr lang="en-US" sz="1200" dirty="0" err="1" smtClean="0"/>
              <a:t>struct.unpack</a:t>
            </a:r>
            <a:r>
              <a:rPr lang="en-US" sz="1200" dirty="0" smtClean="0"/>
              <a:t>('&lt;ii', bytes)</a:t>
            </a:r>
          </a:p>
          <a:p>
            <a:endParaRPr lang="en-US" sz="1200" dirty="0" smtClean="0"/>
          </a:p>
          <a:p>
            <a:r>
              <a:rPr lang="en-US" sz="1200" dirty="0" smtClean="0"/>
              <a:t>		print('Image width:  ' + </a:t>
            </a:r>
            <a:r>
              <a:rPr lang="en-US" sz="1200" dirty="0" err="1" smtClean="0"/>
              <a:t>str</a:t>
            </a:r>
            <a:r>
              <a:rPr lang="en-US" sz="1200" dirty="0" smtClean="0"/>
              <a:t>(size[0]))</a:t>
            </a:r>
          </a:p>
          <a:p>
            <a:r>
              <a:rPr lang="en-US" sz="1200" dirty="0" smtClean="0"/>
              <a:t>    		print('Image height: ' + </a:t>
            </a:r>
            <a:r>
              <a:rPr lang="en-US" sz="1200" dirty="0" err="1" smtClean="0"/>
              <a:t>str</a:t>
            </a:r>
            <a:r>
              <a:rPr lang="en-US" sz="1200" dirty="0" smtClean="0"/>
              <a:t>(size[1]))</a:t>
            </a:r>
          </a:p>
          <a:p>
            <a:endParaRPr lang="en-US" altLang="en-US" sz="1200" dirty="0" smtClean="0">
              <a:latin typeface="+mn-lt"/>
            </a:endParaRPr>
          </a:p>
          <a:p>
            <a:pPr marR="0" lvl="0" indent="0" eaLnBrk="1" fontAlgn="base"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en-US" sz="1200" dirty="0" smtClean="0">
                <a:latin typeface="+mn-lt"/>
              </a:rPr>
              <a:t>Step</a:t>
            </a:r>
            <a:r>
              <a:rPr lang="en-US" altLang="en-US" sz="1200" baseline="0" dirty="0" smtClean="0">
                <a:latin typeface="+mn-lt"/>
              </a:rPr>
              <a:t> 2</a:t>
            </a:r>
            <a:r>
              <a:rPr lang="en-US" altLang="en-US" sz="1200" dirty="0" smtClean="0">
                <a:latin typeface="+mn-lt"/>
              </a:rPr>
              <a:t>: Run the program.</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lvl="0" indent="0">
              <a:buFont typeface="+mj-lt"/>
              <a:buNone/>
            </a:pPr>
            <a:endParaRPr lang="en-US" sz="1200" dirty="0" smtClean="0"/>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8</a:t>
            </a:fld>
            <a:endParaRPr lang="en-US"/>
          </a:p>
        </p:txBody>
      </p:sp>
    </p:spTree>
    <p:extLst>
      <p:ext uri="{BB962C8B-B14F-4D97-AF65-F5344CB8AC3E}">
        <p14:creationId xmlns:p14="http://schemas.microsoft.com/office/powerpoint/2010/main" val="2660531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Web service is a software system(functions or functionality of applications or systems), which is designed to support interoperable machine-to-machine interaction over a network(internet/intranet).</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HTTP protocol is used sending a request to the server. </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To access a webpage,  user is sending a request that has the </a:t>
            </a:r>
            <a:r>
              <a:rPr lang="en-US" sz="1200" b="1" i="0" kern="1200" dirty="0" smtClean="0">
                <a:solidFill>
                  <a:schemeClr val="tx1"/>
                </a:solidFill>
                <a:effectLst/>
                <a:latin typeface="+mn-lt"/>
                <a:ea typeface="+mn-ea"/>
                <a:cs typeface="+mn-cs"/>
              </a:rPr>
              <a:t>GET</a:t>
            </a:r>
            <a:r>
              <a:rPr lang="en-US" sz="1200" b="0" i="0" kern="1200" dirty="0" smtClean="0">
                <a:solidFill>
                  <a:schemeClr val="tx1"/>
                </a:solidFill>
                <a:effectLst/>
                <a:latin typeface="+mn-lt"/>
                <a:ea typeface="+mn-ea"/>
                <a:cs typeface="+mn-cs"/>
              </a:rPr>
              <a:t> request method, and the resource is usually a webpage such as 'index.html', which is usually the core webpage at a website. In this case, the </a:t>
            </a:r>
            <a:r>
              <a:rPr lang="en-US" sz="1200" b="1" i="0" kern="1200" dirty="0" smtClean="0">
                <a:solidFill>
                  <a:schemeClr val="tx1"/>
                </a:solidFill>
                <a:effectLst/>
                <a:latin typeface="+mn-lt"/>
                <a:ea typeface="+mn-ea"/>
                <a:cs typeface="+mn-cs"/>
              </a:rPr>
              <a:t>GET</a:t>
            </a:r>
            <a:r>
              <a:rPr lang="en-US" sz="1200" b="0" i="0" kern="1200" dirty="0" smtClean="0">
                <a:solidFill>
                  <a:schemeClr val="tx1"/>
                </a:solidFill>
                <a:effectLst/>
                <a:latin typeface="+mn-lt"/>
                <a:ea typeface="+mn-ea"/>
                <a:cs typeface="+mn-cs"/>
              </a:rPr>
              <a:t> is the request method, and the </a:t>
            </a:r>
            <a:r>
              <a:rPr lang="en-US" sz="1200" b="1" i="0" kern="1200" dirty="0" smtClean="0">
                <a:solidFill>
                  <a:schemeClr val="tx1"/>
                </a:solidFill>
                <a:effectLst/>
                <a:latin typeface="+mn-lt"/>
                <a:ea typeface="+mn-ea"/>
                <a:cs typeface="+mn-cs"/>
              </a:rPr>
              <a:t>resource</a:t>
            </a:r>
            <a:r>
              <a:rPr lang="en-US" sz="1200" b="0" i="0" kern="1200" dirty="0" smtClean="0">
                <a:solidFill>
                  <a:schemeClr val="tx1"/>
                </a:solidFill>
                <a:effectLst/>
                <a:latin typeface="+mn-lt"/>
                <a:ea typeface="+mn-ea"/>
                <a:cs typeface="+mn-cs"/>
              </a:rPr>
              <a:t> is the 'index.html'.</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Another important one is </a:t>
            </a:r>
            <a:r>
              <a:rPr lang="en-US" sz="1200" b="1" i="0" kern="1200" dirty="0" smtClean="0">
                <a:solidFill>
                  <a:schemeClr val="tx1"/>
                </a:solidFill>
                <a:effectLst/>
                <a:latin typeface="+mn-lt"/>
                <a:ea typeface="+mn-ea"/>
                <a:cs typeface="+mn-cs"/>
              </a:rPr>
              <a:t>POST</a:t>
            </a:r>
            <a:r>
              <a:rPr lang="en-US" sz="1200" b="0" i="0" kern="1200" dirty="0" smtClean="0">
                <a:solidFill>
                  <a:schemeClr val="tx1"/>
                </a:solidFill>
                <a:effectLst/>
                <a:latin typeface="+mn-lt"/>
                <a:ea typeface="+mn-ea"/>
                <a:cs typeface="+mn-cs"/>
              </a:rPr>
              <a:t>. POST is typically used when</a:t>
            </a:r>
            <a:r>
              <a:rPr lang="en-US" sz="1200" b="0" i="0" kern="1200" baseline="0" dirty="0" smtClean="0">
                <a:solidFill>
                  <a:schemeClr val="tx1"/>
                </a:solidFill>
                <a:effectLst/>
                <a:latin typeface="+mn-lt"/>
                <a:ea typeface="+mn-ea"/>
                <a:cs typeface="+mn-cs"/>
              </a:rPr>
              <a:t> user</a:t>
            </a:r>
            <a:r>
              <a:rPr lang="en-US" sz="1200" b="0" i="0" kern="1200" dirty="0" smtClean="0">
                <a:solidFill>
                  <a:schemeClr val="tx1"/>
                </a:solidFill>
                <a:effectLst/>
                <a:latin typeface="+mn-lt"/>
                <a:ea typeface="+mn-ea"/>
                <a:cs typeface="+mn-cs"/>
              </a:rPr>
              <a:t> sends a lot of data to the server. So, for example, if</a:t>
            </a:r>
            <a:r>
              <a:rPr lang="en-US" sz="1200" b="0" i="0" kern="1200" baseline="0" dirty="0" smtClean="0">
                <a:solidFill>
                  <a:schemeClr val="tx1"/>
                </a:solidFill>
                <a:effectLst/>
                <a:latin typeface="+mn-lt"/>
                <a:ea typeface="+mn-ea"/>
                <a:cs typeface="+mn-cs"/>
              </a:rPr>
              <a:t> user</a:t>
            </a:r>
            <a:r>
              <a:rPr lang="en-US" sz="1200" b="0" i="0" kern="1200" dirty="0" smtClean="0">
                <a:solidFill>
                  <a:schemeClr val="tx1"/>
                </a:solidFill>
                <a:effectLst/>
                <a:latin typeface="+mn-lt"/>
                <a:ea typeface="+mn-ea"/>
                <a:cs typeface="+mn-cs"/>
              </a:rPr>
              <a:t> want to Post an image to the server so that it can then store and serve up at some later point in time.</a:t>
            </a:r>
          </a:p>
          <a:p>
            <a:endParaRPr lang="en-US" sz="1200" b="0" i="0" kern="1200" dirty="0" smtClean="0">
              <a:solidFill>
                <a:schemeClr val="tx1"/>
              </a:solidFill>
              <a:effectLst/>
              <a:latin typeface="+mn-lt"/>
              <a:ea typeface="+mn-ea"/>
              <a:cs typeface="+mn-cs"/>
            </a:endParaRPr>
          </a:p>
          <a:p>
            <a:r>
              <a:rPr lang="en-US" sz="1800" dirty="0" smtClean="0">
                <a:solidFill>
                  <a:srgbClr val="6600CC"/>
                </a:solidFill>
                <a:latin typeface="Vrinda" pitchFamily="34" charset="0"/>
                <a:cs typeface="Vrinda" pitchFamily="34" charset="0"/>
              </a:rPr>
              <a:t>Examples of pure XML-over-HTTP web services:</a:t>
            </a:r>
          </a:p>
          <a:p>
            <a:pPr marL="900000" lvl="1" indent="-396875" defTabSz="914363">
              <a:lnSpc>
                <a:spcPct val="90000"/>
              </a:lnSpc>
              <a:buSzPct val="120000"/>
              <a:buFont typeface="Arial" panose="020B0604020202020204" pitchFamily="34" charset="0"/>
              <a:buChar char="•"/>
            </a:pPr>
            <a:r>
              <a:rPr lang="en-US" sz="1600" dirty="0" smtClean="0">
                <a:solidFill>
                  <a:srgbClr val="6600CC"/>
                </a:solidFill>
                <a:latin typeface="Vrinda" pitchFamily="34" charset="0"/>
                <a:cs typeface="Vrinda" pitchFamily="34" charset="0"/>
              </a:rPr>
              <a:t>Google Data APIs allow you to interact with a wide variety of Google services, including Blogger and YouTube. </a:t>
            </a:r>
          </a:p>
          <a:p>
            <a:pPr marL="900000" lvl="1" indent="-396875" defTabSz="914363">
              <a:lnSpc>
                <a:spcPct val="90000"/>
              </a:lnSpc>
              <a:buSzPct val="120000"/>
              <a:buFont typeface="Arial" panose="020B0604020202020204" pitchFamily="34" charset="0"/>
              <a:buChar char="•"/>
            </a:pPr>
            <a:r>
              <a:rPr lang="en-US" sz="1600" dirty="0" smtClean="0">
                <a:solidFill>
                  <a:srgbClr val="6600CC"/>
                </a:solidFill>
                <a:latin typeface="Vrinda" pitchFamily="34" charset="0"/>
                <a:cs typeface="Vrinda" pitchFamily="34" charset="0"/>
              </a:rPr>
              <a:t>Twitter API allows to publish status updates on Twitter.</a:t>
            </a:r>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10</a:t>
            </a:fld>
            <a:endParaRPr lang="en-US"/>
          </a:p>
        </p:txBody>
      </p:sp>
    </p:spTree>
    <p:extLst>
      <p:ext uri="{BB962C8B-B14F-4D97-AF65-F5344CB8AC3E}">
        <p14:creationId xmlns:p14="http://schemas.microsoft.com/office/powerpoint/2010/main" val="1679037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XML is a portable, open source language(Free download) that allows programmers to develop applications that can be read by other applications, regardless of operating system and/or developmental language.</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eXtensible</a:t>
            </a:r>
            <a:r>
              <a:rPr lang="en-US" sz="1200" b="0" i="0" kern="1200" dirty="0" smtClean="0">
                <a:solidFill>
                  <a:schemeClr val="tx1"/>
                </a:solidFill>
                <a:effectLst/>
                <a:latin typeface="+mn-lt"/>
                <a:ea typeface="+mn-ea"/>
                <a:cs typeface="+mn-cs"/>
              </a:rPr>
              <a:t> Markup Language (XML) is a markup language much like HTML or SGML. This is recommended by the World Wide Web Consortium and available as an open standard.</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XML is extremely useful for keeping track of small to medium amounts of data without requiring a database backbone.</a:t>
            </a: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11</a:t>
            </a:fld>
            <a:endParaRPr lang="en-US"/>
          </a:p>
        </p:txBody>
      </p:sp>
    </p:spTree>
    <p:extLst>
      <p:ext uri="{BB962C8B-B14F-4D97-AF65-F5344CB8AC3E}">
        <p14:creationId xmlns:p14="http://schemas.microsoft.com/office/powerpoint/2010/main" val="4269417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Rules of XML Data:</a:t>
            </a:r>
          </a:p>
          <a:p>
            <a:endParaRPr lang="en-US" dirty="0" smtClean="0"/>
          </a:p>
          <a:p>
            <a:r>
              <a:rPr lang="en-US" dirty="0" smtClean="0"/>
              <a:t>xml</a:t>
            </a:r>
            <a:r>
              <a:rPr lang="en-US" sz="1200" b="0" i="0" kern="1200" dirty="0" smtClean="0">
                <a:solidFill>
                  <a:schemeClr val="tx1"/>
                </a:solidFill>
                <a:effectLst/>
                <a:latin typeface="+mn-lt"/>
                <a:ea typeface="+mn-ea"/>
                <a:cs typeface="+mn-cs"/>
              </a:rPr>
              <a:t> is a generalized way of describing hierarchical structured data. An </a:t>
            </a:r>
            <a:r>
              <a:rPr lang="en-US" dirty="0" smtClean="0"/>
              <a:t>xml</a:t>
            </a:r>
            <a:r>
              <a:rPr lang="en-US" sz="1200" b="0" i="0" kern="1200" dirty="0" smtClean="0">
                <a:solidFill>
                  <a:schemeClr val="tx1"/>
                </a:solidFill>
                <a:effectLst/>
                <a:latin typeface="+mn-lt"/>
                <a:ea typeface="+mn-ea"/>
                <a:cs typeface="+mn-cs"/>
              </a:rPr>
              <a:t> </a:t>
            </a:r>
            <a:r>
              <a:rPr lang="en-US" sz="1200" b="0" i="1" kern="1200" dirty="0" smtClean="0">
                <a:solidFill>
                  <a:schemeClr val="tx1"/>
                </a:solidFill>
                <a:effectLst/>
                <a:latin typeface="+mn-lt"/>
                <a:ea typeface="+mn-ea"/>
                <a:cs typeface="+mn-cs"/>
              </a:rPr>
              <a:t>document</a:t>
            </a:r>
            <a:r>
              <a:rPr lang="en-US" sz="1200" b="0" i="0" kern="1200" dirty="0" smtClean="0">
                <a:solidFill>
                  <a:schemeClr val="tx1"/>
                </a:solidFill>
                <a:effectLst/>
                <a:latin typeface="+mn-lt"/>
                <a:ea typeface="+mn-ea"/>
                <a:cs typeface="+mn-cs"/>
              </a:rPr>
              <a:t> contains one or more </a:t>
            </a:r>
            <a:r>
              <a:rPr lang="en-US" sz="1200" b="0" i="1" kern="1200" dirty="0" smtClean="0">
                <a:solidFill>
                  <a:schemeClr val="tx1"/>
                </a:solidFill>
                <a:effectLst/>
                <a:latin typeface="+mn-lt"/>
                <a:ea typeface="+mn-ea"/>
                <a:cs typeface="+mn-cs"/>
              </a:rPr>
              <a:t>elements</a:t>
            </a:r>
            <a:r>
              <a:rPr lang="en-US" sz="1200" b="0" i="0" kern="1200" dirty="0" smtClean="0">
                <a:solidFill>
                  <a:schemeClr val="tx1"/>
                </a:solidFill>
                <a:effectLst/>
                <a:latin typeface="+mn-lt"/>
                <a:ea typeface="+mn-ea"/>
                <a:cs typeface="+mn-cs"/>
              </a:rPr>
              <a:t>, which are delimited by </a:t>
            </a:r>
            <a:r>
              <a:rPr lang="en-US" sz="1200" b="0" i="1" kern="1200" dirty="0" smtClean="0">
                <a:solidFill>
                  <a:schemeClr val="tx1"/>
                </a:solidFill>
                <a:effectLst/>
                <a:latin typeface="+mn-lt"/>
                <a:ea typeface="+mn-ea"/>
                <a:cs typeface="+mn-cs"/>
              </a:rPr>
              <a:t>start and end tags</a:t>
            </a:r>
            <a:r>
              <a:rPr lang="en-US" sz="1200" b="0" i="0" kern="1200" dirty="0" smtClean="0">
                <a:solidFill>
                  <a:schemeClr val="tx1"/>
                </a:solidFill>
                <a:effectLst/>
                <a:latin typeface="+mn-lt"/>
                <a:ea typeface="+mn-ea"/>
                <a:cs typeface="+mn-cs"/>
              </a:rPr>
              <a:t>:</a:t>
            </a:r>
            <a:endParaRPr lang="en-US" dirty="0" smtClean="0"/>
          </a:p>
          <a:p>
            <a:r>
              <a:rPr lang="en-US" sz="1200" b="0" i="0" u="none" strike="noStrike" kern="1200" dirty="0" smtClean="0">
                <a:solidFill>
                  <a:schemeClr val="tx1"/>
                </a:solidFill>
                <a:effectLst/>
                <a:latin typeface="+mn-lt"/>
                <a:ea typeface="+mn-ea"/>
                <a:cs typeface="+mn-cs"/>
              </a:rPr>
              <a:t>&lt;foo&gt;   ①</a:t>
            </a: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u="none" strike="noStrike" kern="1200" dirty="0" smtClean="0">
                <a:solidFill>
                  <a:schemeClr val="tx1"/>
                </a:solidFill>
                <a:effectLst/>
                <a:latin typeface="+mn-lt"/>
                <a:ea typeface="+mn-ea"/>
                <a:cs typeface="+mn-cs"/>
              </a:rPr>
              <a:t>&lt;/foo&gt;  ②</a:t>
            </a:r>
          </a:p>
          <a:p>
            <a:r>
              <a:rPr lang="en-US" sz="1200" b="0" i="0" kern="1200" dirty="0" smtClean="0">
                <a:solidFill>
                  <a:schemeClr val="tx1"/>
                </a:solidFill>
                <a:effectLst/>
                <a:latin typeface="+mn-lt"/>
                <a:ea typeface="+mn-ea"/>
                <a:cs typeface="+mn-cs"/>
              </a:rPr>
              <a:t>①</a:t>
            </a:r>
            <a:r>
              <a:rPr lang="en-US" dirty="0" smtClean="0">
                <a:effectLst/>
              </a:rPr>
              <a:t>This is the </a:t>
            </a:r>
            <a:r>
              <a:rPr lang="en-US" i="1" dirty="0" smtClean="0">
                <a:effectLst/>
              </a:rPr>
              <a:t>start tag</a:t>
            </a:r>
            <a:r>
              <a:rPr lang="en-US" dirty="0" smtClean="0">
                <a:effectLst/>
              </a:rPr>
              <a:t> of the foo element.</a:t>
            </a:r>
          </a:p>
          <a:p>
            <a:r>
              <a:rPr lang="en-US" sz="1200" b="0" i="0" kern="1200" dirty="0" smtClean="0">
                <a:solidFill>
                  <a:schemeClr val="tx1"/>
                </a:solidFill>
                <a:effectLst/>
                <a:latin typeface="+mn-lt"/>
                <a:ea typeface="+mn-ea"/>
                <a:cs typeface="+mn-cs"/>
              </a:rPr>
              <a:t>②</a:t>
            </a:r>
            <a:r>
              <a:rPr lang="en-US" dirty="0" smtClean="0">
                <a:effectLst/>
              </a:rPr>
              <a:t>This is the matching </a:t>
            </a:r>
            <a:r>
              <a:rPr lang="en-US" i="1" dirty="0" smtClean="0">
                <a:effectLst/>
              </a:rPr>
              <a:t>end tag</a:t>
            </a:r>
            <a:r>
              <a:rPr lang="en-US" dirty="0" smtClean="0">
                <a:effectLst/>
              </a:rPr>
              <a:t> of the foo element. Like balancing parentheses in writing or mathematics or code, every start tag must be </a:t>
            </a:r>
            <a:r>
              <a:rPr lang="en-US" i="1" dirty="0" smtClean="0">
                <a:effectLst/>
              </a:rPr>
              <a:t>closed</a:t>
            </a:r>
            <a:r>
              <a:rPr lang="en-US" dirty="0" smtClean="0">
                <a:effectLst/>
              </a:rPr>
              <a:t> (matched) by a corresponding end tag.</a:t>
            </a:r>
          </a:p>
          <a:p>
            <a:endParaRPr lang="en-US" dirty="0" smtClean="0">
              <a:effectLst/>
            </a:endParaRPr>
          </a:p>
          <a:p>
            <a:r>
              <a:rPr lang="en-US" sz="1200" b="0" i="0" kern="1200" dirty="0" smtClean="0">
                <a:solidFill>
                  <a:schemeClr val="tx1"/>
                </a:solidFill>
                <a:effectLst/>
                <a:latin typeface="+mn-lt"/>
                <a:ea typeface="+mn-ea"/>
                <a:cs typeface="+mn-cs"/>
              </a:rPr>
              <a:t>Elements can be </a:t>
            </a:r>
            <a:r>
              <a:rPr lang="en-US" sz="1200" b="0" i="1" kern="1200" dirty="0" smtClean="0">
                <a:solidFill>
                  <a:schemeClr val="tx1"/>
                </a:solidFill>
                <a:effectLst/>
                <a:latin typeface="+mn-lt"/>
                <a:ea typeface="+mn-ea"/>
                <a:cs typeface="+mn-cs"/>
              </a:rPr>
              <a:t>nested</a:t>
            </a:r>
            <a:r>
              <a:rPr lang="en-US" sz="1200" b="0" i="0" kern="1200" dirty="0" smtClean="0">
                <a:solidFill>
                  <a:schemeClr val="tx1"/>
                </a:solidFill>
                <a:effectLst/>
                <a:latin typeface="+mn-lt"/>
                <a:ea typeface="+mn-ea"/>
                <a:cs typeface="+mn-cs"/>
              </a:rPr>
              <a:t> to any depth. An element bar inside an element foo is said to be a </a:t>
            </a:r>
            <a:r>
              <a:rPr lang="en-US" sz="1200" b="0" i="1" kern="1200" dirty="0" smtClean="0">
                <a:solidFill>
                  <a:schemeClr val="tx1"/>
                </a:solidFill>
                <a:effectLst/>
                <a:latin typeface="+mn-lt"/>
                <a:ea typeface="+mn-ea"/>
                <a:cs typeface="+mn-cs"/>
              </a:rPr>
              <a:t>sub element</a:t>
            </a:r>
            <a:r>
              <a:rPr lang="en-US" sz="1200" b="0" i="0" kern="1200" dirty="0" smtClean="0">
                <a:solidFill>
                  <a:schemeClr val="tx1"/>
                </a:solidFill>
                <a:effectLst/>
                <a:latin typeface="+mn-lt"/>
                <a:ea typeface="+mn-ea"/>
                <a:cs typeface="+mn-cs"/>
              </a:rPr>
              <a:t> or </a:t>
            </a:r>
            <a:r>
              <a:rPr lang="en-US" sz="1200" b="0" i="1" kern="1200" dirty="0" smtClean="0">
                <a:solidFill>
                  <a:schemeClr val="tx1"/>
                </a:solidFill>
                <a:effectLst/>
                <a:latin typeface="+mn-lt"/>
                <a:ea typeface="+mn-ea"/>
                <a:cs typeface="+mn-cs"/>
              </a:rPr>
              <a:t>child</a:t>
            </a:r>
            <a:r>
              <a:rPr lang="en-US" sz="1200" b="0" i="0" kern="1200" dirty="0" smtClean="0">
                <a:solidFill>
                  <a:schemeClr val="tx1"/>
                </a:solidFill>
                <a:effectLst/>
                <a:latin typeface="+mn-lt"/>
                <a:ea typeface="+mn-ea"/>
                <a:cs typeface="+mn-cs"/>
              </a:rPr>
              <a:t> of foo.</a:t>
            </a:r>
          </a:p>
          <a:p>
            <a:r>
              <a:rPr lang="en-US" sz="1200" b="0" i="0" kern="1200" dirty="0" smtClean="0">
                <a:solidFill>
                  <a:schemeClr val="tx1"/>
                </a:solidFill>
                <a:effectLst/>
                <a:latin typeface="+mn-lt"/>
                <a:ea typeface="+mn-ea"/>
                <a:cs typeface="+mn-cs"/>
              </a:rPr>
              <a:t>&lt;foo&gt;</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  &lt;bar&gt;&lt;/bar&gt;</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&lt;/foo&gt;</a:t>
            </a:r>
          </a:p>
          <a:p>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The first element in every xml document is called the </a:t>
            </a:r>
            <a:r>
              <a:rPr lang="en-US" sz="1200" b="0" i="1" kern="1200" dirty="0" smtClean="0">
                <a:solidFill>
                  <a:schemeClr val="tx1"/>
                </a:solidFill>
                <a:effectLst/>
                <a:latin typeface="+mn-lt"/>
                <a:ea typeface="+mn-ea"/>
                <a:cs typeface="+mn-cs"/>
              </a:rPr>
              <a:t>root element</a:t>
            </a:r>
            <a:r>
              <a:rPr lang="en-US" sz="1200" b="0" i="0" kern="1200" dirty="0" smtClean="0">
                <a:solidFill>
                  <a:schemeClr val="tx1"/>
                </a:solidFill>
                <a:effectLst/>
                <a:latin typeface="+mn-lt"/>
                <a:ea typeface="+mn-ea"/>
                <a:cs typeface="+mn-cs"/>
              </a:rPr>
              <a:t>. An xml document can only have one root element. The following is </a:t>
            </a:r>
            <a:r>
              <a:rPr lang="en-US" sz="1200" b="1" i="0" kern="1200" dirty="0" smtClean="0">
                <a:solidFill>
                  <a:schemeClr val="tx1"/>
                </a:solidFill>
                <a:effectLst/>
                <a:latin typeface="+mn-lt"/>
                <a:ea typeface="+mn-ea"/>
                <a:cs typeface="+mn-cs"/>
              </a:rPr>
              <a:t>not an xml document</a:t>
            </a:r>
            <a:r>
              <a:rPr lang="en-US" sz="1200" b="0" i="0" kern="1200" dirty="0" smtClean="0">
                <a:solidFill>
                  <a:schemeClr val="tx1"/>
                </a:solidFill>
                <a:effectLst/>
                <a:latin typeface="+mn-lt"/>
                <a:ea typeface="+mn-ea"/>
                <a:cs typeface="+mn-cs"/>
              </a:rPr>
              <a:t>, because it has two root elements:</a:t>
            </a:r>
          </a:p>
          <a:p>
            <a:r>
              <a:rPr lang="en-US" sz="1200" b="0" i="0" kern="1200" dirty="0" smtClean="0">
                <a:solidFill>
                  <a:schemeClr val="tx1"/>
                </a:solidFill>
                <a:effectLst/>
                <a:latin typeface="+mn-lt"/>
                <a:ea typeface="+mn-ea"/>
                <a:cs typeface="+mn-cs"/>
              </a:rPr>
              <a:t>&lt;foo&gt;&lt;/foo&gt;</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&lt;bar&gt;&lt;/bar&gt;</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Elements can have </a:t>
            </a:r>
            <a:r>
              <a:rPr lang="en-US" sz="1200" b="0" i="1" kern="1200" dirty="0" smtClean="0">
                <a:solidFill>
                  <a:schemeClr val="tx1"/>
                </a:solidFill>
                <a:effectLst/>
                <a:latin typeface="+mn-lt"/>
                <a:ea typeface="+mn-ea"/>
                <a:cs typeface="+mn-cs"/>
              </a:rPr>
              <a:t>attributes</a:t>
            </a:r>
            <a:r>
              <a:rPr lang="en-US" sz="1200" b="0" i="0" kern="1200" dirty="0" smtClean="0">
                <a:solidFill>
                  <a:schemeClr val="tx1"/>
                </a:solidFill>
                <a:effectLst/>
                <a:latin typeface="+mn-lt"/>
                <a:ea typeface="+mn-ea"/>
                <a:cs typeface="+mn-cs"/>
              </a:rPr>
              <a:t>, which are name-value pairs. Attributes are listed within the start tag of an element and separated by whitespace. </a:t>
            </a:r>
            <a:r>
              <a:rPr lang="en-US" sz="1200" b="0" i="1" kern="1200" dirty="0" smtClean="0">
                <a:solidFill>
                  <a:schemeClr val="tx1"/>
                </a:solidFill>
                <a:effectLst/>
                <a:latin typeface="+mn-lt"/>
                <a:ea typeface="+mn-ea"/>
                <a:cs typeface="+mn-cs"/>
              </a:rPr>
              <a:t>Attribute names</a:t>
            </a:r>
            <a:r>
              <a:rPr lang="en-US" sz="1200" b="0" i="0" kern="1200" dirty="0" smtClean="0">
                <a:solidFill>
                  <a:schemeClr val="tx1"/>
                </a:solidFill>
                <a:effectLst/>
                <a:latin typeface="+mn-lt"/>
                <a:ea typeface="+mn-ea"/>
                <a:cs typeface="+mn-cs"/>
              </a:rPr>
              <a:t> can not be repeated within an element. </a:t>
            </a:r>
            <a:r>
              <a:rPr lang="en-US" sz="1200" b="0" i="1" kern="1200" dirty="0" smtClean="0">
                <a:solidFill>
                  <a:schemeClr val="tx1"/>
                </a:solidFill>
                <a:effectLst/>
                <a:latin typeface="+mn-lt"/>
                <a:ea typeface="+mn-ea"/>
                <a:cs typeface="+mn-cs"/>
              </a:rPr>
              <a:t>Attribute values</a:t>
            </a:r>
            <a:r>
              <a:rPr lang="en-US" sz="1200" b="0" i="0" kern="1200" dirty="0" smtClean="0">
                <a:solidFill>
                  <a:schemeClr val="tx1"/>
                </a:solidFill>
                <a:effectLst/>
                <a:latin typeface="+mn-lt"/>
                <a:ea typeface="+mn-ea"/>
                <a:cs typeface="+mn-cs"/>
              </a:rPr>
              <a:t> must be quoted. You may use either single or double quotes.</a:t>
            </a:r>
          </a:p>
          <a:p>
            <a:r>
              <a:rPr lang="en-US" sz="1200" b="0" i="0" u="none" strike="noStrike" kern="1200" dirty="0" smtClean="0">
                <a:solidFill>
                  <a:schemeClr val="tx1"/>
                </a:solidFill>
                <a:effectLst/>
                <a:latin typeface="+mn-lt"/>
                <a:ea typeface="+mn-ea"/>
                <a:cs typeface="+mn-cs"/>
              </a:rPr>
              <a:t>&lt;foo </a:t>
            </a:r>
            <a:r>
              <a:rPr lang="en-US" sz="1200" b="0" i="0" u="none" strike="noStrike" kern="1200" dirty="0" err="1" smtClean="0">
                <a:solidFill>
                  <a:schemeClr val="tx1"/>
                </a:solidFill>
                <a:effectLst/>
                <a:latin typeface="+mn-lt"/>
                <a:ea typeface="+mn-ea"/>
                <a:cs typeface="+mn-cs"/>
              </a:rPr>
              <a:t>lang</a:t>
            </a:r>
            <a:r>
              <a:rPr lang="en-US" sz="1200" b="0" i="0" u="none" strike="noStrike" kern="1200" dirty="0" smtClean="0">
                <a:solidFill>
                  <a:schemeClr val="tx1"/>
                </a:solidFill>
                <a:effectLst/>
                <a:latin typeface="+mn-lt"/>
                <a:ea typeface="+mn-ea"/>
                <a:cs typeface="+mn-cs"/>
              </a:rPr>
              <a:t>='</a:t>
            </a:r>
            <a:r>
              <a:rPr lang="en-US" sz="1200" b="0" i="0" u="none" strike="noStrike" kern="1200" dirty="0" err="1" smtClean="0">
                <a:solidFill>
                  <a:schemeClr val="tx1"/>
                </a:solidFill>
                <a:effectLst/>
                <a:latin typeface="+mn-lt"/>
                <a:ea typeface="+mn-ea"/>
                <a:cs typeface="+mn-cs"/>
              </a:rPr>
              <a:t>en</a:t>
            </a:r>
            <a:r>
              <a:rPr lang="en-US" sz="1200" b="0" i="0" u="none" strike="noStrike" kern="1200" dirty="0" smtClean="0">
                <a:solidFill>
                  <a:schemeClr val="tx1"/>
                </a:solidFill>
                <a:effectLst/>
                <a:latin typeface="+mn-lt"/>
                <a:ea typeface="+mn-ea"/>
                <a:cs typeface="+mn-cs"/>
              </a:rPr>
              <a:t>'&gt;                          ①</a:t>
            </a: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u="none" strike="noStrike" kern="1200" dirty="0" smtClean="0">
                <a:solidFill>
                  <a:schemeClr val="tx1"/>
                </a:solidFill>
                <a:effectLst/>
                <a:latin typeface="+mn-lt"/>
                <a:ea typeface="+mn-ea"/>
                <a:cs typeface="+mn-cs"/>
              </a:rPr>
              <a:t>  &lt;bar id='</a:t>
            </a:r>
            <a:r>
              <a:rPr lang="en-US" sz="1200" b="0" i="0" u="none" strike="noStrike" kern="1200" dirty="0" err="1" smtClean="0">
                <a:solidFill>
                  <a:schemeClr val="tx1"/>
                </a:solidFill>
                <a:effectLst/>
                <a:latin typeface="+mn-lt"/>
                <a:ea typeface="+mn-ea"/>
                <a:cs typeface="+mn-cs"/>
              </a:rPr>
              <a:t>papayawhip</a:t>
            </a:r>
            <a:r>
              <a:rPr lang="en-US" sz="1200" b="0" i="0" u="none" strike="noStrike" kern="1200" dirty="0" smtClean="0">
                <a:solidFill>
                  <a:schemeClr val="tx1"/>
                </a:solidFill>
                <a:effectLst/>
                <a:latin typeface="+mn-lt"/>
                <a:ea typeface="+mn-ea"/>
                <a:cs typeface="+mn-cs"/>
              </a:rPr>
              <a:t>' </a:t>
            </a:r>
            <a:r>
              <a:rPr lang="en-US" sz="1200" b="0" i="0" u="none" strike="noStrike" kern="1200" dirty="0" err="1" smtClean="0">
                <a:solidFill>
                  <a:schemeClr val="tx1"/>
                </a:solidFill>
                <a:effectLst/>
                <a:latin typeface="+mn-lt"/>
                <a:ea typeface="+mn-ea"/>
                <a:cs typeface="+mn-cs"/>
              </a:rPr>
              <a:t>lang</a:t>
            </a:r>
            <a:r>
              <a:rPr lang="en-US" sz="1200" b="0" i="0" u="none" strike="noStrike" kern="1200" dirty="0" smtClean="0">
                <a:solidFill>
                  <a:schemeClr val="tx1"/>
                </a:solidFill>
                <a:effectLst/>
                <a:latin typeface="+mn-lt"/>
                <a:ea typeface="+mn-ea"/>
                <a:cs typeface="+mn-cs"/>
              </a:rPr>
              <a:t>="</a:t>
            </a:r>
            <a:r>
              <a:rPr lang="en-US" sz="1200" b="0" i="0" u="none" strike="noStrike" kern="1200" dirty="0" err="1" smtClean="0">
                <a:solidFill>
                  <a:schemeClr val="tx1"/>
                </a:solidFill>
                <a:effectLst/>
                <a:latin typeface="+mn-lt"/>
                <a:ea typeface="+mn-ea"/>
                <a:cs typeface="+mn-cs"/>
              </a:rPr>
              <a:t>fr</a:t>
            </a:r>
            <a:r>
              <a:rPr lang="en-US" sz="1200" b="0" i="0" u="none" strike="noStrike" kern="1200" dirty="0" smtClean="0">
                <a:solidFill>
                  <a:schemeClr val="tx1"/>
                </a:solidFill>
                <a:effectLst/>
                <a:latin typeface="+mn-lt"/>
                <a:ea typeface="+mn-ea"/>
                <a:cs typeface="+mn-cs"/>
              </a:rPr>
              <a:t>"&gt;&lt;/bar&gt;  ②</a:t>
            </a: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&lt;/foo&gt;</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①</a:t>
            </a:r>
            <a:r>
              <a:rPr lang="en-US" dirty="0" smtClean="0">
                <a:effectLst/>
              </a:rPr>
              <a:t>The foo element has one attribute, named lang. The value of its </a:t>
            </a:r>
            <a:r>
              <a:rPr lang="en-US" dirty="0" err="1" smtClean="0">
                <a:effectLst/>
              </a:rPr>
              <a:t>lang</a:t>
            </a:r>
            <a:r>
              <a:rPr lang="en-US" dirty="0" smtClean="0">
                <a:effectLst/>
              </a:rPr>
              <a:t> attribute is </a:t>
            </a:r>
            <a:r>
              <a:rPr lang="en-US" dirty="0" err="1" smtClean="0">
                <a:effectLst/>
              </a:rPr>
              <a:t>en</a:t>
            </a:r>
            <a:r>
              <a:rPr lang="en-US" dirty="0" smtClean="0">
                <a:effectLst/>
              </a:rPr>
              <a:t>.</a:t>
            </a:r>
          </a:p>
          <a:p>
            <a:r>
              <a:rPr lang="en-US" sz="1200" b="0" i="0" kern="1200" dirty="0" smtClean="0">
                <a:solidFill>
                  <a:schemeClr val="tx1"/>
                </a:solidFill>
                <a:effectLst/>
                <a:latin typeface="+mn-lt"/>
                <a:ea typeface="+mn-ea"/>
                <a:cs typeface="+mn-cs"/>
              </a:rPr>
              <a:t>②</a:t>
            </a:r>
            <a:r>
              <a:rPr lang="en-US" dirty="0" smtClean="0">
                <a:effectLst/>
              </a:rPr>
              <a:t>The bar element has two attributes, named id and lang. The value of its </a:t>
            </a:r>
            <a:r>
              <a:rPr lang="en-US" dirty="0" err="1" smtClean="0">
                <a:effectLst/>
              </a:rPr>
              <a:t>lang</a:t>
            </a:r>
            <a:r>
              <a:rPr lang="en-US" dirty="0" smtClean="0">
                <a:effectLst/>
              </a:rPr>
              <a:t> attribute is </a:t>
            </a:r>
            <a:r>
              <a:rPr lang="en-US" dirty="0" err="1" smtClean="0">
                <a:effectLst/>
              </a:rPr>
              <a:t>fr.</a:t>
            </a:r>
            <a:r>
              <a:rPr lang="en-US" dirty="0" smtClean="0">
                <a:effectLst/>
              </a:rPr>
              <a:t> This doesn’t conflict with the foo element in any way. Each element has its own set of attributes.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If an element has more than one attribute, the ordering of the attributes is not significant. An element’s attributes form an unordered set of keys and values, like a Python dictionary. There is no limit to the number of attributes you can define on each element.</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Elements can have </a:t>
            </a:r>
            <a:r>
              <a:rPr lang="en-US" sz="1200" b="0" i="1" kern="1200" dirty="0" smtClean="0">
                <a:solidFill>
                  <a:schemeClr val="tx1"/>
                </a:solidFill>
                <a:effectLst/>
                <a:latin typeface="+mn-lt"/>
                <a:ea typeface="+mn-ea"/>
                <a:cs typeface="+mn-cs"/>
              </a:rPr>
              <a:t>text content</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&lt;foo </a:t>
            </a:r>
            <a:r>
              <a:rPr lang="en-US" sz="1200" b="0" i="0" kern="1200" dirty="0" err="1" smtClean="0">
                <a:solidFill>
                  <a:schemeClr val="tx1"/>
                </a:solidFill>
                <a:effectLst/>
                <a:latin typeface="+mn-lt"/>
                <a:ea typeface="+mn-ea"/>
                <a:cs typeface="+mn-cs"/>
              </a:rPr>
              <a:t>lang</a:t>
            </a:r>
            <a:r>
              <a:rPr lang="en-US" sz="1200" b="0" i="0" kern="1200" dirty="0" smtClean="0">
                <a:solidFill>
                  <a:schemeClr val="tx1"/>
                </a:solidFill>
                <a:effectLst/>
                <a:latin typeface="+mn-lt"/>
                <a:ea typeface="+mn-ea"/>
                <a:cs typeface="+mn-cs"/>
              </a:rPr>
              <a:t>='</a:t>
            </a:r>
            <a:r>
              <a:rPr lang="en-US" sz="1200" b="0" i="0" kern="1200" dirty="0" err="1" smtClean="0">
                <a:solidFill>
                  <a:schemeClr val="tx1"/>
                </a:solidFill>
                <a:effectLst/>
                <a:latin typeface="+mn-lt"/>
                <a:ea typeface="+mn-ea"/>
                <a:cs typeface="+mn-cs"/>
              </a:rPr>
              <a:t>en</a:t>
            </a:r>
            <a:r>
              <a:rPr lang="en-US" sz="1200" b="0" i="0" kern="1200" dirty="0" smtClean="0">
                <a:solidFill>
                  <a:schemeClr val="tx1"/>
                </a:solidFill>
                <a:effectLst/>
                <a:latin typeface="+mn-lt"/>
                <a:ea typeface="+mn-ea"/>
                <a:cs typeface="+mn-cs"/>
              </a:rPr>
              <a:t>'&gt;</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  &lt;bar </a:t>
            </a:r>
            <a:r>
              <a:rPr lang="en-US" sz="1200" b="0" i="0" kern="1200" dirty="0" err="1" smtClean="0">
                <a:solidFill>
                  <a:schemeClr val="tx1"/>
                </a:solidFill>
                <a:effectLst/>
                <a:latin typeface="+mn-lt"/>
                <a:ea typeface="+mn-ea"/>
                <a:cs typeface="+mn-cs"/>
              </a:rPr>
              <a:t>lang</a:t>
            </a:r>
            <a:r>
              <a:rPr lang="en-US" sz="1200" b="0" i="0" kern="1200" dirty="0" smtClean="0">
                <a:solidFill>
                  <a:schemeClr val="tx1"/>
                </a:solidFill>
                <a:effectLst/>
                <a:latin typeface="+mn-lt"/>
                <a:ea typeface="+mn-ea"/>
                <a:cs typeface="+mn-cs"/>
              </a:rPr>
              <a:t>='</a:t>
            </a:r>
            <a:r>
              <a:rPr lang="en-US" sz="1200" b="0" i="0" kern="1200" dirty="0" err="1" smtClean="0">
                <a:solidFill>
                  <a:schemeClr val="tx1"/>
                </a:solidFill>
                <a:effectLst/>
                <a:latin typeface="+mn-lt"/>
                <a:ea typeface="+mn-ea"/>
                <a:cs typeface="+mn-cs"/>
              </a:rPr>
              <a:t>fr</a:t>
            </a:r>
            <a:r>
              <a:rPr lang="en-US" sz="1200" b="0" i="0" kern="1200" dirty="0" smtClean="0">
                <a:solidFill>
                  <a:schemeClr val="tx1"/>
                </a:solidFill>
                <a:effectLst/>
                <a:latin typeface="+mn-lt"/>
                <a:ea typeface="+mn-ea"/>
                <a:cs typeface="+mn-cs"/>
              </a:rPr>
              <a:t>'&gt;</a:t>
            </a:r>
            <a:r>
              <a:rPr lang="en-US" sz="1200" b="0" i="0" kern="1200" dirty="0" err="1" smtClean="0">
                <a:solidFill>
                  <a:schemeClr val="tx1"/>
                </a:solidFill>
                <a:effectLst/>
                <a:latin typeface="+mn-lt"/>
                <a:ea typeface="+mn-ea"/>
                <a:cs typeface="+mn-cs"/>
              </a:rPr>
              <a:t>PapayaWhip</a:t>
            </a:r>
            <a:r>
              <a:rPr lang="en-US" sz="1200" b="0" i="0" kern="1200" dirty="0" smtClean="0">
                <a:solidFill>
                  <a:schemeClr val="tx1"/>
                </a:solidFill>
                <a:effectLst/>
                <a:latin typeface="+mn-lt"/>
                <a:ea typeface="+mn-ea"/>
                <a:cs typeface="+mn-cs"/>
              </a:rPr>
              <a:t>&lt;/bar&gt;</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&lt;/foo&gt;</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Elements that contain no text and no children are </a:t>
            </a:r>
            <a:r>
              <a:rPr lang="en-US" sz="1200" b="0" i="1" kern="1200" dirty="0" smtClean="0">
                <a:solidFill>
                  <a:schemeClr val="tx1"/>
                </a:solidFill>
                <a:effectLst/>
                <a:latin typeface="+mn-lt"/>
                <a:ea typeface="+mn-ea"/>
                <a:cs typeface="+mn-cs"/>
              </a:rPr>
              <a:t>empty</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&lt;foo&gt;&lt;/foo&gt;</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There is a shorthand for writing empty elements. By putting a / character in the start tag, you can skip the end tag altogether. The xml document in the previous example could be written like this instead:</a:t>
            </a:r>
          </a:p>
          <a:p>
            <a:r>
              <a:rPr lang="en-US" sz="1200" b="0" i="0" kern="1200" dirty="0" smtClean="0">
                <a:solidFill>
                  <a:schemeClr val="tx1"/>
                </a:solidFill>
                <a:effectLst/>
                <a:latin typeface="+mn-lt"/>
                <a:ea typeface="+mn-ea"/>
                <a:cs typeface="+mn-cs"/>
              </a:rPr>
              <a:t>&lt;foo/&gt;</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12</a:t>
            </a:fld>
            <a:endParaRPr lang="en-US"/>
          </a:p>
        </p:txBody>
      </p:sp>
    </p:spTree>
    <p:extLst>
      <p:ext uri="{BB962C8B-B14F-4D97-AF65-F5344CB8AC3E}">
        <p14:creationId xmlns:p14="http://schemas.microsoft.com/office/powerpoint/2010/main" val="30660296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13</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14</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smtClean="0">
                <a:solidFill>
                  <a:schemeClr val="tx1"/>
                </a:solidFill>
                <a:effectLst/>
                <a:latin typeface="+mn-lt"/>
                <a:ea typeface="+mn-ea"/>
                <a:cs typeface="+mn-cs"/>
              </a:rPr>
              <a:t>In</a:t>
            </a:r>
            <a:r>
              <a:rPr lang="en-IN" sz="1200" b="0" i="0" kern="1200" baseline="0" dirty="0" smtClean="0">
                <a:solidFill>
                  <a:schemeClr val="tx1"/>
                </a:solidFill>
                <a:effectLst/>
                <a:latin typeface="+mn-lt"/>
                <a:ea typeface="+mn-ea"/>
                <a:cs typeface="+mn-cs"/>
              </a:rPr>
              <a:t> XML </a:t>
            </a:r>
            <a:r>
              <a:rPr lang="en-IN" sz="1200" b="0" i="0" kern="1200" dirty="0" smtClean="0">
                <a:solidFill>
                  <a:schemeClr val="tx1"/>
                </a:solidFill>
                <a:effectLst/>
                <a:latin typeface="+mn-lt"/>
                <a:ea typeface="+mn-ea"/>
                <a:cs typeface="+mn-cs"/>
              </a:rPr>
              <a:t>Document Object Model, or “DOM,” is a cross-language API from the World Wide Web Consortium (W3C) for accessing and modifying XML documents. A DOM implementation presents an XML document as a tree structure, or allows client code to build such a structure from scratch. It then gives access to the structure through a set of objects which provided well-known interfaces.</a:t>
            </a:r>
            <a:r>
              <a:rPr lang="en-IN" sz="1200" b="0" i="0" kern="1200" baseline="0" dirty="0" smtClean="0">
                <a:solidFill>
                  <a:schemeClr val="tx1"/>
                </a:solidFill>
                <a:effectLst/>
                <a:latin typeface="+mn-lt"/>
                <a:ea typeface="+mn-ea"/>
                <a:cs typeface="+mn-cs"/>
              </a:rPr>
              <a:t> </a:t>
            </a:r>
            <a:r>
              <a:rPr lang="en-IN" sz="1200" b="0" i="0" kern="1200" dirty="0" smtClean="0">
                <a:solidFill>
                  <a:schemeClr val="tx1"/>
                </a:solidFill>
                <a:effectLst/>
                <a:latin typeface="+mn-lt"/>
                <a:ea typeface="+mn-ea"/>
                <a:cs typeface="+mn-cs"/>
              </a:rPr>
              <a:t>XML</a:t>
            </a:r>
            <a:r>
              <a:rPr lang="en-IN" sz="1200" b="0" i="0" kern="1200" baseline="0" dirty="0" smtClean="0">
                <a:solidFill>
                  <a:schemeClr val="tx1"/>
                </a:solidFill>
                <a:effectLst/>
                <a:latin typeface="+mn-lt"/>
                <a:ea typeface="+mn-ea"/>
                <a:cs typeface="+mn-cs"/>
              </a:rPr>
              <a:t> </a:t>
            </a:r>
            <a:r>
              <a:rPr lang="en-IN" sz="1200" b="0" i="0" kern="1200" dirty="0" smtClean="0">
                <a:solidFill>
                  <a:schemeClr val="tx1"/>
                </a:solidFill>
                <a:effectLst/>
                <a:latin typeface="+mn-lt"/>
                <a:ea typeface="+mn-ea"/>
                <a:cs typeface="+mn-cs"/>
              </a:rPr>
              <a:t>DOM is very useful for random-access applications. </a:t>
            </a:r>
          </a:p>
          <a:p>
            <a:endParaRPr lang="en-IN" sz="1200" b="0" i="0" kern="1200" dirty="0" smtClean="0">
              <a:solidFill>
                <a:schemeClr val="tx1"/>
              </a:solidFill>
              <a:effectLst/>
              <a:latin typeface="+mn-lt"/>
              <a:ea typeface="+mn-ea"/>
              <a:cs typeface="+mn-cs"/>
            </a:endParaRPr>
          </a:p>
          <a:p>
            <a:r>
              <a:rPr lang="en-IN" sz="1200" b="0" i="0" kern="1200" dirty="0" smtClean="0">
                <a:solidFill>
                  <a:schemeClr val="tx1"/>
                </a:solidFill>
                <a:effectLst/>
                <a:latin typeface="+mn-lt"/>
                <a:ea typeface="+mn-ea"/>
                <a:cs typeface="+mn-cs"/>
              </a:rPr>
              <a:t>The DOM is a standard tree representation for XML data.</a:t>
            </a:r>
            <a:r>
              <a:rPr lang="en-IN" sz="1200" b="0" i="0" kern="1200" baseline="0" dirty="0" smtClean="0">
                <a:solidFill>
                  <a:schemeClr val="tx1"/>
                </a:solidFill>
                <a:effectLst/>
                <a:latin typeface="+mn-lt"/>
                <a:ea typeface="+mn-ea"/>
                <a:cs typeface="+mn-cs"/>
              </a:rPr>
              <a:t> </a:t>
            </a:r>
            <a:r>
              <a:rPr lang="en-IN" sz="1200" b="0" i="0" kern="1200" dirty="0" smtClean="0">
                <a:solidFill>
                  <a:schemeClr val="tx1"/>
                </a:solidFill>
                <a:effectLst/>
                <a:latin typeface="+mn-lt"/>
                <a:ea typeface="+mn-ea"/>
                <a:cs typeface="+mn-cs"/>
              </a:rPr>
              <a:t>Document Object Model is defined by the W3C in stages, or “levels” in their terminology. The Python mapping of the API is substantially based on the DOM Level 2 recommendation.</a:t>
            </a:r>
          </a:p>
          <a:p>
            <a:endParaRPr lang="en-IN" sz="1200" b="0" i="0" kern="1200" dirty="0" smtClean="0">
              <a:solidFill>
                <a:schemeClr val="tx1"/>
              </a:solidFill>
              <a:effectLst/>
              <a:latin typeface="+mn-lt"/>
              <a:ea typeface="+mn-ea"/>
              <a:cs typeface="+mn-cs"/>
            </a:endParaRPr>
          </a:p>
          <a:p>
            <a:r>
              <a:rPr lang="en-IN" sz="1200" b="0" i="0" kern="1200" dirty="0" smtClean="0">
                <a:solidFill>
                  <a:schemeClr val="tx1"/>
                </a:solidFill>
                <a:effectLst/>
                <a:latin typeface="+mn-lt"/>
                <a:ea typeface="+mn-ea"/>
                <a:cs typeface="+mn-cs"/>
              </a:rPr>
              <a:t>DOM applications typically start by parsing some XML into a DOM. There is a </a:t>
            </a:r>
            <a:r>
              <a:rPr lang="en-IN" sz="1200" b="0" i="0" kern="1200" dirty="0" err="1" smtClean="0">
                <a:solidFill>
                  <a:schemeClr val="tx1"/>
                </a:solidFill>
                <a:effectLst/>
                <a:latin typeface="+mn-lt"/>
                <a:ea typeface="+mn-ea"/>
                <a:cs typeface="+mn-cs"/>
              </a:rPr>
              <a:t>DOMImplementation</a:t>
            </a:r>
            <a:r>
              <a:rPr lang="en-IN" sz="1200" b="0" i="0" kern="1200" dirty="0" smtClean="0">
                <a:solidFill>
                  <a:schemeClr val="tx1"/>
                </a:solidFill>
                <a:effectLst/>
                <a:latin typeface="+mn-lt"/>
                <a:ea typeface="+mn-ea"/>
                <a:cs typeface="+mn-cs"/>
              </a:rPr>
              <a:t> object class which provides access to Document creation methods, but no way to access an XML reader/parser/Document builder in an implementation-independent way. There is also no well-defined way to access these methods without an existing Document object. </a:t>
            </a:r>
          </a:p>
          <a:p>
            <a:endParaRPr lang="en-IN" sz="1200" b="0" i="0" kern="1200" dirty="0" smtClean="0">
              <a:solidFill>
                <a:schemeClr val="tx1"/>
              </a:solidFill>
              <a:effectLst/>
              <a:latin typeface="+mn-lt"/>
              <a:ea typeface="+mn-ea"/>
              <a:cs typeface="+mn-cs"/>
            </a:endParaRPr>
          </a:p>
          <a:p>
            <a:r>
              <a:rPr lang="en-IN" sz="1200" b="0" i="0" kern="1200" dirty="0" smtClean="0">
                <a:solidFill>
                  <a:schemeClr val="tx1"/>
                </a:solidFill>
                <a:effectLst/>
                <a:latin typeface="+mn-lt"/>
                <a:ea typeface="+mn-ea"/>
                <a:cs typeface="+mn-cs"/>
              </a:rPr>
              <a:t>In Python, each DOM implementation will provide a function </a:t>
            </a:r>
            <a:r>
              <a:rPr lang="en-IN" sz="1200" b="0" i="0" u="none" strike="noStrike" kern="1200" dirty="0" err="1" smtClean="0">
                <a:solidFill>
                  <a:schemeClr val="tx1"/>
                </a:solidFill>
                <a:effectLst/>
                <a:latin typeface="+mn-lt"/>
                <a:ea typeface="+mn-ea"/>
                <a:cs typeface="+mn-cs"/>
                <a:hlinkClick r:id="rId3" tooltip="xml.dom.getDOMImplementation"/>
              </a:rPr>
              <a:t>getDOMImplementation</a:t>
            </a:r>
            <a:r>
              <a:rPr lang="en-IN" sz="1200" b="0" i="0" u="none" strike="noStrike" kern="1200" dirty="0" smtClean="0">
                <a:solidFill>
                  <a:schemeClr val="tx1"/>
                </a:solidFill>
                <a:effectLst/>
                <a:latin typeface="+mn-lt"/>
                <a:ea typeface="+mn-ea"/>
                <a:cs typeface="+mn-cs"/>
                <a:hlinkClick r:id="rId3" tooltip="xml.dom.getDOMImplementation"/>
              </a:rPr>
              <a:t>()</a:t>
            </a:r>
            <a:r>
              <a:rPr lang="en-IN" sz="1200" b="0" i="0" kern="1200" dirty="0" smtClean="0">
                <a:solidFill>
                  <a:schemeClr val="tx1"/>
                </a:solidFill>
                <a:effectLst/>
                <a:latin typeface="+mn-lt"/>
                <a:ea typeface="+mn-ea"/>
                <a:cs typeface="+mn-cs"/>
              </a:rPr>
              <a:t>. </a:t>
            </a:r>
            <a:r>
              <a:rPr lang="en-IN" sz="1200" b="0" i="0" kern="1200" baseline="0" dirty="0" smtClean="0">
                <a:solidFill>
                  <a:schemeClr val="tx1"/>
                </a:solidFill>
                <a:effectLst/>
                <a:latin typeface="+mn-lt"/>
                <a:ea typeface="+mn-ea"/>
                <a:cs typeface="+mn-cs"/>
              </a:rPr>
              <a:t> </a:t>
            </a:r>
            <a:r>
              <a:rPr lang="en-IN" sz="1200" b="0" i="0" kern="1200" dirty="0" smtClean="0">
                <a:solidFill>
                  <a:schemeClr val="tx1"/>
                </a:solidFill>
                <a:effectLst/>
                <a:latin typeface="+mn-lt"/>
                <a:ea typeface="+mn-ea"/>
                <a:cs typeface="+mn-cs"/>
              </a:rPr>
              <a:t>Once you have a DOM document object, you can access the parts of your XML document through its properties and methods. These properties are defined in the DOM specification.</a:t>
            </a: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15</a:t>
            </a:fld>
            <a:endParaRPr lang="en-US"/>
          </a:p>
        </p:txBody>
      </p:sp>
    </p:spTree>
    <p:extLst>
      <p:ext uri="{BB962C8B-B14F-4D97-AF65-F5344CB8AC3E}">
        <p14:creationId xmlns:p14="http://schemas.microsoft.com/office/powerpoint/2010/main" val="16804584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Parsing</a:t>
            </a:r>
            <a:r>
              <a:rPr lang="en-US" sz="1200" b="0" i="0" kern="1200" baseline="0" dirty="0" smtClean="0">
                <a:solidFill>
                  <a:schemeClr val="tx1"/>
                </a:solidFill>
                <a:effectLst/>
                <a:latin typeface="+mn-lt"/>
                <a:ea typeface="+mn-ea"/>
                <a:cs typeface="+mn-cs"/>
              </a:rPr>
              <a:t> XML data can be done using </a:t>
            </a:r>
            <a:r>
              <a:rPr lang="en-US" sz="1200" b="0" i="0" kern="1200" dirty="0" smtClean="0">
                <a:solidFill>
                  <a:schemeClr val="tx1"/>
                </a:solidFill>
                <a:effectLst/>
                <a:latin typeface="+mn-lt"/>
                <a:ea typeface="+mn-ea"/>
                <a:cs typeface="+mn-cs"/>
              </a:rPr>
              <a:t> </a:t>
            </a:r>
            <a:r>
              <a:rPr lang="en-US" sz="1200" b="0" i="0" u="none" strike="noStrike" kern="1200" dirty="0" err="1" smtClean="0">
                <a:solidFill>
                  <a:schemeClr val="tx1"/>
                </a:solidFill>
                <a:effectLst/>
                <a:latin typeface="+mn-lt"/>
                <a:ea typeface="+mn-ea"/>
                <a:cs typeface="+mn-cs"/>
              </a:rPr>
              <a:t>xml.etree.ElementTree</a:t>
            </a:r>
            <a:r>
              <a:rPr lang="en-US" sz="1200" b="0" i="0" u="none" strike="noStrike"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XML API</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Each element has a number of properties associated with it:</a:t>
            </a:r>
          </a:p>
          <a:p>
            <a:pPr marL="228600" indent="-228600">
              <a:buAutoNum type="arabicPeriod"/>
            </a:pPr>
            <a:endParaRPr lang="en-US" sz="1200" b="0" i="0" kern="1200" dirty="0" smtClean="0">
              <a:solidFill>
                <a:schemeClr val="tx1"/>
              </a:solidFill>
              <a:effectLst/>
              <a:latin typeface="+mn-lt"/>
              <a:ea typeface="+mn-ea"/>
              <a:cs typeface="+mn-cs"/>
            </a:endParaRPr>
          </a:p>
          <a:p>
            <a:pPr marL="228600" indent="-228600">
              <a:buAutoNum type="arabicPeriod"/>
            </a:pPr>
            <a:r>
              <a:rPr lang="en-US" sz="1200" b="0" i="0" kern="1200" dirty="0" smtClean="0">
                <a:solidFill>
                  <a:schemeClr val="tx1"/>
                </a:solidFill>
                <a:effectLst/>
                <a:latin typeface="+mn-lt"/>
                <a:ea typeface="+mn-ea"/>
                <a:cs typeface="+mn-cs"/>
              </a:rPr>
              <a:t>Tag</a:t>
            </a:r>
          </a:p>
          <a:p>
            <a:pPr marL="228600" indent="-228600">
              <a:buAutoNum type="arabicPeriod"/>
            </a:pPr>
            <a:r>
              <a:rPr lang="en-US" sz="1200" b="0" i="0" kern="1200" dirty="0" smtClean="0">
                <a:solidFill>
                  <a:schemeClr val="tx1"/>
                </a:solidFill>
                <a:effectLst/>
                <a:latin typeface="+mn-lt"/>
                <a:ea typeface="+mn-ea"/>
                <a:cs typeface="+mn-cs"/>
              </a:rPr>
              <a:t>Attributes.</a:t>
            </a:r>
          </a:p>
          <a:p>
            <a:pPr marL="228600" indent="-228600">
              <a:buAutoNum type="arabicPeriod"/>
            </a:pPr>
            <a:r>
              <a:rPr lang="en-US" sz="1200" b="0" i="0" kern="1200" dirty="0" smtClean="0">
                <a:solidFill>
                  <a:schemeClr val="tx1"/>
                </a:solidFill>
                <a:effectLst/>
                <a:latin typeface="+mn-lt"/>
                <a:ea typeface="+mn-ea"/>
                <a:cs typeface="+mn-cs"/>
              </a:rPr>
              <a:t>Text String.</a:t>
            </a:r>
          </a:p>
          <a:p>
            <a:pPr marL="228600" indent="-228600">
              <a:buAutoNum type="arabicPeriod"/>
            </a:pPr>
            <a:r>
              <a:rPr lang="en-US" sz="1200" b="0" i="0" kern="1200" dirty="0" smtClean="0">
                <a:solidFill>
                  <a:schemeClr val="tx1"/>
                </a:solidFill>
                <a:effectLst/>
                <a:latin typeface="+mn-lt"/>
                <a:ea typeface="+mn-ea"/>
                <a:cs typeface="+mn-cs"/>
              </a:rPr>
              <a:t>Child Elements.</a:t>
            </a:r>
          </a:p>
          <a:p>
            <a:pPr marL="0" indent="0">
              <a:buNone/>
            </a:pP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Reading the data from a string:</a:t>
            </a:r>
          </a:p>
          <a:p>
            <a:endParaRPr lang="en-US" sz="1200" b="0" i="0" u="none" strike="noStrike" kern="1200" dirty="0" smtClean="0">
              <a:solidFill>
                <a:schemeClr val="tx1"/>
              </a:solidFill>
              <a:effectLst/>
              <a:latin typeface="+mn-lt"/>
              <a:ea typeface="+mn-ea"/>
              <a:cs typeface="+mn-cs"/>
            </a:endParaRPr>
          </a:p>
          <a:p>
            <a:r>
              <a:rPr lang="en-US" sz="1200" b="0" i="0" u="none" strike="noStrike" kern="1200" dirty="0" err="1" smtClean="0">
                <a:solidFill>
                  <a:schemeClr val="tx1"/>
                </a:solidFill>
                <a:effectLst/>
                <a:latin typeface="+mn-lt"/>
                <a:ea typeface="+mn-ea"/>
                <a:cs typeface="+mn-cs"/>
              </a:rPr>
              <a:t>fromstring</a:t>
            </a:r>
            <a:r>
              <a:rPr lang="en-US" sz="1200" b="0" i="0" u="none" strike="noStrike"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parses XML data from a root element of the parsed tree.</a:t>
            </a:r>
          </a:p>
        </p:txBody>
      </p:sp>
      <p:sp>
        <p:nvSpPr>
          <p:cNvPr id="4" name="Slide Number Placeholder 3"/>
          <p:cNvSpPr>
            <a:spLocks noGrp="1"/>
          </p:cNvSpPr>
          <p:nvPr>
            <p:ph type="sldNum" sz="quarter" idx="10"/>
          </p:nvPr>
        </p:nvSpPr>
        <p:spPr/>
        <p:txBody>
          <a:bodyPr/>
          <a:lstStyle/>
          <a:p>
            <a:fld id="{35091714-3304-44AF-AABA-9711959465C3}" type="slidenum">
              <a:rPr lang="en-US" smtClean="0"/>
              <a:pPr/>
              <a:t>16</a:t>
            </a:fld>
            <a:endParaRPr lang="en-US"/>
          </a:p>
        </p:txBody>
      </p:sp>
    </p:spTree>
    <p:extLst>
      <p:ext uri="{BB962C8B-B14F-4D97-AF65-F5344CB8AC3E}">
        <p14:creationId xmlns:p14="http://schemas.microsoft.com/office/powerpoint/2010/main" val="27371454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err="1" smtClean="0">
                <a:solidFill>
                  <a:schemeClr val="tx1"/>
                </a:solidFill>
                <a:effectLst/>
                <a:latin typeface="+mn-lt"/>
                <a:ea typeface="+mn-ea"/>
                <a:cs typeface="+mn-cs"/>
              </a:rPr>
              <a:t>Element.findall</a:t>
            </a:r>
            <a:r>
              <a:rPr lang="en-US" sz="1200" b="0" i="0" u="none" strike="noStrike" kern="1200" dirty="0" smtClean="0">
                <a:solidFill>
                  <a:schemeClr val="tx1"/>
                </a:solidFill>
                <a:effectLst/>
                <a:latin typeface="+mn-lt"/>
                <a:ea typeface="+mn-ea"/>
                <a:cs typeface="+mn-cs"/>
              </a:rPr>
              <a:t>()</a:t>
            </a:r>
            <a:r>
              <a:rPr lang="en-US" sz="1200" b="0" i="0" u="none" strike="noStrike"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finds only elements with a tag which are direct children of the current element. </a:t>
            </a:r>
          </a:p>
          <a:p>
            <a:r>
              <a:rPr lang="en-US" sz="1200" b="0" i="0" u="none" strike="noStrike" kern="1200" dirty="0" err="1" smtClean="0">
                <a:solidFill>
                  <a:schemeClr val="tx1"/>
                </a:solidFill>
                <a:effectLst/>
                <a:latin typeface="+mn-lt"/>
                <a:ea typeface="+mn-ea"/>
                <a:cs typeface="+mn-cs"/>
              </a:rPr>
              <a:t>Element.find</a:t>
            </a:r>
            <a:r>
              <a:rPr lang="en-US" sz="1200" b="0" i="0" u="none" strike="noStrike" kern="1200" dirty="0" smtClean="0">
                <a:solidFill>
                  <a:schemeClr val="tx1"/>
                </a:solidFill>
                <a:effectLst/>
                <a:latin typeface="+mn-lt"/>
                <a:ea typeface="+mn-ea"/>
                <a:cs typeface="+mn-cs"/>
              </a:rPr>
              <a:t>()</a:t>
            </a:r>
            <a:r>
              <a:rPr lang="en-US" sz="1200" b="0" i="0" u="none" strike="noStrike"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finds the </a:t>
            </a:r>
            <a:r>
              <a:rPr lang="en-US" sz="1200" b="0" i="1" kern="1200" dirty="0" smtClean="0">
                <a:solidFill>
                  <a:schemeClr val="tx1"/>
                </a:solidFill>
                <a:effectLst/>
                <a:latin typeface="+mn-lt"/>
                <a:ea typeface="+mn-ea"/>
                <a:cs typeface="+mn-cs"/>
              </a:rPr>
              <a:t>first</a:t>
            </a:r>
            <a:r>
              <a:rPr lang="en-US" sz="1200" b="0" i="0" kern="1200" dirty="0" smtClean="0">
                <a:solidFill>
                  <a:schemeClr val="tx1"/>
                </a:solidFill>
                <a:effectLst/>
                <a:latin typeface="+mn-lt"/>
                <a:ea typeface="+mn-ea"/>
                <a:cs typeface="+mn-cs"/>
              </a:rPr>
              <a:t> child with a particular tag, and </a:t>
            </a:r>
            <a:r>
              <a:rPr lang="en-US" sz="1200" b="0" i="0" u="none" strike="noStrike" kern="1200" dirty="0" err="1" smtClean="0">
                <a:solidFill>
                  <a:schemeClr val="tx1"/>
                </a:solidFill>
                <a:effectLst/>
                <a:latin typeface="+mn-lt"/>
                <a:ea typeface="+mn-ea"/>
                <a:cs typeface="+mn-cs"/>
              </a:rPr>
              <a:t>Element.text</a:t>
            </a:r>
            <a:r>
              <a:rPr lang="en-US" sz="1200" b="0" i="0" u="none" strike="noStrike"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accesses the element’s text content. </a:t>
            </a:r>
          </a:p>
          <a:p>
            <a:r>
              <a:rPr lang="en-US" sz="1200" b="0" i="0" u="none" strike="noStrike" kern="1200" dirty="0" err="1" smtClean="0">
                <a:solidFill>
                  <a:schemeClr val="tx1"/>
                </a:solidFill>
                <a:effectLst/>
                <a:latin typeface="+mn-lt"/>
                <a:ea typeface="+mn-ea"/>
                <a:cs typeface="+mn-cs"/>
              </a:rPr>
              <a:t>Element.get</a:t>
            </a:r>
            <a:r>
              <a:rPr lang="en-US" sz="1200" b="0" i="0" u="none" strike="noStrike" kern="1200" dirty="0" smtClean="0">
                <a:solidFill>
                  <a:schemeClr val="tx1"/>
                </a:solidFill>
                <a:effectLst/>
                <a:latin typeface="+mn-lt"/>
                <a:ea typeface="+mn-ea"/>
                <a:cs typeface="+mn-cs"/>
              </a:rPr>
              <a:t>()</a:t>
            </a:r>
            <a:r>
              <a:rPr lang="en-US" sz="1200" b="0" i="0" u="none" strike="noStrike"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accesses the element’s attributes.</a:t>
            </a:r>
            <a:endParaRPr lang="en-US" b="0" dirty="0" smtClean="0"/>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17</a:t>
            </a:fld>
            <a:endParaRPr lang="en-US"/>
          </a:p>
        </p:txBody>
      </p:sp>
    </p:spTree>
    <p:extLst>
      <p:ext uri="{BB962C8B-B14F-4D97-AF65-F5344CB8AC3E}">
        <p14:creationId xmlns:p14="http://schemas.microsoft.com/office/powerpoint/2010/main" val="30507553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18</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19</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dirty="0" smtClean="0">
                <a:latin typeface="Calibri" panose="020F0502020204030204" pitchFamily="34" charset="0"/>
                <a:ea typeface="Calibri" panose="020F0502020204030204" pitchFamily="34" charset="0"/>
                <a:cs typeface="Times New Roman" panose="02020603050405020304" pitchFamily="18" charset="0"/>
              </a:rPr>
              <a:t>Solution:</a:t>
            </a:r>
          </a:p>
          <a:p>
            <a:endParaRPr lang="en-US" sz="1600" b="1" dirty="0" smtClean="0">
              <a:latin typeface="Calibri" panose="020F0502020204030204" pitchFamily="34" charset="0"/>
              <a:ea typeface="Calibri" panose="020F0502020204030204" pitchFamily="34" charset="0"/>
              <a:cs typeface="Times New Roman" panose="02020603050405020304" pitchFamily="18" charset="0"/>
            </a:endParaRPr>
          </a:p>
          <a:p>
            <a:r>
              <a:rPr lang="en-US" sz="1600" b="1" dirty="0" smtClean="0"/>
              <a:t>Prerequisite:</a:t>
            </a:r>
            <a:r>
              <a:rPr lang="en-US" sz="1600" dirty="0" smtClean="0"/>
              <a:t> For this activity you need to use </a:t>
            </a:r>
            <a:r>
              <a:rPr lang="en-US" sz="1600" b="1" dirty="0" smtClean="0"/>
              <a:t>movie.xml</a:t>
            </a:r>
            <a:r>
              <a:rPr lang="en-US" sz="1600" dirty="0" smtClean="0"/>
              <a:t> which is available with </a:t>
            </a:r>
            <a:r>
              <a:rPr lang="en-US" sz="1600" b="1" dirty="0" err="1" smtClean="0"/>
              <a:t>Data_File_For_Students</a:t>
            </a:r>
            <a:r>
              <a:rPr lang="en-US" sz="1600" dirty="0" smtClean="0"/>
              <a:t>.</a:t>
            </a:r>
          </a:p>
          <a:p>
            <a:endParaRPr lang="en-US" sz="1600" b="1" dirty="0" smtClean="0">
              <a:latin typeface="Calibri" panose="020F0502020204030204" pitchFamily="34" charset="0"/>
              <a:ea typeface="Calibri" panose="020F0502020204030204" pitchFamily="34" charset="0"/>
              <a:cs typeface="Times New Roman" panose="02020603050405020304" pitchFamily="18" charset="0"/>
            </a:endParaRPr>
          </a:p>
          <a:p>
            <a:r>
              <a:rPr lang="en-US" sz="1200" dirty="0" smtClean="0"/>
              <a:t>In order to do this activity, you need to perform the following tasks:</a:t>
            </a:r>
          </a:p>
          <a:p>
            <a:pPr marL="342900" indent="-342900">
              <a:buFont typeface="+mj-lt"/>
              <a:buAutoNum type="arabicPeriod"/>
            </a:pPr>
            <a:r>
              <a:rPr lang="en-US" sz="1200" dirty="0" smtClean="0"/>
              <a:t>Create a</a:t>
            </a:r>
            <a:r>
              <a:rPr lang="en-US" sz="1200" baseline="0" dirty="0" smtClean="0"/>
              <a:t> </a:t>
            </a:r>
            <a:r>
              <a:rPr lang="en-US" sz="1200" dirty="0" smtClean="0"/>
              <a:t>Python empty</a:t>
            </a:r>
            <a:r>
              <a:rPr lang="en-US" sz="1200" baseline="0" dirty="0" smtClean="0"/>
              <a:t> </a:t>
            </a:r>
            <a:r>
              <a:rPr lang="en-US" sz="1200" dirty="0" smtClean="0"/>
              <a:t>project.</a:t>
            </a:r>
          </a:p>
          <a:p>
            <a:pPr marL="342900" indent="-342900">
              <a:buFont typeface="+mj-lt"/>
              <a:buAutoNum type="arabicPeriod"/>
            </a:pPr>
            <a:r>
              <a:rPr lang="en-US" sz="1200" dirty="0" smtClean="0"/>
              <a:t>Use </a:t>
            </a:r>
            <a:r>
              <a:rPr lang="en-US" sz="1200" b="1" dirty="0" err="1" smtClean="0"/>
              <a:t>xml.etree.ElementTree</a:t>
            </a:r>
            <a:r>
              <a:rPr lang="en-US" sz="1200" dirty="0" smtClean="0"/>
              <a:t> library to perform traversing each node in XML data, use </a:t>
            </a:r>
            <a:r>
              <a:rPr lang="en-US" sz="1200" b="1" dirty="0" smtClean="0"/>
              <a:t>find()</a:t>
            </a:r>
            <a:r>
              <a:rPr lang="en-US" sz="1200" dirty="0" smtClean="0"/>
              <a:t>, </a:t>
            </a:r>
            <a:r>
              <a:rPr lang="en-US" sz="1200" b="1" dirty="0" smtClean="0"/>
              <a:t>get() </a:t>
            </a:r>
            <a:r>
              <a:rPr lang="en-US" sz="1200" dirty="0" smtClean="0"/>
              <a:t>to extract contents</a:t>
            </a:r>
            <a:r>
              <a:rPr lang="en-US" sz="1200" baseline="0" dirty="0" smtClean="0"/>
              <a:t> from elements and attributes respectively</a:t>
            </a:r>
            <a:r>
              <a:rPr lang="en-US" sz="1200" dirty="0" smtClean="0"/>
              <a:t>.</a:t>
            </a:r>
          </a:p>
          <a:p>
            <a:endParaRPr lang="en-US" dirty="0" smtClean="0"/>
          </a:p>
          <a:p>
            <a:r>
              <a:rPr lang="en-US" sz="1600" b="1" dirty="0" smtClean="0"/>
              <a:t>Task 1</a:t>
            </a:r>
            <a:r>
              <a:rPr lang="en-US" sz="1600" dirty="0" smtClean="0"/>
              <a:t>: Create a Python empty project:</a:t>
            </a:r>
          </a:p>
          <a:p>
            <a:r>
              <a:rPr lang="en-US" sz="1200" dirty="0" smtClean="0"/>
              <a:t>Step 1: Open </a:t>
            </a:r>
            <a:r>
              <a:rPr lang="en-US" sz="1200" b="1" dirty="0" smtClean="0"/>
              <a:t>NetBeans 8.0.2</a:t>
            </a:r>
            <a:r>
              <a:rPr lang="en-US" sz="120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2: Click </a:t>
            </a:r>
            <a:r>
              <a:rPr lang="en-US" sz="1200" b="1" dirty="0" smtClean="0"/>
              <a:t>File</a:t>
            </a:r>
            <a:r>
              <a:rPr lang="en-US" sz="1200" dirty="0" smtClean="0"/>
              <a:t> menu.</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3: Select </a:t>
            </a:r>
            <a:r>
              <a:rPr lang="en-US" sz="1200" b="1" dirty="0" smtClean="0"/>
              <a:t>New Project</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 4:</a:t>
            </a:r>
            <a:r>
              <a:rPr lang="en-US" sz="1200" dirty="0" smtClean="0"/>
              <a:t> Select </a:t>
            </a:r>
            <a:r>
              <a:rPr lang="en-US" sz="1200" b="1" dirty="0" smtClean="0"/>
              <a:t>Python</a:t>
            </a:r>
            <a:r>
              <a:rPr lang="en-US" sz="1200" dirty="0" smtClean="0"/>
              <a:t> from Categories list and </a:t>
            </a:r>
            <a:r>
              <a:rPr lang="en-US" sz="1200" b="1" dirty="0" smtClean="0"/>
              <a:t>Python Project</a:t>
            </a:r>
            <a:r>
              <a:rPr lang="en-US" sz="1200" dirty="0" smtClean="0"/>
              <a:t> from Projects list.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5: Click </a:t>
            </a:r>
            <a:r>
              <a:rPr lang="en-US" sz="1200" b="1" dirty="0" smtClean="0"/>
              <a:t>Next</a:t>
            </a:r>
            <a:r>
              <a:rPr lang="en-US" sz="1200" dirty="0" smtClean="0"/>
              <a:t> button.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6: On New Python Project dialog box set the Project Name as </a:t>
            </a:r>
            <a:r>
              <a:rPr lang="en-US" sz="1200" b="1" dirty="0" smtClean="0"/>
              <a:t>CR_Session13_Activity02</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a:t>
            </a:r>
            <a:r>
              <a:rPr lang="en-US" sz="1200" b="0" baseline="0" dirty="0" smtClean="0"/>
              <a:t> 7:</a:t>
            </a:r>
            <a:r>
              <a:rPr lang="en-US" sz="1200" dirty="0" smtClean="0"/>
              <a:t> Select project Location by clicking </a:t>
            </a:r>
            <a:r>
              <a:rPr lang="en-US" sz="1200" b="1" dirty="0" smtClean="0"/>
              <a:t>Browse</a:t>
            </a:r>
            <a:r>
              <a:rPr lang="en-US" sz="1200" dirty="0" smtClean="0"/>
              <a:t> button.</a:t>
            </a:r>
          </a:p>
          <a:p>
            <a:r>
              <a:rPr lang="en-US" sz="1050" dirty="0" smtClean="0"/>
              <a:t>Step</a:t>
            </a:r>
            <a:r>
              <a:rPr lang="en-US" sz="1050" baseline="0" dirty="0" smtClean="0"/>
              <a:t> 8</a:t>
            </a:r>
            <a:r>
              <a:rPr lang="en-US" sz="1050" dirty="0" smtClean="0"/>
              <a:t>: Click </a:t>
            </a:r>
            <a:r>
              <a:rPr lang="en-US" sz="1050" b="1" dirty="0" smtClean="0"/>
              <a:t>Finish</a:t>
            </a:r>
            <a:r>
              <a:rPr lang="en-US" sz="1050" dirty="0" smtClean="0"/>
              <a:t> button.</a:t>
            </a:r>
          </a:p>
          <a:p>
            <a:endParaRPr lang="en-US" sz="1050" dirty="0" smtClean="0"/>
          </a:p>
          <a:p>
            <a:pPr marL="0" indent="0">
              <a:buFont typeface="+mj-lt"/>
              <a:buNone/>
            </a:pPr>
            <a:r>
              <a:rPr lang="en-US" sz="1200" b="1" dirty="0" smtClean="0"/>
              <a:t>Task 2</a:t>
            </a:r>
            <a:r>
              <a:rPr lang="en-US" sz="1200" dirty="0" smtClean="0"/>
              <a:t>: Use </a:t>
            </a:r>
            <a:r>
              <a:rPr lang="en-US" sz="1200" b="1" dirty="0" err="1" smtClean="0"/>
              <a:t>xml.etree.ElementTree</a:t>
            </a:r>
            <a:r>
              <a:rPr lang="en-US" sz="1200" dirty="0" smtClean="0"/>
              <a:t> library to perform traversing each node in XML data,</a:t>
            </a:r>
            <a:r>
              <a:rPr lang="en-US" sz="1200" baseline="0" dirty="0" smtClean="0"/>
              <a:t> u</a:t>
            </a:r>
            <a:r>
              <a:rPr lang="en-US" sz="1200" dirty="0" smtClean="0"/>
              <a:t>se </a:t>
            </a:r>
            <a:r>
              <a:rPr lang="en-US" sz="1200" b="1" dirty="0" smtClean="0"/>
              <a:t>find()</a:t>
            </a:r>
            <a:r>
              <a:rPr lang="en-US" sz="1200" dirty="0" smtClean="0"/>
              <a:t>, </a:t>
            </a:r>
            <a:r>
              <a:rPr lang="en-US" sz="1200" b="1" dirty="0" smtClean="0"/>
              <a:t>get </a:t>
            </a:r>
            <a:r>
              <a:rPr lang="en-US" sz="1200" dirty="0" smtClean="0"/>
              <a:t>to extract contents</a:t>
            </a:r>
            <a:r>
              <a:rPr lang="en-US" sz="1200" baseline="0" dirty="0" smtClean="0"/>
              <a:t> from element and attributes respectively</a:t>
            </a:r>
            <a:r>
              <a:rPr lang="en-US" sz="1200" dirty="0" smtClean="0"/>
              <a:t>: </a:t>
            </a:r>
          </a:p>
          <a:p>
            <a:r>
              <a:rPr lang="en-US" sz="1200" dirty="0" smtClean="0"/>
              <a:t>Step 1: Type the following code:</a:t>
            </a:r>
          </a:p>
          <a:p>
            <a:endParaRPr lang="en-US" sz="1200" dirty="0" smtClean="0"/>
          </a:p>
          <a:p>
            <a:pPr lvl="2"/>
            <a:r>
              <a:rPr lang="en-US" sz="1200" dirty="0" smtClean="0"/>
              <a:t>import </a:t>
            </a:r>
            <a:r>
              <a:rPr lang="en-US" sz="1200" dirty="0" err="1" smtClean="0"/>
              <a:t>xml.etree.ElementTree</a:t>
            </a:r>
            <a:r>
              <a:rPr lang="en-US" sz="1200" dirty="0" smtClean="0"/>
              <a:t> as ET</a:t>
            </a:r>
          </a:p>
          <a:p>
            <a:pPr lvl="2"/>
            <a:r>
              <a:rPr lang="en-US" sz="1200" dirty="0" smtClean="0"/>
              <a:t>data = '''</a:t>
            </a:r>
          </a:p>
          <a:p>
            <a:pPr lvl="2"/>
            <a:r>
              <a:rPr lang="en-US" sz="1200" dirty="0" smtClean="0"/>
              <a:t>&lt;collection shelf="New Arrivals"&gt;</a:t>
            </a:r>
          </a:p>
          <a:p>
            <a:pPr lvl="2"/>
            <a:r>
              <a:rPr lang="en-US" sz="1200" dirty="0" smtClean="0"/>
              <a:t>&lt;movie title="Enemy Behind"&gt;</a:t>
            </a:r>
          </a:p>
          <a:p>
            <a:pPr lvl="2"/>
            <a:r>
              <a:rPr lang="en-US" sz="1200" dirty="0" smtClean="0"/>
              <a:t>   &lt;type&gt;War, Thriller&lt;/type&gt;</a:t>
            </a:r>
          </a:p>
          <a:p>
            <a:pPr lvl="2"/>
            <a:r>
              <a:rPr lang="en-US" sz="1200" dirty="0" smtClean="0"/>
              <a:t>   &lt;format&gt;DVD&lt;/format&gt;</a:t>
            </a:r>
          </a:p>
          <a:p>
            <a:pPr lvl="2"/>
            <a:r>
              <a:rPr lang="en-US" sz="1200" dirty="0" smtClean="0"/>
              <a:t>   &lt;year&gt;2003&lt;/year&gt;</a:t>
            </a:r>
          </a:p>
          <a:p>
            <a:pPr lvl="2"/>
            <a:r>
              <a:rPr lang="en-US" sz="1200" dirty="0" smtClean="0"/>
              <a:t>   &lt;rating&gt;PG&lt;/rating&gt;</a:t>
            </a:r>
          </a:p>
          <a:p>
            <a:pPr lvl="2"/>
            <a:r>
              <a:rPr lang="en-US" sz="1200" dirty="0" smtClean="0"/>
              <a:t>   &lt;stars&gt;10&lt;/stars&gt;</a:t>
            </a:r>
          </a:p>
          <a:p>
            <a:pPr lvl="2"/>
            <a:r>
              <a:rPr lang="en-US" sz="1200" dirty="0" smtClean="0"/>
              <a:t>   &lt;description&gt;Talk about a US-Japan war&lt;/description&gt;</a:t>
            </a:r>
          </a:p>
          <a:p>
            <a:pPr lvl="2"/>
            <a:r>
              <a:rPr lang="en-US" sz="1200" dirty="0" smtClean="0"/>
              <a:t>&lt;/movie&gt;</a:t>
            </a:r>
          </a:p>
          <a:p>
            <a:pPr lvl="2"/>
            <a:r>
              <a:rPr lang="en-US" sz="1200" dirty="0" smtClean="0"/>
              <a:t>&lt;movie title="Transformers"&gt;</a:t>
            </a:r>
          </a:p>
          <a:p>
            <a:pPr lvl="2"/>
            <a:r>
              <a:rPr lang="en-US" sz="1200" dirty="0" smtClean="0"/>
              <a:t>   &lt;type&gt;Anime, Science Fiction&lt;/type&gt;</a:t>
            </a:r>
          </a:p>
          <a:p>
            <a:pPr lvl="2"/>
            <a:r>
              <a:rPr lang="en-US" sz="1200" dirty="0" smtClean="0"/>
              <a:t>   &lt;format&gt;DVD&lt;/format&gt;</a:t>
            </a:r>
          </a:p>
          <a:p>
            <a:pPr lvl="2"/>
            <a:r>
              <a:rPr lang="en-US" sz="1200" dirty="0" smtClean="0"/>
              <a:t>   &lt;year&gt;1989&lt;/year&gt;</a:t>
            </a:r>
          </a:p>
          <a:p>
            <a:pPr lvl="2"/>
            <a:r>
              <a:rPr lang="en-US" sz="1200" dirty="0" smtClean="0"/>
              <a:t>   &lt;rating&gt;R&lt;/rating&gt;</a:t>
            </a:r>
          </a:p>
          <a:p>
            <a:pPr lvl="2"/>
            <a:r>
              <a:rPr lang="en-US" sz="1200" dirty="0" smtClean="0"/>
              <a:t>   &lt;stars&gt;8&lt;/stars&gt;</a:t>
            </a:r>
          </a:p>
          <a:p>
            <a:pPr lvl="2"/>
            <a:r>
              <a:rPr lang="en-US" sz="1200" dirty="0" smtClean="0"/>
              <a:t>   &lt;description&gt;A </a:t>
            </a:r>
            <a:r>
              <a:rPr lang="en-US" sz="1200" dirty="0" err="1" smtClean="0"/>
              <a:t>schientific</a:t>
            </a:r>
            <a:r>
              <a:rPr lang="en-US" sz="1200" dirty="0" smtClean="0"/>
              <a:t> fiction&lt;/description&gt;</a:t>
            </a:r>
          </a:p>
          <a:p>
            <a:pPr lvl="2"/>
            <a:r>
              <a:rPr lang="en-US" sz="1200" dirty="0" smtClean="0"/>
              <a:t>&lt;/movie&gt;</a:t>
            </a:r>
          </a:p>
          <a:p>
            <a:pPr lvl="2"/>
            <a:r>
              <a:rPr lang="en-US" sz="1200" dirty="0" smtClean="0"/>
              <a:t>   &lt;movie title="</a:t>
            </a:r>
            <a:r>
              <a:rPr lang="en-US" sz="1200" dirty="0" err="1" smtClean="0"/>
              <a:t>Trigun</a:t>
            </a:r>
            <a:r>
              <a:rPr lang="en-US" sz="1200" dirty="0" smtClean="0"/>
              <a:t>"&gt;</a:t>
            </a:r>
          </a:p>
          <a:p>
            <a:pPr lvl="2"/>
            <a:r>
              <a:rPr lang="en-US" sz="1200" dirty="0" smtClean="0"/>
              <a:t>   &lt;type&gt;Anime, Action&lt;/type&gt;</a:t>
            </a:r>
          </a:p>
          <a:p>
            <a:pPr lvl="2"/>
            <a:r>
              <a:rPr lang="en-US" sz="1200" dirty="0" smtClean="0"/>
              <a:t>   &lt;format&gt;DVD&lt;/format&gt;</a:t>
            </a:r>
          </a:p>
          <a:p>
            <a:pPr lvl="2"/>
            <a:r>
              <a:rPr lang="en-US" sz="1200" dirty="0" smtClean="0"/>
              <a:t>   &lt;episodes&gt;4&lt;/episodes&gt;</a:t>
            </a:r>
          </a:p>
          <a:p>
            <a:pPr lvl="2"/>
            <a:r>
              <a:rPr lang="en-US" sz="1200" dirty="0" smtClean="0"/>
              <a:t>   &lt;rating&gt;PG&lt;/rating&gt;</a:t>
            </a:r>
          </a:p>
          <a:p>
            <a:pPr lvl="2"/>
            <a:r>
              <a:rPr lang="en-US" sz="1200" dirty="0" smtClean="0"/>
              <a:t>   &lt;stars&gt;10&lt;/stars&gt;</a:t>
            </a:r>
          </a:p>
          <a:p>
            <a:pPr lvl="2"/>
            <a:r>
              <a:rPr lang="en-US" sz="1200" dirty="0" smtClean="0"/>
              <a:t>   &lt;description&gt;</a:t>
            </a:r>
            <a:r>
              <a:rPr lang="en-US" sz="1200" dirty="0" err="1" smtClean="0"/>
              <a:t>Vash</a:t>
            </a:r>
            <a:r>
              <a:rPr lang="en-US" sz="1200" dirty="0" smtClean="0"/>
              <a:t> the Stampede!&lt;/description&gt;</a:t>
            </a:r>
          </a:p>
          <a:p>
            <a:pPr lvl="2"/>
            <a:r>
              <a:rPr lang="en-US" sz="1200" dirty="0" smtClean="0"/>
              <a:t>&lt;/movie&gt;</a:t>
            </a:r>
          </a:p>
          <a:p>
            <a:pPr lvl="2"/>
            <a:r>
              <a:rPr lang="en-US" sz="1200" dirty="0" smtClean="0"/>
              <a:t>&lt;movie title="Ishtar"&gt;</a:t>
            </a:r>
          </a:p>
          <a:p>
            <a:pPr lvl="2"/>
            <a:r>
              <a:rPr lang="en-US" sz="1200" dirty="0" smtClean="0"/>
              <a:t>   &lt;type&gt;Comedy&lt;/type&gt;</a:t>
            </a:r>
          </a:p>
          <a:p>
            <a:pPr lvl="2"/>
            <a:r>
              <a:rPr lang="en-US" sz="1200" dirty="0" smtClean="0"/>
              <a:t>   &lt;format&gt;VHS&lt;/format&gt;</a:t>
            </a:r>
          </a:p>
          <a:p>
            <a:pPr lvl="2"/>
            <a:r>
              <a:rPr lang="en-US" sz="1200" dirty="0" smtClean="0"/>
              <a:t>   &lt;rating&gt;PG&lt;/rating&gt;</a:t>
            </a:r>
          </a:p>
          <a:p>
            <a:pPr lvl="2"/>
            <a:r>
              <a:rPr lang="en-US" sz="1200" dirty="0" smtClean="0"/>
              <a:t>   &lt;stars&gt;2&lt;/stars&gt;</a:t>
            </a:r>
          </a:p>
          <a:p>
            <a:pPr lvl="2"/>
            <a:r>
              <a:rPr lang="en-US" sz="1200" dirty="0" smtClean="0"/>
              <a:t>   &lt;description&gt;Viewable boredom&lt;/description&gt;</a:t>
            </a:r>
          </a:p>
          <a:p>
            <a:pPr lvl="2"/>
            <a:r>
              <a:rPr lang="en-US" sz="1200" dirty="0" smtClean="0"/>
              <a:t>&lt;/movie&gt;</a:t>
            </a:r>
          </a:p>
          <a:p>
            <a:pPr lvl="2"/>
            <a:r>
              <a:rPr lang="en-US" sz="1200" dirty="0" smtClean="0"/>
              <a:t>&lt;/collection&gt;'''</a:t>
            </a:r>
          </a:p>
          <a:p>
            <a:pPr lvl="2"/>
            <a:r>
              <a:rPr lang="en-US" sz="1200" dirty="0" smtClean="0"/>
              <a:t>collection = </a:t>
            </a:r>
            <a:r>
              <a:rPr lang="en-US" sz="1200" dirty="0" err="1" smtClean="0"/>
              <a:t>ET.fromstring</a:t>
            </a:r>
            <a:r>
              <a:rPr lang="en-US" sz="1200" dirty="0" smtClean="0"/>
              <a:t>(data)</a:t>
            </a:r>
          </a:p>
          <a:p>
            <a:pPr lvl="2"/>
            <a:r>
              <a:rPr lang="en-US" sz="1200" dirty="0" err="1" smtClean="0"/>
              <a:t>lst</a:t>
            </a:r>
            <a:r>
              <a:rPr lang="en-US" sz="1200" dirty="0" smtClean="0"/>
              <a:t> = </a:t>
            </a:r>
            <a:r>
              <a:rPr lang="en-US" sz="1200" dirty="0" err="1" smtClean="0"/>
              <a:t>collection.findall</a:t>
            </a:r>
            <a:r>
              <a:rPr lang="en-US" sz="1200" dirty="0" smtClean="0"/>
              <a:t>('movie')</a:t>
            </a:r>
          </a:p>
          <a:p>
            <a:pPr lvl="2"/>
            <a:r>
              <a:rPr lang="en-US" sz="1200" dirty="0" smtClean="0"/>
              <a:t>print 'Movie count:', </a:t>
            </a:r>
            <a:r>
              <a:rPr lang="en-US" sz="1200" dirty="0" err="1" smtClean="0"/>
              <a:t>len</a:t>
            </a:r>
            <a:r>
              <a:rPr lang="en-US" sz="1200" dirty="0" smtClean="0"/>
              <a:t>(</a:t>
            </a:r>
            <a:r>
              <a:rPr lang="en-US" sz="1200" dirty="0" err="1" smtClean="0"/>
              <a:t>lst</a:t>
            </a:r>
            <a:r>
              <a:rPr lang="en-US" sz="1200" dirty="0" smtClean="0"/>
              <a:t>)</a:t>
            </a:r>
          </a:p>
          <a:p>
            <a:pPr lvl="2"/>
            <a:r>
              <a:rPr lang="en-US" sz="1200" dirty="0" smtClean="0"/>
              <a:t>print '-'*40</a:t>
            </a:r>
          </a:p>
          <a:p>
            <a:pPr lvl="2"/>
            <a:r>
              <a:rPr lang="en-US" sz="1200" dirty="0" smtClean="0"/>
              <a:t>for item in </a:t>
            </a:r>
            <a:r>
              <a:rPr lang="en-US" sz="1200" dirty="0" err="1" smtClean="0"/>
              <a:t>lst</a:t>
            </a:r>
            <a:r>
              <a:rPr lang="en-US" sz="1200" dirty="0" smtClean="0"/>
              <a:t>:</a:t>
            </a:r>
          </a:p>
          <a:p>
            <a:pPr lvl="2"/>
            <a:r>
              <a:rPr lang="en-US" sz="1200" dirty="0" smtClean="0"/>
              <a:t>    print 'Type: ', </a:t>
            </a:r>
            <a:r>
              <a:rPr lang="en-US" sz="1200" dirty="0" err="1" smtClean="0"/>
              <a:t>item.find</a:t>
            </a:r>
            <a:r>
              <a:rPr lang="en-US" sz="1200" dirty="0" smtClean="0"/>
              <a:t>('type').text</a:t>
            </a:r>
          </a:p>
          <a:p>
            <a:pPr lvl="2"/>
            <a:r>
              <a:rPr lang="en-US" sz="1200" dirty="0" smtClean="0"/>
              <a:t>    print 'Format: ', </a:t>
            </a:r>
            <a:r>
              <a:rPr lang="en-US" sz="1200" dirty="0" err="1" smtClean="0"/>
              <a:t>item.find</a:t>
            </a:r>
            <a:r>
              <a:rPr lang="en-US" sz="1200" dirty="0" smtClean="0"/>
              <a:t>('format').text</a:t>
            </a:r>
          </a:p>
          <a:p>
            <a:pPr lvl="2"/>
            <a:r>
              <a:rPr lang="en-US" sz="1200" dirty="0" smtClean="0"/>
              <a:t>    print 'Title: ', </a:t>
            </a:r>
            <a:r>
              <a:rPr lang="en-US" sz="1200" dirty="0" err="1" smtClean="0"/>
              <a:t>item.get</a:t>
            </a:r>
            <a:r>
              <a:rPr lang="en-US" sz="1200" dirty="0" smtClean="0"/>
              <a:t>('title')</a:t>
            </a:r>
          </a:p>
          <a:p>
            <a:pPr lvl="2"/>
            <a:r>
              <a:rPr lang="en-US" sz="1200" dirty="0" smtClean="0"/>
              <a:t>    print 'Rating: ', </a:t>
            </a:r>
            <a:r>
              <a:rPr lang="en-US" sz="1200" dirty="0" err="1" smtClean="0"/>
              <a:t>item.find</a:t>
            </a:r>
            <a:r>
              <a:rPr lang="en-US" sz="1200" dirty="0" smtClean="0"/>
              <a:t>('rating').text</a:t>
            </a:r>
          </a:p>
          <a:p>
            <a:pPr lvl="2"/>
            <a:r>
              <a:rPr lang="en-US" sz="1200" dirty="0" smtClean="0"/>
              <a:t>    print 'stars: ', </a:t>
            </a:r>
            <a:r>
              <a:rPr lang="en-US" sz="1200" dirty="0" err="1" smtClean="0"/>
              <a:t>item.find</a:t>
            </a:r>
            <a:r>
              <a:rPr lang="en-US" sz="1200" dirty="0" smtClean="0"/>
              <a:t>('stars').text</a:t>
            </a:r>
          </a:p>
          <a:p>
            <a:pPr lvl="2"/>
            <a:r>
              <a:rPr lang="en-US" sz="1200" dirty="0" smtClean="0"/>
              <a:t>    print 'Description: ', </a:t>
            </a:r>
            <a:r>
              <a:rPr lang="en-US" sz="1200" dirty="0" err="1" smtClean="0"/>
              <a:t>item.find</a:t>
            </a:r>
            <a:r>
              <a:rPr lang="en-US" sz="1200" dirty="0" smtClean="0"/>
              <a:t>('description').text</a:t>
            </a:r>
          </a:p>
          <a:p>
            <a:pPr lvl="2"/>
            <a:r>
              <a:rPr lang="en-US" sz="1200" dirty="0" smtClean="0"/>
              <a:t>    print '-'*40</a:t>
            </a:r>
            <a:endParaRPr lang="en-US" altLang="en-US" sz="1200" dirty="0" smtClean="0">
              <a:latin typeface="+mn-lt"/>
            </a:endParaRPr>
          </a:p>
          <a:p>
            <a:r>
              <a:rPr lang="en-US" sz="1200" dirty="0" smtClean="0"/>
              <a:t>	</a:t>
            </a:r>
            <a:endParaRPr lang="en-US" dirty="0" smtClean="0"/>
          </a:p>
          <a:p>
            <a:pPr marR="0" lvl="0" indent="0" eaLnBrk="1" fontAlgn="base"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en-US" sz="1200" dirty="0" smtClean="0">
                <a:latin typeface="+mn-lt"/>
              </a:rPr>
              <a:t>Step</a:t>
            </a:r>
            <a:r>
              <a:rPr lang="en-US" altLang="en-US" sz="1200" baseline="0" dirty="0" smtClean="0">
                <a:latin typeface="+mn-lt"/>
              </a:rPr>
              <a:t> 2</a:t>
            </a:r>
            <a:r>
              <a:rPr lang="en-US" altLang="en-US" sz="1200" dirty="0" smtClean="0">
                <a:latin typeface="+mn-lt"/>
              </a:rPr>
              <a:t>: Run the program.</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lvl="0" indent="0">
              <a:buFont typeface="+mj-lt"/>
              <a:buNone/>
            </a:pPr>
            <a:endParaRPr lang="en-US" sz="1200"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20</a:t>
            </a:fld>
            <a:endParaRPr lang="en-US"/>
          </a:p>
        </p:txBody>
      </p:sp>
    </p:spTree>
    <p:extLst>
      <p:ext uri="{BB962C8B-B14F-4D97-AF65-F5344CB8AC3E}">
        <p14:creationId xmlns:p14="http://schemas.microsoft.com/office/powerpoint/2010/main" val="6962829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21</a:t>
            </a:fld>
            <a:endParaRPr lang="en-US"/>
          </a:p>
        </p:txBody>
      </p:sp>
    </p:spTree>
    <p:extLst>
      <p:ext uri="{BB962C8B-B14F-4D97-AF65-F5344CB8AC3E}">
        <p14:creationId xmlns:p14="http://schemas.microsoft.com/office/powerpoint/2010/main" val="1748468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178906743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23036920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smtClean="0"/>
              <a:pPr/>
              <a:t>10/8/2015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2318555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smtClean="0"/>
              <a:pPr/>
              <a:t>10/8/2015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3297139171"/>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smtClean="0"/>
              <a:pPr/>
              <a:t>10/8/2015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328710979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smtClean="0"/>
              <a:pPr/>
              <a:t>10/8/2015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89934360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smtClean="0"/>
              <a:pPr/>
              <a:t>10/8/2015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371325988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smtClean="0"/>
              <a:pPr/>
              <a:t>10/8/2015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297901466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smtClean="0"/>
              <a:pPr/>
              <a:t>10/8/2015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125810308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27448313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388481159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3657434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298674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9962977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9648276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29262204"/>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6053370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996486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8171540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8186031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1427789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9915690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3657434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298674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9962977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9648276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29262204"/>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6053370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996486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8171540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8186031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1427789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9915690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3360882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0035339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7242054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6353246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12461276"/>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5676993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522436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5531920"/>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81432647"/>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2910761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3506078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2.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2.jpe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a:blipFill>
            <a:blip r:embed="rId14"/>
            <a:tile tx="0" ty="0" sx="100000" sy="100000" flip="none" algn="tl"/>
          </a:blipFill>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smtClean="0"/>
              <a:pPr/>
              <a:t>10/8/2015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smtClean="0"/>
              <a:pPr/>
              <a:t>‹#›</a:t>
            </a:fld>
            <a:endParaRPr lang="en-US"/>
          </a:p>
        </p:txBody>
      </p:sp>
    </p:spTree>
    <p:extLst>
      <p:ext uri="{BB962C8B-B14F-4D97-AF65-F5344CB8AC3E}">
        <p14:creationId xmlns:p14="http://schemas.microsoft.com/office/powerpoint/2010/main" val="3851785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1390432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1390432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a:solidFill>
                  <a:prstClr val="black">
                    <a:tint val="75000"/>
                  </a:prstClr>
                </a:solidFill>
              </a:rPr>
              <a:pPr/>
              <a:t>10/8/2015</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29028028"/>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hemeOverride" Target="../theme/themeOverride1.xml"/><Relationship Id="rId5" Type="http://schemas.openxmlformats.org/officeDocument/2006/relationships/image" Target="../media/image4.jpe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4.xml"/><Relationship Id="rId1" Type="http://schemas.openxmlformats.org/officeDocument/2006/relationships/themeOverride" Target="../theme/themeOverride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4.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hemeOverride" Target="../theme/themeOverride3.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0000" y="1260000"/>
            <a:ext cx="6480000" cy="1800000"/>
          </a:xfrm>
        </p:spPr>
        <p:txBody>
          <a:bodyPr>
            <a:normAutofit/>
          </a:bodyPr>
          <a:lstStyle/>
          <a:p>
            <a:r>
              <a:rPr lang="en-IN" dirty="0" smtClean="0">
                <a:solidFill>
                  <a:schemeClr val="bg1"/>
                </a:solidFill>
              </a:rPr>
              <a:t>Web Scraping and Using Web Services</a:t>
            </a:r>
            <a:endParaRPr lang="en-US"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3407237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US" sz="2400" b="1" dirty="0">
                <a:solidFill>
                  <a:schemeClr val="bg1"/>
                </a:solidFill>
                <a:latin typeface="Vrinda" pitchFamily="34" charset="0"/>
                <a:cs typeface="Vrinda" pitchFamily="34" charset="0"/>
              </a:rPr>
              <a:t>Objectives</a:t>
            </a:r>
          </a:p>
        </p:txBody>
      </p:sp>
      <p:sp>
        <p:nvSpPr>
          <p:cNvPr id="5" name="Content Placeholder 2"/>
          <p:cNvSpPr txBox="1">
            <a:spLocks/>
          </p:cNvSpPr>
          <p:nvPr/>
        </p:nvSpPr>
        <p:spPr>
          <a:xfrm>
            <a:off x="457200" y="1800000"/>
            <a:ext cx="81828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Blip>
                <a:blip r:embed="rId3"/>
              </a:buBlip>
            </a:pPr>
            <a:r>
              <a:rPr lang="en-IN" sz="2400" dirty="0">
                <a:solidFill>
                  <a:srgbClr val="6600CC"/>
                </a:solidFill>
                <a:cs typeface="Vrinda" pitchFamily="34" charset="0"/>
              </a:rPr>
              <a:t>In this session, you will learn </a:t>
            </a:r>
            <a:r>
              <a:rPr lang="en-IN" sz="2400" dirty="0" smtClean="0">
                <a:solidFill>
                  <a:srgbClr val="6600CC"/>
                </a:solidFill>
                <a:cs typeface="Vrinda" pitchFamily="34" charset="0"/>
              </a:rPr>
              <a:t>to:</a:t>
            </a:r>
            <a:endParaRPr lang="en-IN" sz="2400" dirty="0">
              <a:solidFill>
                <a:srgbClr val="6600CC"/>
              </a:solidFill>
              <a:cs typeface="Vrinda" pitchFamily="34" charset="0"/>
            </a:endParaRPr>
          </a:p>
          <a:p>
            <a:pPr marL="900000" lvl="1" indent="-396875" defTabSz="365760">
              <a:lnSpc>
                <a:spcPct val="90000"/>
              </a:lnSpc>
              <a:buSzPct val="120000"/>
              <a:buBlip>
                <a:blip r:embed="rId4"/>
              </a:buBlip>
            </a:pPr>
            <a:endParaRPr lang="en-IN" sz="1800" dirty="0" smtClean="0">
              <a:solidFill>
                <a:srgbClr val="6600CC"/>
              </a:solidFill>
              <a:latin typeface="Vrinda" pitchFamily="34" charset="0"/>
              <a:cs typeface="Vrinda" pitchFamily="34" charset="0"/>
            </a:endParaRPr>
          </a:p>
          <a:p>
            <a:pPr marL="900000" lvl="1" indent="-396875" defTabSz="365760">
              <a:lnSpc>
                <a:spcPct val="90000"/>
              </a:lnSpc>
              <a:buSzPct val="120000"/>
              <a:buBlip>
                <a:blip r:embed="rId4"/>
              </a:buBlip>
            </a:pPr>
            <a:r>
              <a:rPr lang="en-IN" sz="2000" dirty="0" smtClean="0">
                <a:solidFill>
                  <a:srgbClr val="6600CC"/>
                </a:solidFill>
                <a:cs typeface="Vrinda" pitchFamily="34" charset="0"/>
              </a:rPr>
              <a:t>Implement Web Scraping (Parsing HTML and XML Data).</a:t>
            </a:r>
          </a:p>
          <a:p>
            <a:pPr marL="900000" lvl="1" indent="-396875" defTabSz="365760">
              <a:lnSpc>
                <a:spcPct val="90000"/>
              </a:lnSpc>
              <a:buSzPct val="120000"/>
              <a:buBlip>
                <a:blip r:embed="rId4"/>
              </a:buBlip>
            </a:pPr>
            <a:r>
              <a:rPr lang="en-IN" sz="2000" dirty="0" smtClean="0">
                <a:solidFill>
                  <a:srgbClr val="6600CC"/>
                </a:solidFill>
                <a:cs typeface="Vrinda" pitchFamily="34" charset="0"/>
              </a:rPr>
              <a:t>Use Web Services in Python.</a:t>
            </a:r>
            <a:endParaRPr lang="en-IN" sz="2000" dirty="0">
              <a:solidFill>
                <a:srgbClr val="6600CC"/>
              </a:solidFill>
              <a:cs typeface="Vrinda" pitchFamily="34" charset="0"/>
            </a:endParaRPr>
          </a:p>
          <a:p>
            <a:pPr marL="900000" lvl="1" indent="-396875" defTabSz="365760">
              <a:lnSpc>
                <a:spcPct val="90000"/>
              </a:lnSpc>
              <a:buSzPct val="120000"/>
              <a:buBlip>
                <a:blip r:embed="rId4"/>
              </a:buBlip>
            </a:pPr>
            <a:r>
              <a:rPr lang="en-IN" sz="2000" dirty="0" smtClean="0">
                <a:solidFill>
                  <a:srgbClr val="6600CC"/>
                </a:solidFill>
                <a:cs typeface="Vrinda" pitchFamily="34" charset="0"/>
              </a:rPr>
              <a:t>Understand XML File Structure. </a:t>
            </a:r>
          </a:p>
          <a:p>
            <a:pPr marL="900000" lvl="1" indent="-396875" defTabSz="365760">
              <a:lnSpc>
                <a:spcPct val="90000"/>
              </a:lnSpc>
              <a:buSzPct val="120000"/>
              <a:buBlip>
                <a:blip r:embed="rId4"/>
              </a:buBlip>
            </a:pPr>
            <a:r>
              <a:rPr lang="en-IN" sz="2000" dirty="0" smtClean="0">
                <a:solidFill>
                  <a:srgbClr val="6600CC"/>
                </a:solidFill>
                <a:cs typeface="Vrinda" pitchFamily="34" charset="0"/>
              </a:rPr>
              <a:t>Parse and </a:t>
            </a:r>
            <a:r>
              <a:rPr lang="en-IN" sz="2000" dirty="0">
                <a:solidFill>
                  <a:srgbClr val="6600CC"/>
                </a:solidFill>
                <a:cs typeface="Vrinda" pitchFamily="34" charset="0"/>
              </a:rPr>
              <a:t>R</a:t>
            </a:r>
            <a:r>
              <a:rPr lang="en-IN" sz="2000" dirty="0" smtClean="0">
                <a:solidFill>
                  <a:srgbClr val="6600CC"/>
                </a:solidFill>
                <a:cs typeface="Vrinda" pitchFamily="34" charset="0"/>
              </a:rPr>
              <a:t>ead XML </a:t>
            </a:r>
            <a:r>
              <a:rPr lang="en-IN" sz="2000" dirty="0">
                <a:solidFill>
                  <a:srgbClr val="6600CC"/>
                </a:solidFill>
                <a:cs typeface="Vrinda" pitchFamily="34" charset="0"/>
              </a:rPr>
              <a:t>D</a:t>
            </a:r>
            <a:r>
              <a:rPr lang="en-IN" sz="2000" dirty="0" smtClean="0">
                <a:solidFill>
                  <a:srgbClr val="6600CC"/>
                </a:solidFill>
                <a:cs typeface="Vrinda" pitchFamily="34" charset="0"/>
              </a:rPr>
              <a:t>ata through Nodes.</a:t>
            </a:r>
            <a:endParaRPr lang="en-IN" sz="2000" dirty="0">
              <a:solidFill>
                <a:srgbClr val="6600CC"/>
              </a:solidFill>
              <a:cs typeface="Vrinda" pitchFamily="34" charset="0"/>
            </a:endParaRPr>
          </a:p>
        </p:txBody>
      </p:sp>
    </p:spTree>
    <p:extLst>
      <p:ext uri="{BB962C8B-B14F-4D97-AF65-F5344CB8AC3E}">
        <p14:creationId xmlns:p14="http://schemas.microsoft.com/office/powerpoint/2010/main" val="2642496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50359" y="1510975"/>
            <a:ext cx="8388841" cy="4813625"/>
          </a:xfrm>
          <a:prstGeom prst="rect">
            <a:avLst/>
          </a:prstGeom>
        </p:spPr>
        <p:txBody>
          <a:bodyPr wrap="square">
            <a:spAutoFit/>
          </a:bodyPr>
          <a:lstStyle/>
          <a:p>
            <a:pPr marL="749300">
              <a:defRPr/>
            </a:pPr>
            <a:r>
              <a:rPr lang="en-US" sz="2000" dirty="0" smtClean="0">
                <a:solidFill>
                  <a:srgbClr val="6600CC"/>
                </a:solidFill>
                <a:latin typeface="Vrinda" pitchFamily="34" charset="0"/>
                <a:cs typeface="Vrinda" pitchFamily="34" charset="0"/>
                <a:sym typeface="Gill Sans" charset="0"/>
              </a:rPr>
              <a:t> </a:t>
            </a:r>
          </a:p>
          <a:p>
            <a:pPr marL="514350" lvl="1" indent="-396875" defTabSz="914363">
              <a:lnSpc>
                <a:spcPct val="90000"/>
              </a:lnSpc>
              <a:buSzPct val="100000"/>
              <a:buBlip>
                <a:blip r:embed="rId3"/>
              </a:buBlip>
            </a:pPr>
            <a:r>
              <a:rPr lang="en-IN" sz="2400" dirty="0" smtClean="0">
                <a:solidFill>
                  <a:srgbClr val="6600CC"/>
                </a:solidFill>
                <a:cs typeface="Vrinda" pitchFamily="34" charset="0"/>
              </a:rPr>
              <a:t>Web </a:t>
            </a:r>
            <a:r>
              <a:rPr lang="en-IN" sz="2400" dirty="0">
                <a:solidFill>
                  <a:srgbClr val="6600CC"/>
                </a:solidFill>
                <a:cs typeface="Vrinda" pitchFamily="34" charset="0"/>
              </a:rPr>
              <a:t>Scraping is a technique to retrieve data based on patterns from pages</a:t>
            </a:r>
            <a:r>
              <a:rPr lang="en-IN" sz="2400" dirty="0" smtClean="0">
                <a:solidFill>
                  <a:srgbClr val="6600CC"/>
                </a:solidFill>
                <a:cs typeface="Vrinda" pitchFamily="34" charset="0"/>
              </a:rPr>
              <a:t>.</a:t>
            </a:r>
          </a:p>
          <a:p>
            <a:pPr marL="514350" lvl="1" indent="-396875" defTabSz="914363">
              <a:lnSpc>
                <a:spcPct val="90000"/>
              </a:lnSpc>
              <a:buSzPct val="100000"/>
              <a:buBlip>
                <a:blip r:embed="rId3"/>
              </a:buBlip>
            </a:pPr>
            <a:endParaRPr lang="en-US" sz="2400" dirty="0">
              <a:solidFill>
                <a:srgbClr val="6600CC"/>
              </a:solidFill>
              <a:cs typeface="Vrinda" pitchFamily="34" charset="0"/>
              <a:sym typeface="Gill Sans" charset="0"/>
            </a:endParaRPr>
          </a:p>
          <a:p>
            <a:pPr marL="514350" lvl="1" indent="-396875" defTabSz="914363">
              <a:lnSpc>
                <a:spcPct val="90000"/>
              </a:lnSpc>
              <a:buSzPct val="100000"/>
              <a:buBlip>
                <a:blip r:embed="rId3"/>
              </a:buBlip>
            </a:pPr>
            <a:r>
              <a:rPr lang="en-US" sz="2400" dirty="0">
                <a:solidFill>
                  <a:srgbClr val="6600CC"/>
                </a:solidFill>
                <a:cs typeface="Vrinda" pitchFamily="34" charset="0"/>
                <a:sym typeface="Gill Sans" charset="0"/>
              </a:rPr>
              <a:t> All type of search engine use the concept of Web Scraping and we also call it Web </a:t>
            </a:r>
            <a:r>
              <a:rPr lang="en-US" sz="2400" dirty="0" err="1">
                <a:solidFill>
                  <a:srgbClr val="6600CC"/>
                </a:solidFill>
                <a:cs typeface="Vrinda" pitchFamily="34" charset="0"/>
                <a:sym typeface="Gill Sans" charset="0"/>
              </a:rPr>
              <a:t>Spidering</a:t>
            </a:r>
            <a:r>
              <a:rPr lang="en-US" sz="2400" dirty="0">
                <a:solidFill>
                  <a:srgbClr val="6600CC"/>
                </a:solidFill>
                <a:cs typeface="Vrinda" pitchFamily="34" charset="0"/>
                <a:sym typeface="Gill Sans" charset="0"/>
              </a:rPr>
              <a:t> or Web Crawling</a:t>
            </a:r>
            <a:r>
              <a:rPr lang="en-US" sz="2400" dirty="0" smtClean="0">
                <a:solidFill>
                  <a:srgbClr val="6600CC"/>
                </a:solidFill>
                <a:cs typeface="Vrinda" pitchFamily="34" charset="0"/>
                <a:sym typeface="Gill Sans" charset="0"/>
              </a:rPr>
              <a:t>.</a:t>
            </a:r>
          </a:p>
          <a:p>
            <a:pPr marL="514350" lvl="1" indent="-396875" defTabSz="914363">
              <a:lnSpc>
                <a:spcPct val="90000"/>
              </a:lnSpc>
              <a:buSzPct val="100000"/>
              <a:buBlip>
                <a:blip r:embed="rId3"/>
              </a:buBlip>
            </a:pPr>
            <a:endParaRPr lang="en-US" sz="2400" dirty="0">
              <a:solidFill>
                <a:srgbClr val="6600CC"/>
              </a:solidFill>
              <a:cs typeface="Vrinda" pitchFamily="34" charset="0"/>
              <a:sym typeface="Gill Sans" charset="0"/>
            </a:endParaRPr>
          </a:p>
          <a:p>
            <a:pPr marL="514350" lvl="1" indent="-396875" defTabSz="914363">
              <a:lnSpc>
                <a:spcPct val="90000"/>
              </a:lnSpc>
              <a:buSzPct val="100000"/>
              <a:buBlip>
                <a:blip r:embed="rId3"/>
              </a:buBlip>
            </a:pPr>
            <a:r>
              <a:rPr lang="en-US" sz="2400" dirty="0">
                <a:solidFill>
                  <a:srgbClr val="6600CC"/>
                </a:solidFill>
                <a:cs typeface="Vrinda" pitchFamily="34" charset="0"/>
                <a:sym typeface="Gill Sans" charset="0"/>
              </a:rPr>
              <a:t>As per the preceding concept there are different techniques of parsing the HTML Page in Python</a:t>
            </a:r>
            <a:r>
              <a:rPr lang="en-US" sz="2000" dirty="0">
                <a:solidFill>
                  <a:srgbClr val="6600CC"/>
                </a:solidFill>
                <a:cs typeface="Vrinda" pitchFamily="34" charset="0"/>
                <a:sym typeface="Gill Sans" charset="0"/>
              </a:rPr>
              <a:t>.</a:t>
            </a:r>
            <a:endParaRPr lang="en-IN" sz="2000" dirty="0">
              <a:solidFill>
                <a:srgbClr val="6600CC"/>
              </a:solidFill>
              <a:cs typeface="Vrinda" pitchFamily="34" charset="0"/>
            </a:endParaRPr>
          </a:p>
          <a:p>
            <a:pPr marL="749300">
              <a:defRPr/>
            </a:pPr>
            <a:endParaRPr lang="en-US" sz="2000" dirty="0" smtClean="0">
              <a:solidFill>
                <a:srgbClr val="6600CC"/>
              </a:solidFill>
              <a:cs typeface="Vrinda" pitchFamily="34" charset="0"/>
              <a:sym typeface="Gill Sans" charset="0"/>
            </a:endParaRPr>
          </a:p>
          <a:p>
            <a:pPr marL="900000" lvl="1" indent="-396875" defTabSz="914363">
              <a:lnSpc>
                <a:spcPct val="90000"/>
              </a:lnSpc>
              <a:buSzPct val="120000"/>
              <a:buBlip>
                <a:blip r:embed="rId4"/>
              </a:buBlip>
            </a:pPr>
            <a:r>
              <a:rPr lang="en-US" sz="2000" dirty="0" smtClean="0">
                <a:solidFill>
                  <a:srgbClr val="6600CC"/>
                </a:solidFill>
                <a:cs typeface="Vrinda" pitchFamily="34" charset="0"/>
                <a:sym typeface="Gill Sans" charset="0"/>
              </a:rPr>
              <a:t>Using </a:t>
            </a:r>
            <a:r>
              <a:rPr lang="en-US" sz="2000" dirty="0">
                <a:solidFill>
                  <a:srgbClr val="6600CC"/>
                </a:solidFill>
                <a:cs typeface="Vrinda" pitchFamily="34" charset="0"/>
                <a:sym typeface="Gill Sans" charset="0"/>
              </a:rPr>
              <a:t>Regular </a:t>
            </a:r>
            <a:r>
              <a:rPr lang="en-US" sz="2000" dirty="0" smtClean="0">
                <a:solidFill>
                  <a:srgbClr val="6600CC"/>
                </a:solidFill>
                <a:cs typeface="Vrinda" pitchFamily="34" charset="0"/>
                <a:sym typeface="Gill Sans" charset="0"/>
              </a:rPr>
              <a:t>Expression</a:t>
            </a:r>
          </a:p>
          <a:p>
            <a:pPr marL="900000" lvl="1" indent="-396875" defTabSz="914363">
              <a:lnSpc>
                <a:spcPct val="90000"/>
              </a:lnSpc>
              <a:buSzPct val="120000"/>
              <a:buBlip>
                <a:blip r:embed="rId4"/>
              </a:buBlip>
            </a:pPr>
            <a:endParaRPr lang="en-US" sz="2000" dirty="0">
              <a:solidFill>
                <a:srgbClr val="6600CC"/>
              </a:solidFill>
              <a:cs typeface="Vrinda" pitchFamily="34" charset="0"/>
              <a:sym typeface="Gill Sans" charset="0"/>
            </a:endParaRPr>
          </a:p>
          <a:p>
            <a:pPr marL="900000" lvl="1" indent="-396875" defTabSz="914363">
              <a:lnSpc>
                <a:spcPct val="90000"/>
              </a:lnSpc>
              <a:buSzPct val="120000"/>
              <a:buBlip>
                <a:blip r:embed="rId4"/>
              </a:buBlip>
            </a:pPr>
            <a:r>
              <a:rPr lang="en-US" sz="2000" dirty="0">
                <a:solidFill>
                  <a:srgbClr val="6600CC"/>
                </a:solidFill>
                <a:cs typeface="Vrinda" pitchFamily="34" charset="0"/>
                <a:sym typeface="Gill Sans" charset="0"/>
              </a:rPr>
              <a:t>Using </a:t>
            </a:r>
            <a:r>
              <a:rPr lang="en-US" sz="2000" dirty="0" err="1">
                <a:solidFill>
                  <a:srgbClr val="6600CC"/>
                </a:solidFill>
                <a:cs typeface="Vrinda" pitchFamily="34" charset="0"/>
                <a:sym typeface="Gill Sans" charset="0"/>
              </a:rPr>
              <a:t>BeautifulSoup</a:t>
            </a:r>
            <a:endParaRPr lang="en-US" sz="2000" dirty="0">
              <a:solidFill>
                <a:srgbClr val="6600CC"/>
              </a:solidFill>
              <a:cs typeface="Vrinda" pitchFamily="34" charset="0"/>
              <a:sym typeface="Gill Sans" charset="0"/>
            </a:endParaRPr>
          </a:p>
          <a:p>
            <a:pPr marL="1549400" lvl="1" indent="-342900">
              <a:buFont typeface="Arial" panose="020B0604020202020204" pitchFamily="34" charset="0"/>
              <a:buChar char="•"/>
              <a:defRPr/>
            </a:pPr>
            <a:endParaRPr lang="en-US" sz="2000" dirty="0" smtClean="0">
              <a:solidFill>
                <a:srgbClr val="6600CC"/>
              </a:solidFill>
              <a:latin typeface="Vrinda" pitchFamily="34" charset="0"/>
              <a:cs typeface="Vrinda" pitchFamily="34" charset="0"/>
              <a:sym typeface="Gill Sans" charset="0"/>
            </a:endParaRPr>
          </a:p>
          <a:p>
            <a:pPr marL="1549400" lvl="1" indent="-342900">
              <a:buFont typeface="Arial" panose="020B0604020202020204" pitchFamily="34" charset="0"/>
              <a:buChar char="•"/>
              <a:defRPr/>
            </a:pPr>
            <a:endParaRPr lang="en-US" sz="2000" dirty="0">
              <a:solidFill>
                <a:srgbClr val="6600CC"/>
              </a:solidFill>
              <a:latin typeface="Vrinda" pitchFamily="34" charset="0"/>
              <a:cs typeface="Vrinda" pitchFamily="34" charset="0"/>
              <a:sym typeface="Gill Sans" charset="0"/>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a:solidFill>
                  <a:schemeClr val="bg1"/>
                </a:solidFill>
                <a:latin typeface="Vrinda" pitchFamily="34" charset="0"/>
                <a:cs typeface="Vrinda" pitchFamily="34" charset="0"/>
              </a:rPr>
              <a:t>Parsing HTML (Web Scraping)</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835316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98222" y="1676400"/>
            <a:ext cx="8229600" cy="5078313"/>
          </a:xfrm>
          <a:prstGeom prst="rect">
            <a:avLst/>
          </a:prstGeom>
        </p:spPr>
        <p:txBody>
          <a:bodyPr wrap="square">
            <a:spAutoFit/>
          </a:bodyPr>
          <a:lstStyle/>
          <a:p>
            <a:pPr marL="749300">
              <a:defRPr/>
            </a:pPr>
            <a:r>
              <a:rPr lang="en-IN" sz="2400" b="1" dirty="0" smtClean="0">
                <a:solidFill>
                  <a:srgbClr val="6600CC"/>
                </a:solidFill>
                <a:cs typeface="Vrinda" pitchFamily="34" charset="0"/>
              </a:rPr>
              <a:t>Parsing </a:t>
            </a:r>
            <a:r>
              <a:rPr lang="en-IN" sz="2400" b="1" dirty="0">
                <a:solidFill>
                  <a:srgbClr val="6600CC"/>
                </a:solidFill>
                <a:cs typeface="Vrinda" pitchFamily="34" charset="0"/>
              </a:rPr>
              <a:t>HTML and XML </a:t>
            </a:r>
            <a:r>
              <a:rPr lang="en-IN" sz="2400" b="1" dirty="0" smtClean="0">
                <a:solidFill>
                  <a:srgbClr val="6600CC"/>
                </a:solidFill>
                <a:cs typeface="Vrinda" pitchFamily="34" charset="0"/>
              </a:rPr>
              <a:t>Data </a:t>
            </a:r>
            <a:r>
              <a:rPr lang="en-IN" sz="2400" b="1" dirty="0">
                <a:solidFill>
                  <a:srgbClr val="6600CC"/>
                </a:solidFill>
                <a:cs typeface="Vrinda" pitchFamily="34" charset="0"/>
              </a:rPr>
              <a:t>U</a:t>
            </a:r>
            <a:r>
              <a:rPr lang="en-IN" sz="2400" b="1" dirty="0" smtClean="0">
                <a:solidFill>
                  <a:srgbClr val="6600CC"/>
                </a:solidFill>
                <a:cs typeface="Vrinda" pitchFamily="34" charset="0"/>
              </a:rPr>
              <a:t>sing </a:t>
            </a:r>
            <a:r>
              <a:rPr lang="en-IN" sz="2400" b="1" dirty="0">
                <a:solidFill>
                  <a:srgbClr val="6600CC"/>
                </a:solidFill>
                <a:cs typeface="Vrinda" pitchFamily="34" charset="0"/>
              </a:rPr>
              <a:t>Regular </a:t>
            </a:r>
            <a:r>
              <a:rPr lang="en-IN" sz="2400" b="1" dirty="0" smtClean="0">
                <a:solidFill>
                  <a:srgbClr val="6600CC"/>
                </a:solidFill>
                <a:cs typeface="Vrinda" pitchFamily="34" charset="0"/>
              </a:rPr>
              <a:t>Expression</a:t>
            </a:r>
          </a:p>
          <a:p>
            <a:pPr marL="749300">
              <a:buFont typeface="Gill Sans" charset="0"/>
              <a:buChar char="•"/>
              <a:defRPr/>
            </a:pPr>
            <a:endParaRPr lang="en-IN" sz="20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3"/>
              </a:buBlip>
            </a:pPr>
            <a:r>
              <a:rPr lang="en-IN" sz="2400" dirty="0" smtClean="0">
                <a:solidFill>
                  <a:srgbClr val="6600CC"/>
                </a:solidFill>
                <a:latin typeface="Vrinda" pitchFamily="34" charset="0"/>
                <a:cs typeface="Vrinda" pitchFamily="34" charset="0"/>
              </a:rPr>
              <a:t>Regular </a:t>
            </a:r>
            <a:r>
              <a:rPr lang="en-IN" sz="2400" dirty="0">
                <a:solidFill>
                  <a:srgbClr val="6600CC"/>
                </a:solidFill>
                <a:latin typeface="Vrinda" pitchFamily="34" charset="0"/>
                <a:cs typeface="Vrinda" pitchFamily="34" charset="0"/>
              </a:rPr>
              <a:t>Expression provides easy and flexible way for matching any string of text, such as a particular character, word or any pattern. </a:t>
            </a:r>
            <a:endParaRPr lang="en-IN" sz="24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3"/>
              </a:buBlip>
            </a:pPr>
            <a:endParaRPr lang="en-IN" sz="2400" dirty="0">
              <a:solidFill>
                <a:srgbClr val="6600CC"/>
              </a:solidFill>
              <a:latin typeface="Vrinda" pitchFamily="34" charset="0"/>
              <a:cs typeface="Vrinda" pitchFamily="34" charset="0"/>
            </a:endParaRPr>
          </a:p>
          <a:p>
            <a:pPr marL="514350" lvl="1" indent="-396875" defTabSz="914363">
              <a:lnSpc>
                <a:spcPct val="90000"/>
              </a:lnSpc>
              <a:buSzPct val="100000"/>
              <a:buBlip>
                <a:blip r:embed="rId3"/>
              </a:buBlip>
            </a:pPr>
            <a:r>
              <a:rPr lang="en-IN" sz="2400" dirty="0">
                <a:solidFill>
                  <a:srgbClr val="6600CC"/>
                </a:solidFill>
                <a:latin typeface="Vrinda" pitchFamily="34" charset="0"/>
                <a:cs typeface="Vrinda" pitchFamily="34" charset="0"/>
              </a:rPr>
              <a:t>Regular Expressions are very powerful and simple to use</a:t>
            </a:r>
            <a:r>
              <a:rPr lang="en-IN" sz="2400" dirty="0" smtClean="0">
                <a:solidFill>
                  <a:srgbClr val="6600CC"/>
                </a:solidFill>
                <a:latin typeface="Vrinda" pitchFamily="34" charset="0"/>
                <a:cs typeface="Vrinda" pitchFamily="34" charset="0"/>
              </a:rPr>
              <a:t>.</a:t>
            </a:r>
          </a:p>
          <a:p>
            <a:pPr marL="514350" lvl="1" indent="-396875" defTabSz="914363">
              <a:lnSpc>
                <a:spcPct val="90000"/>
              </a:lnSpc>
              <a:buSzPct val="100000"/>
              <a:buBlip>
                <a:blip r:embed="rId3"/>
              </a:buBlip>
            </a:pPr>
            <a:endParaRPr lang="en-IN" sz="2400" dirty="0">
              <a:solidFill>
                <a:srgbClr val="6600CC"/>
              </a:solidFill>
              <a:latin typeface="Vrinda" pitchFamily="34" charset="0"/>
              <a:cs typeface="Vrinda" pitchFamily="34" charset="0"/>
            </a:endParaRPr>
          </a:p>
          <a:p>
            <a:pPr marL="514350" lvl="1" indent="-396875" defTabSz="914363">
              <a:lnSpc>
                <a:spcPct val="90000"/>
              </a:lnSpc>
              <a:buSzPct val="100000"/>
              <a:buBlip>
                <a:blip r:embed="rId3"/>
              </a:buBlip>
            </a:pPr>
            <a:r>
              <a:rPr lang="en-IN" sz="2400" dirty="0">
                <a:solidFill>
                  <a:srgbClr val="6600CC"/>
                </a:solidFill>
                <a:latin typeface="Vrinda" pitchFamily="34" charset="0"/>
                <a:cs typeface="Vrinda" pitchFamily="34" charset="0"/>
              </a:rPr>
              <a:t>While using Regular Expression we construct well-formed expression to match and extract link value from any given text</a:t>
            </a:r>
          </a:p>
          <a:p>
            <a:pPr marL="749300">
              <a:defRPr/>
            </a:pPr>
            <a:endParaRPr lang="en-IN" sz="2000" dirty="0" smtClean="0">
              <a:solidFill>
                <a:srgbClr val="6600CC"/>
              </a:solidFill>
              <a:latin typeface="Vrinda" pitchFamily="34" charset="0"/>
              <a:cs typeface="Vrinda" pitchFamily="34" charset="0"/>
            </a:endParaRPr>
          </a:p>
          <a:p>
            <a:pPr marL="749300">
              <a:defRPr/>
            </a:pPr>
            <a:r>
              <a:rPr lang="en-IN" sz="2400" b="1" dirty="0" smtClean="0">
                <a:solidFill>
                  <a:srgbClr val="6600CC"/>
                </a:solidFill>
                <a:cs typeface="Vrinda" pitchFamily="34" charset="0"/>
              </a:rPr>
              <a:t>Example :- </a:t>
            </a:r>
            <a:r>
              <a:rPr lang="en-IN" sz="2400" b="1" dirty="0" err="1">
                <a:solidFill>
                  <a:srgbClr val="6600CC"/>
                </a:solidFill>
                <a:cs typeface="Vrinda" pitchFamily="34" charset="0"/>
              </a:rPr>
              <a:t>href</a:t>
            </a:r>
            <a:r>
              <a:rPr lang="en-IN" sz="2400" b="1" dirty="0">
                <a:solidFill>
                  <a:srgbClr val="6600CC"/>
                </a:solidFill>
                <a:cs typeface="Vrinda" pitchFamily="34" charset="0"/>
              </a:rPr>
              <a:t>="http://.+?"</a:t>
            </a:r>
            <a:endParaRPr lang="en-IN" sz="2400" b="1" dirty="0" smtClean="0">
              <a:solidFill>
                <a:srgbClr val="6600CC"/>
              </a:solidFill>
              <a:cs typeface="Vrinda" pitchFamily="34" charset="0"/>
            </a:endParaRPr>
          </a:p>
          <a:p>
            <a:pPr marL="749300">
              <a:buFont typeface="Gill Sans" charset="0"/>
              <a:buChar char="•"/>
              <a:defRPr/>
            </a:pPr>
            <a:endParaRPr lang="en-IN" sz="2000" dirty="0">
              <a:solidFill>
                <a:srgbClr val="6600CC"/>
              </a:solidFill>
              <a:latin typeface="Vrinda" pitchFamily="34" charset="0"/>
              <a:cs typeface="Vrinda" pitchFamily="34" charset="0"/>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a:solidFill>
                  <a:schemeClr val="bg1"/>
                </a:solidFill>
                <a:latin typeface="Vrinda" pitchFamily="34" charset="0"/>
                <a:cs typeface="Vrinda" pitchFamily="34" charset="0"/>
              </a:rPr>
              <a:t>Parsing HTML (Web Scraping</a:t>
            </a:r>
            <a:r>
              <a:rPr lang="en-IN" sz="2400" b="1" dirty="0" smtClean="0">
                <a:solidFill>
                  <a:schemeClr val="bg1"/>
                </a:solidFill>
                <a:latin typeface="Vrinda" pitchFamily="34" charset="0"/>
                <a:cs typeface="Vrinda" pitchFamily="34" charset="0"/>
              </a:rPr>
              <a:t>) (Contd.)</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1579423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3830" y="1676400"/>
            <a:ext cx="8379170" cy="5467651"/>
          </a:xfrm>
          <a:prstGeom prst="rect">
            <a:avLst/>
          </a:prstGeom>
        </p:spPr>
        <p:txBody>
          <a:bodyPr wrap="square">
            <a:spAutoFit/>
          </a:bodyPr>
          <a:lstStyle/>
          <a:p>
            <a:pPr marL="514350" lvl="1" indent="-396875" defTabSz="914363">
              <a:lnSpc>
                <a:spcPct val="90000"/>
              </a:lnSpc>
              <a:buSzPct val="100000"/>
              <a:buBlip>
                <a:blip r:embed="rId3"/>
              </a:buBlip>
            </a:pPr>
            <a:endParaRPr lang="en-IN" sz="20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3"/>
              </a:buBlip>
            </a:pPr>
            <a:r>
              <a:rPr lang="en-IN" sz="2400" dirty="0" err="1" smtClean="0">
                <a:solidFill>
                  <a:srgbClr val="6600CC"/>
                </a:solidFill>
                <a:cs typeface="Vrinda" pitchFamily="34" charset="0"/>
              </a:rPr>
              <a:t>BeautifulSoup</a:t>
            </a:r>
            <a:r>
              <a:rPr lang="en-IN" sz="2400" dirty="0" smtClean="0">
                <a:solidFill>
                  <a:srgbClr val="6600CC"/>
                </a:solidFill>
                <a:cs typeface="Vrinda" pitchFamily="34" charset="0"/>
              </a:rPr>
              <a:t> </a:t>
            </a:r>
            <a:r>
              <a:rPr lang="en-IN" sz="2400" dirty="0">
                <a:solidFill>
                  <a:srgbClr val="6600CC"/>
                </a:solidFill>
                <a:cs typeface="Vrinda" pitchFamily="34" charset="0"/>
              </a:rPr>
              <a:t>is a library provided by Python for pulling data from HTML and XML files. </a:t>
            </a:r>
            <a:endParaRPr lang="en-IN" sz="2400" dirty="0" smtClean="0">
              <a:solidFill>
                <a:srgbClr val="6600CC"/>
              </a:solidFill>
              <a:cs typeface="Vrinda" pitchFamily="34" charset="0"/>
            </a:endParaRPr>
          </a:p>
          <a:p>
            <a:pPr marL="514350" lvl="1" indent="-396875" defTabSz="914363">
              <a:lnSpc>
                <a:spcPct val="90000"/>
              </a:lnSpc>
              <a:buSzPct val="100000"/>
              <a:buBlip>
                <a:blip r:embed="rId3"/>
              </a:buBlip>
            </a:pPr>
            <a:endParaRPr lang="en-IN" sz="2400" dirty="0">
              <a:solidFill>
                <a:srgbClr val="6600CC"/>
              </a:solidFill>
              <a:cs typeface="Vrinda" pitchFamily="34" charset="0"/>
            </a:endParaRPr>
          </a:p>
          <a:p>
            <a:pPr marL="514350" lvl="1" indent="-396875" defTabSz="914363">
              <a:lnSpc>
                <a:spcPct val="90000"/>
              </a:lnSpc>
              <a:buSzPct val="100000"/>
              <a:buBlip>
                <a:blip r:embed="rId3"/>
              </a:buBlip>
            </a:pPr>
            <a:r>
              <a:rPr lang="en-IN" sz="2400" dirty="0">
                <a:solidFill>
                  <a:srgbClr val="6600CC"/>
                </a:solidFill>
                <a:cs typeface="Vrinda" pitchFamily="34" charset="0"/>
              </a:rPr>
              <a:t>It works with the parser to provide idiomatic ways of navigating, searching and modifying the parse tree. </a:t>
            </a:r>
            <a:endParaRPr lang="en-IN" sz="2400" dirty="0" smtClean="0">
              <a:solidFill>
                <a:srgbClr val="6600CC"/>
              </a:solidFill>
              <a:cs typeface="Vrinda" pitchFamily="34" charset="0"/>
            </a:endParaRPr>
          </a:p>
          <a:p>
            <a:pPr marL="514350" lvl="1" indent="-396875" defTabSz="914363">
              <a:lnSpc>
                <a:spcPct val="90000"/>
              </a:lnSpc>
              <a:buSzPct val="100000"/>
              <a:buBlip>
                <a:blip r:embed="rId3"/>
              </a:buBlip>
            </a:pPr>
            <a:endParaRPr lang="en-IN" sz="2400" dirty="0">
              <a:solidFill>
                <a:srgbClr val="6600CC"/>
              </a:solidFill>
              <a:cs typeface="Vrinda" pitchFamily="34" charset="0"/>
            </a:endParaRPr>
          </a:p>
          <a:p>
            <a:pPr marL="514350" lvl="1" indent="-396875" defTabSz="914363">
              <a:lnSpc>
                <a:spcPct val="90000"/>
              </a:lnSpc>
              <a:buSzPct val="100000"/>
              <a:buBlip>
                <a:blip r:embed="rId3"/>
              </a:buBlip>
            </a:pPr>
            <a:r>
              <a:rPr lang="en-IN" sz="2400" dirty="0">
                <a:solidFill>
                  <a:srgbClr val="6600CC"/>
                </a:solidFill>
                <a:cs typeface="Vrinda" pitchFamily="34" charset="0"/>
              </a:rPr>
              <a:t>This technique helps in saving programmers time</a:t>
            </a:r>
            <a:r>
              <a:rPr lang="en-IN" sz="2400" dirty="0" smtClean="0">
                <a:solidFill>
                  <a:srgbClr val="6600CC"/>
                </a:solidFill>
                <a:cs typeface="Vrinda" pitchFamily="34" charset="0"/>
              </a:rPr>
              <a:t>.</a:t>
            </a:r>
          </a:p>
          <a:p>
            <a:pPr marL="514350" lvl="1" indent="-396875" defTabSz="914363">
              <a:lnSpc>
                <a:spcPct val="90000"/>
              </a:lnSpc>
              <a:buSzPct val="100000"/>
              <a:buBlip>
                <a:blip r:embed="rId3"/>
              </a:buBlip>
            </a:pPr>
            <a:endParaRPr lang="en-US" sz="2400" dirty="0">
              <a:solidFill>
                <a:srgbClr val="6600CC"/>
              </a:solidFill>
              <a:cs typeface="Vrinda" pitchFamily="34" charset="0"/>
              <a:sym typeface="Gill Sans" charset="0"/>
            </a:endParaRPr>
          </a:p>
          <a:p>
            <a:pPr marL="514350" lvl="1" indent="-396875" defTabSz="914363">
              <a:lnSpc>
                <a:spcPct val="90000"/>
              </a:lnSpc>
              <a:buSzPct val="100000"/>
              <a:buBlip>
                <a:blip r:embed="rId3"/>
              </a:buBlip>
            </a:pPr>
            <a:r>
              <a:rPr lang="en-US" sz="2400" dirty="0">
                <a:solidFill>
                  <a:srgbClr val="6600CC"/>
                </a:solidFill>
                <a:cs typeface="Vrinda" pitchFamily="34" charset="0"/>
                <a:sym typeface="Gill Sans" charset="0"/>
              </a:rPr>
              <a:t>It is important for the programmer to install </a:t>
            </a:r>
            <a:r>
              <a:rPr lang="en-US" sz="2400" dirty="0" err="1">
                <a:solidFill>
                  <a:srgbClr val="6600CC"/>
                </a:solidFill>
                <a:cs typeface="Vrinda" pitchFamily="34" charset="0"/>
                <a:sym typeface="Gill Sans" charset="0"/>
              </a:rPr>
              <a:t>BeautifulSoup</a:t>
            </a:r>
            <a:r>
              <a:rPr lang="en-US" sz="2400" dirty="0">
                <a:solidFill>
                  <a:srgbClr val="6600CC"/>
                </a:solidFill>
                <a:cs typeface="Vrinda" pitchFamily="34" charset="0"/>
                <a:sym typeface="Gill Sans" charset="0"/>
              </a:rPr>
              <a:t> library before using. </a:t>
            </a:r>
            <a:endParaRPr lang="en-US" sz="2400" dirty="0" smtClean="0">
              <a:solidFill>
                <a:srgbClr val="6600CC"/>
              </a:solidFill>
              <a:cs typeface="Vrinda" pitchFamily="34" charset="0"/>
              <a:sym typeface="Gill Sans" charset="0"/>
            </a:endParaRPr>
          </a:p>
          <a:p>
            <a:pPr marL="514350" lvl="1" indent="-396875" defTabSz="914363">
              <a:lnSpc>
                <a:spcPct val="90000"/>
              </a:lnSpc>
              <a:buSzPct val="100000"/>
              <a:buBlip>
                <a:blip r:embed="rId3"/>
              </a:buBlip>
            </a:pPr>
            <a:endParaRPr lang="en-US" sz="2400" dirty="0">
              <a:solidFill>
                <a:srgbClr val="6600CC"/>
              </a:solidFill>
              <a:cs typeface="Vrinda" pitchFamily="34" charset="0"/>
              <a:sym typeface="Gill Sans" charset="0"/>
            </a:endParaRPr>
          </a:p>
          <a:p>
            <a:pPr marL="514350" lvl="1" indent="-396875" defTabSz="914363">
              <a:lnSpc>
                <a:spcPct val="90000"/>
              </a:lnSpc>
              <a:buSzPct val="100000"/>
              <a:buBlip>
                <a:blip r:embed="rId3"/>
              </a:buBlip>
            </a:pPr>
            <a:r>
              <a:rPr lang="en-US" sz="2400" dirty="0">
                <a:solidFill>
                  <a:srgbClr val="6600CC"/>
                </a:solidFill>
                <a:cs typeface="Vrinda" pitchFamily="34" charset="0"/>
                <a:sym typeface="Gill Sans" charset="0"/>
              </a:rPr>
              <a:t>Post that use “</a:t>
            </a:r>
            <a:r>
              <a:rPr lang="en-US" sz="2400" dirty="0" err="1">
                <a:solidFill>
                  <a:srgbClr val="6600CC"/>
                </a:solidFill>
                <a:cs typeface="Vrinda" pitchFamily="34" charset="0"/>
                <a:sym typeface="Gill Sans" charset="0"/>
              </a:rPr>
              <a:t>urllib</a:t>
            </a:r>
            <a:r>
              <a:rPr lang="en-US" sz="2400" dirty="0">
                <a:solidFill>
                  <a:srgbClr val="6600CC"/>
                </a:solidFill>
                <a:cs typeface="Vrinda" pitchFamily="34" charset="0"/>
                <a:sym typeface="Gill Sans" charset="0"/>
              </a:rPr>
              <a:t>” to read the page and then use </a:t>
            </a:r>
            <a:r>
              <a:rPr lang="en-US" sz="2400" dirty="0" err="1">
                <a:solidFill>
                  <a:srgbClr val="6600CC"/>
                </a:solidFill>
                <a:cs typeface="Vrinda" pitchFamily="34" charset="0"/>
                <a:sym typeface="Gill Sans" charset="0"/>
              </a:rPr>
              <a:t>BeautifulSoup</a:t>
            </a:r>
            <a:r>
              <a:rPr lang="en-US" sz="2400" dirty="0">
                <a:solidFill>
                  <a:srgbClr val="6600CC"/>
                </a:solidFill>
                <a:cs typeface="Vrinda" pitchFamily="34" charset="0"/>
                <a:sym typeface="Gill Sans" charset="0"/>
              </a:rPr>
              <a:t>, to extract “</a:t>
            </a:r>
            <a:r>
              <a:rPr lang="en-US" sz="2400" dirty="0" err="1">
                <a:solidFill>
                  <a:srgbClr val="6600CC"/>
                </a:solidFill>
                <a:cs typeface="Vrinda" pitchFamily="34" charset="0"/>
                <a:sym typeface="Gill Sans" charset="0"/>
              </a:rPr>
              <a:t>href</a:t>
            </a:r>
            <a:r>
              <a:rPr lang="en-US" sz="2400" dirty="0">
                <a:solidFill>
                  <a:srgbClr val="6600CC"/>
                </a:solidFill>
                <a:cs typeface="Vrinda" pitchFamily="34" charset="0"/>
                <a:sym typeface="Gill Sans" charset="0"/>
              </a:rPr>
              <a:t>” attributes from anchor tags.</a:t>
            </a:r>
          </a:p>
          <a:p>
            <a:pPr marL="406400">
              <a:defRPr/>
            </a:pPr>
            <a:endParaRPr lang="en-US" sz="2000" dirty="0" smtClean="0">
              <a:solidFill>
                <a:srgbClr val="6600CC"/>
              </a:solidFill>
              <a:latin typeface="Vrinda" pitchFamily="34" charset="0"/>
              <a:cs typeface="Vrinda" pitchFamily="34" charset="0"/>
              <a:sym typeface="Gill Sans" charset="0"/>
            </a:endParaRPr>
          </a:p>
          <a:p>
            <a:pPr marL="749300">
              <a:buFont typeface="Gill Sans" charset="0"/>
              <a:buChar char="•"/>
              <a:defRPr/>
            </a:pPr>
            <a:endParaRPr lang="en-US" sz="2000" dirty="0">
              <a:solidFill>
                <a:srgbClr val="6600CC"/>
              </a:solidFill>
              <a:latin typeface="Vrinda" pitchFamily="34" charset="0"/>
              <a:cs typeface="Vrinda" pitchFamily="34" charset="0"/>
              <a:sym typeface="Gill Sans" charset="0"/>
            </a:endParaRPr>
          </a:p>
          <a:p>
            <a:pPr marL="749300">
              <a:buFont typeface="Gill Sans" charset="0"/>
              <a:buChar char="•"/>
              <a:defRPr/>
            </a:pPr>
            <a:endParaRPr lang="en-IN" sz="1050" dirty="0"/>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a:solidFill>
                  <a:schemeClr val="bg1"/>
                </a:solidFill>
                <a:latin typeface="Vrinda" pitchFamily="34" charset="0"/>
                <a:cs typeface="Vrinda" pitchFamily="34" charset="0"/>
              </a:rPr>
              <a:t>Parsing HTML (Web Scraping</a:t>
            </a:r>
            <a:r>
              <a:rPr lang="en-IN" sz="2400" b="1" dirty="0" smtClean="0">
                <a:solidFill>
                  <a:schemeClr val="bg1"/>
                </a:solidFill>
                <a:latin typeface="Vrinda" pitchFamily="34" charset="0"/>
                <a:cs typeface="Vrinda" pitchFamily="34" charset="0"/>
              </a:rPr>
              <a:t>) (Contd.)</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3181838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t>
            </a:r>
            <a:r>
              <a:rPr lang="en-IN" sz="2400" b="1" dirty="0">
                <a:solidFill>
                  <a:schemeClr val="bg1"/>
                </a:solidFill>
                <a:latin typeface="Vrinda" pitchFamily="34" charset="0"/>
                <a:cs typeface="Vrinda" pitchFamily="34" charset="0"/>
              </a:rPr>
              <a:t>a</a:t>
            </a:r>
            <a:r>
              <a:rPr lang="en-IN" sz="2400" b="1" dirty="0" smtClean="0">
                <a:solidFill>
                  <a:schemeClr val="bg1"/>
                </a:solidFill>
                <a:latin typeface="Vrinda" pitchFamily="34" charset="0"/>
                <a:cs typeface="Vrinda" pitchFamily="34" charset="0"/>
              </a:rPr>
              <a:t> </a:t>
            </a:r>
            <a:r>
              <a:rPr lang="en-IN" sz="2400" b="1" dirty="0">
                <a:solidFill>
                  <a:schemeClr val="bg1"/>
                </a:solidFill>
                <a:latin typeface="Vrinda" pitchFamily="34" charset="0"/>
                <a:cs typeface="Vrinda" pitchFamily="34" charset="0"/>
              </a:rPr>
              <a:t>M</a:t>
            </a:r>
            <a:r>
              <a:rPr lang="en-IN" sz="2400" b="1" dirty="0" smtClean="0">
                <a:solidFill>
                  <a:schemeClr val="bg1"/>
                </a:solidFill>
                <a:latin typeface="Vrinda" pitchFamily="34" charset="0"/>
                <a:cs typeface="Vrinda" pitchFamily="34" charset="0"/>
              </a:rPr>
              <a:t>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044388" y="2362200"/>
            <a:ext cx="4876800" cy="2083296"/>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IN" dirty="0" err="1" smtClean="0"/>
              <a:t>BeautifulSoup</a:t>
            </a:r>
            <a:r>
              <a:rPr lang="en-IN" dirty="0" smtClean="0"/>
              <a:t> </a:t>
            </a:r>
            <a:r>
              <a:rPr lang="en-IN" dirty="0"/>
              <a:t>is </a:t>
            </a:r>
            <a:r>
              <a:rPr lang="en-IN" dirty="0" smtClean="0"/>
              <a:t> a library </a:t>
            </a:r>
            <a:r>
              <a:rPr lang="en-IN" dirty="0"/>
              <a:t>provided by python for pulling data from HTML and XML </a:t>
            </a:r>
            <a:r>
              <a:rPr lang="en-IN" dirty="0" smtClean="0"/>
              <a:t>files.</a:t>
            </a:r>
          </a:p>
          <a:p>
            <a:pPr marL="342900" indent="-342900" algn="ctr">
              <a:buAutoNum type="arabicPeriod"/>
            </a:pPr>
            <a:r>
              <a:rPr lang="en-IN" dirty="0" smtClean="0"/>
              <a:t>True</a:t>
            </a:r>
          </a:p>
          <a:p>
            <a:pPr marL="342900" indent="-342900" algn="ctr">
              <a:buAutoNum type="arabicPeriod"/>
            </a:pPr>
            <a:r>
              <a:rPr lang="en-IN" dirty="0" smtClean="0"/>
              <a:t>False</a:t>
            </a:r>
            <a:endParaRPr lang="en-US" dirty="0"/>
          </a:p>
        </p:txBody>
      </p:sp>
    </p:spTree>
    <p:extLst>
      <p:ext uri="{BB962C8B-B14F-4D97-AF65-F5344CB8AC3E}">
        <p14:creationId xmlns:p14="http://schemas.microsoft.com/office/powerpoint/2010/main" val="2196613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044388" y="2362200"/>
            <a:ext cx="4876800" cy="2083296"/>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IN" dirty="0" err="1" smtClean="0"/>
              <a:t>BeautifulSoup</a:t>
            </a:r>
            <a:r>
              <a:rPr lang="en-IN" dirty="0" smtClean="0"/>
              <a:t> </a:t>
            </a:r>
            <a:r>
              <a:rPr lang="en-IN" dirty="0"/>
              <a:t>is </a:t>
            </a:r>
            <a:r>
              <a:rPr lang="en-IN" dirty="0" smtClean="0"/>
              <a:t> a library </a:t>
            </a:r>
            <a:r>
              <a:rPr lang="en-IN" dirty="0"/>
              <a:t>provided by python for pulling data from HTML and XML </a:t>
            </a:r>
            <a:r>
              <a:rPr lang="en-IN" dirty="0" smtClean="0"/>
              <a:t>files.</a:t>
            </a:r>
          </a:p>
          <a:p>
            <a:pPr marL="342900" indent="-342900" algn="ctr">
              <a:buAutoNum type="arabicPeriod"/>
            </a:pPr>
            <a:r>
              <a:rPr lang="en-IN" dirty="0" smtClean="0"/>
              <a:t>True</a:t>
            </a:r>
          </a:p>
          <a:p>
            <a:pPr marL="342900" indent="-342900" algn="ctr">
              <a:buAutoNum type="arabicPeriod"/>
            </a:pPr>
            <a:r>
              <a:rPr lang="en-IN" dirty="0" smtClean="0"/>
              <a:t>False</a:t>
            </a:r>
            <a:endParaRPr lang="en-US" dirty="0"/>
          </a:p>
        </p:txBody>
      </p:sp>
      <p:grpSp>
        <p:nvGrpSpPr>
          <p:cNvPr id="5" name="Group 4"/>
          <p:cNvGrpSpPr/>
          <p:nvPr/>
        </p:nvGrpSpPr>
        <p:grpSpPr>
          <a:xfrm>
            <a:off x="3013578" y="5019607"/>
            <a:ext cx="4626426" cy="977946"/>
            <a:chOff x="304808" y="5638800"/>
            <a:chExt cx="2917110" cy="914400"/>
          </a:xfrm>
        </p:grpSpPr>
        <p:grpSp>
          <p:nvGrpSpPr>
            <p:cNvPr id="9" name="Group 8"/>
            <p:cNvGrpSpPr/>
            <p:nvPr/>
          </p:nvGrpSpPr>
          <p:grpSpPr>
            <a:xfrm>
              <a:off x="304808" y="5638800"/>
              <a:ext cx="2488567" cy="914400"/>
              <a:chOff x="6019800" y="1143000"/>
              <a:chExt cx="585545" cy="533400"/>
            </a:xfrm>
          </p:grpSpPr>
          <p:sp>
            <p:nvSpPr>
              <p:cNvPr id="12" name="Oval 11"/>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3" name="Oval 12"/>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10" name="Rectangle 9"/>
            <p:cNvSpPr/>
            <p:nvPr/>
          </p:nvSpPr>
          <p:spPr>
            <a:xfrm>
              <a:off x="1801237" y="6041275"/>
              <a:ext cx="1420681"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True</a:t>
              </a:r>
              <a:endParaRPr lang="en-US" sz="1600" dirty="0">
                <a:solidFill>
                  <a:schemeClr val="bg1"/>
                </a:solidFill>
                <a:latin typeface="+mn-lt"/>
                <a:cs typeface="Arial" charset="0"/>
              </a:endParaRPr>
            </a:p>
          </p:txBody>
        </p:sp>
        <p:sp>
          <p:nvSpPr>
            <p:cNvPr id="11" name="Rectangle 10"/>
            <p:cNvSpPr/>
            <p:nvPr/>
          </p:nvSpPr>
          <p:spPr>
            <a:xfrm>
              <a:off x="588818" y="5963799"/>
              <a:ext cx="1287878" cy="338554"/>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Answer:</a:t>
              </a:r>
              <a:endParaRPr lang="en-US" sz="1600" dirty="0">
                <a:solidFill>
                  <a:schemeClr val="bg1"/>
                </a:solidFill>
                <a:latin typeface="+mn-lt"/>
              </a:endParaRPr>
            </a:p>
          </p:txBody>
        </p:sp>
      </p:grpSp>
    </p:spTree>
    <p:extLst>
      <p:ext uri="{BB962C8B-B14F-4D97-AF65-F5344CB8AC3E}">
        <p14:creationId xmlns:p14="http://schemas.microsoft.com/office/powerpoint/2010/main" val="96507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IN" sz="1600" dirty="0" smtClean="0">
              <a:solidFill>
                <a:srgbClr val="6600CC"/>
              </a:solidFill>
              <a:latin typeface="Vrinda" pitchFamily="34" charset="0"/>
              <a:cs typeface="Vrinda" pitchFamily="34" charset="0"/>
            </a:endParaRPr>
          </a:p>
        </p:txBody>
      </p:sp>
      <p:sp>
        <p:nvSpPr>
          <p:cNvPr id="6" name="Title 1"/>
          <p:cNvSpPr>
            <a:spLocks noGrp="1"/>
          </p:cNvSpPr>
          <p:nvPr>
            <p:ph type="title"/>
          </p:nvPr>
        </p:nvSpPr>
        <p:spPr>
          <a:xfrm>
            <a:off x="540000" y="540000"/>
            <a:ext cx="414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Activity</a:t>
            </a:r>
            <a:endParaRPr lang="en-US" sz="2400" b="1" dirty="0">
              <a:solidFill>
                <a:schemeClr val="bg1"/>
              </a:solidFill>
              <a:latin typeface="Vrinda" pitchFamily="34" charset="0"/>
              <a:cs typeface="Vrinda" pitchFamily="34" charset="0"/>
            </a:endParaRPr>
          </a:p>
        </p:txBody>
      </p:sp>
      <p:sp>
        <p:nvSpPr>
          <p:cNvPr id="2" name="Rectangle 1"/>
          <p:cNvSpPr/>
          <p:nvPr/>
        </p:nvSpPr>
        <p:spPr>
          <a:xfrm>
            <a:off x="588704" y="1744674"/>
            <a:ext cx="8159760" cy="487506"/>
          </a:xfrm>
          <a:prstGeom prst="rect">
            <a:avLst/>
          </a:prstGeom>
        </p:spPr>
        <p:txBody>
          <a:bodyPr wrap="square">
            <a:spAutoFit/>
          </a:bodyPr>
          <a:lstStyle/>
          <a:p>
            <a:pPr>
              <a:lnSpc>
                <a:spcPct val="107000"/>
              </a:lnSpc>
              <a:spcAft>
                <a:spcPts val="800"/>
              </a:spcAft>
            </a:pPr>
            <a:r>
              <a:rPr lang="en-US" sz="2400" b="1" dirty="0" smtClean="0">
                <a:latin typeface="Vrinda" panose="020B0502040204020203" pitchFamily="34" charset="0"/>
                <a:ea typeface="Calibri" panose="020F0502020204030204" pitchFamily="34" charset="0"/>
                <a:cs typeface="Vrinda" panose="020B0502040204020203" pitchFamily="34" charset="0"/>
              </a:rPr>
              <a:t>Activity : Reading Binary Files</a:t>
            </a:r>
            <a:endParaRPr lang="en-US" sz="2400" dirty="0">
              <a:effectLst/>
              <a:latin typeface="Vrinda" panose="020B0502040204020203" pitchFamily="34" charset="0"/>
              <a:ea typeface="Calibri" panose="020F0502020204030204" pitchFamily="34" charset="0"/>
              <a:cs typeface="Vrinda" panose="020B0502040204020203" pitchFamily="34" charset="0"/>
            </a:endParaRPr>
          </a:p>
        </p:txBody>
      </p:sp>
      <p:sp>
        <p:nvSpPr>
          <p:cNvPr id="3" name="Rectangle 1"/>
          <p:cNvSpPr>
            <a:spLocks noChangeArrowheads="1"/>
          </p:cNvSpPr>
          <p:nvPr/>
        </p:nvSpPr>
        <p:spPr bwMode="auto">
          <a:xfrm>
            <a:off x="588704" y="1715393"/>
            <a:ext cx="7848872" cy="384720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6600CC"/>
                </a:solidFill>
                <a:effectLst/>
                <a:ea typeface="Calibri" panose="020F0502020204030204" pitchFamily="34" charset="0"/>
                <a:cs typeface="Times New Roman" panose="02020603050405020304" pitchFamily="18" charset="0"/>
              </a:rPr>
              <a:t>Problem Statement: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smtClean="0">
              <a:ln>
                <a:noFill/>
              </a:ln>
              <a:solidFill>
                <a:srgbClr val="6600CC"/>
              </a:solidFill>
              <a:effectLst/>
            </a:endParaRPr>
          </a:p>
          <a:p>
            <a:r>
              <a:rPr lang="en-US" sz="2000" dirty="0" smtClean="0">
                <a:solidFill>
                  <a:srgbClr val="6600CC"/>
                </a:solidFill>
              </a:rPr>
              <a:t>Write a program to read width and height of an image file and print the same.</a:t>
            </a:r>
          </a:p>
          <a:p>
            <a:endParaRPr lang="en-US" sz="2000" dirty="0" smtClean="0">
              <a:solidFill>
                <a:srgbClr val="6600CC"/>
              </a:solidFill>
            </a:endParaRPr>
          </a:p>
          <a:p>
            <a:endParaRPr lang="en-US" sz="2000" dirty="0" smtClean="0">
              <a:solidFill>
                <a:srgbClr val="6600CC"/>
              </a:solidFill>
            </a:endParaRPr>
          </a:p>
          <a:p>
            <a:r>
              <a:rPr lang="en-US" sz="2000" b="1" dirty="0">
                <a:solidFill>
                  <a:srgbClr val="6600CC"/>
                </a:solidFill>
              </a:rPr>
              <a:t>Prerequisite:</a:t>
            </a:r>
            <a:r>
              <a:rPr lang="en-US" sz="2000" dirty="0">
                <a:solidFill>
                  <a:srgbClr val="6600CC"/>
                </a:solidFill>
              </a:rPr>
              <a:t> For this activity </a:t>
            </a:r>
            <a:r>
              <a:rPr lang="en-US" sz="2000" dirty="0" smtClean="0">
                <a:solidFill>
                  <a:srgbClr val="6600CC"/>
                </a:solidFill>
              </a:rPr>
              <a:t>please refer </a:t>
            </a:r>
            <a:r>
              <a:rPr lang="en-US" sz="2000" b="1" dirty="0" smtClean="0">
                <a:solidFill>
                  <a:srgbClr val="6600CC"/>
                </a:solidFill>
              </a:rPr>
              <a:t>image.bmp </a:t>
            </a:r>
            <a:r>
              <a:rPr lang="en-US" sz="2000" dirty="0" smtClean="0">
                <a:solidFill>
                  <a:srgbClr val="6600CC"/>
                </a:solidFill>
              </a:rPr>
              <a:t>available in  “</a:t>
            </a:r>
            <a:r>
              <a:rPr lang="en-US" sz="2000" b="1" dirty="0" err="1" smtClean="0">
                <a:solidFill>
                  <a:srgbClr val="6600CC"/>
                </a:solidFill>
              </a:rPr>
              <a:t>Data_File_For_Students</a:t>
            </a:r>
            <a:r>
              <a:rPr lang="en-US" sz="2000" dirty="0" smtClean="0">
                <a:solidFill>
                  <a:srgbClr val="6600CC"/>
                </a:solidFill>
              </a:rPr>
              <a:t>” folder.</a:t>
            </a:r>
          </a:p>
          <a:p>
            <a:endParaRPr lang="en-US" sz="2000" dirty="0">
              <a:solidFill>
                <a:srgbClr val="6600CC"/>
              </a:solidFill>
            </a:endParaRPr>
          </a:p>
          <a:p>
            <a:endParaRPr lang="en-US" sz="2000" dirty="0" smtClean="0">
              <a:solidFill>
                <a:srgbClr val="6600CC"/>
              </a:solidFill>
            </a:endParaRPr>
          </a:p>
          <a:p>
            <a:endParaRPr lang="en-US" sz="2000" dirty="0">
              <a:solidFill>
                <a:srgbClr val="6600CC"/>
              </a:solidFill>
            </a:endParaRPr>
          </a:p>
          <a:p>
            <a:endParaRPr lang="en-US" sz="2000" dirty="0">
              <a:solidFill>
                <a:srgbClr val="6600CC"/>
              </a:solidFill>
            </a:endParaRPr>
          </a:p>
        </p:txBody>
      </p:sp>
    </p:spTree>
    <p:extLst>
      <p:ext uri="{BB962C8B-B14F-4D97-AF65-F5344CB8AC3E}">
        <p14:creationId xmlns:p14="http://schemas.microsoft.com/office/powerpoint/2010/main" val="516613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94447" y="1586329"/>
            <a:ext cx="8368553" cy="4862870"/>
          </a:xfrm>
          <a:prstGeom prst="rect">
            <a:avLst/>
          </a:prstGeom>
        </p:spPr>
        <p:txBody>
          <a:bodyPr wrap="square">
            <a:spAutoFit/>
          </a:bodyPr>
          <a:lstStyle/>
          <a:p>
            <a:pPr marL="117475" lvl="1" defTabSz="914363">
              <a:lnSpc>
                <a:spcPct val="90000"/>
              </a:lnSpc>
              <a:buSzPct val="100000"/>
            </a:pPr>
            <a:endParaRPr lang="en-IN" sz="20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2"/>
              </a:buBlip>
            </a:pPr>
            <a:r>
              <a:rPr lang="en-US" sz="2400" dirty="0">
                <a:solidFill>
                  <a:srgbClr val="6600CC"/>
                </a:solidFill>
                <a:cs typeface="Vrinda" pitchFamily="34" charset="0"/>
                <a:sym typeface="Gill Sans" charset="0"/>
              </a:rPr>
              <a:t>After retrieving and parsing documents using HTTP Request/Response it becomes easy for a programmer to develop a program used to produce document that can be easily consumed by other program</a:t>
            </a:r>
            <a:r>
              <a:rPr lang="en-US" sz="2400" dirty="0" smtClean="0">
                <a:solidFill>
                  <a:srgbClr val="6600CC"/>
                </a:solidFill>
                <a:cs typeface="Vrinda" pitchFamily="34" charset="0"/>
                <a:sym typeface="Gill Sans" charset="0"/>
              </a:rPr>
              <a:t>.</a:t>
            </a:r>
          </a:p>
          <a:p>
            <a:pPr marL="514350" lvl="1" indent="-396875" defTabSz="914363">
              <a:lnSpc>
                <a:spcPct val="90000"/>
              </a:lnSpc>
              <a:buSzPct val="100000"/>
              <a:buBlip>
                <a:blip r:embed="rId2"/>
              </a:buBlip>
            </a:pPr>
            <a:endParaRPr lang="en-US" sz="2400" dirty="0">
              <a:solidFill>
                <a:srgbClr val="6600CC"/>
              </a:solidFill>
              <a:cs typeface="Vrinda" pitchFamily="34" charset="0"/>
              <a:sym typeface="Gill Sans" charset="0"/>
            </a:endParaRPr>
          </a:p>
          <a:p>
            <a:pPr marL="514350" lvl="1" indent="-396875" defTabSz="914363">
              <a:lnSpc>
                <a:spcPct val="90000"/>
              </a:lnSpc>
              <a:buSzPct val="100000"/>
              <a:buBlip>
                <a:blip r:embed="rId2"/>
              </a:buBlip>
            </a:pPr>
            <a:r>
              <a:rPr lang="en-US" sz="2400" dirty="0">
                <a:solidFill>
                  <a:srgbClr val="6600CC"/>
                </a:solidFill>
                <a:cs typeface="Vrinda" pitchFamily="34" charset="0"/>
                <a:sym typeface="Gill Sans" charset="0"/>
              </a:rPr>
              <a:t>We have to use neutral technique to represent data which can be shared across the applications over the network</a:t>
            </a:r>
            <a:r>
              <a:rPr lang="en-US" sz="2400" dirty="0" smtClean="0">
                <a:solidFill>
                  <a:srgbClr val="6600CC"/>
                </a:solidFill>
                <a:cs typeface="Vrinda" pitchFamily="34" charset="0"/>
                <a:sym typeface="Gill Sans" charset="0"/>
              </a:rPr>
              <a:t>.</a:t>
            </a:r>
          </a:p>
          <a:p>
            <a:pPr marL="514350" lvl="1" indent="-396875" defTabSz="914363">
              <a:lnSpc>
                <a:spcPct val="90000"/>
              </a:lnSpc>
              <a:buSzPct val="100000"/>
              <a:buBlip>
                <a:blip r:embed="rId2"/>
              </a:buBlip>
            </a:pPr>
            <a:endParaRPr lang="en-US" sz="2400" dirty="0">
              <a:solidFill>
                <a:srgbClr val="6600CC"/>
              </a:solidFill>
              <a:cs typeface="Vrinda" pitchFamily="34" charset="0"/>
              <a:sym typeface="Gill Sans" charset="0"/>
            </a:endParaRPr>
          </a:p>
          <a:p>
            <a:pPr marL="514350" lvl="1" indent="-396875" defTabSz="914363">
              <a:lnSpc>
                <a:spcPct val="90000"/>
              </a:lnSpc>
              <a:buSzPct val="100000"/>
              <a:buBlip>
                <a:blip r:embed="rId2"/>
              </a:buBlip>
            </a:pPr>
            <a:r>
              <a:rPr lang="en-US" sz="2400" dirty="0">
                <a:solidFill>
                  <a:srgbClr val="6600CC"/>
                </a:solidFill>
                <a:cs typeface="Vrinda" pitchFamily="34" charset="0"/>
                <a:sym typeface="Gill Sans" charset="0"/>
              </a:rPr>
              <a:t>There are two commonly used formats for exchanging the data between applications over the network:</a:t>
            </a:r>
          </a:p>
          <a:p>
            <a:pPr marL="749300">
              <a:defRPr/>
            </a:pPr>
            <a:endParaRPr lang="en-US" sz="2000" dirty="0" smtClean="0">
              <a:solidFill>
                <a:srgbClr val="6600CC"/>
              </a:solidFill>
              <a:latin typeface="Vrinda" pitchFamily="34" charset="0"/>
              <a:cs typeface="Vrinda" pitchFamily="34" charset="0"/>
              <a:sym typeface="Gill Sans" charset="0"/>
            </a:endParaRPr>
          </a:p>
          <a:p>
            <a:pPr marL="900000" lvl="1" indent="-396875" defTabSz="914363">
              <a:lnSpc>
                <a:spcPct val="90000"/>
              </a:lnSpc>
              <a:buSzPct val="120000"/>
              <a:buBlip>
                <a:blip r:embed="rId3"/>
              </a:buBlip>
            </a:pPr>
            <a:r>
              <a:rPr lang="en-US" sz="2000" dirty="0" smtClean="0">
                <a:solidFill>
                  <a:srgbClr val="6600CC"/>
                </a:solidFill>
                <a:cs typeface="Vrinda" pitchFamily="34" charset="0"/>
                <a:sym typeface="Gill Sans" charset="0"/>
              </a:rPr>
              <a:t>XML</a:t>
            </a:r>
            <a:endParaRPr lang="en-US" sz="2000" dirty="0" smtClean="0">
              <a:solidFill>
                <a:srgbClr val="6600CC"/>
              </a:solidFill>
              <a:cs typeface="Vrinda" pitchFamily="34" charset="0"/>
              <a:sym typeface="Gill Sans" charset="0"/>
            </a:endParaRPr>
          </a:p>
          <a:p>
            <a:pPr marL="900000" lvl="1" indent="-396875" defTabSz="914363">
              <a:lnSpc>
                <a:spcPct val="90000"/>
              </a:lnSpc>
              <a:buSzPct val="120000"/>
              <a:buBlip>
                <a:blip r:embed="rId3"/>
              </a:buBlip>
            </a:pPr>
            <a:r>
              <a:rPr lang="en-US" sz="2000" dirty="0">
                <a:solidFill>
                  <a:srgbClr val="6600CC"/>
                </a:solidFill>
                <a:cs typeface="Vrinda" pitchFamily="34" charset="0"/>
                <a:sym typeface="Gill Sans" charset="0"/>
              </a:rPr>
              <a:t>JSON</a:t>
            </a:r>
          </a:p>
          <a:p>
            <a:pPr marL="1206500" lvl="1">
              <a:buFont typeface="Gill Sans" charset="0"/>
              <a:buChar char="•"/>
              <a:defRPr/>
            </a:pPr>
            <a:endParaRPr lang="en-US" sz="2000" dirty="0">
              <a:solidFill>
                <a:srgbClr val="6600CC"/>
              </a:solidFill>
              <a:latin typeface="Vrinda" pitchFamily="34" charset="0"/>
              <a:cs typeface="Vrinda" pitchFamily="34" charset="0"/>
              <a:sym typeface="Gill Sans" charset="0"/>
            </a:endParaRPr>
          </a:p>
        </p:txBody>
      </p:sp>
      <p:sp>
        <p:nvSpPr>
          <p:cNvPr id="6" name="Title 1"/>
          <p:cNvSpPr>
            <a:spLocks noGrp="1"/>
          </p:cNvSpPr>
          <p:nvPr>
            <p:ph type="title"/>
          </p:nvPr>
        </p:nvSpPr>
        <p:spPr>
          <a:xfrm>
            <a:off x="540000" y="540000"/>
            <a:ext cx="3960000" cy="900000"/>
          </a:xfrm>
        </p:spPr>
        <p:txBody>
          <a:bodyPr anchor="t" anchorCtr="0">
            <a:normAutofit/>
          </a:bodyPr>
          <a:lstStyle/>
          <a:p>
            <a:pPr marL="0" lvl="1"/>
            <a:r>
              <a:rPr lang="en-IN" sz="2400" b="1" dirty="0">
                <a:solidFill>
                  <a:schemeClr val="bg1"/>
                </a:solidFill>
                <a:latin typeface="Vrinda" pitchFamily="34" charset="0"/>
                <a:cs typeface="Vrinda" pitchFamily="34" charset="0"/>
              </a:rPr>
              <a:t>Web Services in Python</a:t>
            </a:r>
          </a:p>
        </p:txBody>
      </p:sp>
    </p:spTree>
    <p:extLst>
      <p:ext uri="{BB962C8B-B14F-4D97-AF65-F5344CB8AC3E}">
        <p14:creationId xmlns:p14="http://schemas.microsoft.com/office/powerpoint/2010/main" val="3289987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524000"/>
            <a:ext cx="83820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Blip>
                <a:blip r:embed="rId4"/>
              </a:buBlip>
            </a:pPr>
            <a:endParaRPr lang="en-US" sz="20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4"/>
              </a:buBlip>
            </a:pPr>
            <a:r>
              <a:rPr lang="en-US" sz="2400" dirty="0" smtClean="0">
                <a:solidFill>
                  <a:srgbClr val="6600CC"/>
                </a:solidFill>
                <a:cs typeface="Vrinda" pitchFamily="34" charset="0"/>
              </a:rPr>
              <a:t>Web </a:t>
            </a:r>
            <a:r>
              <a:rPr lang="en-US" sz="2400" dirty="0">
                <a:solidFill>
                  <a:srgbClr val="6600CC"/>
                </a:solidFill>
                <a:cs typeface="Vrinda" pitchFamily="34" charset="0"/>
              </a:rPr>
              <a:t>services are programmatic ways of sending and receiving data from remote servers using the operations of HTTP.</a:t>
            </a:r>
          </a:p>
          <a:p>
            <a:pPr marL="514350" lvl="1" indent="-396875" defTabSz="914363">
              <a:lnSpc>
                <a:spcPct val="90000"/>
              </a:lnSpc>
              <a:buSzPct val="100000"/>
              <a:buBlip>
                <a:blip r:embed="rId4"/>
              </a:buBlip>
            </a:pPr>
            <a:r>
              <a:rPr lang="en-IN" sz="2400" dirty="0">
                <a:solidFill>
                  <a:srgbClr val="6600CC"/>
                </a:solidFill>
                <a:cs typeface="Vrinda" pitchFamily="34" charset="0"/>
              </a:rPr>
              <a:t>HTTP offers different methods to access services offered by other programs.</a:t>
            </a:r>
          </a:p>
          <a:p>
            <a:pPr marL="514350" lvl="1" indent="-396875" defTabSz="914363">
              <a:lnSpc>
                <a:spcPct val="90000"/>
              </a:lnSpc>
              <a:buSzPct val="100000"/>
              <a:buBlip>
                <a:blip r:embed="rId4"/>
              </a:buBlip>
            </a:pPr>
            <a:r>
              <a:rPr lang="en-IN" sz="2400" dirty="0">
                <a:solidFill>
                  <a:srgbClr val="6600CC"/>
                </a:solidFill>
                <a:cs typeface="Vrinda" pitchFamily="34" charset="0"/>
              </a:rPr>
              <a:t>The approach is simple as Data (XML Data) can be built and stored in static/dynamic way using Server Side Scripting. </a:t>
            </a:r>
          </a:p>
          <a:p>
            <a:pPr marL="514350" lvl="1" indent="-396875" defTabSz="914363">
              <a:lnSpc>
                <a:spcPct val="90000"/>
              </a:lnSpc>
              <a:buSzPct val="100000"/>
              <a:buBlip>
                <a:blip r:embed="rId4"/>
              </a:buBlip>
            </a:pPr>
            <a:r>
              <a:rPr lang="en-IN" sz="2400" dirty="0">
                <a:solidFill>
                  <a:srgbClr val="6600CC"/>
                </a:solidFill>
                <a:cs typeface="Vrinda" pitchFamily="34" charset="0"/>
              </a:rPr>
              <a:t>All major languages include HTTP Library for downloading this type of data(XML).</a:t>
            </a:r>
          </a:p>
          <a:p>
            <a:pPr marL="117475" lvl="1" indent="0" defTabSz="914363">
              <a:lnSpc>
                <a:spcPct val="90000"/>
              </a:lnSpc>
              <a:buSzPct val="100000"/>
              <a:buNone/>
            </a:pPr>
            <a:r>
              <a:rPr lang="en-US" sz="2400" b="1" dirty="0" smtClean="0">
                <a:solidFill>
                  <a:srgbClr val="6600CC"/>
                </a:solidFill>
                <a:cs typeface="Vrinda" pitchFamily="34" charset="0"/>
              </a:rPr>
              <a:t>Examples of XML-over-HTTP </a:t>
            </a:r>
            <a:r>
              <a:rPr lang="en-US" sz="2400" b="1" dirty="0">
                <a:solidFill>
                  <a:srgbClr val="6600CC"/>
                </a:solidFill>
                <a:cs typeface="Vrinda" pitchFamily="34" charset="0"/>
              </a:rPr>
              <a:t>W</a:t>
            </a:r>
            <a:r>
              <a:rPr lang="en-US" sz="2400" b="1" dirty="0" smtClean="0">
                <a:solidFill>
                  <a:srgbClr val="6600CC"/>
                </a:solidFill>
                <a:cs typeface="Vrinda" pitchFamily="34" charset="0"/>
              </a:rPr>
              <a:t>eb </a:t>
            </a:r>
            <a:r>
              <a:rPr lang="en-US" sz="2400" b="1" dirty="0">
                <a:solidFill>
                  <a:srgbClr val="6600CC"/>
                </a:solidFill>
                <a:cs typeface="Vrinda" pitchFamily="34" charset="0"/>
              </a:rPr>
              <a:t>S</a:t>
            </a:r>
            <a:r>
              <a:rPr lang="en-US" sz="2400" b="1" dirty="0" smtClean="0">
                <a:solidFill>
                  <a:srgbClr val="6600CC"/>
                </a:solidFill>
                <a:cs typeface="Vrinda" pitchFamily="34" charset="0"/>
              </a:rPr>
              <a:t>ervices</a:t>
            </a:r>
            <a:r>
              <a:rPr lang="en-US" sz="2400" b="1" dirty="0">
                <a:solidFill>
                  <a:srgbClr val="6600CC"/>
                </a:solidFill>
                <a:cs typeface="Vrinda" pitchFamily="34" charset="0"/>
              </a:rPr>
              <a:t>:</a:t>
            </a:r>
          </a:p>
          <a:p>
            <a:pPr marL="900000" lvl="1" indent="-396875" defTabSz="914363">
              <a:lnSpc>
                <a:spcPct val="90000"/>
              </a:lnSpc>
              <a:buSzPct val="120000"/>
              <a:buBlip>
                <a:blip r:embed="rId5"/>
              </a:buBlip>
            </a:pPr>
            <a:r>
              <a:rPr lang="en-US" sz="2000" dirty="0" smtClean="0">
                <a:solidFill>
                  <a:srgbClr val="6600CC"/>
                </a:solidFill>
                <a:cs typeface="Vrinda" pitchFamily="34" charset="0"/>
              </a:rPr>
              <a:t>Google </a:t>
            </a:r>
            <a:r>
              <a:rPr lang="en-US" sz="2000" dirty="0">
                <a:solidFill>
                  <a:srgbClr val="6600CC"/>
                </a:solidFill>
                <a:cs typeface="Vrinda" pitchFamily="34" charset="0"/>
              </a:rPr>
              <a:t>Data </a:t>
            </a:r>
            <a:r>
              <a:rPr lang="en-US" sz="2000" dirty="0" smtClean="0">
                <a:solidFill>
                  <a:srgbClr val="6600CC"/>
                </a:solidFill>
                <a:cs typeface="Vrinda" pitchFamily="34" charset="0"/>
              </a:rPr>
              <a:t>APIs</a:t>
            </a:r>
          </a:p>
          <a:p>
            <a:pPr marL="900000" lvl="1" indent="-396875" defTabSz="914363">
              <a:lnSpc>
                <a:spcPct val="90000"/>
              </a:lnSpc>
              <a:buSzPct val="120000"/>
              <a:buBlip>
                <a:blip r:embed="rId5"/>
              </a:buBlip>
            </a:pPr>
            <a:endParaRPr lang="en-US" sz="2000" dirty="0">
              <a:solidFill>
                <a:srgbClr val="6600CC"/>
              </a:solidFill>
              <a:cs typeface="Vrinda" pitchFamily="34" charset="0"/>
            </a:endParaRPr>
          </a:p>
          <a:p>
            <a:pPr marL="900000" lvl="1" indent="-396875" defTabSz="914363">
              <a:lnSpc>
                <a:spcPct val="90000"/>
              </a:lnSpc>
              <a:buSzPct val="120000"/>
              <a:buBlip>
                <a:blip r:embed="rId5"/>
              </a:buBlip>
            </a:pPr>
            <a:r>
              <a:rPr lang="en-US" sz="2000" dirty="0">
                <a:solidFill>
                  <a:srgbClr val="6600CC"/>
                </a:solidFill>
                <a:cs typeface="Vrinda" pitchFamily="34" charset="0"/>
              </a:rPr>
              <a:t>Twitter </a:t>
            </a:r>
            <a:r>
              <a:rPr lang="en-US" sz="2000" dirty="0" smtClean="0">
                <a:solidFill>
                  <a:srgbClr val="6600CC"/>
                </a:solidFill>
                <a:cs typeface="Vrinda" pitchFamily="34" charset="0"/>
              </a:rPr>
              <a:t>API</a:t>
            </a:r>
            <a:endParaRPr lang="en-US" sz="2000" dirty="0">
              <a:solidFill>
                <a:srgbClr val="6600CC"/>
              </a:solidFill>
              <a:cs typeface="Vrinda" pitchFamily="34" charset="0"/>
            </a:endParaRPr>
          </a:p>
        </p:txBody>
      </p:sp>
      <p:sp>
        <p:nvSpPr>
          <p:cNvPr id="6" name="Title 1"/>
          <p:cNvSpPr>
            <a:spLocks noGrp="1"/>
          </p:cNvSpPr>
          <p:nvPr>
            <p:ph type="title"/>
          </p:nvPr>
        </p:nvSpPr>
        <p:spPr>
          <a:xfrm>
            <a:off x="540000" y="540000"/>
            <a:ext cx="3960000" cy="900000"/>
          </a:xfrm>
        </p:spPr>
        <p:txBody>
          <a:bodyPr anchor="t" anchorCtr="0">
            <a:normAutofit/>
          </a:bodyPr>
          <a:lstStyle/>
          <a:p>
            <a:pPr marL="0" lvl="1"/>
            <a:r>
              <a:rPr lang="en-IN" sz="2400" b="1" dirty="0" smtClean="0">
                <a:solidFill>
                  <a:schemeClr val="bg1"/>
                </a:solidFill>
                <a:latin typeface="Vrinda" pitchFamily="34" charset="0"/>
                <a:cs typeface="Vrinda" pitchFamily="34" charset="0"/>
              </a:rPr>
              <a:t>Web </a:t>
            </a:r>
            <a:r>
              <a:rPr lang="en-IN" sz="2400" b="1" dirty="0">
                <a:solidFill>
                  <a:schemeClr val="bg1"/>
                </a:solidFill>
                <a:latin typeface="Vrinda" pitchFamily="34" charset="0"/>
                <a:cs typeface="Vrinda" pitchFamily="34" charset="0"/>
              </a:rPr>
              <a:t>Services in P</a:t>
            </a:r>
            <a:r>
              <a:rPr lang="en-IN" sz="2400" b="1" dirty="0" smtClean="0">
                <a:solidFill>
                  <a:schemeClr val="bg1"/>
                </a:solidFill>
                <a:latin typeface="Vrinda" pitchFamily="34" charset="0"/>
                <a:cs typeface="Vrinda" pitchFamily="34" charset="0"/>
              </a:rPr>
              <a:t>ython (Contd.)</a:t>
            </a:r>
            <a:endParaRPr lang="en-IN"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28242177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1000" y="1600200"/>
            <a:ext cx="8382000" cy="4635115"/>
          </a:xfrm>
          <a:prstGeom prst="rect">
            <a:avLst/>
          </a:prstGeom>
        </p:spPr>
        <p:txBody>
          <a:bodyPr wrap="square">
            <a:spAutoFit/>
          </a:bodyPr>
          <a:lstStyle/>
          <a:p>
            <a:pPr marL="749300">
              <a:defRPr/>
            </a:pPr>
            <a:r>
              <a:rPr lang="en-US" dirty="0" smtClean="0">
                <a:solidFill>
                  <a:srgbClr val="6600CC"/>
                </a:solidFill>
                <a:latin typeface="Vrinda" pitchFamily="34" charset="0"/>
                <a:cs typeface="Vrinda" pitchFamily="34" charset="0"/>
                <a:sym typeface="Gill Sans" charset="0"/>
              </a:rPr>
              <a:t> </a:t>
            </a:r>
          </a:p>
          <a:p>
            <a:pPr marL="514350" lvl="1" indent="-396875" defTabSz="914363">
              <a:lnSpc>
                <a:spcPct val="90000"/>
              </a:lnSpc>
              <a:buSzPct val="100000"/>
              <a:buBlip>
                <a:blip r:embed="rId3"/>
              </a:buBlip>
            </a:pPr>
            <a:r>
              <a:rPr lang="en-US" sz="2400" dirty="0" smtClean="0">
                <a:solidFill>
                  <a:srgbClr val="6600CC"/>
                </a:solidFill>
                <a:cs typeface="Vrinda" pitchFamily="34" charset="0"/>
                <a:sym typeface="Gill Sans" charset="0"/>
              </a:rPr>
              <a:t>XML </a:t>
            </a:r>
            <a:r>
              <a:rPr lang="en-US" sz="2400" dirty="0">
                <a:solidFill>
                  <a:srgbClr val="6600CC"/>
                </a:solidFill>
                <a:cs typeface="Vrinda" pitchFamily="34" charset="0"/>
                <a:sym typeface="Gill Sans" charset="0"/>
              </a:rPr>
              <a:t>is one of the commonly used format for sharing the data across the network using HTTP</a:t>
            </a:r>
            <a:r>
              <a:rPr lang="en-US" sz="2400" dirty="0" smtClean="0">
                <a:solidFill>
                  <a:srgbClr val="6600CC"/>
                </a:solidFill>
                <a:cs typeface="Vrinda" pitchFamily="34" charset="0"/>
                <a:sym typeface="Gill Sans" charset="0"/>
              </a:rPr>
              <a:t>.</a:t>
            </a:r>
          </a:p>
          <a:p>
            <a:pPr marL="514350" lvl="1" indent="-396875" defTabSz="914363">
              <a:lnSpc>
                <a:spcPct val="90000"/>
              </a:lnSpc>
              <a:buSzPct val="100000"/>
              <a:buBlip>
                <a:blip r:embed="rId3"/>
              </a:buBlip>
            </a:pPr>
            <a:endParaRPr lang="en-US" sz="2400" dirty="0">
              <a:solidFill>
                <a:srgbClr val="6600CC"/>
              </a:solidFill>
              <a:cs typeface="Vrinda" pitchFamily="34" charset="0"/>
              <a:sym typeface="Gill Sans" charset="0"/>
            </a:endParaRPr>
          </a:p>
          <a:p>
            <a:pPr marL="514350" lvl="1" indent="-396875" defTabSz="914363">
              <a:lnSpc>
                <a:spcPct val="90000"/>
              </a:lnSpc>
              <a:buSzPct val="100000"/>
              <a:buBlip>
                <a:blip r:embed="rId3"/>
              </a:buBlip>
            </a:pPr>
            <a:r>
              <a:rPr lang="en-US" sz="2400" dirty="0">
                <a:solidFill>
                  <a:srgbClr val="6600CC"/>
                </a:solidFill>
                <a:cs typeface="Vrinda" pitchFamily="34" charset="0"/>
                <a:sym typeface="Gill Sans" charset="0"/>
              </a:rPr>
              <a:t>It is standard domain specific Markup Language which helps in marking up data and sharing across the network</a:t>
            </a:r>
            <a:r>
              <a:rPr lang="en-US" sz="2400" dirty="0" smtClean="0">
                <a:solidFill>
                  <a:srgbClr val="6600CC"/>
                </a:solidFill>
                <a:cs typeface="Vrinda" pitchFamily="34" charset="0"/>
                <a:sym typeface="Gill Sans" charset="0"/>
              </a:rPr>
              <a:t>.</a:t>
            </a:r>
          </a:p>
          <a:p>
            <a:pPr marL="514350" lvl="1" indent="-396875" defTabSz="914363">
              <a:lnSpc>
                <a:spcPct val="90000"/>
              </a:lnSpc>
              <a:buSzPct val="100000"/>
              <a:buBlip>
                <a:blip r:embed="rId3"/>
              </a:buBlip>
            </a:pPr>
            <a:endParaRPr lang="en-US" sz="2400" dirty="0">
              <a:solidFill>
                <a:srgbClr val="6600CC"/>
              </a:solidFill>
              <a:cs typeface="Vrinda" pitchFamily="34" charset="0"/>
              <a:sym typeface="Gill Sans" charset="0"/>
            </a:endParaRPr>
          </a:p>
          <a:p>
            <a:pPr marL="514350" lvl="1" indent="-396875" defTabSz="914363">
              <a:lnSpc>
                <a:spcPct val="90000"/>
              </a:lnSpc>
              <a:buSzPct val="100000"/>
              <a:buBlip>
                <a:blip r:embed="rId3"/>
              </a:buBlip>
            </a:pPr>
            <a:r>
              <a:rPr lang="en-US" sz="2400" dirty="0">
                <a:solidFill>
                  <a:srgbClr val="6600CC"/>
                </a:solidFill>
                <a:cs typeface="Vrinda" pitchFamily="34" charset="0"/>
                <a:sym typeface="Gill Sans" charset="0"/>
              </a:rPr>
              <a:t>Primary purpose is to help Information Systems share structured data</a:t>
            </a:r>
            <a:r>
              <a:rPr lang="en-US" sz="2400" dirty="0" smtClean="0">
                <a:solidFill>
                  <a:srgbClr val="6600CC"/>
                </a:solidFill>
                <a:cs typeface="Vrinda" pitchFamily="34" charset="0"/>
                <a:sym typeface="Gill Sans" charset="0"/>
              </a:rPr>
              <a:t>.</a:t>
            </a:r>
          </a:p>
          <a:p>
            <a:pPr marL="514350" lvl="1" indent="-396875" defTabSz="914363">
              <a:lnSpc>
                <a:spcPct val="90000"/>
              </a:lnSpc>
              <a:buSzPct val="100000"/>
              <a:buBlip>
                <a:blip r:embed="rId3"/>
              </a:buBlip>
            </a:pPr>
            <a:endParaRPr lang="en-US" sz="2400" dirty="0">
              <a:solidFill>
                <a:srgbClr val="6600CC"/>
              </a:solidFill>
              <a:cs typeface="Vrinda" pitchFamily="34" charset="0"/>
              <a:sym typeface="Gill Sans" charset="0"/>
            </a:endParaRPr>
          </a:p>
          <a:p>
            <a:pPr marL="514350" lvl="1" indent="-396875" defTabSz="914363">
              <a:lnSpc>
                <a:spcPct val="90000"/>
              </a:lnSpc>
              <a:buSzPct val="100000"/>
              <a:buBlip>
                <a:blip r:embed="rId3"/>
              </a:buBlip>
            </a:pPr>
            <a:r>
              <a:rPr lang="en-US" sz="2400" dirty="0">
                <a:solidFill>
                  <a:srgbClr val="6600CC"/>
                </a:solidFill>
                <a:cs typeface="Vrinda" pitchFamily="34" charset="0"/>
                <a:sym typeface="Gill Sans" charset="0"/>
              </a:rPr>
              <a:t>It started as a simplified subset of the Standard Generalized Markup Language (SGML), and is designed to be relatively human-legible.</a:t>
            </a:r>
          </a:p>
          <a:p>
            <a:pPr marL="749300">
              <a:buFont typeface="Gill Sans" charset="0"/>
              <a:buChar char="•"/>
              <a:defRPr/>
            </a:pPr>
            <a:endParaRPr lang="en-US" dirty="0">
              <a:solidFill>
                <a:srgbClr val="6600CC"/>
              </a:solidFill>
              <a:latin typeface="Vrinda" pitchFamily="34" charset="0"/>
              <a:cs typeface="Vrinda" pitchFamily="34" charset="0"/>
              <a:sym typeface="Gill Sans" charset="0"/>
            </a:endParaRPr>
          </a:p>
        </p:txBody>
      </p:sp>
      <p:sp>
        <p:nvSpPr>
          <p:cNvPr id="4" name="Title 1"/>
          <p:cNvSpPr txBox="1">
            <a:spLocks/>
          </p:cNvSpPr>
          <p:nvPr/>
        </p:nvSpPr>
        <p:spPr>
          <a:xfrm>
            <a:off x="540000" y="54000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lvl="1"/>
            <a:r>
              <a:rPr lang="en-IN" sz="2400" b="1" dirty="0">
                <a:solidFill>
                  <a:schemeClr val="bg1"/>
                </a:solidFill>
                <a:latin typeface="Vrinda" pitchFamily="34" charset="0"/>
                <a:cs typeface="Vrinda" pitchFamily="34" charset="0"/>
              </a:rPr>
              <a:t>XML - </a:t>
            </a:r>
            <a:r>
              <a:rPr lang="en-IN" sz="2400" b="1" dirty="0" err="1">
                <a:solidFill>
                  <a:schemeClr val="bg1"/>
                </a:solidFill>
                <a:latin typeface="Vrinda" pitchFamily="34" charset="0"/>
                <a:cs typeface="Vrinda" pitchFamily="34" charset="0"/>
              </a:rPr>
              <a:t>eXtensible</a:t>
            </a:r>
            <a:r>
              <a:rPr lang="en-IN" sz="2400" b="1" dirty="0">
                <a:solidFill>
                  <a:schemeClr val="bg1"/>
                </a:solidFill>
                <a:latin typeface="Vrinda" pitchFamily="34" charset="0"/>
                <a:cs typeface="Vrinda" pitchFamily="34" charset="0"/>
              </a:rPr>
              <a:t> </a:t>
            </a:r>
            <a:r>
              <a:rPr lang="en-IN" sz="2400" b="1" dirty="0" err="1" smtClean="0">
                <a:solidFill>
                  <a:schemeClr val="bg1"/>
                </a:solidFill>
                <a:latin typeface="Vrinda" pitchFamily="34" charset="0"/>
                <a:cs typeface="Vrinda" pitchFamily="34" charset="0"/>
              </a:rPr>
              <a:t>Markup</a:t>
            </a:r>
            <a:r>
              <a:rPr lang="en-IN" sz="2400" b="1" dirty="0" smtClean="0">
                <a:solidFill>
                  <a:schemeClr val="bg1"/>
                </a:solidFill>
                <a:latin typeface="Vrinda" pitchFamily="34" charset="0"/>
                <a:cs typeface="Vrinda" pitchFamily="34" charset="0"/>
              </a:rPr>
              <a:t> Language</a:t>
            </a:r>
            <a:endParaRPr lang="en-IN" sz="2400" b="1" kern="0"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1403645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381000" y="1524000"/>
            <a:ext cx="8382000" cy="4519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Font typeface="Arial" panose="020B0604020202020204" pitchFamily="34" charset="0"/>
              <a:buChar char="•"/>
            </a:pPr>
            <a:endParaRPr lang="en-US" sz="20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4"/>
              </a:buBlip>
            </a:pPr>
            <a:r>
              <a:rPr lang="en-US" sz="2400" dirty="0" smtClean="0">
                <a:solidFill>
                  <a:srgbClr val="6600CC"/>
                </a:solidFill>
                <a:cs typeface="Vrinda" pitchFamily="34" charset="0"/>
              </a:rPr>
              <a:t>XML </a:t>
            </a:r>
            <a:r>
              <a:rPr lang="en-US" sz="2400" dirty="0">
                <a:solidFill>
                  <a:srgbClr val="6600CC"/>
                </a:solidFill>
                <a:cs typeface="Vrinda" pitchFamily="34" charset="0"/>
              </a:rPr>
              <a:t>looks very similar to </a:t>
            </a:r>
            <a:r>
              <a:rPr lang="en-US" sz="2400" dirty="0" smtClean="0">
                <a:solidFill>
                  <a:srgbClr val="6600CC"/>
                </a:solidFill>
                <a:cs typeface="Vrinda" pitchFamily="34" charset="0"/>
              </a:rPr>
              <a:t>HTML.</a:t>
            </a:r>
          </a:p>
          <a:p>
            <a:pPr marL="514350" lvl="1" indent="-396875" defTabSz="914363">
              <a:lnSpc>
                <a:spcPct val="90000"/>
              </a:lnSpc>
              <a:buSzPct val="100000"/>
              <a:buBlip>
                <a:blip r:embed="rId4"/>
              </a:buBlip>
            </a:pPr>
            <a:r>
              <a:rPr lang="en-US" sz="2400" dirty="0">
                <a:solidFill>
                  <a:srgbClr val="6600CC"/>
                </a:solidFill>
                <a:cs typeface="Vrinda" pitchFamily="34" charset="0"/>
              </a:rPr>
              <a:t>An XML document is represented as a tree structure.</a:t>
            </a:r>
          </a:p>
          <a:p>
            <a:pPr marL="514350" lvl="1" indent="-396875" defTabSz="914363">
              <a:lnSpc>
                <a:spcPct val="90000"/>
              </a:lnSpc>
              <a:buSzPct val="100000"/>
              <a:buBlip>
                <a:blip r:embed="rId4"/>
              </a:buBlip>
            </a:pPr>
            <a:r>
              <a:rPr lang="en-US" sz="2400" dirty="0">
                <a:solidFill>
                  <a:srgbClr val="6600CC"/>
                </a:solidFill>
                <a:cs typeface="Vrinda" pitchFamily="34" charset="0"/>
              </a:rPr>
              <a:t>The top tag is called parent node and sub tags are called children node.</a:t>
            </a:r>
          </a:p>
          <a:p>
            <a:pPr marL="117475" lvl="1" indent="0" defTabSz="914363">
              <a:lnSpc>
                <a:spcPct val="90000"/>
              </a:lnSpc>
              <a:buSzPct val="100000"/>
              <a:buNone/>
            </a:pPr>
            <a:r>
              <a:rPr lang="en-US" sz="2000" b="1" dirty="0" smtClean="0">
                <a:solidFill>
                  <a:srgbClr val="6600CC"/>
                </a:solidFill>
                <a:cs typeface="Vrinda" pitchFamily="34" charset="0"/>
              </a:rPr>
              <a:t>Example:</a:t>
            </a:r>
            <a:r>
              <a:rPr lang="en-US" sz="2000" dirty="0" smtClean="0">
                <a:solidFill>
                  <a:srgbClr val="6600CC"/>
                </a:solidFill>
                <a:latin typeface="Vrinda" pitchFamily="34" charset="0"/>
                <a:cs typeface="Vrinda" pitchFamily="34" charset="0"/>
              </a:rPr>
              <a:t> </a:t>
            </a:r>
          </a:p>
          <a:p>
            <a:pPr marL="117475" lvl="1" indent="0" defTabSz="914363">
              <a:lnSpc>
                <a:spcPct val="90000"/>
              </a:lnSpc>
              <a:buSzPct val="100000"/>
              <a:buNone/>
            </a:pPr>
            <a:endParaRPr lang="en-US" sz="20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4"/>
              </a:buBlip>
            </a:pPr>
            <a:endParaRPr lang="en-US" sz="20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4"/>
              </a:buBlip>
            </a:pPr>
            <a:endParaRPr lang="en-US" sz="2000" dirty="0" smtClean="0">
              <a:solidFill>
                <a:srgbClr val="6600CC"/>
              </a:solidFill>
              <a:latin typeface="Vrinda" pitchFamily="34" charset="0"/>
              <a:cs typeface="Vrinda" pitchFamily="34" charset="0"/>
            </a:endParaRPr>
          </a:p>
          <a:p>
            <a:pPr marL="514350" lvl="1" indent="-396875" defTabSz="914363">
              <a:lnSpc>
                <a:spcPct val="90000"/>
              </a:lnSpc>
              <a:buSzPct val="100000"/>
              <a:buNone/>
            </a:pPr>
            <a:endParaRPr lang="en-US" sz="2000" dirty="0" smtClean="0">
              <a:solidFill>
                <a:srgbClr val="6600CC"/>
              </a:solidFill>
              <a:latin typeface="Vrinda" pitchFamily="34" charset="0"/>
              <a:cs typeface="Vrinda" pitchFamily="34" charset="0"/>
            </a:endParaRPr>
          </a:p>
        </p:txBody>
      </p:sp>
      <p:sp>
        <p:nvSpPr>
          <p:cNvPr id="4" name="TextBox 3"/>
          <p:cNvSpPr txBox="1"/>
          <p:nvPr/>
        </p:nvSpPr>
        <p:spPr>
          <a:xfrm>
            <a:off x="914400" y="4114800"/>
            <a:ext cx="7315200" cy="1560427"/>
          </a:xfrm>
          <a:prstGeom prst="rect">
            <a:avLst/>
          </a:prstGeom>
          <a:noFill/>
          <a:ln>
            <a:solidFill>
              <a:schemeClr val="tx1"/>
            </a:solidFill>
            <a:prstDash val="solid"/>
          </a:ln>
        </p:spPr>
        <p:txBody>
          <a:bodyPr wrap="square" rtlCol="0">
            <a:spAutoFit/>
          </a:bodyPr>
          <a:lstStyle/>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&lt;person&gt;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	&lt;name&gt;Tim&lt;/name&gt;</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   &lt;phone type="</a:t>
            </a:r>
            <a:r>
              <a:rPr lang="en-US" dirty="0" err="1" smtClean="0">
                <a:solidFill>
                  <a:srgbClr val="6600CC"/>
                </a:solidFill>
                <a:latin typeface="Vrinda" pitchFamily="34" charset="0"/>
                <a:cs typeface="Vrinda" pitchFamily="34" charset="0"/>
              </a:rPr>
              <a:t>intl</a:t>
            </a:r>
            <a:r>
              <a:rPr lang="en-US" dirty="0" smtClean="0">
                <a:solidFill>
                  <a:srgbClr val="6600CC"/>
                </a:solidFill>
                <a:latin typeface="Vrinda" pitchFamily="34" charset="0"/>
                <a:cs typeface="Vrinda" pitchFamily="34" charset="0"/>
              </a:rPr>
              <a:t>"&gt; +1 734 303 4456 &lt;/phone&gt;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   &lt;email hide="yes"/&gt;</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&lt;/person&gt;</a:t>
            </a:r>
          </a:p>
        </p:txBody>
      </p:sp>
      <p:sp>
        <p:nvSpPr>
          <p:cNvPr id="8" name="Title 1"/>
          <p:cNvSpPr txBox="1">
            <a:spLocks/>
          </p:cNvSpPr>
          <p:nvPr/>
        </p:nvSpPr>
        <p:spPr>
          <a:xfrm>
            <a:off x="540000" y="54000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lvl="1"/>
            <a:r>
              <a:rPr lang="en-IN" sz="2400" b="1" dirty="0">
                <a:solidFill>
                  <a:schemeClr val="bg1"/>
                </a:solidFill>
                <a:latin typeface="Vrinda" pitchFamily="34" charset="0"/>
                <a:cs typeface="Vrinda" pitchFamily="34" charset="0"/>
              </a:rPr>
              <a:t>XML - </a:t>
            </a:r>
            <a:r>
              <a:rPr lang="en-IN" sz="2400" b="1" dirty="0" err="1">
                <a:solidFill>
                  <a:schemeClr val="bg1"/>
                </a:solidFill>
                <a:latin typeface="Vrinda" pitchFamily="34" charset="0"/>
                <a:cs typeface="Vrinda" pitchFamily="34" charset="0"/>
              </a:rPr>
              <a:t>eXtensible</a:t>
            </a:r>
            <a:r>
              <a:rPr lang="en-IN" sz="2400" b="1" dirty="0">
                <a:solidFill>
                  <a:schemeClr val="bg1"/>
                </a:solidFill>
                <a:latin typeface="Vrinda" pitchFamily="34" charset="0"/>
                <a:cs typeface="Vrinda" pitchFamily="34" charset="0"/>
              </a:rPr>
              <a:t> </a:t>
            </a:r>
            <a:r>
              <a:rPr lang="en-IN" sz="2400" b="1" dirty="0" err="1" smtClean="0">
                <a:solidFill>
                  <a:schemeClr val="bg1"/>
                </a:solidFill>
                <a:latin typeface="Vrinda" pitchFamily="34" charset="0"/>
                <a:cs typeface="Vrinda" pitchFamily="34" charset="0"/>
              </a:rPr>
              <a:t>Markup</a:t>
            </a:r>
            <a:r>
              <a:rPr lang="en-IN" sz="2400" b="1" dirty="0" smtClean="0">
                <a:solidFill>
                  <a:schemeClr val="bg1"/>
                </a:solidFill>
                <a:latin typeface="Vrinda" pitchFamily="34" charset="0"/>
                <a:cs typeface="Vrinda" pitchFamily="34" charset="0"/>
              </a:rPr>
              <a:t> Language (Contd.)</a:t>
            </a:r>
            <a:endParaRPr lang="en-IN" sz="2400" b="1" kern="0"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28242177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044388" y="2362200"/>
            <a:ext cx="4876800" cy="2083296"/>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IN" dirty="0" smtClean="0"/>
              <a:t>________ and ______ are two types of data shared between the applications over the network.</a:t>
            </a:r>
            <a:endParaRPr lang="en-US" dirty="0"/>
          </a:p>
        </p:txBody>
      </p:sp>
    </p:spTree>
    <p:extLst>
      <p:ext uri="{BB962C8B-B14F-4D97-AF65-F5344CB8AC3E}">
        <p14:creationId xmlns:p14="http://schemas.microsoft.com/office/powerpoint/2010/main" val="4238559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044388" y="2362200"/>
            <a:ext cx="4876800" cy="2083296"/>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IN" dirty="0" smtClean="0"/>
              <a:t>________ and ______ are two types of data shared between the applications over the network.</a:t>
            </a:r>
            <a:endParaRPr lang="en-US" dirty="0"/>
          </a:p>
        </p:txBody>
      </p:sp>
      <p:grpSp>
        <p:nvGrpSpPr>
          <p:cNvPr id="5" name="Group 4"/>
          <p:cNvGrpSpPr/>
          <p:nvPr/>
        </p:nvGrpSpPr>
        <p:grpSpPr>
          <a:xfrm>
            <a:off x="3013578" y="5019607"/>
            <a:ext cx="4208257" cy="977946"/>
            <a:chOff x="304808" y="5638800"/>
            <a:chExt cx="2653441" cy="914400"/>
          </a:xfrm>
        </p:grpSpPr>
        <p:grpSp>
          <p:nvGrpSpPr>
            <p:cNvPr id="9" name="Group 8"/>
            <p:cNvGrpSpPr/>
            <p:nvPr/>
          </p:nvGrpSpPr>
          <p:grpSpPr>
            <a:xfrm>
              <a:off x="304808" y="5638800"/>
              <a:ext cx="2488567" cy="914400"/>
              <a:chOff x="6019800" y="1143000"/>
              <a:chExt cx="585545" cy="533400"/>
            </a:xfrm>
          </p:grpSpPr>
          <p:sp>
            <p:nvSpPr>
              <p:cNvPr id="12" name="Oval 11"/>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3" name="Oval 12"/>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10" name="Rectangle 9"/>
            <p:cNvSpPr/>
            <p:nvPr/>
          </p:nvSpPr>
          <p:spPr>
            <a:xfrm>
              <a:off x="1537568" y="6041275"/>
              <a:ext cx="1420681"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XML and JSON</a:t>
              </a:r>
              <a:endParaRPr lang="en-US" sz="1600" dirty="0">
                <a:solidFill>
                  <a:schemeClr val="bg1"/>
                </a:solidFill>
                <a:latin typeface="+mn-lt"/>
                <a:cs typeface="Arial" charset="0"/>
              </a:endParaRPr>
            </a:p>
          </p:txBody>
        </p:sp>
        <p:sp>
          <p:nvSpPr>
            <p:cNvPr id="11" name="Rectangle 10"/>
            <p:cNvSpPr/>
            <p:nvPr/>
          </p:nvSpPr>
          <p:spPr>
            <a:xfrm>
              <a:off x="588818" y="5963799"/>
              <a:ext cx="1287878" cy="338554"/>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Answer:</a:t>
              </a:r>
              <a:endParaRPr lang="en-US" sz="1600" dirty="0">
                <a:solidFill>
                  <a:schemeClr val="bg1"/>
                </a:solidFill>
                <a:latin typeface="+mn-lt"/>
              </a:endParaRPr>
            </a:p>
          </p:txBody>
        </p:sp>
      </p:grpSp>
    </p:spTree>
    <p:extLst>
      <p:ext uri="{BB962C8B-B14F-4D97-AF65-F5344CB8AC3E}">
        <p14:creationId xmlns:p14="http://schemas.microsoft.com/office/powerpoint/2010/main" val="3577691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381000" y="1600200"/>
            <a:ext cx="8382000" cy="4519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Font typeface="Arial" panose="020B0604020202020204" pitchFamily="34" charset="0"/>
              <a:buChar char="•"/>
            </a:pPr>
            <a:endParaRPr lang="en-US" sz="2000" dirty="0" smtClean="0">
              <a:solidFill>
                <a:srgbClr val="6600CC"/>
              </a:solidFill>
              <a:latin typeface="Vrinda" pitchFamily="34" charset="0"/>
              <a:cs typeface="Vrinda" pitchFamily="34" charset="0"/>
            </a:endParaRPr>
          </a:p>
          <a:p>
            <a:pPr marL="117475" lvl="1" indent="0" algn="ctr" defTabSz="914363">
              <a:lnSpc>
                <a:spcPct val="90000"/>
              </a:lnSpc>
              <a:buSzPct val="100000"/>
              <a:buNone/>
            </a:pPr>
            <a:r>
              <a:rPr lang="en-US" sz="2400" b="1" dirty="0" smtClean="0">
                <a:solidFill>
                  <a:srgbClr val="6600CC"/>
                </a:solidFill>
                <a:cs typeface="Vrinda" pitchFamily="34" charset="0"/>
              </a:rPr>
              <a:t>Document Object Model of an XML File </a:t>
            </a:r>
            <a:endParaRPr lang="en-US" sz="2400" dirty="0" smtClean="0">
              <a:solidFill>
                <a:srgbClr val="6600CC"/>
              </a:solidFill>
              <a:cs typeface="Vrinda" pitchFamily="34" charset="0"/>
            </a:endParaRPr>
          </a:p>
          <a:p>
            <a:pPr marL="514350" lvl="1" indent="-396875" defTabSz="914363">
              <a:lnSpc>
                <a:spcPct val="90000"/>
              </a:lnSpc>
              <a:buSzPct val="100000"/>
              <a:buBlip>
                <a:blip r:embed="rId3"/>
              </a:buBlip>
            </a:pPr>
            <a:endParaRPr lang="en-US" sz="20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3"/>
              </a:buBlip>
            </a:pPr>
            <a:endParaRPr lang="en-US" sz="20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3"/>
              </a:buBlip>
            </a:pPr>
            <a:endParaRPr lang="en-US" sz="2000" dirty="0" smtClean="0">
              <a:solidFill>
                <a:srgbClr val="6600CC"/>
              </a:solidFill>
              <a:latin typeface="Vrinda" pitchFamily="34" charset="0"/>
              <a:cs typeface="Vrinda" pitchFamily="34" charset="0"/>
            </a:endParaRPr>
          </a:p>
          <a:p>
            <a:pPr marL="514350" lvl="1" indent="-396875" defTabSz="914363">
              <a:lnSpc>
                <a:spcPct val="90000"/>
              </a:lnSpc>
              <a:buSzPct val="100000"/>
              <a:buNone/>
            </a:pPr>
            <a:endParaRPr lang="en-US" sz="2000" dirty="0" smtClean="0">
              <a:solidFill>
                <a:srgbClr val="6600CC"/>
              </a:solidFill>
              <a:latin typeface="Vrinda" pitchFamily="34" charset="0"/>
              <a:cs typeface="Vrinda" pitchFamily="34" charset="0"/>
            </a:endParaRPr>
          </a:p>
        </p:txBody>
      </p:sp>
      <p:pic>
        <p:nvPicPr>
          <p:cNvPr id="1026" name="Picture 2"/>
          <p:cNvPicPr>
            <a:picLocks noChangeAspect="1" noChangeArrowheads="1"/>
          </p:cNvPicPr>
          <p:nvPr/>
        </p:nvPicPr>
        <p:blipFill>
          <a:blip r:embed="rId4"/>
          <a:srcRect/>
          <a:stretch>
            <a:fillRect/>
          </a:stretch>
        </p:blipFill>
        <p:spPr bwMode="auto">
          <a:xfrm>
            <a:off x="1295400" y="2819400"/>
            <a:ext cx="6534150" cy="2501900"/>
          </a:xfrm>
          <a:prstGeom prst="rect">
            <a:avLst/>
          </a:prstGeom>
          <a:noFill/>
          <a:ln w="9525">
            <a:noFill/>
            <a:miter lim="800000"/>
            <a:headEnd/>
            <a:tailEnd/>
          </a:ln>
          <a:effectLst/>
        </p:spPr>
      </p:pic>
      <p:sp>
        <p:nvSpPr>
          <p:cNvPr id="7" name="Title 1"/>
          <p:cNvSpPr txBox="1">
            <a:spLocks/>
          </p:cNvSpPr>
          <p:nvPr/>
        </p:nvSpPr>
        <p:spPr>
          <a:xfrm>
            <a:off x="540000" y="54000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lvl="1"/>
            <a:r>
              <a:rPr lang="en-IN" sz="2400" b="1" dirty="0">
                <a:solidFill>
                  <a:schemeClr val="bg1"/>
                </a:solidFill>
                <a:latin typeface="Vrinda" pitchFamily="34" charset="0"/>
                <a:cs typeface="Vrinda" pitchFamily="34" charset="0"/>
              </a:rPr>
              <a:t>XML - </a:t>
            </a:r>
            <a:r>
              <a:rPr lang="en-IN" sz="2400" b="1" dirty="0" err="1">
                <a:solidFill>
                  <a:schemeClr val="bg1"/>
                </a:solidFill>
                <a:latin typeface="Vrinda" pitchFamily="34" charset="0"/>
                <a:cs typeface="Vrinda" pitchFamily="34" charset="0"/>
              </a:rPr>
              <a:t>eXtensible</a:t>
            </a:r>
            <a:r>
              <a:rPr lang="en-IN" sz="2400" b="1" dirty="0">
                <a:solidFill>
                  <a:schemeClr val="bg1"/>
                </a:solidFill>
                <a:latin typeface="Vrinda" pitchFamily="34" charset="0"/>
                <a:cs typeface="Vrinda" pitchFamily="34" charset="0"/>
              </a:rPr>
              <a:t> </a:t>
            </a:r>
            <a:r>
              <a:rPr lang="en-IN" sz="2400" b="1" dirty="0" err="1" smtClean="0">
                <a:solidFill>
                  <a:schemeClr val="bg1"/>
                </a:solidFill>
                <a:latin typeface="Vrinda" pitchFamily="34" charset="0"/>
                <a:cs typeface="Vrinda" pitchFamily="34" charset="0"/>
              </a:rPr>
              <a:t>Markup</a:t>
            </a:r>
            <a:r>
              <a:rPr lang="en-IN" sz="2400" b="1" dirty="0" smtClean="0">
                <a:solidFill>
                  <a:schemeClr val="bg1"/>
                </a:solidFill>
                <a:latin typeface="Vrinda" pitchFamily="34" charset="0"/>
                <a:cs typeface="Vrinda" pitchFamily="34" charset="0"/>
              </a:rPr>
              <a:t> Language (Contd.)</a:t>
            </a:r>
            <a:endParaRPr lang="en-IN" sz="2400" b="1" kern="0"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2824217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Parsing XML</a:t>
            </a:r>
            <a:endParaRPr lang="en-US" sz="2400" b="1" dirty="0">
              <a:solidFill>
                <a:schemeClr val="bg1"/>
              </a:solidFill>
              <a:latin typeface="Vrinda" pitchFamily="34" charset="0"/>
              <a:cs typeface="Vrinda" pitchFamily="34" charset="0"/>
            </a:endParaRPr>
          </a:p>
        </p:txBody>
      </p:sp>
      <p:sp>
        <p:nvSpPr>
          <p:cNvPr id="5" name="Content Placeholder 2"/>
          <p:cNvSpPr txBox="1">
            <a:spLocks/>
          </p:cNvSpPr>
          <p:nvPr/>
        </p:nvSpPr>
        <p:spPr>
          <a:xfrm>
            <a:off x="381000" y="1600200"/>
            <a:ext cx="83820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Font typeface="Arial" panose="020B0604020202020204" pitchFamily="34" charset="0"/>
              <a:buChar char="•"/>
            </a:pPr>
            <a:endParaRPr lang="en-US" sz="20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4"/>
              </a:buBlip>
            </a:pPr>
            <a:r>
              <a:rPr lang="en-US" sz="2400" dirty="0" smtClean="0">
                <a:solidFill>
                  <a:srgbClr val="6600CC"/>
                </a:solidFill>
                <a:cs typeface="Vrinda" pitchFamily="34" charset="0"/>
              </a:rPr>
              <a:t>In </a:t>
            </a:r>
            <a:r>
              <a:rPr lang="en-US" sz="2400" dirty="0">
                <a:solidFill>
                  <a:srgbClr val="6600CC"/>
                </a:solidFill>
                <a:cs typeface="Vrinda" pitchFamily="34" charset="0"/>
              </a:rPr>
              <a:t>memory XML data is represented as tree of XML Nodes.</a:t>
            </a:r>
          </a:p>
          <a:p>
            <a:pPr marL="514350" lvl="1" indent="-396875" defTabSz="914363">
              <a:lnSpc>
                <a:spcPct val="90000"/>
              </a:lnSpc>
              <a:buSzPct val="100000"/>
              <a:buBlip>
                <a:blip r:embed="rId4"/>
              </a:buBlip>
            </a:pPr>
            <a:r>
              <a:rPr lang="en-US" sz="2400" dirty="0">
                <a:solidFill>
                  <a:srgbClr val="6600CC"/>
                </a:solidFill>
                <a:cs typeface="Vrinda" pitchFamily="34" charset="0"/>
              </a:rPr>
              <a:t>XML Parser named </a:t>
            </a:r>
            <a:r>
              <a:rPr lang="en-US" sz="2400" dirty="0" err="1">
                <a:solidFill>
                  <a:srgbClr val="6600CC"/>
                </a:solidFill>
                <a:cs typeface="Vrinda" pitchFamily="34" charset="0"/>
              </a:rPr>
              <a:t>ElementTree</a:t>
            </a:r>
            <a:r>
              <a:rPr lang="en-US" sz="2400" dirty="0">
                <a:solidFill>
                  <a:srgbClr val="6600CC"/>
                </a:solidFill>
                <a:cs typeface="Vrinda" pitchFamily="34" charset="0"/>
              </a:rPr>
              <a:t> parses the XML data to ‘tree’ structure and </a:t>
            </a:r>
            <a:r>
              <a:rPr lang="en-US" sz="2400" dirty="0" err="1">
                <a:solidFill>
                  <a:srgbClr val="6600CC"/>
                </a:solidFill>
                <a:cs typeface="Vrinda" pitchFamily="34" charset="0"/>
              </a:rPr>
              <a:t>fromstring</a:t>
            </a:r>
            <a:r>
              <a:rPr lang="en-US" sz="2400" dirty="0">
                <a:solidFill>
                  <a:srgbClr val="6600CC"/>
                </a:solidFill>
                <a:cs typeface="Vrinda" pitchFamily="34" charset="0"/>
              </a:rPr>
              <a:t>() method converts the string representation of the XML into a ‘tree’ of XML Nodes.</a:t>
            </a:r>
          </a:p>
          <a:p>
            <a:pPr marL="514350" lvl="1" indent="-396875" defTabSz="914363">
              <a:lnSpc>
                <a:spcPct val="90000"/>
              </a:lnSpc>
              <a:buSzPct val="100000"/>
              <a:buBlip>
                <a:blip r:embed="rId4"/>
              </a:buBlip>
            </a:pPr>
            <a:r>
              <a:rPr lang="en-US" sz="2400" dirty="0">
                <a:solidFill>
                  <a:srgbClr val="6600CC"/>
                </a:solidFill>
                <a:cs typeface="Vrinda" pitchFamily="34" charset="0"/>
              </a:rPr>
              <a:t>We can extract the data from tree by using the find() method.</a:t>
            </a:r>
          </a:p>
          <a:p>
            <a:pPr marL="117475" lvl="1" indent="0" defTabSz="914363">
              <a:lnSpc>
                <a:spcPct val="90000"/>
              </a:lnSpc>
              <a:buSzPct val="100000"/>
              <a:buNone/>
            </a:pPr>
            <a:endParaRPr lang="en-US" sz="2000" dirty="0" smtClean="0">
              <a:solidFill>
                <a:srgbClr val="6600CC"/>
              </a:solidFill>
              <a:latin typeface="Vrinda" pitchFamily="34" charset="0"/>
              <a:cs typeface="Vrinda" pitchFamily="34" charset="0"/>
            </a:endParaRPr>
          </a:p>
          <a:p>
            <a:pPr marL="514350" lvl="1" indent="-396875" defTabSz="914363">
              <a:lnSpc>
                <a:spcPct val="90000"/>
              </a:lnSpc>
              <a:buSzPct val="100000"/>
              <a:buFont typeface="Arial" panose="020B0604020202020204" pitchFamily="34" charset="0"/>
              <a:buChar char="•"/>
            </a:pPr>
            <a:endParaRPr lang="en-US" sz="2000" dirty="0">
              <a:solidFill>
                <a:srgbClr val="6600CC"/>
              </a:solidFill>
              <a:latin typeface="Vrinda" pitchFamily="34" charset="0"/>
              <a:cs typeface="Vrinda" pitchFamily="34" charset="0"/>
            </a:endParaRPr>
          </a:p>
          <a:p>
            <a:pPr marL="514350" lvl="1" indent="-396875" defTabSz="914363">
              <a:lnSpc>
                <a:spcPct val="90000"/>
              </a:lnSpc>
              <a:buSzPct val="100000"/>
              <a:buBlip>
                <a:blip r:embed="rId4"/>
              </a:buBlip>
            </a:pPr>
            <a:endParaRPr lang="en-US" sz="18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4"/>
              </a:buBlip>
            </a:pPr>
            <a:endParaRPr lang="en-US" sz="18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4"/>
              </a:buBlip>
            </a:pPr>
            <a:endParaRPr lang="en-US" sz="18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4"/>
              </a:buBlip>
            </a:pPr>
            <a:endParaRPr lang="en-US" sz="18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4"/>
              </a:buBlip>
            </a:pPr>
            <a:endParaRPr lang="en-IN" sz="1800" dirty="0">
              <a:solidFill>
                <a:srgbClr val="6600CC"/>
              </a:solidFill>
              <a:latin typeface="Vrinda" pitchFamily="34" charset="0"/>
              <a:cs typeface="Vrinda" pitchFamily="34" charset="0"/>
            </a:endParaRPr>
          </a:p>
        </p:txBody>
      </p:sp>
      <p:sp>
        <p:nvSpPr>
          <p:cNvPr id="7" name="TextBox 6"/>
          <p:cNvSpPr txBox="1"/>
          <p:nvPr/>
        </p:nvSpPr>
        <p:spPr>
          <a:xfrm>
            <a:off x="1371600" y="3897406"/>
            <a:ext cx="5562600" cy="2376035"/>
          </a:xfrm>
          <a:prstGeom prst="rect">
            <a:avLst/>
          </a:prstGeom>
          <a:noFill/>
          <a:ln>
            <a:solidFill>
              <a:schemeClr val="tx1"/>
            </a:solidFill>
          </a:ln>
        </p:spPr>
        <p:txBody>
          <a:bodyPr wrap="square" rtlCol="0">
            <a:spAutoFit/>
          </a:bodyPr>
          <a:lstStyle/>
          <a:p>
            <a:pPr marL="796925" indent="-396875" defTabSz="914363">
              <a:lnSpc>
                <a:spcPct val="90000"/>
              </a:lnSpc>
              <a:spcBef>
                <a:spcPct val="20000"/>
              </a:spcBef>
              <a:buSzPct val="120000"/>
            </a:pPr>
            <a:r>
              <a:rPr lang="en-US" sz="1400" dirty="0" smtClean="0">
                <a:solidFill>
                  <a:srgbClr val="6600CC"/>
                </a:solidFill>
                <a:latin typeface="Vrinda" pitchFamily="34" charset="0"/>
                <a:cs typeface="Vrinda" pitchFamily="34" charset="0"/>
              </a:rPr>
              <a:t>import </a:t>
            </a:r>
            <a:r>
              <a:rPr lang="en-US" sz="1400" dirty="0" err="1" smtClean="0">
                <a:solidFill>
                  <a:srgbClr val="6600CC"/>
                </a:solidFill>
                <a:latin typeface="Vrinda" pitchFamily="34" charset="0"/>
                <a:cs typeface="Vrinda" pitchFamily="34" charset="0"/>
              </a:rPr>
              <a:t>xml.etree.ElementTree</a:t>
            </a:r>
            <a:r>
              <a:rPr lang="en-US" sz="1400" dirty="0" smtClean="0">
                <a:solidFill>
                  <a:srgbClr val="6600CC"/>
                </a:solidFill>
                <a:latin typeface="Vrinda" pitchFamily="34" charset="0"/>
                <a:cs typeface="Vrinda" pitchFamily="34" charset="0"/>
              </a:rPr>
              <a:t> as ET</a:t>
            </a:r>
          </a:p>
          <a:p>
            <a:pPr marL="796925" indent="-396875" defTabSz="914363">
              <a:lnSpc>
                <a:spcPct val="90000"/>
              </a:lnSpc>
              <a:spcBef>
                <a:spcPct val="20000"/>
              </a:spcBef>
              <a:buSzPct val="120000"/>
            </a:pPr>
            <a:r>
              <a:rPr lang="en-US" sz="1400" dirty="0" smtClean="0">
                <a:solidFill>
                  <a:srgbClr val="6600CC"/>
                </a:solidFill>
                <a:latin typeface="Vrinda" pitchFamily="34" charset="0"/>
                <a:cs typeface="Vrinda" pitchFamily="34" charset="0"/>
              </a:rPr>
              <a:t>data = ''' </a:t>
            </a:r>
          </a:p>
          <a:p>
            <a:pPr marL="796925" indent="-396875" defTabSz="914363">
              <a:lnSpc>
                <a:spcPct val="90000"/>
              </a:lnSpc>
              <a:spcBef>
                <a:spcPct val="20000"/>
              </a:spcBef>
              <a:buSzPct val="120000"/>
            </a:pPr>
            <a:r>
              <a:rPr lang="en-US" sz="1400" dirty="0" smtClean="0">
                <a:solidFill>
                  <a:srgbClr val="6600CC"/>
                </a:solidFill>
                <a:latin typeface="Vrinda" pitchFamily="34" charset="0"/>
                <a:cs typeface="Vrinda" pitchFamily="34" charset="0"/>
              </a:rPr>
              <a:t>&lt;person&gt;</a:t>
            </a:r>
          </a:p>
          <a:p>
            <a:pPr marL="796925" indent="-396875" defTabSz="914363">
              <a:lnSpc>
                <a:spcPct val="90000"/>
              </a:lnSpc>
              <a:spcBef>
                <a:spcPct val="20000"/>
              </a:spcBef>
              <a:buSzPct val="120000"/>
            </a:pPr>
            <a:r>
              <a:rPr lang="en-US" sz="1400" dirty="0" smtClean="0">
                <a:solidFill>
                  <a:srgbClr val="6600CC"/>
                </a:solidFill>
                <a:latin typeface="Vrinda" pitchFamily="34" charset="0"/>
                <a:cs typeface="Vrinda" pitchFamily="34" charset="0"/>
              </a:rPr>
              <a:t>	&lt;name&gt;Chuck&lt;/name&gt;</a:t>
            </a:r>
          </a:p>
          <a:p>
            <a:pPr marL="796925" indent="-396875" defTabSz="914363">
              <a:lnSpc>
                <a:spcPct val="90000"/>
              </a:lnSpc>
              <a:spcBef>
                <a:spcPct val="20000"/>
              </a:spcBef>
              <a:buSzPct val="120000"/>
            </a:pPr>
            <a:r>
              <a:rPr lang="en-US" sz="1400" dirty="0" smtClean="0">
                <a:solidFill>
                  <a:srgbClr val="6600CC"/>
                </a:solidFill>
                <a:latin typeface="Vrinda" pitchFamily="34" charset="0"/>
                <a:cs typeface="Vrinda" pitchFamily="34" charset="0"/>
              </a:rPr>
              <a:t>	&lt;phone type="</a:t>
            </a:r>
            <a:r>
              <a:rPr lang="en-US" sz="1400" dirty="0" err="1" smtClean="0">
                <a:solidFill>
                  <a:srgbClr val="6600CC"/>
                </a:solidFill>
                <a:latin typeface="Vrinda" pitchFamily="34" charset="0"/>
                <a:cs typeface="Vrinda" pitchFamily="34" charset="0"/>
              </a:rPr>
              <a:t>intl</a:t>
            </a:r>
            <a:r>
              <a:rPr lang="en-US" sz="1400" dirty="0" smtClean="0">
                <a:solidFill>
                  <a:srgbClr val="6600CC"/>
                </a:solidFill>
                <a:latin typeface="Vrinda" pitchFamily="34" charset="0"/>
                <a:cs typeface="Vrinda" pitchFamily="34" charset="0"/>
              </a:rPr>
              <a:t>"&gt; +1 734 303 4456 &lt;/phone&gt; &lt;email hide="yes"/&gt;</a:t>
            </a:r>
          </a:p>
          <a:p>
            <a:pPr marL="796925" indent="-396875" defTabSz="914363">
              <a:lnSpc>
                <a:spcPct val="90000"/>
              </a:lnSpc>
              <a:spcBef>
                <a:spcPct val="20000"/>
              </a:spcBef>
              <a:buSzPct val="120000"/>
            </a:pPr>
            <a:r>
              <a:rPr lang="en-US" sz="1400" dirty="0" smtClean="0">
                <a:solidFill>
                  <a:srgbClr val="6600CC"/>
                </a:solidFill>
                <a:latin typeface="Vrinda" pitchFamily="34" charset="0"/>
                <a:cs typeface="Vrinda" pitchFamily="34" charset="0"/>
              </a:rPr>
              <a:t>&lt;/person&gt;'''</a:t>
            </a:r>
          </a:p>
          <a:p>
            <a:pPr marL="796925" indent="-396875" defTabSz="914363">
              <a:lnSpc>
                <a:spcPct val="90000"/>
              </a:lnSpc>
              <a:spcBef>
                <a:spcPct val="20000"/>
              </a:spcBef>
              <a:buSzPct val="120000"/>
            </a:pPr>
            <a:r>
              <a:rPr lang="en-US" sz="1400" dirty="0" smtClean="0">
                <a:solidFill>
                  <a:srgbClr val="6600CC"/>
                </a:solidFill>
                <a:latin typeface="Vrinda" pitchFamily="34" charset="0"/>
                <a:cs typeface="Vrinda" pitchFamily="34" charset="0"/>
              </a:rPr>
              <a:t>tree = </a:t>
            </a:r>
            <a:r>
              <a:rPr lang="en-US" sz="1400" dirty="0" err="1" smtClean="0">
                <a:solidFill>
                  <a:srgbClr val="6600CC"/>
                </a:solidFill>
                <a:latin typeface="Vrinda" pitchFamily="34" charset="0"/>
                <a:cs typeface="Vrinda" pitchFamily="34" charset="0"/>
              </a:rPr>
              <a:t>ET.fromstring</a:t>
            </a:r>
            <a:r>
              <a:rPr lang="en-US" sz="1400" dirty="0" smtClean="0">
                <a:solidFill>
                  <a:srgbClr val="6600CC"/>
                </a:solidFill>
                <a:latin typeface="Vrinda" pitchFamily="34" charset="0"/>
                <a:cs typeface="Vrinda" pitchFamily="34" charset="0"/>
              </a:rPr>
              <a:t>(data) </a:t>
            </a:r>
          </a:p>
          <a:p>
            <a:pPr marL="796925" indent="-396875" defTabSz="914363">
              <a:lnSpc>
                <a:spcPct val="90000"/>
              </a:lnSpc>
              <a:spcBef>
                <a:spcPct val="20000"/>
              </a:spcBef>
              <a:buSzPct val="120000"/>
            </a:pPr>
            <a:r>
              <a:rPr lang="en-US" sz="1400" dirty="0" smtClean="0">
                <a:solidFill>
                  <a:srgbClr val="6600CC"/>
                </a:solidFill>
                <a:latin typeface="Vrinda" pitchFamily="34" charset="0"/>
                <a:cs typeface="Vrinda" pitchFamily="34" charset="0"/>
              </a:rPr>
              <a:t>print '</a:t>
            </a:r>
            <a:r>
              <a:rPr lang="en-US" sz="1400" dirty="0" err="1" smtClean="0">
                <a:solidFill>
                  <a:srgbClr val="6600CC"/>
                </a:solidFill>
                <a:latin typeface="Vrinda" pitchFamily="34" charset="0"/>
                <a:cs typeface="Vrinda" pitchFamily="34" charset="0"/>
              </a:rPr>
              <a:t>Name:‘,tree.find</a:t>
            </a:r>
            <a:r>
              <a:rPr lang="en-US" sz="1400" dirty="0" smtClean="0">
                <a:solidFill>
                  <a:srgbClr val="6600CC"/>
                </a:solidFill>
                <a:latin typeface="Vrinda" pitchFamily="34" charset="0"/>
                <a:cs typeface="Vrinda" pitchFamily="34" charset="0"/>
              </a:rPr>
              <a:t>('name').text </a:t>
            </a:r>
          </a:p>
          <a:p>
            <a:pPr marL="796925" indent="-396875" defTabSz="914363">
              <a:lnSpc>
                <a:spcPct val="90000"/>
              </a:lnSpc>
              <a:spcBef>
                <a:spcPct val="20000"/>
              </a:spcBef>
              <a:buSzPct val="120000"/>
            </a:pPr>
            <a:r>
              <a:rPr lang="en-US" sz="1400" dirty="0" smtClean="0">
                <a:solidFill>
                  <a:srgbClr val="6600CC"/>
                </a:solidFill>
                <a:latin typeface="Vrinda" pitchFamily="34" charset="0"/>
                <a:cs typeface="Vrinda" pitchFamily="34" charset="0"/>
              </a:rPr>
              <a:t>print '</a:t>
            </a:r>
            <a:r>
              <a:rPr lang="en-US" sz="1400" dirty="0" err="1" smtClean="0">
                <a:solidFill>
                  <a:srgbClr val="6600CC"/>
                </a:solidFill>
                <a:latin typeface="Vrinda" pitchFamily="34" charset="0"/>
                <a:cs typeface="Vrinda" pitchFamily="34" charset="0"/>
              </a:rPr>
              <a:t>Attr:‘,tree.find</a:t>
            </a:r>
            <a:r>
              <a:rPr lang="en-US" sz="1400" dirty="0" smtClean="0">
                <a:solidFill>
                  <a:srgbClr val="6600CC"/>
                </a:solidFill>
                <a:latin typeface="Vrinda" pitchFamily="34" charset="0"/>
                <a:cs typeface="Vrinda" pitchFamily="34" charset="0"/>
              </a:rPr>
              <a:t>('email').get('hide')</a:t>
            </a:r>
          </a:p>
        </p:txBody>
      </p:sp>
    </p:spTree>
    <p:extLst>
      <p:ext uri="{BB962C8B-B14F-4D97-AF65-F5344CB8AC3E}">
        <p14:creationId xmlns:p14="http://schemas.microsoft.com/office/powerpoint/2010/main" val="33158351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Looping through </a:t>
            </a:r>
            <a:r>
              <a:rPr lang="en-IN" sz="2400" b="1" dirty="0">
                <a:solidFill>
                  <a:schemeClr val="bg1"/>
                </a:solidFill>
                <a:latin typeface="Vrinda" pitchFamily="34" charset="0"/>
                <a:cs typeface="Vrinda" pitchFamily="34" charset="0"/>
              </a:rPr>
              <a:t>N</a:t>
            </a:r>
            <a:r>
              <a:rPr lang="en-IN" sz="2400" b="1" dirty="0" smtClean="0">
                <a:solidFill>
                  <a:schemeClr val="bg1"/>
                </a:solidFill>
                <a:latin typeface="Vrinda" pitchFamily="34" charset="0"/>
                <a:cs typeface="Vrinda" pitchFamily="34" charset="0"/>
              </a:rPr>
              <a:t>odes</a:t>
            </a:r>
          </a:p>
        </p:txBody>
      </p:sp>
      <p:sp>
        <p:nvSpPr>
          <p:cNvPr id="7" name="Content Placeholder 2"/>
          <p:cNvSpPr txBox="1">
            <a:spLocks/>
          </p:cNvSpPr>
          <p:nvPr/>
        </p:nvSpPr>
        <p:spPr>
          <a:xfrm>
            <a:off x="381000" y="19284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Blip>
                <a:blip r:embed="rId4"/>
              </a:buBlip>
            </a:pPr>
            <a:r>
              <a:rPr lang="en-US" sz="2400" dirty="0" smtClean="0">
                <a:solidFill>
                  <a:srgbClr val="6600CC"/>
                </a:solidFill>
                <a:cs typeface="Vrinda" pitchFamily="34" charset="0"/>
              </a:rPr>
              <a:t>The </a:t>
            </a:r>
            <a:r>
              <a:rPr lang="en-US" sz="2400" dirty="0">
                <a:solidFill>
                  <a:srgbClr val="6600CC"/>
                </a:solidFill>
                <a:cs typeface="Vrinda" pitchFamily="34" charset="0"/>
              </a:rPr>
              <a:t>For loop is used to process multiple nodes in XML tree.</a:t>
            </a:r>
          </a:p>
          <a:p>
            <a:pPr marL="514350" lvl="1" indent="-396875" defTabSz="914363">
              <a:lnSpc>
                <a:spcPct val="90000"/>
              </a:lnSpc>
              <a:buSzPct val="100000"/>
              <a:buBlip>
                <a:blip r:embed="rId4"/>
              </a:buBlip>
            </a:pPr>
            <a:r>
              <a:rPr lang="en-US" sz="2400" dirty="0" err="1">
                <a:solidFill>
                  <a:srgbClr val="6600CC"/>
                </a:solidFill>
                <a:cs typeface="Vrinda" pitchFamily="34" charset="0"/>
              </a:rPr>
              <a:t>findall</a:t>
            </a:r>
            <a:r>
              <a:rPr lang="en-US" sz="2400" dirty="0">
                <a:solidFill>
                  <a:srgbClr val="6600CC"/>
                </a:solidFill>
                <a:cs typeface="Vrinda" pitchFamily="34" charset="0"/>
              </a:rPr>
              <a:t>() method retrieves a Python list of sub-trees.</a:t>
            </a:r>
          </a:p>
          <a:p>
            <a:pPr marL="117475" lvl="1" indent="0" defTabSz="914363">
              <a:lnSpc>
                <a:spcPct val="90000"/>
              </a:lnSpc>
              <a:buSzPct val="100000"/>
              <a:buNone/>
            </a:pPr>
            <a:endParaRPr lang="en-US" sz="2000" dirty="0" smtClean="0">
              <a:solidFill>
                <a:srgbClr val="6600CC"/>
              </a:solidFill>
              <a:latin typeface="Vrinda" pitchFamily="34" charset="0"/>
              <a:cs typeface="Vrinda" pitchFamily="34" charset="0"/>
            </a:endParaRPr>
          </a:p>
          <a:p>
            <a:pPr marL="514350" lvl="1" indent="-396875" defTabSz="914363">
              <a:lnSpc>
                <a:spcPct val="90000"/>
              </a:lnSpc>
              <a:buSzPct val="100000"/>
              <a:buFont typeface="Arial" panose="020B0604020202020204" pitchFamily="34" charset="0"/>
              <a:buChar char="•"/>
            </a:pPr>
            <a:endParaRPr lang="en-US" sz="20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4"/>
              </a:buBlip>
            </a:pPr>
            <a:endParaRPr lang="en-IN" sz="1600" dirty="0" smtClean="0">
              <a:solidFill>
                <a:srgbClr val="6600CC"/>
              </a:solidFill>
              <a:latin typeface="Vrinda" pitchFamily="34" charset="0"/>
              <a:cs typeface="Vrinda" pitchFamily="34" charset="0"/>
            </a:endParaRPr>
          </a:p>
          <a:p>
            <a:pPr marL="503125" lvl="1" indent="0" defTabSz="914363">
              <a:lnSpc>
                <a:spcPct val="90000"/>
              </a:lnSpc>
              <a:buSzPct val="120000"/>
              <a:buNone/>
            </a:pPr>
            <a:r>
              <a:rPr lang="en-IN" sz="1800" dirty="0" smtClean="0">
                <a:solidFill>
                  <a:srgbClr val="6600CC"/>
                </a:solidFill>
                <a:latin typeface="Vrinda" pitchFamily="34" charset="0"/>
                <a:cs typeface="Vrinda" pitchFamily="34" charset="0"/>
              </a:rPr>
              <a:t> </a:t>
            </a:r>
            <a:endParaRPr lang="en-IN" sz="1800" dirty="0">
              <a:solidFill>
                <a:srgbClr val="6600CC"/>
              </a:solidFill>
              <a:latin typeface="Vrinda" pitchFamily="34" charset="0"/>
              <a:cs typeface="Vrinda" pitchFamily="34" charset="0"/>
            </a:endParaRPr>
          </a:p>
        </p:txBody>
      </p:sp>
      <p:sp>
        <p:nvSpPr>
          <p:cNvPr id="4" name="TextBox 3"/>
          <p:cNvSpPr txBox="1"/>
          <p:nvPr/>
        </p:nvSpPr>
        <p:spPr>
          <a:xfrm>
            <a:off x="1219200" y="3164175"/>
            <a:ext cx="5486400" cy="2169825"/>
          </a:xfrm>
          <a:prstGeom prst="rect">
            <a:avLst/>
          </a:prstGeom>
          <a:noFill/>
          <a:ln>
            <a:solidFill>
              <a:schemeClr val="tx1"/>
            </a:solidFill>
          </a:ln>
        </p:spPr>
        <p:txBody>
          <a:bodyPr wrap="square" rtlCol="0">
            <a:spAutoFit/>
          </a:bodyPr>
          <a:lstStyle/>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stuff = </a:t>
            </a:r>
            <a:r>
              <a:rPr lang="en-US" dirty="0" err="1" smtClean="0">
                <a:solidFill>
                  <a:srgbClr val="6600CC"/>
                </a:solidFill>
                <a:latin typeface="Vrinda" pitchFamily="34" charset="0"/>
                <a:cs typeface="Vrinda" pitchFamily="34" charset="0"/>
              </a:rPr>
              <a:t>ET.fromstring</a:t>
            </a:r>
            <a:r>
              <a:rPr lang="en-US" dirty="0" smtClean="0">
                <a:solidFill>
                  <a:srgbClr val="6600CC"/>
                </a:solidFill>
                <a:latin typeface="Vrinda" pitchFamily="34" charset="0"/>
                <a:cs typeface="Vrinda" pitchFamily="34" charset="0"/>
              </a:rPr>
              <a:t>(input) </a:t>
            </a:r>
          </a:p>
          <a:p>
            <a:pPr marL="796925" indent="-396875" defTabSz="914363">
              <a:lnSpc>
                <a:spcPct val="90000"/>
              </a:lnSpc>
              <a:spcBef>
                <a:spcPct val="20000"/>
              </a:spcBef>
              <a:buSzPct val="120000"/>
            </a:pPr>
            <a:r>
              <a:rPr lang="en-US" dirty="0" err="1" smtClean="0">
                <a:solidFill>
                  <a:srgbClr val="6600CC"/>
                </a:solidFill>
                <a:latin typeface="Vrinda" pitchFamily="34" charset="0"/>
                <a:cs typeface="Vrinda" pitchFamily="34" charset="0"/>
              </a:rPr>
              <a:t>lst</a:t>
            </a:r>
            <a:r>
              <a:rPr lang="en-US" dirty="0" smtClean="0">
                <a:solidFill>
                  <a:srgbClr val="6600CC"/>
                </a:solidFill>
                <a:latin typeface="Vrinda" pitchFamily="34" charset="0"/>
                <a:cs typeface="Vrinda" pitchFamily="34" charset="0"/>
              </a:rPr>
              <a:t> = </a:t>
            </a:r>
            <a:r>
              <a:rPr lang="en-US" dirty="0" err="1" smtClean="0">
                <a:solidFill>
                  <a:srgbClr val="6600CC"/>
                </a:solidFill>
                <a:latin typeface="Vrinda" pitchFamily="34" charset="0"/>
                <a:cs typeface="Vrinda" pitchFamily="34" charset="0"/>
              </a:rPr>
              <a:t>stuff.findall</a:t>
            </a:r>
            <a:r>
              <a:rPr lang="en-US" dirty="0" smtClean="0">
                <a:solidFill>
                  <a:srgbClr val="6600CC"/>
                </a:solidFill>
                <a:latin typeface="Vrinda" pitchFamily="34" charset="0"/>
                <a:cs typeface="Vrinda" pitchFamily="34" charset="0"/>
              </a:rPr>
              <a:t>('users/user')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print '</a:t>
            </a:r>
            <a:r>
              <a:rPr lang="en-US" dirty="0" err="1" smtClean="0">
                <a:solidFill>
                  <a:srgbClr val="6600CC"/>
                </a:solidFill>
                <a:latin typeface="Vrinda" pitchFamily="34" charset="0"/>
                <a:cs typeface="Vrinda" pitchFamily="34" charset="0"/>
              </a:rPr>
              <a:t>Usercount:',len</a:t>
            </a:r>
            <a:r>
              <a:rPr lang="en-US" dirty="0" smtClean="0">
                <a:solidFill>
                  <a:srgbClr val="6600CC"/>
                </a:solidFill>
                <a:latin typeface="Vrinda" pitchFamily="34" charset="0"/>
                <a:cs typeface="Vrinda" pitchFamily="34" charset="0"/>
              </a:rPr>
              <a:t>(</a:t>
            </a:r>
            <a:r>
              <a:rPr lang="en-US" dirty="0" err="1" smtClean="0">
                <a:solidFill>
                  <a:srgbClr val="6600CC"/>
                </a:solidFill>
                <a:latin typeface="Vrinda" pitchFamily="34" charset="0"/>
                <a:cs typeface="Vrinda" pitchFamily="34" charset="0"/>
              </a:rPr>
              <a:t>lst</a:t>
            </a:r>
            <a:r>
              <a:rPr lang="en-US" dirty="0" smtClean="0">
                <a:solidFill>
                  <a:srgbClr val="6600CC"/>
                </a:solidFill>
                <a:latin typeface="Vrinda" pitchFamily="34" charset="0"/>
                <a:cs typeface="Vrinda" pitchFamily="34" charset="0"/>
              </a:rPr>
              <a:t>)</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for item in </a:t>
            </a:r>
            <a:r>
              <a:rPr lang="en-US" dirty="0" err="1" smtClean="0">
                <a:solidFill>
                  <a:srgbClr val="6600CC"/>
                </a:solidFill>
                <a:latin typeface="Vrinda" pitchFamily="34" charset="0"/>
                <a:cs typeface="Vrinda" pitchFamily="34" charset="0"/>
              </a:rPr>
              <a:t>lst</a:t>
            </a:r>
            <a:r>
              <a:rPr lang="en-US" dirty="0" smtClean="0">
                <a:solidFill>
                  <a:srgbClr val="6600CC"/>
                </a:solidFill>
                <a:latin typeface="Vrinda" pitchFamily="34" charset="0"/>
                <a:cs typeface="Vrinda" pitchFamily="34" charset="0"/>
              </a:rPr>
              <a:t>: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	print '</a:t>
            </a:r>
            <a:r>
              <a:rPr lang="en-US" dirty="0" err="1" smtClean="0">
                <a:solidFill>
                  <a:srgbClr val="6600CC"/>
                </a:solidFill>
                <a:latin typeface="Vrinda" pitchFamily="34" charset="0"/>
                <a:cs typeface="Vrinda" pitchFamily="34" charset="0"/>
              </a:rPr>
              <a:t>Name',item.find</a:t>
            </a:r>
            <a:r>
              <a:rPr lang="en-US" dirty="0" smtClean="0">
                <a:solidFill>
                  <a:srgbClr val="6600CC"/>
                </a:solidFill>
                <a:latin typeface="Vrinda" pitchFamily="34" charset="0"/>
                <a:cs typeface="Vrinda" pitchFamily="34" charset="0"/>
              </a:rPr>
              <a:t>('name').text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	print '</a:t>
            </a:r>
            <a:r>
              <a:rPr lang="en-US" dirty="0" err="1" smtClean="0">
                <a:solidFill>
                  <a:srgbClr val="6600CC"/>
                </a:solidFill>
                <a:latin typeface="Vrinda" pitchFamily="34" charset="0"/>
                <a:cs typeface="Vrinda" pitchFamily="34" charset="0"/>
              </a:rPr>
              <a:t>Id',item.find</a:t>
            </a:r>
            <a:r>
              <a:rPr lang="en-US" dirty="0" smtClean="0">
                <a:solidFill>
                  <a:srgbClr val="6600CC"/>
                </a:solidFill>
                <a:latin typeface="Vrinda" pitchFamily="34" charset="0"/>
                <a:cs typeface="Vrinda" pitchFamily="34" charset="0"/>
              </a:rPr>
              <a:t>('id').text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	print '</a:t>
            </a:r>
            <a:r>
              <a:rPr lang="en-US" dirty="0" err="1" smtClean="0">
                <a:solidFill>
                  <a:srgbClr val="6600CC"/>
                </a:solidFill>
                <a:latin typeface="Vrinda" pitchFamily="34" charset="0"/>
                <a:cs typeface="Vrinda" pitchFamily="34" charset="0"/>
              </a:rPr>
              <a:t>Attribute',item.get</a:t>
            </a:r>
            <a:r>
              <a:rPr lang="en-US" dirty="0" smtClean="0">
                <a:solidFill>
                  <a:srgbClr val="6600CC"/>
                </a:solidFill>
                <a:latin typeface="Vrinda" pitchFamily="34" charset="0"/>
                <a:cs typeface="Vrinda" pitchFamily="34" charset="0"/>
              </a:rPr>
              <a:t>('x')</a:t>
            </a:r>
          </a:p>
        </p:txBody>
      </p:sp>
    </p:spTree>
    <p:extLst>
      <p:ext uri="{BB962C8B-B14F-4D97-AF65-F5344CB8AC3E}">
        <p14:creationId xmlns:p14="http://schemas.microsoft.com/office/powerpoint/2010/main" val="6606016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044388" y="2362200"/>
            <a:ext cx="4876800" cy="2083296"/>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IN" dirty="0" smtClean="0"/>
              <a:t>DOM is a cross language API.</a:t>
            </a:r>
          </a:p>
          <a:p>
            <a:pPr marL="342900" indent="-342900" algn="ctr">
              <a:buAutoNum type="arabicPeriod"/>
            </a:pPr>
            <a:r>
              <a:rPr lang="en-IN" dirty="0" smtClean="0"/>
              <a:t>True</a:t>
            </a:r>
          </a:p>
          <a:p>
            <a:pPr marL="342900" indent="-342900" algn="ctr">
              <a:buAutoNum type="arabicPeriod"/>
            </a:pPr>
            <a:r>
              <a:rPr lang="en-IN" dirty="0" smtClean="0"/>
              <a:t>False</a:t>
            </a:r>
          </a:p>
        </p:txBody>
      </p:sp>
    </p:spTree>
    <p:extLst>
      <p:ext uri="{BB962C8B-B14F-4D97-AF65-F5344CB8AC3E}">
        <p14:creationId xmlns:p14="http://schemas.microsoft.com/office/powerpoint/2010/main" val="620903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044388" y="2362200"/>
            <a:ext cx="4876800" cy="2083296"/>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IN" dirty="0" smtClean="0"/>
              <a:t>DOM is a cross language API.</a:t>
            </a:r>
          </a:p>
          <a:p>
            <a:pPr marL="342900" indent="-342900" algn="ctr">
              <a:buAutoNum type="arabicPeriod"/>
            </a:pPr>
            <a:r>
              <a:rPr lang="en-IN" dirty="0" smtClean="0"/>
              <a:t>True</a:t>
            </a:r>
          </a:p>
          <a:p>
            <a:pPr marL="342900" indent="-342900" algn="ctr">
              <a:buAutoNum type="arabicPeriod"/>
            </a:pPr>
            <a:r>
              <a:rPr lang="en-IN" dirty="0" smtClean="0"/>
              <a:t>False</a:t>
            </a:r>
          </a:p>
        </p:txBody>
      </p:sp>
      <p:grpSp>
        <p:nvGrpSpPr>
          <p:cNvPr id="5" name="Group 4"/>
          <p:cNvGrpSpPr/>
          <p:nvPr/>
        </p:nvGrpSpPr>
        <p:grpSpPr>
          <a:xfrm>
            <a:off x="3013578" y="5019607"/>
            <a:ext cx="4530222" cy="977946"/>
            <a:chOff x="304808" y="5638800"/>
            <a:chExt cx="2856450" cy="914400"/>
          </a:xfrm>
        </p:grpSpPr>
        <p:grpSp>
          <p:nvGrpSpPr>
            <p:cNvPr id="9" name="Group 8"/>
            <p:cNvGrpSpPr/>
            <p:nvPr/>
          </p:nvGrpSpPr>
          <p:grpSpPr>
            <a:xfrm>
              <a:off x="304808" y="5638800"/>
              <a:ext cx="2488567" cy="914400"/>
              <a:chOff x="6019800" y="1143000"/>
              <a:chExt cx="585545" cy="533400"/>
            </a:xfrm>
          </p:grpSpPr>
          <p:sp>
            <p:nvSpPr>
              <p:cNvPr id="12" name="Oval 11"/>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3" name="Oval 12"/>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10" name="Rectangle 9"/>
            <p:cNvSpPr/>
            <p:nvPr/>
          </p:nvSpPr>
          <p:spPr>
            <a:xfrm>
              <a:off x="1740577" y="6075261"/>
              <a:ext cx="1420681"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True</a:t>
              </a:r>
              <a:endParaRPr lang="en-US" sz="1600" dirty="0">
                <a:solidFill>
                  <a:schemeClr val="bg1"/>
                </a:solidFill>
                <a:latin typeface="+mn-lt"/>
                <a:cs typeface="Arial" charset="0"/>
              </a:endParaRPr>
            </a:p>
          </p:txBody>
        </p:sp>
        <p:sp>
          <p:nvSpPr>
            <p:cNvPr id="11" name="Rectangle 10"/>
            <p:cNvSpPr/>
            <p:nvPr/>
          </p:nvSpPr>
          <p:spPr>
            <a:xfrm>
              <a:off x="588818" y="5963799"/>
              <a:ext cx="1287878" cy="338554"/>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Answer:</a:t>
              </a:r>
              <a:endParaRPr lang="en-US" sz="1600" dirty="0">
                <a:solidFill>
                  <a:schemeClr val="bg1"/>
                </a:solidFill>
                <a:latin typeface="+mn-lt"/>
              </a:endParaRPr>
            </a:p>
          </p:txBody>
        </p:sp>
      </p:grpSp>
    </p:spTree>
    <p:extLst>
      <p:ext uri="{BB962C8B-B14F-4D97-AF65-F5344CB8AC3E}">
        <p14:creationId xmlns:p14="http://schemas.microsoft.com/office/powerpoint/2010/main" val="2719235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IN" sz="1600" dirty="0" smtClean="0">
              <a:solidFill>
                <a:srgbClr val="6600CC"/>
              </a:solidFill>
              <a:latin typeface="Vrinda" pitchFamily="34" charset="0"/>
              <a:cs typeface="Vrinda" pitchFamily="34" charset="0"/>
            </a:endParaRPr>
          </a:p>
        </p:txBody>
      </p:sp>
      <p:sp>
        <p:nvSpPr>
          <p:cNvPr id="6" name="Title 1"/>
          <p:cNvSpPr>
            <a:spLocks noGrp="1"/>
          </p:cNvSpPr>
          <p:nvPr>
            <p:ph type="title"/>
          </p:nvPr>
        </p:nvSpPr>
        <p:spPr>
          <a:xfrm>
            <a:off x="540000" y="540000"/>
            <a:ext cx="414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Activity</a:t>
            </a:r>
            <a:endParaRPr lang="en-US" sz="2400" b="1" dirty="0">
              <a:solidFill>
                <a:schemeClr val="bg1"/>
              </a:solidFill>
              <a:latin typeface="Vrinda" pitchFamily="34" charset="0"/>
              <a:cs typeface="Vrinda" pitchFamily="34" charset="0"/>
            </a:endParaRPr>
          </a:p>
        </p:txBody>
      </p:sp>
      <p:sp>
        <p:nvSpPr>
          <p:cNvPr id="2" name="Rectangle 1"/>
          <p:cNvSpPr/>
          <p:nvPr/>
        </p:nvSpPr>
        <p:spPr>
          <a:xfrm>
            <a:off x="588704" y="1744674"/>
            <a:ext cx="7848872" cy="487506"/>
          </a:xfrm>
          <a:prstGeom prst="rect">
            <a:avLst/>
          </a:prstGeom>
        </p:spPr>
        <p:txBody>
          <a:bodyPr wrap="square">
            <a:spAutoFit/>
          </a:bodyPr>
          <a:lstStyle/>
          <a:p>
            <a:pPr>
              <a:lnSpc>
                <a:spcPct val="107000"/>
              </a:lnSpc>
              <a:spcAft>
                <a:spcPts val="800"/>
              </a:spcAft>
            </a:pPr>
            <a:r>
              <a:rPr lang="en-US" sz="2400" b="1" dirty="0" smtClean="0">
                <a:solidFill>
                  <a:srgbClr val="6600CC"/>
                </a:solidFill>
                <a:ea typeface="Calibri" panose="020F0502020204030204" pitchFamily="34" charset="0"/>
                <a:cs typeface="Vrinda" panose="020B0502040204020203" pitchFamily="34" charset="0"/>
              </a:rPr>
              <a:t>Activity : Parsing XML Data</a:t>
            </a:r>
            <a:endParaRPr lang="en-US" sz="2400" dirty="0">
              <a:solidFill>
                <a:srgbClr val="6600CC"/>
              </a:solidFill>
              <a:effectLst/>
              <a:ea typeface="Calibri" panose="020F0502020204030204" pitchFamily="34" charset="0"/>
              <a:cs typeface="Vrinda" panose="020B0502040204020203" pitchFamily="34" charset="0"/>
            </a:endParaRPr>
          </a:p>
        </p:txBody>
      </p:sp>
      <p:sp>
        <p:nvSpPr>
          <p:cNvPr id="3" name="Rectangle 1"/>
          <p:cNvSpPr>
            <a:spLocks noChangeArrowheads="1"/>
          </p:cNvSpPr>
          <p:nvPr/>
        </p:nvSpPr>
        <p:spPr bwMode="auto">
          <a:xfrm>
            <a:off x="593832" y="2292965"/>
            <a:ext cx="8046168" cy="24314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6600CC"/>
                </a:solidFill>
                <a:effectLst/>
                <a:ea typeface="Calibri" panose="020F0502020204030204" pitchFamily="34" charset="0"/>
                <a:cs typeface="Times New Roman" panose="02020603050405020304" pitchFamily="18" charset="0"/>
              </a:rPr>
              <a:t>Problem Statement: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smtClean="0">
              <a:ln>
                <a:noFill/>
              </a:ln>
              <a:solidFill>
                <a:srgbClr val="6600CC"/>
              </a:solidFill>
              <a:effectLst/>
            </a:endParaRPr>
          </a:p>
          <a:p>
            <a:r>
              <a:rPr lang="en-US" sz="2000" dirty="0" smtClean="0">
                <a:solidFill>
                  <a:srgbClr val="6600CC"/>
                </a:solidFill>
              </a:rPr>
              <a:t>Write a program to read the data from XML file.</a:t>
            </a:r>
          </a:p>
          <a:p>
            <a:endParaRPr lang="en-US" sz="2000" dirty="0">
              <a:solidFill>
                <a:srgbClr val="6600CC"/>
              </a:solidFill>
            </a:endParaRPr>
          </a:p>
          <a:p>
            <a:r>
              <a:rPr lang="en-US" sz="2000" b="1" dirty="0">
                <a:solidFill>
                  <a:srgbClr val="6600CC"/>
                </a:solidFill>
              </a:rPr>
              <a:t>Prerequisite:</a:t>
            </a:r>
            <a:r>
              <a:rPr lang="en-US" sz="2000" dirty="0">
                <a:solidFill>
                  <a:srgbClr val="6600CC"/>
                </a:solidFill>
              </a:rPr>
              <a:t> </a:t>
            </a:r>
            <a:r>
              <a:rPr lang="en-US" sz="2000" dirty="0" smtClean="0">
                <a:solidFill>
                  <a:srgbClr val="6600CC"/>
                </a:solidFill>
              </a:rPr>
              <a:t>For </a:t>
            </a:r>
            <a:r>
              <a:rPr lang="en-US" sz="2000" dirty="0">
                <a:solidFill>
                  <a:srgbClr val="6600CC"/>
                </a:solidFill>
              </a:rPr>
              <a:t>this activity please refer </a:t>
            </a:r>
            <a:r>
              <a:rPr lang="en-US" sz="2000" b="1" dirty="0">
                <a:solidFill>
                  <a:srgbClr val="6600CC"/>
                </a:solidFill>
              </a:rPr>
              <a:t>movie.xml</a:t>
            </a:r>
            <a:r>
              <a:rPr lang="en-US" sz="2000" b="1" dirty="0" smtClean="0">
                <a:solidFill>
                  <a:srgbClr val="6600CC"/>
                </a:solidFill>
              </a:rPr>
              <a:t> </a:t>
            </a:r>
            <a:r>
              <a:rPr lang="en-US" sz="2000" dirty="0">
                <a:solidFill>
                  <a:srgbClr val="6600CC"/>
                </a:solidFill>
              </a:rPr>
              <a:t>available in  “</a:t>
            </a:r>
            <a:r>
              <a:rPr lang="en-US" sz="2000" b="1" dirty="0" err="1">
                <a:solidFill>
                  <a:srgbClr val="6600CC"/>
                </a:solidFill>
              </a:rPr>
              <a:t>Data_File_For_Students</a:t>
            </a:r>
            <a:r>
              <a:rPr lang="en-US" sz="2000" dirty="0">
                <a:solidFill>
                  <a:srgbClr val="6600CC"/>
                </a:solidFill>
              </a:rPr>
              <a:t>” folder.</a:t>
            </a:r>
          </a:p>
          <a:p>
            <a:endParaRPr lang="en-US" sz="1600" dirty="0" smtClean="0"/>
          </a:p>
        </p:txBody>
      </p:sp>
    </p:spTree>
    <p:extLst>
      <p:ext uri="{BB962C8B-B14F-4D97-AF65-F5344CB8AC3E}">
        <p14:creationId xmlns:p14="http://schemas.microsoft.com/office/powerpoint/2010/main" val="1481611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Summary</a:t>
            </a:r>
            <a:endParaRPr lang="en-US" sz="2400" b="1" dirty="0">
              <a:solidFill>
                <a:schemeClr val="bg1"/>
              </a:solidFill>
              <a:latin typeface="Vrinda" pitchFamily="34" charset="0"/>
              <a:cs typeface="Vrinda" pitchFamily="34" charset="0"/>
            </a:endParaRPr>
          </a:p>
        </p:txBody>
      </p:sp>
      <p:sp>
        <p:nvSpPr>
          <p:cNvPr id="2" name="Rectangle 1"/>
          <p:cNvSpPr/>
          <p:nvPr/>
        </p:nvSpPr>
        <p:spPr>
          <a:xfrm>
            <a:off x="304800" y="1603942"/>
            <a:ext cx="8229600" cy="2086725"/>
          </a:xfrm>
          <a:prstGeom prst="rect">
            <a:avLst/>
          </a:prstGeom>
        </p:spPr>
        <p:txBody>
          <a:bodyPr wrap="square">
            <a:spAutoFit/>
          </a:bodyPr>
          <a:lstStyle/>
          <a:p>
            <a:pPr marL="514350" lvl="1" indent="-396875" defTabSz="914363">
              <a:lnSpc>
                <a:spcPct val="90000"/>
              </a:lnSpc>
              <a:buSzPct val="100000"/>
              <a:buBlip>
                <a:blip r:embed="rId3"/>
              </a:buBlip>
            </a:pPr>
            <a:endParaRPr lang="en-IN" sz="2000" dirty="0" smtClean="0">
              <a:solidFill>
                <a:srgbClr val="6600CC"/>
              </a:solidFill>
              <a:latin typeface="Vrinda" pitchFamily="34" charset="0"/>
              <a:cs typeface="Vrinda" pitchFamily="34" charset="0"/>
            </a:endParaRPr>
          </a:p>
          <a:p>
            <a:pPr marL="514350" lvl="1" indent="-396875" defTabSz="914363">
              <a:lnSpc>
                <a:spcPct val="90000"/>
              </a:lnSpc>
              <a:buSzPct val="100000"/>
              <a:buFont typeface="Wingdings" panose="05000000000000000000" pitchFamily="2" charset="2"/>
              <a:buChar char="q"/>
            </a:pPr>
            <a:r>
              <a:rPr lang="en-IN" sz="2400" dirty="0" smtClean="0">
                <a:solidFill>
                  <a:srgbClr val="6600CC"/>
                </a:solidFill>
                <a:cs typeface="Vrinda" pitchFamily="34" charset="0"/>
              </a:rPr>
              <a:t>In </a:t>
            </a:r>
            <a:r>
              <a:rPr lang="en-IN" sz="2400" dirty="0">
                <a:solidFill>
                  <a:srgbClr val="6600CC"/>
                </a:solidFill>
                <a:cs typeface="Vrinda" pitchFamily="34" charset="0"/>
              </a:rPr>
              <a:t>this session, </a:t>
            </a:r>
            <a:r>
              <a:rPr lang="en-IN" sz="2400" dirty="0" smtClean="0">
                <a:solidFill>
                  <a:srgbClr val="6600CC"/>
                </a:solidFill>
                <a:cs typeface="Vrinda" pitchFamily="34" charset="0"/>
              </a:rPr>
              <a:t>you learned </a:t>
            </a:r>
            <a:r>
              <a:rPr lang="en-IN" sz="2400" dirty="0">
                <a:solidFill>
                  <a:srgbClr val="6600CC"/>
                </a:solidFill>
                <a:cs typeface="Vrinda" pitchFamily="34" charset="0"/>
              </a:rPr>
              <a:t>to:</a:t>
            </a:r>
          </a:p>
          <a:p>
            <a:pPr marL="900000" lvl="1" indent="-396875" defTabSz="365760">
              <a:lnSpc>
                <a:spcPct val="90000"/>
              </a:lnSpc>
              <a:buSzPct val="120000"/>
              <a:buFont typeface="Wingdings" panose="05000000000000000000" pitchFamily="2" charset="2"/>
              <a:buChar char="q"/>
            </a:pPr>
            <a:endParaRPr lang="en-IN" sz="2000" dirty="0">
              <a:solidFill>
                <a:srgbClr val="6600CC"/>
              </a:solidFill>
              <a:latin typeface="Vrinda" pitchFamily="34" charset="0"/>
              <a:cs typeface="Vrinda" pitchFamily="34" charset="0"/>
            </a:endParaRPr>
          </a:p>
          <a:p>
            <a:pPr marL="900000" lvl="1" indent="-396875" defTabSz="365760">
              <a:lnSpc>
                <a:spcPct val="90000"/>
              </a:lnSpc>
              <a:buSzPct val="120000"/>
              <a:buFont typeface="Wingdings" panose="05000000000000000000" pitchFamily="2" charset="2"/>
              <a:buChar char="q"/>
            </a:pPr>
            <a:r>
              <a:rPr lang="en-IN" sz="2000" dirty="0">
                <a:solidFill>
                  <a:srgbClr val="6600CC"/>
                </a:solidFill>
                <a:cs typeface="Vrinda" pitchFamily="34" charset="0"/>
              </a:rPr>
              <a:t>Implement Web Scraping (Parsing HTML and XML </a:t>
            </a:r>
            <a:r>
              <a:rPr lang="en-IN" sz="2000" dirty="0" smtClean="0">
                <a:solidFill>
                  <a:srgbClr val="6600CC"/>
                </a:solidFill>
                <a:cs typeface="Vrinda" pitchFamily="34" charset="0"/>
              </a:rPr>
              <a:t>Data</a:t>
            </a:r>
            <a:r>
              <a:rPr lang="en-IN" sz="2000" dirty="0">
                <a:solidFill>
                  <a:srgbClr val="6600CC"/>
                </a:solidFill>
                <a:cs typeface="Vrinda" pitchFamily="34" charset="0"/>
              </a:rPr>
              <a:t>).</a:t>
            </a:r>
          </a:p>
          <a:p>
            <a:pPr marL="900000" lvl="1" indent="-396875" defTabSz="365760">
              <a:lnSpc>
                <a:spcPct val="90000"/>
              </a:lnSpc>
              <a:buSzPct val="120000"/>
              <a:buFont typeface="Wingdings" panose="05000000000000000000" pitchFamily="2" charset="2"/>
              <a:buChar char="q"/>
            </a:pPr>
            <a:r>
              <a:rPr lang="en-IN" sz="2000" dirty="0">
                <a:solidFill>
                  <a:srgbClr val="6600CC"/>
                </a:solidFill>
                <a:cs typeface="Vrinda" pitchFamily="34" charset="0"/>
              </a:rPr>
              <a:t>Use Web Services in Python.</a:t>
            </a:r>
          </a:p>
          <a:p>
            <a:pPr marL="900000" lvl="1" indent="-396875" defTabSz="365760">
              <a:lnSpc>
                <a:spcPct val="90000"/>
              </a:lnSpc>
              <a:buSzPct val="120000"/>
              <a:buFont typeface="Wingdings" panose="05000000000000000000" pitchFamily="2" charset="2"/>
              <a:buChar char="q"/>
            </a:pPr>
            <a:r>
              <a:rPr lang="en-IN" sz="2000" dirty="0">
                <a:solidFill>
                  <a:srgbClr val="6600CC"/>
                </a:solidFill>
                <a:cs typeface="Vrinda" pitchFamily="34" charset="0"/>
              </a:rPr>
              <a:t>Understand XML file Structure. </a:t>
            </a:r>
          </a:p>
          <a:p>
            <a:pPr marL="900000" lvl="1" indent="-396875" defTabSz="365760">
              <a:lnSpc>
                <a:spcPct val="90000"/>
              </a:lnSpc>
              <a:buSzPct val="120000"/>
              <a:buFont typeface="Wingdings" panose="05000000000000000000" pitchFamily="2" charset="2"/>
              <a:buChar char="q"/>
            </a:pPr>
            <a:r>
              <a:rPr lang="en-IN" sz="2000" dirty="0">
                <a:solidFill>
                  <a:srgbClr val="6600CC"/>
                </a:solidFill>
                <a:cs typeface="Vrinda" pitchFamily="34" charset="0"/>
              </a:rPr>
              <a:t>Parse and </a:t>
            </a:r>
            <a:r>
              <a:rPr lang="en-IN" sz="2000" dirty="0" smtClean="0">
                <a:solidFill>
                  <a:srgbClr val="6600CC"/>
                </a:solidFill>
                <a:cs typeface="Vrinda" pitchFamily="34" charset="0"/>
              </a:rPr>
              <a:t>Read </a:t>
            </a:r>
            <a:r>
              <a:rPr lang="en-IN" sz="2000" dirty="0">
                <a:solidFill>
                  <a:srgbClr val="6600CC"/>
                </a:solidFill>
                <a:cs typeface="Vrinda" pitchFamily="34" charset="0"/>
              </a:rPr>
              <a:t>XML data through </a:t>
            </a:r>
            <a:r>
              <a:rPr lang="en-IN" sz="2000" dirty="0" smtClean="0">
                <a:solidFill>
                  <a:srgbClr val="6600CC"/>
                </a:solidFill>
                <a:cs typeface="Vrinda" pitchFamily="34" charset="0"/>
              </a:rPr>
              <a:t>Nodes</a:t>
            </a:r>
            <a:r>
              <a:rPr lang="en-IN" sz="2000" dirty="0">
                <a:solidFill>
                  <a:srgbClr val="6600CC"/>
                </a:solidFill>
                <a:cs typeface="Vrinda" pitchFamily="34" charset="0"/>
              </a:rPr>
              <a:t>.</a:t>
            </a:r>
          </a:p>
        </p:txBody>
      </p:sp>
    </p:spTree>
    <p:extLst>
      <p:ext uri="{BB962C8B-B14F-4D97-AF65-F5344CB8AC3E}">
        <p14:creationId xmlns:p14="http://schemas.microsoft.com/office/powerpoint/2010/main" val="402079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ARTICULATE_PROJECT_OPEN" val="0"/>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Logic Building and Effective Problem Solving&amp;quot;&quot;/&gt;&lt;property id=&quot;20307&quot; value=&quot;256&quot;/&gt;&lt;/object&gt;&lt;object type=&quot;3&quot; unique_id=&quot;10005&quot;&gt;&lt;property id=&quot;20148&quot; value=&quot;5&quot;/&gt;&lt;property id=&quot;20300&quot; value=&quot;Slide 2 - &amp;quot;Objectives&amp;quot;&quot;/&gt;&lt;property id=&quot;20307&quot; value=&quot;257&quot;/&gt;&lt;/object&gt;&lt;object type=&quot;3&quot; unique_id=&quot;10006&quot;&gt;&lt;property id=&quot;20148&quot; value=&quot;5&quot;/&gt;&lt;property id=&quot;20300&quot; value=&quot;Slide 3 - &amp;quot;Input, Process, and Output&amp;quot;&quot;/&gt;&lt;property id=&quot;20307&quot; value=&quot;269&quot;/&gt;&lt;/object&gt;&lt;object type=&quot;3&quot; unique_id=&quot;10007&quot;&gt;&lt;property id=&quot;20148&quot; value=&quot;5&quot;/&gt;&lt;property id=&quot;20300&quot; value=&quot;Slide 4 - &amp;quot;Phases&amp;quot;&quot;/&gt;&lt;property id=&quot;20307&quot; value=&quot;270&quot;/&gt;&lt;/object&gt;&lt;object type=&quot;3&quot; unique_id=&quot;10008&quot;&gt;&lt;property id=&quot;20148&quot; value=&quot;5&quot;/&gt;&lt;property id=&quot;20300&quot; value=&quot;Slide 5 - &amp;quot;I-P-O Cycle&amp;quot;&quot;/&gt;&lt;property id=&quot;20307&quot; value=&quot;334&quot;/&gt;&lt;/object&gt;&lt;object type=&quot;3&quot; unique_id=&quot;10009&quot;&gt;&lt;property id=&quot;20148&quot; value=&quot;5&quot;/&gt;&lt;property id=&quot;20300&quot; value=&quot;Slide 6 - &amp;quot;1.1 Let’s Practice &amp;quot;&quot;/&gt;&lt;property id=&quot;20307&quot; value=&quot;271&quot;/&gt;&lt;/object&gt;&lt;object type=&quot;3&quot; unique_id=&quot;10011&quot;&gt;&lt;property id=&quot;20148&quot; value=&quot;5&quot;/&gt;&lt;property id=&quot;20300&quot; value=&quot;Slide 9 - &amp;quot;Programs and Programming Languages&amp;quot;&quot;/&gt;&lt;property id=&quot;20307&quot; value=&quot;335&quot;/&gt;&lt;/object&gt;&lt;object type=&quot;3&quot; unique_id=&quot;10012&quot;&gt;&lt;property id=&quot;20148&quot; value=&quot;5&quot;/&gt;&lt;property id=&quot;20300&quot; value=&quot;Slide 10 - &amp;quot;Programs&amp;quot;&quot;/&gt;&lt;property id=&quot;20307&quot; value=&quot;272&quot;/&gt;&lt;/object&gt;&lt;object type=&quot;3&quot; unique_id=&quot;10013&quot;&gt;&lt;property id=&quot;20148&quot; value=&quot;5&quot;/&gt;&lt;property id=&quot;20300&quot; value=&quot;Slide 11 - &amp;quot;Programs (Contd.)&amp;quot;&quot;/&gt;&lt;property id=&quot;20307&quot; value=&quot;348&quot;/&gt;&lt;/object&gt;&lt;object type=&quot;3&quot; unique_id=&quot;10014&quot;&gt;&lt;property id=&quot;20148&quot; value=&quot;5&quot;/&gt;&lt;property id=&quot;20300&quot; value=&quot;Slide 12 - &amp;quot;Programming Languages&amp;quot;&quot;/&gt;&lt;property id=&quot;20307&quot; value=&quot;273&quot;/&gt;&lt;/object&gt;&lt;object type=&quot;3&quot; unique_id=&quot;10015&quot;&gt;&lt;property id=&quot;20148&quot; value=&quot;5&quot;/&gt;&lt;property id=&quot;20300&quot; value=&quot;Slide 13 - &amp;quot;Programming Languages (Contd.)&amp;quot;&quot;/&gt;&lt;property id=&quot;20307&quot; value=&quot;349&quot;/&gt;&lt;/object&gt;&lt;object type=&quot;3&quot; unique_id=&quot;10016&quot;&gt;&lt;property id=&quot;20148&quot; value=&quot;5&quot;/&gt;&lt;property id=&quot;20300&quot; value=&quot;Slide 15 - &amp;quot;Compilers&amp;quot;&quot;/&gt;&lt;property id=&quot;20307&quot; value=&quot;351&quot;/&gt;&lt;/object&gt;&lt;object type=&quot;3&quot; unique_id=&quot;10017&quot;&gt;&lt;property id=&quot;20148&quot; value=&quot;5&quot;/&gt;&lt;property id=&quot;20300&quot; value=&quot;Slide 17 - &amp;quot;Compilers (Contd.)&amp;quot;&quot;/&gt;&lt;property id=&quot;20307&quot; value=&quot;336&quot;/&gt;&lt;/object&gt;&lt;object type=&quot;3&quot; unique_id=&quot;10018&quot;&gt;&lt;property id=&quot;20148&quot; value=&quot;5&quot;/&gt;&lt;property id=&quot;20300&quot; value=&quot;Slide 18 - &amp;quot;Just a Minute &amp;quot;&quot;/&gt;&lt;property id=&quot;20307&quot; value=&quot;352&quot;/&gt;&lt;/object&gt;&lt;object type=&quot;3&quot; unique_id=&quot;10031&quot;&gt;&lt;property id=&quot;20148&quot; value=&quot;5&quot;/&gt;&lt;property id=&quot;20300&quot; value=&quot;Slide 19 - &amp;quot;Summary&amp;quot;&quot;/&gt;&lt;property id=&quot;20307&quot; value=&quot;362&quot;/&gt;&lt;/object&gt;&lt;object type=&quot;3&quot; unique_id=&quot;10033&quot;&gt;&lt;property id=&quot;20148&quot; value=&quot;5&quot;/&gt;&lt;property id=&quot;20300&quot; value=&quot;Slide 7 - &amp;quot;1.1 Let’s Practice (Contd.) &amp;quot;&quot;/&gt;&lt;property id=&quot;20307&quot; value=&quot;365&quot;/&gt;&lt;/object&gt;&lt;object type=&quot;3&quot; unique_id=&quot;10034&quot;&gt;&lt;property id=&quot;20148&quot; value=&quot;5&quot;/&gt;&lt;property id=&quot;20300&quot; value=&quot;Slide 8 - &amp;quot;1.1 Let’s Practice (Contd.) &amp;quot;&quot;/&gt;&lt;property id=&quot;20307&quot; value=&quot;366&quot;/&gt;&lt;/object&gt;&lt;object type=&quot;3&quot; unique_id=&quot;10037&quot;&gt;&lt;property id=&quot;20148&quot; value=&quot;5&quot;/&gt;&lt;property id=&quot;20300&quot; value=&quot;Slide 14 - &amp;quot;Programming Languages (Contd.)&amp;quot;&quot;/&gt;&lt;property id=&quot;20307&quot; value=&quot;370&quot;/&gt;&lt;/object&gt;&lt;object type=&quot;3&quot; unique_id=&quot;10038&quot;&gt;&lt;property id=&quot;20148&quot; value=&quot;5&quot;/&gt;&lt;property id=&quot;20300&quot; value=&quot;Slide 16 - &amp;quot;Compilers (Contd.)&amp;quot;&quot;/&gt;&lt;property id=&quot;20307&quot; value=&quot;371&quot;/&gt;&lt;/object&gt;&lt;object type=&quot;3&quot; unique_id=&quot;10039&quot;&gt;&lt;property id=&quot;20148&quot; value=&quot;5&quot;/&gt;&lt;property id=&quot;20300&quot; value=&quot;Slide 20 - &amp;quot;What’s Next?&amp;quot;&quot;/&gt;&lt;property id=&quot;20307&quot; value=&quot;369&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3.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a:spAutoFit/>
      </a:bodyPr>
      <a:lstStyle>
        <a:defPPr marL="514350" indent="-396875" defTabSz="914363">
          <a:lnSpc>
            <a:spcPct val="90000"/>
          </a:lnSpc>
          <a:spcBef>
            <a:spcPct val="20000"/>
          </a:spcBef>
          <a:buSzPct val="100000"/>
          <a:buBlip>
            <a:blip xmlns:r="http://schemas.openxmlformats.org/officeDocument/2006/relationships" r:embed="rId1"/>
          </a:buBlip>
          <a:defRPr sz="2000" dirty="0">
            <a:solidFill>
              <a:srgbClr val="6600CC"/>
            </a:solidFill>
            <a:latin typeface="Vrinda" pitchFamily="34" charset="0"/>
            <a:cs typeface="Vrinda" pitchFamily="34" charset="0"/>
          </a:defRPr>
        </a:defPPr>
      </a:lstStyle>
    </a:spDef>
  </a:objectDefaults>
  <a:extraClrSchemeLst/>
</a:theme>
</file>

<file path=ppt/theme/theme2.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marL="796925" indent="-396875" defTabSz="914363">
          <a:lnSpc>
            <a:spcPct val="90000"/>
          </a:lnSpc>
          <a:spcBef>
            <a:spcPct val="20000"/>
          </a:spcBef>
          <a:buSzPct val="120000"/>
          <a:buBlip>
            <a:blip xmlns:r="http://schemas.openxmlformats.org/officeDocument/2006/relationships" r:embed="rId1"/>
          </a:buBlip>
          <a:defRPr dirty="0">
            <a:solidFill>
              <a:srgbClr val="6600CC"/>
            </a:solidFill>
            <a:latin typeface="Vrinda" pitchFamily="34" charset="0"/>
            <a:cs typeface="Vrinda" pitchFamily="34" charset="0"/>
          </a:defRPr>
        </a:defPPr>
      </a:lstStyle>
    </a:txDef>
  </a:objectDefaults>
  <a:extraClrSchemeLst/>
</a:theme>
</file>

<file path=ppt/theme/theme4.xml><?xml version="1.0" encoding="utf-8"?>
<a:theme xmlns:a="http://schemas.openxmlformats.org/drawingml/2006/main" name="9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14901</TotalTime>
  <Words>2393</Words>
  <Application>Microsoft Office PowerPoint</Application>
  <PresentationFormat>On-screen Show (4:3)</PresentationFormat>
  <Paragraphs>435</Paragraphs>
  <Slides>21</Slides>
  <Notes>20</Notes>
  <HiddenSlides>0</HiddenSlides>
  <MMClips>0</MMClips>
  <ScaleCrop>false</ScaleCrop>
  <HeadingPairs>
    <vt:vector size="4" baseType="variant">
      <vt:variant>
        <vt:lpstr>Theme</vt:lpstr>
      </vt:variant>
      <vt:variant>
        <vt:i4>4</vt:i4>
      </vt:variant>
      <vt:variant>
        <vt:lpstr>Slide Titles</vt:lpstr>
      </vt:variant>
      <vt:variant>
        <vt:i4>21</vt:i4>
      </vt:variant>
    </vt:vector>
  </HeadingPairs>
  <TitlesOfParts>
    <vt:vector size="25" baseType="lpstr">
      <vt:lpstr>Office Theme</vt:lpstr>
      <vt:lpstr>6_Office Theme</vt:lpstr>
      <vt:lpstr>7_Office Theme</vt:lpstr>
      <vt:lpstr>9_Office Theme</vt:lpstr>
      <vt:lpstr>Web Scraping and Using Web Services</vt:lpstr>
      <vt:lpstr>Objectives</vt:lpstr>
      <vt:lpstr>Parsing HTML (Web Scraping)</vt:lpstr>
      <vt:lpstr>Parsing HTML (Web Scraping) (Contd.)</vt:lpstr>
      <vt:lpstr>Parsing HTML (Web Scraping) (Contd.)</vt:lpstr>
      <vt:lpstr>Just a Minute</vt:lpstr>
      <vt:lpstr>Just a Minute</vt:lpstr>
      <vt:lpstr>Activity</vt:lpstr>
      <vt:lpstr>Web Services in Python</vt:lpstr>
      <vt:lpstr>Web Services in Python (Contd.)</vt:lpstr>
      <vt:lpstr>PowerPoint Presentation</vt:lpstr>
      <vt:lpstr>PowerPoint Presentation</vt:lpstr>
      <vt:lpstr>Just a Minute</vt:lpstr>
      <vt:lpstr>Just a Minute</vt:lpstr>
      <vt:lpstr>PowerPoint Presentation</vt:lpstr>
      <vt:lpstr>Parsing XML</vt:lpstr>
      <vt:lpstr>Looping through Nodes</vt:lpstr>
      <vt:lpstr>Just a Minute</vt:lpstr>
      <vt:lpstr>Just a Minute</vt:lpstr>
      <vt:lpstr>Activity</vt:lpstr>
      <vt:lpstr>Summary</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Jasneet Kaur</dc:creator>
  <cp:lastModifiedBy>AnnuS</cp:lastModifiedBy>
  <cp:revision>695</cp:revision>
  <dcterms:created xsi:type="dcterms:W3CDTF">2012-02-06T03:44:02Z</dcterms:created>
  <dcterms:modified xsi:type="dcterms:W3CDTF">2015-10-08T09:31:00Z</dcterms:modified>
</cp:coreProperties>
</file>