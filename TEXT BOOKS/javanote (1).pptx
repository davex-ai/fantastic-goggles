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369" r:id="rId3"/>
    <p:sldId id="370" r:id="rId4"/>
    <p:sldId id="371" r:id="rId5"/>
    <p:sldId id="372" r:id="rId6"/>
    <p:sldId id="373" r:id="rId7"/>
    <p:sldId id="374" r:id="rId8"/>
    <p:sldId id="375" r:id="rId9"/>
    <p:sldId id="382" r:id="rId10"/>
    <p:sldId id="383" r:id="rId11"/>
    <p:sldId id="384" r:id="rId12"/>
    <p:sldId id="385" r:id="rId13"/>
    <p:sldId id="386" r:id="rId14"/>
    <p:sldId id="376" r:id="rId15"/>
    <p:sldId id="377" r:id="rId16"/>
    <p:sldId id="378" r:id="rId17"/>
    <p:sldId id="379" r:id="rId18"/>
    <p:sldId id="380" r:id="rId19"/>
    <p:sldId id="389" r:id="rId20"/>
    <p:sldId id="390" r:id="rId21"/>
    <p:sldId id="391" r:id="rId22"/>
    <p:sldId id="392" r:id="rId23"/>
    <p:sldId id="393" r:id="rId24"/>
    <p:sldId id="394" r:id="rId25"/>
    <p:sldId id="395" r:id="rId26"/>
    <p:sldId id="396" r:id="rId27"/>
    <p:sldId id="397" r:id="rId28"/>
    <p:sldId id="398" r:id="rId29"/>
    <p:sldId id="399" r:id="rId30"/>
    <p:sldId id="400" r:id="rId31"/>
    <p:sldId id="401" r:id="rId32"/>
    <p:sldId id="387" r:id="rId33"/>
    <p:sldId id="388" r:id="rId34"/>
    <p:sldId id="381" r:id="rId35"/>
    <p:sldId id="402" r:id="rId36"/>
    <p:sldId id="403" r:id="rId37"/>
    <p:sldId id="404" r:id="rId38"/>
    <p:sldId id="405" r:id="rId39"/>
    <p:sldId id="406" r:id="rId40"/>
    <p:sldId id="31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AEDBB9-FCCA-4348-9B06-040F7959BEE3}">
          <p14:sldIdLst>
            <p14:sldId id="256"/>
            <p14:sldId id="369"/>
            <p14:sldId id="370"/>
            <p14:sldId id="371"/>
            <p14:sldId id="372"/>
            <p14:sldId id="373"/>
            <p14:sldId id="374"/>
            <p14:sldId id="375"/>
            <p14:sldId id="382"/>
            <p14:sldId id="383"/>
            <p14:sldId id="384"/>
            <p14:sldId id="385"/>
            <p14:sldId id="386"/>
            <p14:sldId id="376"/>
            <p14:sldId id="377"/>
            <p14:sldId id="378"/>
            <p14:sldId id="379"/>
            <p14:sldId id="380"/>
            <p14:sldId id="389"/>
            <p14:sldId id="390"/>
            <p14:sldId id="391"/>
            <p14:sldId id="392"/>
            <p14:sldId id="393"/>
            <p14:sldId id="394"/>
            <p14:sldId id="395"/>
            <p14:sldId id="396"/>
            <p14:sldId id="397"/>
            <p14:sldId id="398"/>
            <p14:sldId id="399"/>
            <p14:sldId id="400"/>
            <p14:sldId id="401"/>
            <p14:sldId id="387"/>
            <p14:sldId id="388"/>
            <p14:sldId id="381"/>
            <p14:sldId id="402"/>
            <p14:sldId id="403"/>
            <p14:sldId id="404"/>
            <p14:sldId id="405"/>
            <p14:sldId id="406"/>
          </p14:sldIdLst>
        </p14:section>
        <p14:section name="Untitled Section" id="{8145D2E6-935E-409A-A56A-48F5F5E489AC}">
          <p14:sldIdLst>
            <p14:sldId id="3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11" autoAdjust="0"/>
    <p:restoredTop sz="94660"/>
  </p:normalViewPr>
  <p:slideViewPr>
    <p:cSldViewPr snapToGrid="0">
      <p:cViewPr varScale="1">
        <p:scale>
          <a:sx n="69" d="100"/>
          <a:sy n="69" d="100"/>
        </p:scale>
        <p:origin x="59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90C96-97FB-42C8-BD06-3170CD232869}"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CD6664-D3D8-433F-857E-C67D492A4E30}" type="slidenum">
              <a:rPr lang="en-US" smtClean="0"/>
              <a:t>‹#›</a:t>
            </a:fld>
            <a:endParaRPr lang="en-US"/>
          </a:p>
        </p:txBody>
      </p:sp>
    </p:spTree>
    <p:extLst>
      <p:ext uri="{BB962C8B-B14F-4D97-AF65-F5344CB8AC3E}">
        <p14:creationId xmlns:p14="http://schemas.microsoft.com/office/powerpoint/2010/main" val="31425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E4446B7-D8BC-40A0-ADC8-04800C2BF78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208509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446B7-D8BC-40A0-ADC8-04800C2BF78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1971322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E4446B7-D8BC-40A0-ADC8-04800C2BF78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422544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4446B7-D8BC-40A0-ADC8-04800C2BF78E}"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3318778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4446B7-D8BC-40A0-ADC8-04800C2BF78E}"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1833969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4446B7-D8BC-40A0-ADC8-04800C2BF78E}"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2497275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446B7-D8BC-40A0-ADC8-04800C2BF78E}"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3051256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4446B7-D8BC-40A0-ADC8-04800C2BF78E}"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127012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4446B7-D8BC-40A0-ADC8-04800C2BF78E}"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1834160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446B7-D8BC-40A0-ADC8-04800C2BF78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3897287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446B7-D8BC-40A0-ADC8-04800C2BF78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C25F3C-C3EC-407D-99FB-275A2B8EB415}" type="slidenum">
              <a:rPr lang="en-US" smtClean="0"/>
              <a:t>‹#›</a:t>
            </a:fld>
            <a:endParaRPr lang="en-US"/>
          </a:p>
        </p:txBody>
      </p:sp>
    </p:spTree>
    <p:extLst>
      <p:ext uri="{BB962C8B-B14F-4D97-AF65-F5344CB8AC3E}">
        <p14:creationId xmlns:p14="http://schemas.microsoft.com/office/powerpoint/2010/main" val="3396790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4446B7-D8BC-40A0-ADC8-04800C2BF78E}" type="datetimeFigureOut">
              <a:rPr lang="en-US" smtClean="0"/>
              <a:t>1/21/2025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C25F3C-C3EC-407D-99FB-275A2B8EB415}" type="slidenum">
              <a:rPr lang="en-US" smtClean="0"/>
              <a:t>‹#›</a:t>
            </a:fld>
            <a:endParaRPr lang="en-US"/>
          </a:p>
        </p:txBody>
      </p:sp>
    </p:spTree>
    <p:extLst>
      <p:ext uri="{BB962C8B-B14F-4D97-AF65-F5344CB8AC3E}">
        <p14:creationId xmlns:p14="http://schemas.microsoft.com/office/powerpoint/2010/main" val="96463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0923" y="210208"/>
            <a:ext cx="10930759" cy="5632311"/>
          </a:xfrm>
          <a:prstGeom prst="rect">
            <a:avLst/>
          </a:prstGeom>
        </p:spPr>
        <p:txBody>
          <a:bodyPr wrap="square">
            <a:spAutoFit/>
          </a:bodyPr>
          <a:lstStyle/>
          <a:p>
            <a:pPr algn="ctr"/>
            <a:br>
              <a:rPr lang="en-US" sz="4500" b="1" dirty="0">
                <a:effectLst>
                  <a:outerShdw blurRad="38100" dist="38100" dir="2700000" algn="tl">
                    <a:srgbClr val="000000">
                      <a:alpha val="43137"/>
                    </a:srgbClr>
                  </a:outerShdw>
                </a:effectLst>
                <a:latin typeface="Times New Roman" pitchFamily="18" charset="0"/>
                <a:cs typeface="Times New Roman" pitchFamily="18" charset="0"/>
              </a:rPr>
            </a:br>
            <a:r>
              <a:rPr lang="en-US" sz="45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JAVA</a:t>
            </a:r>
          </a:p>
          <a:p>
            <a:pPr algn="ctr"/>
            <a:br>
              <a:rPr lang="en-US" sz="45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r>
              <a:rPr lang="en-US" sz="4500" b="1" dirty="0">
                <a:effectLst>
                  <a:outerShdw blurRad="38100" dist="38100" dir="2700000" algn="tl">
                    <a:srgbClr val="000000">
                      <a:alpha val="43137"/>
                    </a:srgbClr>
                  </a:outerShdw>
                </a:effectLst>
                <a:latin typeface="Times New Roman" pitchFamily="18" charset="0"/>
                <a:cs typeface="Times New Roman" pitchFamily="18" charset="0"/>
              </a:rPr>
              <a:t>BY </a:t>
            </a:r>
          </a:p>
          <a:p>
            <a:pPr algn="ctr"/>
            <a:endParaRPr lang="en-US" sz="4500" b="1" dirty="0">
              <a:effectLst>
                <a:outerShdw blurRad="38100" dist="38100" dir="2700000" algn="tl">
                  <a:srgbClr val="000000">
                    <a:alpha val="43137"/>
                  </a:srgbClr>
                </a:outerShdw>
              </a:effectLst>
              <a:latin typeface="Times New Roman" pitchFamily="18" charset="0"/>
              <a:cs typeface="Times New Roman" pitchFamily="18" charset="0"/>
            </a:endParaRPr>
          </a:p>
          <a:p>
            <a:pPr algn="ctr"/>
            <a:endParaRPr lang="en-US" sz="4500" b="1" dirty="0">
              <a:effectLst>
                <a:outerShdw blurRad="38100" dist="38100" dir="2700000" algn="tl">
                  <a:srgbClr val="000000">
                    <a:alpha val="43137"/>
                  </a:srgbClr>
                </a:outerShdw>
              </a:effectLst>
              <a:latin typeface="Times New Roman" pitchFamily="18" charset="0"/>
              <a:cs typeface="Times New Roman" pitchFamily="18" charset="0"/>
            </a:endParaRPr>
          </a:p>
          <a:p>
            <a:pPr algn="ctr"/>
            <a:r>
              <a:rPr lang="en-US" sz="4500" b="1" dirty="0">
                <a:effectLst>
                  <a:outerShdw blurRad="38100" dist="38100" dir="2700000" algn="tl">
                    <a:srgbClr val="000000">
                      <a:alpha val="43137"/>
                    </a:srgbClr>
                  </a:outerShdw>
                </a:effectLst>
                <a:latin typeface="Times New Roman" pitchFamily="18" charset="0"/>
                <a:cs typeface="Times New Roman" pitchFamily="18" charset="0"/>
              </a:rPr>
              <a:t>MALACHI EGBUGHA</a:t>
            </a:r>
          </a:p>
          <a:p>
            <a:pPr algn="ctr"/>
            <a:endParaRPr lang="en-US" sz="4500" dirty="0"/>
          </a:p>
        </p:txBody>
      </p:sp>
    </p:spTree>
    <p:extLst>
      <p:ext uri="{BB962C8B-B14F-4D97-AF65-F5344CB8AC3E}">
        <p14:creationId xmlns:p14="http://schemas.microsoft.com/office/powerpoint/2010/main" val="1351826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175BA-9317-1BEC-D22E-80056553CF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42589D8-3F5E-0CEE-D866-8BDBF5586CDE}"/>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Arrays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BDF34733-0627-BC54-AAFB-618BB0DACA4A}"/>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D8EDB98D-8958-E69B-4B14-F265D78C8CD4}"/>
              </a:ext>
            </a:extLst>
          </p:cNvPr>
          <p:cNvSpPr txBox="1"/>
          <p:nvPr/>
        </p:nvSpPr>
        <p:spPr>
          <a:xfrm>
            <a:off x="558998" y="783756"/>
            <a:ext cx="10930759" cy="5940088"/>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omic Sans MS" panose="030F0702030302020204" pitchFamily="66" charset="0"/>
              </a:rPr>
              <a:t>In Java, an array is a data structure that holds a fixed-size collection of elements of the same type.</a:t>
            </a: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r>
              <a:rPr lang="en-US" sz="2000" dirty="0">
                <a:solidFill>
                  <a:srgbClr val="FF0000"/>
                </a:solidFill>
                <a:latin typeface="Comic Sans MS" panose="030F0702030302020204" pitchFamily="66" charset="0"/>
              </a:rPr>
              <a:t>Declaring and Initializing an Array</a:t>
            </a:r>
          </a:p>
          <a:p>
            <a:pPr algn="just"/>
            <a:r>
              <a:rPr lang="en-US" sz="2000" dirty="0">
                <a:solidFill>
                  <a:srgbClr val="FF0000"/>
                </a:solidFill>
                <a:latin typeface="Comic Sans MS" panose="030F0702030302020204" pitchFamily="66" charset="0"/>
              </a:rPr>
              <a:t>Syntax</a:t>
            </a:r>
            <a:r>
              <a:rPr lang="en-US" sz="2000" dirty="0">
                <a:latin typeface="Comic Sans MS" panose="030F0702030302020204" pitchFamily="66" charset="0"/>
              </a:rPr>
              <a:t>: datatype[] </a:t>
            </a:r>
            <a:r>
              <a:rPr lang="en-US" sz="2000" dirty="0" err="1">
                <a:latin typeface="Comic Sans MS" panose="030F0702030302020204" pitchFamily="66" charset="0"/>
              </a:rPr>
              <a:t>arrayname</a:t>
            </a:r>
            <a:r>
              <a:rPr lang="en-US" sz="2000" dirty="0">
                <a:latin typeface="Comic Sans MS" panose="030F0702030302020204" pitchFamily="66" charset="0"/>
              </a:rPr>
              <a:t>;</a:t>
            </a:r>
          </a:p>
          <a:p>
            <a:pPr marL="342900" indent="-342900" algn="just">
              <a:buFont typeface="Wingdings" panose="05000000000000000000" pitchFamily="2" charset="2"/>
              <a:buChar char="Ø"/>
            </a:pPr>
            <a:r>
              <a:rPr lang="en-US" sz="2000" dirty="0">
                <a:latin typeface="Comic Sans MS" panose="030F0702030302020204" pitchFamily="66" charset="0"/>
              </a:rPr>
              <a:t>You can declare and initialize an array in several ways:</a:t>
            </a:r>
          </a:p>
          <a:p>
            <a:pPr algn="just"/>
            <a:r>
              <a:rPr lang="en-US" sz="2000" dirty="0">
                <a:solidFill>
                  <a:srgbClr val="FF0000"/>
                </a:solidFill>
                <a:latin typeface="Comic Sans MS" panose="030F0702030302020204" pitchFamily="66" charset="0"/>
              </a:rPr>
              <a:t>Example 1</a:t>
            </a:r>
            <a:r>
              <a:rPr lang="en-US" sz="2000" dirty="0">
                <a:latin typeface="Comic Sans MS" panose="030F0702030302020204" pitchFamily="66" charset="0"/>
              </a:rPr>
              <a:t>: Declare and Initialize in One Step</a:t>
            </a:r>
          </a:p>
          <a:p>
            <a:pPr lvl="1" algn="just"/>
            <a:r>
              <a:rPr lang="en-US" sz="2000" dirty="0">
                <a:latin typeface="Comic Sans MS" panose="030F0702030302020204" pitchFamily="66" charset="0"/>
              </a:rPr>
              <a:t>public class </a:t>
            </a:r>
            <a:r>
              <a:rPr lang="en-US" sz="2000" dirty="0" err="1">
                <a:latin typeface="Comic Sans MS" panose="030F0702030302020204" pitchFamily="66" charset="0"/>
              </a:rPr>
              <a:t>ArrayExample</a:t>
            </a:r>
            <a:r>
              <a:rPr lang="en-US" sz="2000" dirty="0">
                <a:latin typeface="Comic Sans MS" panose="030F0702030302020204" pitchFamily="66" charset="0"/>
              </a:rPr>
              <a:t> {</a:t>
            </a:r>
          </a:p>
          <a:p>
            <a:pPr lvl="1"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lvl="1" algn="just"/>
            <a:r>
              <a:rPr lang="en-US" sz="2000" dirty="0">
                <a:latin typeface="Comic Sans MS" panose="030F0702030302020204" pitchFamily="66" charset="0"/>
              </a:rPr>
              <a:t>        // Declare and initialize an array of integers</a:t>
            </a:r>
          </a:p>
          <a:p>
            <a:pPr lvl="1" algn="just"/>
            <a:r>
              <a:rPr lang="en-US" sz="2000" dirty="0">
                <a:latin typeface="Comic Sans MS" panose="030F0702030302020204" pitchFamily="66" charset="0"/>
              </a:rPr>
              <a:t>        int[] numbers = {1, 2, 3, 4, 5};</a:t>
            </a:r>
          </a:p>
          <a:p>
            <a:pPr lvl="1" algn="just"/>
            <a:endParaRPr lang="en-US" sz="2000" dirty="0">
              <a:latin typeface="Comic Sans MS" panose="030F0702030302020204" pitchFamily="66" charset="0"/>
            </a:endParaRPr>
          </a:p>
          <a:p>
            <a:pPr lvl="1" algn="just"/>
            <a:r>
              <a:rPr lang="en-US" sz="2000" dirty="0">
                <a:latin typeface="Comic Sans MS" panose="030F0702030302020204" pitchFamily="66" charset="0"/>
              </a:rPr>
              <a:t>        // Accessing array elements</a:t>
            </a:r>
          </a:p>
          <a:p>
            <a:pPr lvl="1"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("First element: " + numbers[0]);</a:t>
            </a:r>
          </a:p>
          <a:p>
            <a:pPr lvl="1"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("Second element: " + numbers[1]);</a:t>
            </a:r>
          </a:p>
          <a:p>
            <a:pPr lvl="1" algn="just"/>
            <a:r>
              <a:rPr lang="en-US" sz="2000" dirty="0">
                <a:latin typeface="Comic Sans MS" panose="030F0702030302020204" pitchFamily="66" charset="0"/>
              </a:rPr>
              <a:t>    }</a:t>
            </a:r>
          </a:p>
          <a:p>
            <a:pPr lvl="1"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solidFill>
                  <a:srgbClr val="FF0000"/>
                </a:solidFill>
                <a:latin typeface="Comic Sans MS" panose="030F0702030302020204" pitchFamily="66" charset="0"/>
              </a:rPr>
              <a:t>Example 2</a:t>
            </a:r>
            <a:r>
              <a:rPr lang="en-US" sz="2000" dirty="0">
                <a:latin typeface="Comic Sans MS" panose="030F0702030302020204" pitchFamily="66" charset="0"/>
              </a:rPr>
              <a:t>: Declare First, Then Initialize</a:t>
            </a:r>
          </a:p>
        </p:txBody>
      </p:sp>
    </p:spTree>
    <p:extLst>
      <p:ext uri="{BB962C8B-B14F-4D97-AF65-F5344CB8AC3E}">
        <p14:creationId xmlns:p14="http://schemas.microsoft.com/office/powerpoint/2010/main" val="1961542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D0FEA-EC8B-8BC9-8E5D-120486724C3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1004E8-7EA7-D6D5-14CC-1F9D4D73517D}"/>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Arrays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0CC23AEA-DC8F-1598-DE65-ED6101C82D61}"/>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675F3954-24FB-088E-DAC2-A6652C07A5AC}"/>
              </a:ext>
            </a:extLst>
          </p:cNvPr>
          <p:cNvSpPr txBox="1"/>
          <p:nvPr/>
        </p:nvSpPr>
        <p:spPr>
          <a:xfrm>
            <a:off x="558998" y="783756"/>
            <a:ext cx="10930759" cy="5632311"/>
          </a:xfrm>
          <a:prstGeom prst="rect">
            <a:avLst/>
          </a:prstGeom>
          <a:noFill/>
        </p:spPr>
        <p:txBody>
          <a:bodyPr wrap="square">
            <a:spAutoFit/>
          </a:bodyPr>
          <a:lstStyle/>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ArrayExample</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 Declare an array with a specific size (length)</a:t>
            </a:r>
          </a:p>
          <a:p>
            <a:pPr algn="just"/>
            <a:r>
              <a:rPr lang="en-US" sz="2000" dirty="0">
                <a:latin typeface="Comic Sans MS" panose="030F0702030302020204" pitchFamily="66" charset="0"/>
              </a:rPr>
              <a:t>        int[] numbers = new int[5];</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Initialize the array elements</a:t>
            </a:r>
          </a:p>
          <a:p>
            <a:pPr algn="just"/>
            <a:r>
              <a:rPr lang="en-US" sz="2000" dirty="0">
                <a:latin typeface="Comic Sans MS" panose="030F0702030302020204" pitchFamily="66" charset="0"/>
              </a:rPr>
              <a:t>        numbers[0] = 1;</a:t>
            </a:r>
          </a:p>
          <a:p>
            <a:pPr algn="just"/>
            <a:r>
              <a:rPr lang="en-US" sz="2000" dirty="0">
                <a:latin typeface="Comic Sans MS" panose="030F0702030302020204" pitchFamily="66" charset="0"/>
              </a:rPr>
              <a:t>        numbers[1] = 2;</a:t>
            </a:r>
          </a:p>
          <a:p>
            <a:pPr algn="just"/>
            <a:r>
              <a:rPr lang="en-US" sz="2000" dirty="0">
                <a:latin typeface="Comic Sans MS" panose="030F0702030302020204" pitchFamily="66" charset="0"/>
              </a:rPr>
              <a:t>        numbers[2] = 3;</a:t>
            </a:r>
          </a:p>
          <a:p>
            <a:pPr algn="just"/>
            <a:r>
              <a:rPr lang="en-US" sz="2000" dirty="0">
                <a:latin typeface="Comic Sans MS" panose="030F0702030302020204" pitchFamily="66" charset="0"/>
              </a:rPr>
              <a:t>        numbers[3] = 4;</a:t>
            </a:r>
          </a:p>
          <a:p>
            <a:pPr algn="just"/>
            <a:r>
              <a:rPr lang="en-US" sz="2000" dirty="0">
                <a:latin typeface="Comic Sans MS" panose="030F0702030302020204" pitchFamily="66" charset="0"/>
              </a:rPr>
              <a:t>        numbers[4] = 5;</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Accessing array elements</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("First element: " + numbers[0]);</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("Last element: " + numbers[4]);</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269859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AD01-873D-1FF9-3DB4-8F07814361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840DA7D-090B-190A-2ED7-9EF524C499A3}"/>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Accessing Array Elements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691C0A6A-5E40-45EF-FC00-975F3AD5D94E}"/>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DA463E35-99BC-924A-EBCB-3F0B9B4BF2D6}"/>
              </a:ext>
            </a:extLst>
          </p:cNvPr>
          <p:cNvSpPr txBox="1"/>
          <p:nvPr/>
        </p:nvSpPr>
        <p:spPr>
          <a:xfrm>
            <a:off x="558998" y="783756"/>
            <a:ext cx="10930759" cy="5940088"/>
          </a:xfrm>
          <a:prstGeom prst="rect">
            <a:avLst/>
          </a:prstGeom>
          <a:noFill/>
        </p:spPr>
        <p:txBody>
          <a:bodyPr wrap="square">
            <a:spAutoFit/>
          </a:bodyPr>
          <a:lstStyle/>
          <a:p>
            <a:pPr algn="just"/>
            <a:endParaRPr lang="en-US" sz="2000" dirty="0">
              <a:latin typeface="Comic Sans MS" panose="030F0702030302020204" pitchFamily="66" charset="0"/>
            </a:endParaRPr>
          </a:p>
          <a:p>
            <a:pPr marL="342900" indent="-342900" algn="just">
              <a:buFont typeface="Wingdings" panose="05000000000000000000" pitchFamily="2" charset="2"/>
              <a:buChar char="Ø"/>
            </a:pPr>
            <a:r>
              <a:rPr lang="en-US" sz="2000" dirty="0">
                <a:latin typeface="Comic Sans MS" panose="030F0702030302020204" pitchFamily="66" charset="0"/>
              </a:rPr>
              <a:t>You access array elements using their index, which starts at 0. For example, if you have an array numbers = {1, 2, 3, 4, 5}, numbers[0] will give 1, numbers[1] will give 2, and so on.</a:t>
            </a:r>
          </a:p>
          <a:p>
            <a:pPr algn="just"/>
            <a:r>
              <a:rPr lang="en-US" sz="2000" dirty="0">
                <a:solidFill>
                  <a:srgbClr val="FF0000"/>
                </a:solidFill>
                <a:latin typeface="Comic Sans MS" panose="030F0702030302020204" pitchFamily="66" charset="0"/>
              </a:rPr>
              <a:t>Looping Through an Array</a:t>
            </a:r>
          </a:p>
          <a:p>
            <a:pPr marL="342900" indent="-342900" algn="just">
              <a:buFont typeface="Wingdings" panose="05000000000000000000" pitchFamily="2" charset="2"/>
              <a:buChar char="Ø"/>
            </a:pPr>
            <a:r>
              <a:rPr lang="en-US" sz="2000" dirty="0">
                <a:latin typeface="Comic Sans MS" panose="030F0702030302020204" pitchFamily="66" charset="0"/>
              </a:rPr>
              <a:t>You can use a loop to iterate over the array. Typically, a for loop or an enhanced for loop is used.</a:t>
            </a:r>
          </a:p>
          <a:p>
            <a:pPr algn="just"/>
            <a:r>
              <a:rPr lang="en-US" sz="2000" dirty="0">
                <a:solidFill>
                  <a:srgbClr val="FF0000"/>
                </a:solidFill>
                <a:latin typeface="Comic Sans MS" panose="030F0702030302020204" pitchFamily="66" charset="0"/>
              </a:rPr>
              <a:t>Example</a:t>
            </a:r>
            <a:r>
              <a:rPr lang="en-US" sz="2000" dirty="0">
                <a:latin typeface="Comic Sans MS" panose="030F0702030302020204" pitchFamily="66" charset="0"/>
              </a:rPr>
              <a:t>: Using a for loop to iterate through the array</a:t>
            </a: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ArrayExample</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{10, 20, 30, 40, 50};</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Regular for loop to iterate</a:t>
            </a:r>
          </a:p>
          <a:p>
            <a:pPr algn="just"/>
            <a:r>
              <a:rPr lang="en-US" sz="2000" dirty="0">
                <a:latin typeface="Comic Sans MS" panose="030F0702030302020204" pitchFamily="66" charset="0"/>
              </a:rPr>
              <a:t>        for (int </a:t>
            </a:r>
            <a:r>
              <a:rPr lang="en-US" sz="2000" dirty="0" err="1">
                <a:latin typeface="Comic Sans MS" panose="030F0702030302020204" pitchFamily="66" charset="0"/>
              </a:rPr>
              <a:t>i</a:t>
            </a:r>
            <a:r>
              <a:rPr lang="en-US" sz="2000" dirty="0">
                <a:latin typeface="Comic Sans MS" panose="030F0702030302020204" pitchFamily="66" charset="0"/>
              </a:rPr>
              <a:t> = 0; </a:t>
            </a:r>
            <a:r>
              <a:rPr lang="en-US" sz="2000" dirty="0" err="1">
                <a:latin typeface="Comic Sans MS" panose="030F0702030302020204" pitchFamily="66" charset="0"/>
              </a:rPr>
              <a:t>i</a:t>
            </a:r>
            <a:r>
              <a:rPr lang="en-US" sz="2000" dirty="0">
                <a:latin typeface="Comic Sans MS" panose="030F0702030302020204" pitchFamily="66" charset="0"/>
              </a:rPr>
              <a:t> &lt; </a:t>
            </a:r>
            <a:r>
              <a:rPr lang="en-US" sz="2000" dirty="0" err="1">
                <a:latin typeface="Comic Sans MS" panose="030F0702030302020204" pitchFamily="66" charset="0"/>
              </a:rPr>
              <a:t>numbers.length</a:t>
            </a:r>
            <a:r>
              <a:rPr lang="en-US" sz="2000" dirty="0">
                <a:latin typeface="Comic Sans MS" panose="030F0702030302020204" pitchFamily="66" charset="0"/>
              </a:rPr>
              <a:t>; </a:t>
            </a:r>
            <a:r>
              <a:rPr lang="en-US" sz="2000" dirty="0" err="1">
                <a:latin typeface="Comic Sans MS" panose="030F0702030302020204" pitchFamily="66" charset="0"/>
              </a:rPr>
              <a:t>i</a:t>
            </a:r>
            <a:r>
              <a:rPr lang="en-US" sz="2000" dirty="0">
                <a:latin typeface="Comic Sans MS" panose="030F0702030302020204" pitchFamily="66" charset="0"/>
              </a:rPr>
              <a:t>++)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("Element at index " + </a:t>
            </a:r>
            <a:r>
              <a:rPr lang="en-US" sz="2000" dirty="0" err="1">
                <a:latin typeface="Comic Sans MS" panose="030F0702030302020204" pitchFamily="66" charset="0"/>
              </a:rPr>
              <a:t>i</a:t>
            </a:r>
            <a:r>
              <a:rPr lang="en-US" sz="2000" dirty="0">
                <a:latin typeface="Comic Sans MS" panose="030F0702030302020204" pitchFamily="66" charset="0"/>
              </a:rPr>
              <a:t> + ": " + numbers[</a:t>
            </a:r>
            <a:r>
              <a:rPr lang="en-US" sz="2000" dirty="0" err="1">
                <a:latin typeface="Comic Sans MS" panose="030F0702030302020204" pitchFamily="66" charset="0"/>
              </a:rPr>
              <a:t>i</a:t>
            </a:r>
            <a:r>
              <a:rPr lang="en-US" sz="2000" dirty="0">
                <a:latin typeface="Comic Sans MS" panose="030F0702030302020204" pitchFamily="66" charset="0"/>
              </a:rPr>
              <a:t>]);</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4173096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7CCF5-70EB-4ACF-3B2C-2CD4293DEB7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226D317-1B97-357B-0F75-AECF8A6A10F0}"/>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Accessing Array Elements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04A55DF5-70B7-F90E-E9A6-79EB96CE279B}"/>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6C4AD253-C163-7EDA-4B4B-E3756F6522C2}"/>
              </a:ext>
            </a:extLst>
          </p:cNvPr>
          <p:cNvSpPr txBox="1"/>
          <p:nvPr/>
        </p:nvSpPr>
        <p:spPr>
          <a:xfrm>
            <a:off x="558998" y="783756"/>
            <a:ext cx="10930759" cy="5324535"/>
          </a:xfrm>
          <a:prstGeom prst="rect">
            <a:avLst/>
          </a:prstGeom>
          <a:noFill/>
        </p:spPr>
        <p:txBody>
          <a:bodyPr wrap="square">
            <a:spAutoFit/>
          </a:bodyPr>
          <a:lstStyle/>
          <a:p>
            <a:pPr algn="just"/>
            <a:endParaRPr lang="en-US" sz="2000" dirty="0">
              <a:latin typeface="Comic Sans MS" panose="030F0702030302020204" pitchFamily="66" charset="0"/>
            </a:endParaRPr>
          </a:p>
          <a:p>
            <a:pPr algn="just"/>
            <a:r>
              <a:rPr lang="en-US" sz="2000" dirty="0">
                <a:solidFill>
                  <a:srgbClr val="FF0000"/>
                </a:solidFill>
                <a:latin typeface="Comic Sans MS" panose="030F0702030302020204" pitchFamily="66" charset="0"/>
              </a:rPr>
              <a:t>Example: </a:t>
            </a:r>
            <a:r>
              <a:rPr lang="en-US" sz="2000" dirty="0">
                <a:latin typeface="Comic Sans MS" panose="030F0702030302020204" pitchFamily="66" charset="0"/>
              </a:rPr>
              <a:t>Using an Enhanced for </a:t>
            </a:r>
            <a:r>
              <a:rPr lang="en-US" sz="2000" dirty="0" err="1">
                <a:latin typeface="Comic Sans MS" panose="030F0702030302020204" pitchFamily="66" charset="0"/>
              </a:rPr>
              <a:t>loopLooping</a:t>
            </a:r>
            <a:r>
              <a:rPr lang="en-US" sz="2000" dirty="0">
                <a:latin typeface="Comic Sans MS" panose="030F0702030302020204" pitchFamily="66" charset="0"/>
              </a:rPr>
              <a:t> Through an Array</a:t>
            </a: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ArrayExample</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{10, 20, 30, 40, 50};</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Enhanced for loop (for-each loop)</a:t>
            </a:r>
          </a:p>
          <a:p>
            <a:pPr algn="just"/>
            <a:r>
              <a:rPr lang="en-US" sz="2000" dirty="0">
                <a:latin typeface="Comic Sans MS" panose="030F0702030302020204" pitchFamily="66" charset="0"/>
              </a:rPr>
              <a:t>        for (int number : numbers)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(number);</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solidFill>
                  <a:srgbClr val="FF0000"/>
                </a:solidFill>
                <a:latin typeface="Comic Sans MS" panose="030F0702030302020204" pitchFamily="66" charset="0"/>
              </a:rPr>
              <a:t>Multi-dimensional Arrays</a:t>
            </a:r>
          </a:p>
          <a:p>
            <a:pPr marL="342900" indent="-342900" algn="just">
              <a:buFont typeface="Wingdings" panose="05000000000000000000" pitchFamily="2" charset="2"/>
              <a:buChar char="Ø"/>
            </a:pPr>
            <a:r>
              <a:rPr lang="en-US" sz="2000" dirty="0">
                <a:latin typeface="Comic Sans MS" panose="030F0702030302020204" pitchFamily="66" charset="0"/>
              </a:rPr>
              <a:t>Java also supports multi-dimensional arrays. For example, a 2D array (array of arrays) can be declared and initialized like this:</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142259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EEABD-22EC-0168-E009-546637763A1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F6A7EB-10B7-1E15-AA95-8F7FDC4A8609}"/>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Accessing Array Elements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C588B0B9-4495-F63A-B6E4-4B89C6D92CBD}"/>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694DA61A-A77B-6510-6C1C-60D2851C590B}"/>
              </a:ext>
            </a:extLst>
          </p:cNvPr>
          <p:cNvSpPr txBox="1"/>
          <p:nvPr/>
        </p:nvSpPr>
        <p:spPr>
          <a:xfrm>
            <a:off x="558998" y="783756"/>
            <a:ext cx="10930759" cy="4401205"/>
          </a:xfrm>
          <a:prstGeom prst="rect">
            <a:avLst/>
          </a:prstGeom>
          <a:noFill/>
        </p:spPr>
        <p:txBody>
          <a:bodyPr wrap="square">
            <a:spAutoFit/>
          </a:bodyPr>
          <a:lstStyle/>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ArrayExample</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 Declare a 2D array (array of arrays)</a:t>
            </a:r>
          </a:p>
          <a:p>
            <a:pPr algn="just"/>
            <a:r>
              <a:rPr lang="en-US" sz="2000" dirty="0">
                <a:latin typeface="Comic Sans MS" panose="030F0702030302020204" pitchFamily="66" charset="0"/>
              </a:rPr>
              <a:t>        int[][] matrix = {</a:t>
            </a:r>
          </a:p>
          <a:p>
            <a:pPr algn="just"/>
            <a:r>
              <a:rPr lang="en-US" sz="2000" dirty="0">
                <a:latin typeface="Comic Sans MS" panose="030F0702030302020204" pitchFamily="66" charset="0"/>
              </a:rPr>
              <a:t>            {1, 2, 3},</a:t>
            </a:r>
          </a:p>
          <a:p>
            <a:pPr algn="just"/>
            <a:r>
              <a:rPr lang="en-US" sz="2000" dirty="0">
                <a:latin typeface="Comic Sans MS" panose="030F0702030302020204" pitchFamily="66" charset="0"/>
              </a:rPr>
              <a:t>            {4, 5, 6},</a:t>
            </a:r>
          </a:p>
          <a:p>
            <a:pPr algn="just"/>
            <a:r>
              <a:rPr lang="en-US" sz="2000" dirty="0">
                <a:latin typeface="Comic Sans MS" panose="030F0702030302020204" pitchFamily="66" charset="0"/>
              </a:rPr>
              <a:t>            {7, 8, 9}</a:t>
            </a:r>
          </a:p>
          <a:p>
            <a:pPr algn="just"/>
            <a:r>
              <a:rPr lang="en-US" sz="2000" dirty="0">
                <a:latin typeface="Comic Sans MS" panose="030F0702030302020204" pitchFamily="66" charset="0"/>
              </a:rPr>
              <a:t>        };</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Accessing elements in a 2D array</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("Element at row 1, column 2: " + matrix[0][1]);  // Outputs 2</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2161908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8A34-0ECE-B443-678B-5620F38DCB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5AF058-69C3-4B81-63F0-573043EA7333}"/>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Accessing Array Elements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3E4EF4E6-8686-0F60-F5B3-5A818430E488}"/>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6DB20DE8-B9CA-B281-2121-EBC00C2042A9}"/>
              </a:ext>
            </a:extLst>
          </p:cNvPr>
          <p:cNvSpPr txBox="1"/>
          <p:nvPr/>
        </p:nvSpPr>
        <p:spPr>
          <a:xfrm>
            <a:off x="558998" y="783756"/>
            <a:ext cx="10930759" cy="5016758"/>
          </a:xfrm>
          <a:prstGeom prst="rect">
            <a:avLst/>
          </a:prstGeom>
          <a:noFill/>
        </p:spPr>
        <p:txBody>
          <a:bodyPr wrap="square">
            <a:spAutoFit/>
          </a:bodyPr>
          <a:lstStyle/>
          <a:p>
            <a:pPr algn="just"/>
            <a:r>
              <a:rPr lang="en-US" sz="2000" dirty="0">
                <a:solidFill>
                  <a:srgbClr val="FF0000"/>
                </a:solidFill>
                <a:latin typeface="Comic Sans MS" panose="030F0702030302020204" pitchFamily="66" charset="0"/>
              </a:rPr>
              <a:t>Common Array Operations</a:t>
            </a:r>
          </a:p>
          <a:p>
            <a:pPr algn="just"/>
            <a:r>
              <a:rPr lang="en-US" sz="2000" dirty="0">
                <a:latin typeface="Comic Sans MS" panose="030F0702030302020204" pitchFamily="66" charset="0"/>
              </a:rPr>
              <a:t>a. Finding the maximum value in an array:</a:t>
            </a: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ArrayExample</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{1, 3, 7, 9, 2};</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int max = numbers[0]; // Assume first element is max initially</a:t>
            </a:r>
          </a:p>
          <a:p>
            <a:pPr algn="just"/>
            <a:r>
              <a:rPr lang="en-US" sz="2000" dirty="0">
                <a:latin typeface="Comic Sans MS" panose="030F0702030302020204" pitchFamily="66" charset="0"/>
              </a:rPr>
              <a:t>        for (int </a:t>
            </a:r>
            <a:r>
              <a:rPr lang="en-US" sz="2000" dirty="0" err="1">
                <a:latin typeface="Comic Sans MS" panose="030F0702030302020204" pitchFamily="66" charset="0"/>
              </a:rPr>
              <a:t>i</a:t>
            </a:r>
            <a:r>
              <a:rPr lang="en-US" sz="2000" dirty="0">
                <a:latin typeface="Comic Sans MS" panose="030F0702030302020204" pitchFamily="66" charset="0"/>
              </a:rPr>
              <a:t> = 1; </a:t>
            </a:r>
            <a:r>
              <a:rPr lang="en-US" sz="2000" dirty="0" err="1">
                <a:latin typeface="Comic Sans MS" panose="030F0702030302020204" pitchFamily="66" charset="0"/>
              </a:rPr>
              <a:t>i</a:t>
            </a:r>
            <a:r>
              <a:rPr lang="en-US" sz="2000" dirty="0">
                <a:latin typeface="Comic Sans MS" panose="030F0702030302020204" pitchFamily="66" charset="0"/>
              </a:rPr>
              <a:t> &lt; </a:t>
            </a:r>
            <a:r>
              <a:rPr lang="en-US" sz="2000" dirty="0" err="1">
                <a:latin typeface="Comic Sans MS" panose="030F0702030302020204" pitchFamily="66" charset="0"/>
              </a:rPr>
              <a:t>numbers.length</a:t>
            </a:r>
            <a:r>
              <a:rPr lang="en-US" sz="2000" dirty="0">
                <a:latin typeface="Comic Sans MS" panose="030F0702030302020204" pitchFamily="66" charset="0"/>
              </a:rPr>
              <a:t>; </a:t>
            </a:r>
            <a:r>
              <a:rPr lang="en-US" sz="2000" dirty="0" err="1">
                <a:latin typeface="Comic Sans MS" panose="030F0702030302020204" pitchFamily="66" charset="0"/>
              </a:rPr>
              <a:t>i</a:t>
            </a:r>
            <a:r>
              <a:rPr lang="en-US" sz="2000" dirty="0">
                <a:latin typeface="Comic Sans MS" panose="030F0702030302020204" pitchFamily="66" charset="0"/>
              </a:rPr>
              <a:t>++) {</a:t>
            </a:r>
          </a:p>
          <a:p>
            <a:pPr algn="just"/>
            <a:r>
              <a:rPr lang="en-US" sz="2000" dirty="0">
                <a:latin typeface="Comic Sans MS" panose="030F0702030302020204" pitchFamily="66" charset="0"/>
              </a:rPr>
              <a:t>            if (numbers[</a:t>
            </a:r>
            <a:r>
              <a:rPr lang="en-US" sz="2000" dirty="0" err="1">
                <a:latin typeface="Comic Sans MS" panose="030F0702030302020204" pitchFamily="66" charset="0"/>
              </a:rPr>
              <a:t>i</a:t>
            </a:r>
            <a:r>
              <a:rPr lang="en-US" sz="2000" dirty="0">
                <a:latin typeface="Comic Sans MS" panose="030F0702030302020204" pitchFamily="66" charset="0"/>
              </a:rPr>
              <a:t>] &gt; max) {</a:t>
            </a:r>
          </a:p>
          <a:p>
            <a:pPr algn="just"/>
            <a:r>
              <a:rPr lang="en-US" sz="2000" dirty="0">
                <a:latin typeface="Comic Sans MS" panose="030F0702030302020204" pitchFamily="66" charset="0"/>
              </a:rPr>
              <a:t>                max = numbers[</a:t>
            </a:r>
            <a:r>
              <a:rPr lang="en-US" sz="2000" dirty="0" err="1">
                <a:latin typeface="Comic Sans MS" panose="030F0702030302020204" pitchFamily="66" charset="0"/>
              </a:rPr>
              <a:t>i</a:t>
            </a:r>
            <a:r>
              <a:rPr lang="en-US" sz="2000" dirty="0">
                <a:latin typeface="Comic Sans MS" panose="030F0702030302020204" pitchFamily="66" charset="0"/>
              </a:rPr>
              <a:t>];</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        }</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("Max value: " + max);</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p:txBody>
      </p:sp>
    </p:spTree>
    <p:extLst>
      <p:ext uri="{BB962C8B-B14F-4D97-AF65-F5344CB8AC3E}">
        <p14:creationId xmlns:p14="http://schemas.microsoft.com/office/powerpoint/2010/main" val="1914672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2649A-F3AD-C5AF-8C7D-AD4B2D39100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06DB4A4-D1B6-180C-CBA9-2DDE1E574365}"/>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Accessing Array Elements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3955C926-101A-3ADE-A6D3-FC99EDC978E7}"/>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E0FCEF32-EFF9-0D3B-3132-3B47E27AAC9A}"/>
              </a:ext>
            </a:extLst>
          </p:cNvPr>
          <p:cNvSpPr txBox="1"/>
          <p:nvPr/>
        </p:nvSpPr>
        <p:spPr>
          <a:xfrm>
            <a:off x="558998" y="783756"/>
            <a:ext cx="10930759" cy="4401205"/>
          </a:xfrm>
          <a:prstGeom prst="rect">
            <a:avLst/>
          </a:prstGeom>
          <a:noFill/>
        </p:spPr>
        <p:txBody>
          <a:bodyPr wrap="square">
            <a:spAutoFit/>
          </a:bodyPr>
          <a:lstStyle/>
          <a:p>
            <a:pPr algn="just"/>
            <a:r>
              <a:rPr lang="en-US" sz="2000" dirty="0">
                <a:latin typeface="Comic Sans MS" panose="030F0702030302020204" pitchFamily="66" charset="0"/>
              </a:rPr>
              <a:t>b. Summing all elements in an array:</a:t>
            </a: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ArrayExample</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{1, 2, 3, 4, 5};</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        int sum = 0;</a:t>
            </a:r>
          </a:p>
          <a:p>
            <a:pPr algn="just"/>
            <a:r>
              <a:rPr lang="en-US" sz="2000" dirty="0">
                <a:latin typeface="Comic Sans MS" panose="030F0702030302020204" pitchFamily="66" charset="0"/>
              </a:rPr>
              <a:t>        for (int </a:t>
            </a:r>
            <a:r>
              <a:rPr lang="en-US" sz="2000" dirty="0" err="1">
                <a:latin typeface="Comic Sans MS" panose="030F0702030302020204" pitchFamily="66" charset="0"/>
              </a:rPr>
              <a:t>i</a:t>
            </a:r>
            <a:r>
              <a:rPr lang="en-US" sz="2000" dirty="0">
                <a:latin typeface="Comic Sans MS" panose="030F0702030302020204" pitchFamily="66" charset="0"/>
              </a:rPr>
              <a:t> = 0; </a:t>
            </a:r>
            <a:r>
              <a:rPr lang="en-US" sz="2000" dirty="0" err="1">
                <a:latin typeface="Comic Sans MS" panose="030F0702030302020204" pitchFamily="66" charset="0"/>
              </a:rPr>
              <a:t>i</a:t>
            </a:r>
            <a:r>
              <a:rPr lang="en-US" sz="2000" dirty="0">
                <a:latin typeface="Comic Sans MS" panose="030F0702030302020204" pitchFamily="66" charset="0"/>
              </a:rPr>
              <a:t> &lt; </a:t>
            </a:r>
            <a:r>
              <a:rPr lang="en-US" sz="2000" dirty="0" err="1">
                <a:latin typeface="Comic Sans MS" panose="030F0702030302020204" pitchFamily="66" charset="0"/>
              </a:rPr>
              <a:t>numbers.length</a:t>
            </a:r>
            <a:r>
              <a:rPr lang="en-US" sz="2000" dirty="0">
                <a:latin typeface="Comic Sans MS" panose="030F0702030302020204" pitchFamily="66" charset="0"/>
              </a:rPr>
              <a:t>; </a:t>
            </a:r>
            <a:r>
              <a:rPr lang="en-US" sz="2000" dirty="0" err="1">
                <a:latin typeface="Comic Sans MS" panose="030F0702030302020204" pitchFamily="66" charset="0"/>
              </a:rPr>
              <a:t>i</a:t>
            </a:r>
            <a:r>
              <a:rPr lang="en-US" sz="2000" dirty="0">
                <a:latin typeface="Comic Sans MS" panose="030F0702030302020204" pitchFamily="66" charset="0"/>
              </a:rPr>
              <a:t>++) {</a:t>
            </a:r>
          </a:p>
          <a:p>
            <a:pPr algn="just"/>
            <a:r>
              <a:rPr lang="en-US" sz="2000" dirty="0">
                <a:latin typeface="Comic Sans MS" panose="030F0702030302020204" pitchFamily="66" charset="0"/>
              </a:rPr>
              <a:t>            sum += numbers[</a:t>
            </a:r>
            <a:r>
              <a:rPr lang="en-US" sz="2000" dirty="0" err="1">
                <a:latin typeface="Comic Sans MS" panose="030F0702030302020204" pitchFamily="66" charset="0"/>
              </a:rPr>
              <a:t>i</a:t>
            </a:r>
            <a:r>
              <a:rPr lang="en-US" sz="2000" dirty="0">
                <a:latin typeface="Comic Sans MS" panose="030F0702030302020204" pitchFamily="66" charset="0"/>
              </a:rPr>
              <a:t>];</a:t>
            </a:r>
          </a:p>
          <a:p>
            <a:pPr algn="just"/>
            <a:r>
              <a:rPr lang="en-US" sz="2000" dirty="0">
                <a:latin typeface="Comic Sans MS" panose="030F0702030302020204" pitchFamily="66" charset="0"/>
              </a:rPr>
              <a:t>        }</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("Sum of elements: " + sum);</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2904480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3DC1B-95B5-B54C-2211-11EAF3E9B1F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8A18D57-BCC9-7D19-5A6C-3DEA8320CAF6}"/>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Array Class Methods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933952EC-B87B-94E2-F6EA-FFE19DB9CC74}"/>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70CFE7C2-B975-3651-C1BD-CD02E064D6EB}"/>
              </a:ext>
            </a:extLst>
          </p:cNvPr>
          <p:cNvSpPr txBox="1"/>
          <p:nvPr/>
        </p:nvSpPr>
        <p:spPr>
          <a:xfrm>
            <a:off x="558998" y="783756"/>
            <a:ext cx="10930759" cy="6555641"/>
          </a:xfrm>
          <a:prstGeom prst="rect">
            <a:avLst/>
          </a:prstGeom>
          <a:noFill/>
        </p:spPr>
        <p:txBody>
          <a:bodyPr wrap="square">
            <a:spAutoFit/>
          </a:bodyPr>
          <a:lstStyle/>
          <a:p>
            <a:pPr algn="just"/>
            <a:r>
              <a:rPr lang="en-US" sz="2000" dirty="0">
                <a:latin typeface="Comic Sans MS" panose="030F0702030302020204" pitchFamily="66" charset="0"/>
              </a:rPr>
              <a:t>In Java, arrays are an essential data structure, but Java itself does not provide built-in methods for array manipulation like resizing, sorting, or searching. However, there are several utility methods in the Arrays class from the </a:t>
            </a:r>
            <a:r>
              <a:rPr lang="en-US" sz="2000" dirty="0" err="1">
                <a:latin typeface="Comic Sans MS" panose="030F0702030302020204" pitchFamily="66" charset="0"/>
              </a:rPr>
              <a:t>java.util</a:t>
            </a:r>
            <a:r>
              <a:rPr lang="en-US" sz="2000" dirty="0">
                <a:latin typeface="Comic Sans MS" panose="030F0702030302020204" pitchFamily="66" charset="0"/>
              </a:rPr>
              <a:t> package that help you work with arrays </a:t>
            </a:r>
            <a:r>
              <a:rPr lang="en-US" sz="2000" dirty="0" err="1">
                <a:latin typeface="Comic Sans MS" panose="030F0702030302020204" pitchFamily="66" charset="0"/>
              </a:rPr>
              <a:t>effectively.Below</a:t>
            </a:r>
            <a:r>
              <a:rPr lang="en-US" sz="2000" dirty="0">
                <a:latin typeface="Comic Sans MS" panose="030F0702030302020204" pitchFamily="66" charset="0"/>
              </a:rPr>
              <a:t> is an overview of commonly used array methods provided by the Arrays class in Java.</a:t>
            </a:r>
          </a:p>
          <a:p>
            <a:pPr algn="just"/>
            <a:r>
              <a:rPr lang="en-US" sz="2000" dirty="0">
                <a:latin typeface="Comic Sans MS" panose="030F0702030302020204" pitchFamily="66" charset="0"/>
              </a:rPr>
              <a:t>1. </a:t>
            </a:r>
            <a:r>
              <a:rPr lang="en-US" sz="2000" dirty="0" err="1">
                <a:latin typeface="Comic Sans MS" panose="030F0702030302020204" pitchFamily="66" charset="0"/>
              </a:rPr>
              <a:t>Arrays.sort</a:t>
            </a:r>
            <a:r>
              <a:rPr lang="en-US" sz="2000" dirty="0">
                <a:latin typeface="Comic Sans MS" panose="030F0702030302020204" pitchFamily="66" charset="0"/>
              </a:rPr>
              <a:t>(): Sorts an array in ascending order. You can also sort specific portions of an array.</a:t>
            </a:r>
          </a:p>
          <a:p>
            <a:pPr algn="just"/>
            <a:r>
              <a:rPr lang="en-US" sz="2000" dirty="0">
                <a:latin typeface="Comic Sans MS" panose="030F0702030302020204" pitchFamily="66" charset="0"/>
              </a:rPr>
              <a:t>import </a:t>
            </a:r>
            <a:r>
              <a:rPr lang="en-US" sz="2000" dirty="0" err="1">
                <a:latin typeface="Comic Sans MS" panose="030F0702030302020204" pitchFamily="66" charset="0"/>
              </a:rPr>
              <a:t>java.util.Arrays</a:t>
            </a:r>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ArrayMethods</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{3, 1, 4, 5, 2};</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Sorting the entire array</a:t>
            </a:r>
          </a:p>
          <a:p>
            <a:pPr algn="just"/>
            <a:r>
              <a:rPr lang="en-US" sz="2000" dirty="0">
                <a:latin typeface="Comic Sans MS" panose="030F0702030302020204" pitchFamily="66" charset="0"/>
              </a:rPr>
              <a:t>        </a:t>
            </a:r>
            <a:r>
              <a:rPr lang="en-US" sz="2000" dirty="0" err="1">
                <a:latin typeface="Comic Sans MS" panose="030F0702030302020204" pitchFamily="66" charset="0"/>
              </a:rPr>
              <a:t>Arrays.sort</a:t>
            </a:r>
            <a:r>
              <a:rPr lang="en-US" sz="2000" dirty="0">
                <a:latin typeface="Comic Sans MS" panose="030F0702030302020204" pitchFamily="66" charset="0"/>
              </a:rPr>
              <a:t>(numbers);</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Output the sorted array</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a:t>
            </a:r>
            <a:r>
              <a:rPr lang="en-US" sz="2000" dirty="0" err="1">
                <a:latin typeface="Comic Sans MS" panose="030F0702030302020204" pitchFamily="66" charset="0"/>
              </a:rPr>
              <a:t>Arrays.toString</a:t>
            </a:r>
            <a:r>
              <a:rPr lang="en-US" sz="2000" dirty="0">
                <a:latin typeface="Comic Sans MS" panose="030F0702030302020204" pitchFamily="66" charset="0"/>
              </a:rPr>
              <a:t>(numbers));</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1638884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09B38-83C1-E1D2-28FF-2016F3F98A3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38142E-17B0-EB35-7B56-FB2AB8917D60}"/>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Array Methods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DADAA5A0-7A9C-B96D-F6A2-882637627ADD}"/>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CB7BB14D-D6B4-971F-D343-5EA7325E4BA3}"/>
              </a:ext>
            </a:extLst>
          </p:cNvPr>
          <p:cNvSpPr txBox="1"/>
          <p:nvPr/>
        </p:nvSpPr>
        <p:spPr>
          <a:xfrm>
            <a:off x="558998" y="783756"/>
            <a:ext cx="10930759" cy="5324535"/>
          </a:xfrm>
          <a:prstGeom prst="rect">
            <a:avLst/>
          </a:prstGeom>
          <a:noFill/>
        </p:spPr>
        <p:txBody>
          <a:bodyPr wrap="square">
            <a:spAutoFit/>
          </a:bodyPr>
          <a:lstStyle/>
          <a:p>
            <a:pPr algn="just"/>
            <a:r>
              <a:rPr lang="en-US" sz="2000" dirty="0">
                <a:latin typeface="Comic Sans MS" panose="030F0702030302020204" pitchFamily="66" charset="0"/>
              </a:rPr>
              <a:t>2. </a:t>
            </a:r>
            <a:r>
              <a:rPr lang="en-US" sz="2000" dirty="0" err="1">
                <a:latin typeface="Comic Sans MS" panose="030F0702030302020204" pitchFamily="66" charset="0"/>
              </a:rPr>
              <a:t>Arrays.binarySearch</a:t>
            </a:r>
            <a:r>
              <a:rPr lang="en-US" sz="2000" dirty="0">
                <a:latin typeface="Comic Sans MS" panose="030F0702030302020204" pitchFamily="66" charset="0"/>
              </a:rPr>
              <a:t>():Searches for a specified element in a sorted array. It returns the index of the element if found; otherwise, it returns a negative value indicating where the element should be </a:t>
            </a:r>
            <a:r>
              <a:rPr lang="en-US" sz="2000" dirty="0" err="1">
                <a:latin typeface="Comic Sans MS" panose="030F0702030302020204" pitchFamily="66" charset="0"/>
              </a:rPr>
              <a:t>inserted.Arrays.sort</a:t>
            </a:r>
            <a:r>
              <a:rPr lang="en-US" sz="2000" dirty="0">
                <a:latin typeface="Comic Sans MS" panose="030F0702030302020204" pitchFamily="66" charset="0"/>
              </a:rPr>
              <a:t>()Sorts an array in ascending order. You can also sort specific portions of an array.</a:t>
            </a:r>
          </a:p>
          <a:p>
            <a:pPr algn="just"/>
            <a:r>
              <a:rPr lang="en-US" sz="2000" dirty="0">
                <a:latin typeface="Comic Sans MS" panose="030F0702030302020204" pitchFamily="66" charset="0"/>
              </a:rPr>
              <a:t>import </a:t>
            </a:r>
            <a:r>
              <a:rPr lang="en-US" sz="2000" dirty="0" err="1">
                <a:latin typeface="Comic Sans MS" panose="030F0702030302020204" pitchFamily="66" charset="0"/>
              </a:rPr>
              <a:t>java.util.Arrays</a:t>
            </a:r>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ArrayMethods</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{1, 2, 3, 4, 5};</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Binary search for element</a:t>
            </a:r>
          </a:p>
          <a:p>
            <a:pPr algn="just"/>
            <a:r>
              <a:rPr lang="en-US" sz="2000" dirty="0">
                <a:latin typeface="Comic Sans MS" panose="030F0702030302020204" pitchFamily="66" charset="0"/>
              </a:rPr>
              <a:t>        int index = </a:t>
            </a:r>
            <a:r>
              <a:rPr lang="en-US" sz="2000" dirty="0" err="1">
                <a:latin typeface="Comic Sans MS" panose="030F0702030302020204" pitchFamily="66" charset="0"/>
              </a:rPr>
              <a:t>Arrays.binarySearch</a:t>
            </a:r>
            <a:r>
              <a:rPr lang="en-US" sz="2000" dirty="0">
                <a:latin typeface="Comic Sans MS" panose="030F0702030302020204" pitchFamily="66" charset="0"/>
              </a:rPr>
              <a:t>(numbers, 3);</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("Element found at index: " + index); // Output: 2</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r>
              <a:rPr lang="en-US" sz="2000" dirty="0" err="1">
                <a:latin typeface="Comic Sans MS" panose="030F0702030302020204" pitchFamily="66" charset="0"/>
              </a:rPr>
              <a:t>Notes:The</a:t>
            </a:r>
            <a:r>
              <a:rPr lang="en-US" sz="2000" dirty="0">
                <a:latin typeface="Comic Sans MS" panose="030F0702030302020204" pitchFamily="66" charset="0"/>
              </a:rPr>
              <a:t> array must be sorted before you use </a:t>
            </a:r>
            <a:r>
              <a:rPr lang="en-US" sz="2000" dirty="0" err="1">
                <a:latin typeface="Comic Sans MS" panose="030F0702030302020204" pitchFamily="66" charset="0"/>
              </a:rPr>
              <a:t>binarySearch</a:t>
            </a:r>
            <a:r>
              <a:rPr lang="en-US" sz="2000" dirty="0">
                <a:latin typeface="Comic Sans MS" panose="030F0702030302020204" pitchFamily="66" charset="0"/>
              </a:rPr>
              <a:t>().</a:t>
            </a:r>
          </a:p>
        </p:txBody>
      </p:sp>
    </p:spTree>
    <p:extLst>
      <p:ext uri="{BB962C8B-B14F-4D97-AF65-F5344CB8AC3E}">
        <p14:creationId xmlns:p14="http://schemas.microsoft.com/office/powerpoint/2010/main" val="3015485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EF5B4-2C83-7777-60B2-F180584BE44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491657-EE2E-81F2-F0A1-805D057ABB11}"/>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Array Methods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927FFDD7-6000-E18E-787A-946FC3810B4C}"/>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DC5C0BB5-FA4F-8E9C-EA21-2902B1FAD5FC}"/>
              </a:ext>
            </a:extLst>
          </p:cNvPr>
          <p:cNvSpPr txBox="1"/>
          <p:nvPr/>
        </p:nvSpPr>
        <p:spPr>
          <a:xfrm>
            <a:off x="558998" y="783756"/>
            <a:ext cx="10930759" cy="5016758"/>
          </a:xfrm>
          <a:prstGeom prst="rect">
            <a:avLst/>
          </a:prstGeom>
          <a:noFill/>
        </p:spPr>
        <p:txBody>
          <a:bodyPr wrap="square">
            <a:spAutoFit/>
          </a:bodyPr>
          <a:lstStyle/>
          <a:p>
            <a:pPr algn="just"/>
            <a:r>
              <a:rPr lang="en-US" sz="2000" dirty="0">
                <a:latin typeface="Comic Sans MS" panose="030F0702030302020204" pitchFamily="66" charset="0"/>
              </a:rPr>
              <a:t>3. </a:t>
            </a:r>
            <a:r>
              <a:rPr lang="en-US" sz="2000" dirty="0" err="1">
                <a:latin typeface="Comic Sans MS" panose="030F0702030302020204" pitchFamily="66" charset="0"/>
              </a:rPr>
              <a:t>Arrays.fill</a:t>
            </a:r>
            <a:r>
              <a:rPr lang="en-US" sz="2000" dirty="0">
                <a:latin typeface="Comic Sans MS" panose="030F0702030302020204" pitchFamily="66" charset="0"/>
              </a:rPr>
              <a:t>():Fills the entire array or a portion of it with a specific value</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import </a:t>
            </a:r>
            <a:r>
              <a:rPr lang="en-US" sz="2000" dirty="0" err="1">
                <a:latin typeface="Comic Sans MS" panose="030F0702030302020204" pitchFamily="66" charset="0"/>
              </a:rPr>
              <a:t>java.util.Arrays</a:t>
            </a:r>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ArrayMethods</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new int[5];</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Fill the array with the value 7</a:t>
            </a:r>
          </a:p>
          <a:p>
            <a:pPr algn="just"/>
            <a:r>
              <a:rPr lang="en-US" sz="2000" dirty="0">
                <a:latin typeface="Comic Sans MS" panose="030F0702030302020204" pitchFamily="66" charset="0"/>
              </a:rPr>
              <a:t>        </a:t>
            </a:r>
            <a:r>
              <a:rPr lang="en-US" sz="2000" dirty="0" err="1">
                <a:latin typeface="Comic Sans MS" panose="030F0702030302020204" pitchFamily="66" charset="0"/>
              </a:rPr>
              <a:t>Arrays.fill</a:t>
            </a:r>
            <a:r>
              <a:rPr lang="en-US" sz="2000" dirty="0">
                <a:latin typeface="Comic Sans MS" panose="030F0702030302020204" pitchFamily="66" charset="0"/>
              </a:rPr>
              <a:t>(numbers, 7);</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a:t>
            </a:r>
            <a:r>
              <a:rPr lang="en-US" sz="2000" dirty="0" err="1">
                <a:latin typeface="Comic Sans MS" panose="030F0702030302020204" pitchFamily="66" charset="0"/>
              </a:rPr>
              <a:t>Arrays.toString</a:t>
            </a:r>
            <a:r>
              <a:rPr lang="en-US" sz="2000" dirty="0">
                <a:latin typeface="Comic Sans MS" panose="030F0702030302020204" pitchFamily="66" charset="0"/>
              </a:rPr>
              <a:t>(numbers)); // Output: [7, 7, 7, 7, 7]</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r>
              <a:rPr lang="en-US" sz="2000" dirty="0" err="1">
                <a:latin typeface="Comic Sans MS" panose="030F0702030302020204" pitchFamily="66" charset="0"/>
              </a:rPr>
              <a:t>Arrays.equals</a:t>
            </a:r>
            <a:r>
              <a:rPr lang="en-US" sz="2000" dirty="0">
                <a:latin typeface="Comic Sans MS" panose="030F0702030302020204" pitchFamily="66" charset="0"/>
              </a:rPr>
              <a:t>():Compares two arrays to see if they are equal. It checks if the arrays are of the same length and if each element in the arrays is equal.</a:t>
            </a:r>
          </a:p>
        </p:txBody>
      </p:sp>
    </p:spTree>
    <p:extLst>
      <p:ext uri="{BB962C8B-B14F-4D97-AF65-F5344CB8AC3E}">
        <p14:creationId xmlns:p14="http://schemas.microsoft.com/office/powerpoint/2010/main" val="4122741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9D631-813D-EF20-26BF-4753E2CD82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402368-3634-4B6A-16C1-615EB6C835C6}"/>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Array Methods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9A4B8359-CD35-DF8E-F470-FE158245B505}"/>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3AAA6153-3E74-80E5-B4D5-EC18DC2CADBD}"/>
              </a:ext>
            </a:extLst>
          </p:cNvPr>
          <p:cNvSpPr txBox="1"/>
          <p:nvPr/>
        </p:nvSpPr>
        <p:spPr>
          <a:xfrm>
            <a:off x="558998" y="783756"/>
            <a:ext cx="10930759" cy="4708981"/>
          </a:xfrm>
          <a:prstGeom prst="rect">
            <a:avLst/>
          </a:prstGeom>
          <a:noFill/>
        </p:spPr>
        <p:txBody>
          <a:bodyPr wrap="square">
            <a:spAutoFit/>
          </a:bodyPr>
          <a:lstStyle/>
          <a:p>
            <a:pPr algn="just"/>
            <a:r>
              <a:rPr lang="en-US" sz="2000" dirty="0">
                <a:latin typeface="Comic Sans MS" panose="030F0702030302020204" pitchFamily="66" charset="0"/>
              </a:rPr>
              <a:t>import </a:t>
            </a:r>
            <a:r>
              <a:rPr lang="en-US" sz="2000" dirty="0" err="1">
                <a:latin typeface="Comic Sans MS" panose="030F0702030302020204" pitchFamily="66" charset="0"/>
              </a:rPr>
              <a:t>java.util.Arrays</a:t>
            </a:r>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ArrayMethods</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numbers1 = {1, 2, 3};</a:t>
            </a:r>
          </a:p>
          <a:p>
            <a:pPr algn="just"/>
            <a:r>
              <a:rPr lang="en-US" sz="2000" dirty="0">
                <a:latin typeface="Comic Sans MS" panose="030F0702030302020204" pitchFamily="66" charset="0"/>
              </a:rPr>
              <a:t>        int[] numbers2 = {1, 2, 3};</a:t>
            </a:r>
          </a:p>
          <a:p>
            <a:pPr algn="just"/>
            <a:r>
              <a:rPr lang="en-US" sz="2000" dirty="0">
                <a:latin typeface="Comic Sans MS" panose="030F0702030302020204" pitchFamily="66" charset="0"/>
              </a:rPr>
              <a:t>        int[] numbers3 = {1, 2, 4};</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a:t>
            </a:r>
            <a:r>
              <a:rPr lang="en-US" sz="2000" dirty="0" err="1">
                <a:latin typeface="Comic Sans MS" panose="030F0702030302020204" pitchFamily="66" charset="0"/>
              </a:rPr>
              <a:t>Arrays.equals</a:t>
            </a:r>
            <a:r>
              <a:rPr lang="en-US" sz="2000" dirty="0">
                <a:latin typeface="Comic Sans MS" panose="030F0702030302020204" pitchFamily="66" charset="0"/>
              </a:rPr>
              <a:t>(numbers1, numbers2)); // true</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a:t>
            </a:r>
            <a:r>
              <a:rPr lang="en-US" sz="2000" dirty="0" err="1">
                <a:latin typeface="Comic Sans MS" panose="030F0702030302020204" pitchFamily="66" charset="0"/>
              </a:rPr>
              <a:t>Arrays.equals</a:t>
            </a:r>
            <a:r>
              <a:rPr lang="en-US" sz="2000" dirty="0">
                <a:latin typeface="Comic Sans MS" panose="030F0702030302020204" pitchFamily="66" charset="0"/>
              </a:rPr>
              <a:t>(numbers1, numbers3)); // false</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4. </a:t>
            </a:r>
            <a:r>
              <a:rPr lang="en-US" sz="2000" dirty="0" err="1">
                <a:latin typeface="Comic Sans MS" panose="030F0702030302020204" pitchFamily="66" charset="0"/>
              </a:rPr>
              <a:t>Arrays.toString</a:t>
            </a:r>
            <a:r>
              <a:rPr lang="en-US" sz="2000" dirty="0">
                <a:latin typeface="Comic Sans MS" panose="030F0702030302020204" pitchFamily="66" charset="0"/>
              </a:rPr>
              <a:t>():Converts an array to a string representation. This is useful for printing or logging the array's contents.</a:t>
            </a:r>
          </a:p>
        </p:txBody>
      </p:sp>
    </p:spTree>
    <p:extLst>
      <p:ext uri="{BB962C8B-B14F-4D97-AF65-F5344CB8AC3E}">
        <p14:creationId xmlns:p14="http://schemas.microsoft.com/office/powerpoint/2010/main" val="4066149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B62F-A459-7D44-C8C5-22F46E376E2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628C45-8F2E-71C4-0443-E2CA5A987FF1}"/>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Array Methods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CE7D97AA-61EC-E0FD-77FE-AEC807D1CEE1}"/>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50C2F6B6-E4B6-7244-683B-FA6350A768F3}"/>
              </a:ext>
            </a:extLst>
          </p:cNvPr>
          <p:cNvSpPr txBox="1"/>
          <p:nvPr/>
        </p:nvSpPr>
        <p:spPr>
          <a:xfrm>
            <a:off x="558998" y="783756"/>
            <a:ext cx="10930759" cy="2554545"/>
          </a:xfrm>
          <a:prstGeom prst="rect">
            <a:avLst/>
          </a:prstGeom>
          <a:noFill/>
        </p:spPr>
        <p:txBody>
          <a:bodyPr wrap="square">
            <a:spAutoFit/>
          </a:bodyPr>
          <a:lstStyle/>
          <a:p>
            <a:pPr algn="just"/>
            <a:r>
              <a:rPr lang="en-US" sz="2000" dirty="0">
                <a:latin typeface="Comic Sans MS" panose="030F0702030302020204" pitchFamily="66" charset="0"/>
              </a:rPr>
              <a:t>import </a:t>
            </a:r>
            <a:r>
              <a:rPr lang="en-US" sz="2000" dirty="0" err="1">
                <a:latin typeface="Comic Sans MS" panose="030F0702030302020204" pitchFamily="66" charset="0"/>
              </a:rPr>
              <a:t>java.util.Arrays</a:t>
            </a:r>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public class </a:t>
            </a:r>
            <a:r>
              <a:rPr lang="en-US" sz="2000" dirty="0" err="1">
                <a:latin typeface="Comic Sans MS" panose="030F0702030302020204" pitchFamily="66" charset="0"/>
              </a:rPr>
              <a:t>ArrayMethods</a:t>
            </a:r>
            <a:r>
              <a:rPr lang="en-US" sz="2000" dirty="0">
                <a:latin typeface="Comic Sans MS" panose="030F0702030302020204" pitchFamily="66" charset="0"/>
              </a:rPr>
              <a:t>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int[] numbers = {1, 2, 3, 4, 5};</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a:t>
            </a:r>
            <a:r>
              <a:rPr lang="en-US" sz="2000" dirty="0" err="1">
                <a:latin typeface="Comic Sans MS" panose="030F0702030302020204" pitchFamily="66" charset="0"/>
              </a:rPr>
              <a:t>Arrays.toString</a:t>
            </a:r>
            <a:r>
              <a:rPr lang="en-US" sz="2000" dirty="0">
                <a:latin typeface="Comic Sans MS" panose="030F0702030302020204" pitchFamily="66" charset="0"/>
              </a:rPr>
              <a:t>(numbers)); // Output: [1, 2, 3, 4, 5]</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p:txBody>
      </p:sp>
    </p:spTree>
    <p:extLst>
      <p:ext uri="{BB962C8B-B14F-4D97-AF65-F5344CB8AC3E}">
        <p14:creationId xmlns:p14="http://schemas.microsoft.com/office/powerpoint/2010/main" val="2374488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AF865-D8FF-64D0-46AE-BE23BEBC51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37A335-E5C8-58D1-357B-6E4DCCEB9DE9}"/>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Inheritance and Overriding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65F98103-3B45-B75D-6DFD-7A9FB5A8EC3E}"/>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81486E7B-93CA-4431-5170-C2EC272E5111}"/>
              </a:ext>
            </a:extLst>
          </p:cNvPr>
          <p:cNvSpPr txBox="1"/>
          <p:nvPr/>
        </p:nvSpPr>
        <p:spPr>
          <a:xfrm>
            <a:off x="558998" y="783756"/>
            <a:ext cx="10930759" cy="6432530"/>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omic Sans MS" panose="030F0702030302020204" pitchFamily="66" charset="0"/>
              </a:rPr>
              <a:t>Inheritance and Overriding are key concepts in Java’s Object-Oriented Programming (OOP) model. They allow you to create a hierarchy of classes, enabling code reuse and creating more specialized versions of methods.</a:t>
            </a:r>
          </a:p>
          <a:p>
            <a:pPr algn="just"/>
            <a:endParaRPr lang="en-US" sz="2000" dirty="0">
              <a:latin typeface="Comic Sans MS" panose="030F0702030302020204" pitchFamily="66" charset="0"/>
            </a:endParaRPr>
          </a:p>
          <a:p>
            <a:pPr marL="342900" indent="-342900" algn="just">
              <a:buFont typeface="Wingdings" panose="05000000000000000000" pitchFamily="2" charset="2"/>
              <a:buChar char="Ø"/>
            </a:pPr>
            <a:r>
              <a:rPr lang="en-US" sz="2000" dirty="0">
                <a:latin typeface="Comic Sans MS" panose="030F0702030302020204" pitchFamily="66" charset="0"/>
              </a:rPr>
              <a:t>Inheritance in Java: Inheritance allows a new class (subclass or child class) to inherit properties and behaviors (fields and methods) from an existing class (superclass or parent class).</a:t>
            </a:r>
          </a:p>
          <a:p>
            <a:pPr lvl="1" algn="just"/>
            <a:r>
              <a:rPr lang="en-US" sz="1400" dirty="0">
                <a:latin typeface="Comic Sans MS" panose="030F0702030302020204" pitchFamily="66" charset="0"/>
              </a:rPr>
              <a:t>// Parent class</a:t>
            </a:r>
          </a:p>
          <a:p>
            <a:pPr lvl="1" algn="just"/>
            <a:r>
              <a:rPr lang="en-US" sz="1400" dirty="0">
                <a:latin typeface="Comic Sans MS" panose="030F0702030302020204" pitchFamily="66" charset="0"/>
              </a:rPr>
              <a:t>class Animal {</a:t>
            </a:r>
          </a:p>
          <a:p>
            <a:pPr lvl="1" algn="just"/>
            <a:r>
              <a:rPr lang="en-US" sz="1400" dirty="0">
                <a:latin typeface="Comic Sans MS" panose="030F0702030302020204" pitchFamily="66" charset="0"/>
              </a:rPr>
              <a:t>    void </a:t>
            </a:r>
            <a:r>
              <a:rPr lang="en-US" sz="1400" dirty="0" err="1">
                <a:latin typeface="Comic Sans MS" panose="030F0702030302020204" pitchFamily="66" charset="0"/>
              </a:rPr>
              <a:t>makeSound</a:t>
            </a:r>
            <a:r>
              <a:rPr lang="en-US" sz="1400" dirty="0">
                <a:latin typeface="Comic Sans MS" panose="030F0702030302020204" pitchFamily="66" charset="0"/>
              </a:rPr>
              <a:t>() {</a:t>
            </a:r>
          </a:p>
          <a:p>
            <a:pPr lvl="1" algn="just"/>
            <a:r>
              <a:rPr lang="en-US" sz="1400" dirty="0">
                <a:latin typeface="Comic Sans MS" panose="030F0702030302020204" pitchFamily="66" charset="0"/>
              </a:rPr>
              <a:t>        </a:t>
            </a:r>
            <a:r>
              <a:rPr lang="en-US" sz="1400" dirty="0" err="1">
                <a:latin typeface="Comic Sans MS" panose="030F0702030302020204" pitchFamily="66" charset="0"/>
              </a:rPr>
              <a:t>System.out.println</a:t>
            </a:r>
            <a:r>
              <a:rPr lang="en-US" sz="1400" dirty="0">
                <a:latin typeface="Comic Sans MS" panose="030F0702030302020204" pitchFamily="66" charset="0"/>
              </a:rPr>
              <a:t>("Animal makes a sound");</a:t>
            </a:r>
          </a:p>
          <a:p>
            <a:pPr lvl="1" algn="just"/>
            <a:r>
              <a:rPr lang="en-US" sz="1400" dirty="0">
                <a:latin typeface="Comic Sans MS" panose="030F0702030302020204" pitchFamily="66" charset="0"/>
              </a:rPr>
              <a:t>    }</a:t>
            </a:r>
          </a:p>
          <a:p>
            <a:pPr lvl="1" algn="just"/>
            <a:r>
              <a:rPr lang="en-US" sz="1400" dirty="0">
                <a:latin typeface="Comic Sans MS" panose="030F0702030302020204" pitchFamily="66" charset="0"/>
              </a:rPr>
              <a:t>}</a:t>
            </a:r>
          </a:p>
          <a:p>
            <a:pPr lvl="1" algn="just"/>
            <a:endParaRPr lang="en-US" sz="1400" dirty="0">
              <a:latin typeface="Comic Sans MS" panose="030F0702030302020204" pitchFamily="66" charset="0"/>
            </a:endParaRPr>
          </a:p>
          <a:p>
            <a:pPr lvl="1" algn="just"/>
            <a:r>
              <a:rPr lang="en-US" sz="1400" dirty="0">
                <a:latin typeface="Comic Sans MS" panose="030F0702030302020204" pitchFamily="66" charset="0"/>
              </a:rPr>
              <a:t>// Child class that inherits from Animal</a:t>
            </a:r>
          </a:p>
          <a:p>
            <a:pPr lvl="1" algn="just"/>
            <a:r>
              <a:rPr lang="en-US" sz="1400" dirty="0">
                <a:latin typeface="Comic Sans MS" panose="030F0702030302020204" pitchFamily="66" charset="0"/>
              </a:rPr>
              <a:t>class Dog extends Animal {</a:t>
            </a:r>
          </a:p>
          <a:p>
            <a:pPr lvl="1" algn="just"/>
            <a:r>
              <a:rPr lang="en-US" sz="1400" dirty="0">
                <a:latin typeface="Comic Sans MS" panose="030F0702030302020204" pitchFamily="66" charset="0"/>
              </a:rPr>
              <a:t>    // Dog inherits the </a:t>
            </a:r>
            <a:r>
              <a:rPr lang="en-US" sz="1400" dirty="0" err="1">
                <a:latin typeface="Comic Sans MS" panose="030F0702030302020204" pitchFamily="66" charset="0"/>
              </a:rPr>
              <a:t>makeSound</a:t>
            </a:r>
            <a:r>
              <a:rPr lang="en-US" sz="1400" dirty="0">
                <a:latin typeface="Comic Sans MS" panose="030F0702030302020204" pitchFamily="66" charset="0"/>
              </a:rPr>
              <a:t> method from Animal</a:t>
            </a:r>
          </a:p>
          <a:p>
            <a:pPr lvl="1" algn="just"/>
            <a:r>
              <a:rPr lang="en-US" sz="1400" dirty="0">
                <a:latin typeface="Comic Sans MS" panose="030F0702030302020204" pitchFamily="66" charset="0"/>
              </a:rPr>
              <a:t>}</a:t>
            </a:r>
          </a:p>
          <a:p>
            <a:pPr lvl="1" algn="just"/>
            <a:endParaRPr lang="en-US" sz="1400" dirty="0">
              <a:latin typeface="Comic Sans MS" panose="030F0702030302020204" pitchFamily="66" charset="0"/>
            </a:endParaRPr>
          </a:p>
          <a:p>
            <a:pPr lvl="1" algn="just"/>
            <a:r>
              <a:rPr lang="en-US" sz="1400" dirty="0">
                <a:latin typeface="Comic Sans MS" panose="030F0702030302020204" pitchFamily="66" charset="0"/>
              </a:rPr>
              <a:t>public class Main {</a:t>
            </a:r>
          </a:p>
          <a:p>
            <a:pPr lvl="1" algn="just"/>
            <a:r>
              <a:rPr lang="en-US" sz="1400" dirty="0">
                <a:latin typeface="Comic Sans MS" panose="030F0702030302020204" pitchFamily="66" charset="0"/>
              </a:rPr>
              <a:t>    public static void main(String[] </a:t>
            </a:r>
            <a:r>
              <a:rPr lang="en-US" sz="1400" dirty="0" err="1">
                <a:latin typeface="Comic Sans MS" panose="030F0702030302020204" pitchFamily="66" charset="0"/>
              </a:rPr>
              <a:t>args</a:t>
            </a:r>
            <a:r>
              <a:rPr lang="en-US" sz="1400" dirty="0">
                <a:latin typeface="Comic Sans MS" panose="030F0702030302020204" pitchFamily="66" charset="0"/>
              </a:rPr>
              <a:t>) {</a:t>
            </a:r>
          </a:p>
          <a:p>
            <a:pPr lvl="1" algn="just"/>
            <a:r>
              <a:rPr lang="en-US" sz="1400" dirty="0">
                <a:latin typeface="Comic Sans MS" panose="030F0702030302020204" pitchFamily="66" charset="0"/>
              </a:rPr>
              <a:t>        Dog </a:t>
            </a:r>
            <a:r>
              <a:rPr lang="en-US" sz="1400" dirty="0" err="1">
                <a:latin typeface="Comic Sans MS" panose="030F0702030302020204" pitchFamily="66" charset="0"/>
              </a:rPr>
              <a:t>dog</a:t>
            </a:r>
            <a:r>
              <a:rPr lang="en-US" sz="1400" dirty="0">
                <a:latin typeface="Comic Sans MS" panose="030F0702030302020204" pitchFamily="66" charset="0"/>
              </a:rPr>
              <a:t> = new Dog();</a:t>
            </a:r>
          </a:p>
          <a:p>
            <a:pPr lvl="1" algn="just"/>
            <a:r>
              <a:rPr lang="en-US" sz="1400" dirty="0">
                <a:latin typeface="Comic Sans MS" panose="030F0702030302020204" pitchFamily="66" charset="0"/>
              </a:rPr>
              <a:t>        </a:t>
            </a:r>
            <a:r>
              <a:rPr lang="en-US" sz="1400" dirty="0" err="1">
                <a:latin typeface="Comic Sans MS" panose="030F0702030302020204" pitchFamily="66" charset="0"/>
              </a:rPr>
              <a:t>dog.makeSound</a:t>
            </a:r>
            <a:r>
              <a:rPr lang="en-US" sz="1400" dirty="0">
                <a:latin typeface="Comic Sans MS" panose="030F0702030302020204" pitchFamily="66" charset="0"/>
              </a:rPr>
              <a:t>(); // Calling method inherited from Animal</a:t>
            </a:r>
          </a:p>
          <a:p>
            <a:pPr lvl="1" algn="just"/>
            <a:r>
              <a:rPr lang="en-US" sz="1400" dirty="0">
                <a:latin typeface="Comic Sans MS" panose="030F0702030302020204" pitchFamily="66" charset="0"/>
              </a:rPr>
              <a:t>    }</a:t>
            </a:r>
          </a:p>
          <a:p>
            <a:pPr lvl="1" algn="just"/>
            <a:r>
              <a:rPr lang="en-US" sz="14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2587970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5D3E7-28D8-B551-1F18-0A34D650559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CDF42D-B588-2156-81BA-FBD6865D25D2}"/>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Inheritance and Overriding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36A4A80E-85BE-E844-971B-A43DD4EA5ECF}"/>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2E6C783E-EA7D-07E0-D7C2-EB80ABB58160}"/>
              </a:ext>
            </a:extLst>
          </p:cNvPr>
          <p:cNvSpPr txBox="1"/>
          <p:nvPr/>
        </p:nvSpPr>
        <p:spPr>
          <a:xfrm>
            <a:off x="558998" y="783756"/>
            <a:ext cx="10930759" cy="5016758"/>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omic Sans MS" panose="030F0702030302020204" pitchFamily="66" charset="0"/>
              </a:rPr>
              <a:t>extends keyword is used to establish the inheritance relationship.</a:t>
            </a:r>
          </a:p>
          <a:p>
            <a:pPr marL="342900" indent="-342900" algn="just">
              <a:buFont typeface="Wingdings" panose="05000000000000000000" pitchFamily="2" charset="2"/>
              <a:buChar char="Ø"/>
            </a:pPr>
            <a:r>
              <a:rPr lang="en-US" sz="2000" dirty="0">
                <a:latin typeface="Comic Sans MS" panose="030F0702030302020204" pitchFamily="66" charset="0"/>
              </a:rPr>
              <a:t>The Dog class inherits the </a:t>
            </a:r>
            <a:r>
              <a:rPr lang="en-US" sz="2000" dirty="0" err="1">
                <a:latin typeface="Comic Sans MS" panose="030F0702030302020204" pitchFamily="66" charset="0"/>
              </a:rPr>
              <a:t>makeSound</a:t>
            </a:r>
            <a:r>
              <a:rPr lang="en-US" sz="2000" dirty="0">
                <a:latin typeface="Comic Sans MS" panose="030F0702030302020204" pitchFamily="66" charset="0"/>
              </a:rPr>
              <a:t>() method from the Animal class.</a:t>
            </a:r>
          </a:p>
          <a:p>
            <a:pPr marL="342900" indent="-342900" algn="just">
              <a:buFont typeface="Wingdings" panose="05000000000000000000" pitchFamily="2" charset="2"/>
              <a:buChar char="Ø"/>
            </a:pPr>
            <a:r>
              <a:rPr lang="en-US" sz="2000" dirty="0">
                <a:latin typeface="Comic Sans MS" panose="030F0702030302020204" pitchFamily="66" charset="0"/>
              </a:rPr>
              <a:t>In the example, when </a:t>
            </a:r>
            <a:r>
              <a:rPr lang="en-US" sz="2000" dirty="0" err="1">
                <a:latin typeface="Comic Sans MS" panose="030F0702030302020204" pitchFamily="66" charset="0"/>
              </a:rPr>
              <a:t>dog.makeSound</a:t>
            </a:r>
            <a:r>
              <a:rPr lang="en-US" sz="2000" dirty="0">
                <a:latin typeface="Comic Sans MS" panose="030F0702030302020204" pitchFamily="66" charset="0"/>
              </a:rPr>
              <a:t>() is called, it will output "Animal makes a sound" because the method is inherited.</a:t>
            </a:r>
          </a:p>
          <a:p>
            <a:pPr algn="just"/>
            <a:r>
              <a:rPr lang="en-US" sz="2000" dirty="0">
                <a:solidFill>
                  <a:srgbClr val="FF0000"/>
                </a:solidFill>
                <a:latin typeface="Comic Sans MS" panose="030F0702030302020204" pitchFamily="66" charset="0"/>
              </a:rPr>
              <a:t>Method Overriding in Java</a:t>
            </a:r>
          </a:p>
          <a:p>
            <a:pPr marL="342900" indent="-342900" algn="just">
              <a:buFont typeface="Wingdings" panose="05000000000000000000" pitchFamily="2" charset="2"/>
              <a:buChar char="Ø"/>
            </a:pPr>
            <a:r>
              <a:rPr lang="en-US" sz="2000" dirty="0">
                <a:latin typeface="Comic Sans MS" panose="030F0702030302020204" pitchFamily="66" charset="0"/>
              </a:rPr>
              <a:t>Method overriding allows a subclass to provide a specific implementation for a method that is already defined in its superclass. Overriding happens when the subclass has a method with the same name, return type, and parameters as the method in the superclass.</a:t>
            </a:r>
          </a:p>
          <a:p>
            <a:pPr algn="just"/>
            <a:endParaRPr lang="en-US" sz="2000" dirty="0">
              <a:latin typeface="Comic Sans MS" panose="030F0702030302020204" pitchFamily="66" charset="0"/>
            </a:endParaRPr>
          </a:p>
          <a:p>
            <a:pPr algn="just"/>
            <a:r>
              <a:rPr lang="en-US" sz="2000" dirty="0">
                <a:solidFill>
                  <a:srgbClr val="FF0000"/>
                </a:solidFill>
                <a:latin typeface="Comic Sans MS" panose="030F0702030302020204" pitchFamily="66" charset="0"/>
              </a:rPr>
              <a:t>Key Points:</a:t>
            </a:r>
          </a:p>
          <a:p>
            <a:pPr marL="342900" indent="-342900" algn="just">
              <a:buFont typeface="Wingdings" panose="05000000000000000000" pitchFamily="2" charset="2"/>
              <a:buChar char="Ø"/>
            </a:pPr>
            <a:r>
              <a:rPr lang="en-US" sz="2000" dirty="0">
                <a:latin typeface="Comic Sans MS" panose="030F0702030302020204" pitchFamily="66" charset="0"/>
              </a:rPr>
              <a:t>The @Override annotation is optional but recommended to indicate that a method is being overridden.</a:t>
            </a:r>
          </a:p>
          <a:p>
            <a:pPr marL="342900" indent="-342900" algn="just">
              <a:buFont typeface="Wingdings" panose="05000000000000000000" pitchFamily="2" charset="2"/>
              <a:buChar char="Ø"/>
            </a:pPr>
            <a:r>
              <a:rPr lang="en-US" sz="2000" dirty="0">
                <a:latin typeface="Comic Sans MS" panose="030F0702030302020204" pitchFamily="66" charset="0"/>
              </a:rPr>
              <a:t>Overriding is used to change or extend the behavior of an inherited method.</a:t>
            </a:r>
          </a:p>
          <a:p>
            <a:pPr marL="342900" indent="-342900" algn="just">
              <a:buFont typeface="Wingdings" panose="05000000000000000000" pitchFamily="2" charset="2"/>
              <a:buChar char="Ø"/>
            </a:pPr>
            <a:r>
              <a:rPr lang="en-US" sz="2000" dirty="0">
                <a:latin typeface="Comic Sans MS" panose="030F0702030302020204" pitchFamily="66" charset="0"/>
              </a:rPr>
              <a:t>The method in the subclass must have the same signature (method name, parameters, return type) as the method in the superclass.</a:t>
            </a:r>
          </a:p>
        </p:txBody>
      </p:sp>
    </p:spTree>
    <p:extLst>
      <p:ext uri="{BB962C8B-B14F-4D97-AF65-F5344CB8AC3E}">
        <p14:creationId xmlns:p14="http://schemas.microsoft.com/office/powerpoint/2010/main" val="3086733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C712-BDBB-B7F1-4DD0-ABF4503D9E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6C510B2-5FA3-6B1E-CE63-624844E7825C}"/>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Inheritance and Overriding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4E76E834-41BD-BE14-8300-81A91F3B4613}"/>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CCA80984-2D5A-CE22-04DE-B7E0C4547FE6}"/>
              </a:ext>
            </a:extLst>
          </p:cNvPr>
          <p:cNvSpPr txBox="1"/>
          <p:nvPr/>
        </p:nvSpPr>
        <p:spPr>
          <a:xfrm>
            <a:off x="558998" y="783756"/>
            <a:ext cx="10930759" cy="5709255"/>
          </a:xfrm>
          <a:prstGeom prst="rect">
            <a:avLst/>
          </a:prstGeom>
          <a:noFill/>
        </p:spPr>
        <p:txBody>
          <a:bodyPr wrap="square">
            <a:spAutoFit/>
          </a:bodyPr>
          <a:lstStyle/>
          <a:p>
            <a:pPr algn="just"/>
            <a:r>
              <a:rPr lang="en-US" sz="1500" dirty="0">
                <a:latin typeface="Comic Sans MS" panose="030F0702030302020204" pitchFamily="66" charset="0"/>
              </a:rPr>
              <a:t>// Parent class</a:t>
            </a:r>
          </a:p>
          <a:p>
            <a:pPr algn="just"/>
            <a:r>
              <a:rPr lang="en-US" sz="1500" dirty="0">
                <a:latin typeface="Comic Sans MS" panose="030F0702030302020204" pitchFamily="66" charset="0"/>
              </a:rPr>
              <a:t>class Animal {</a:t>
            </a:r>
          </a:p>
          <a:p>
            <a:pPr algn="just"/>
            <a:r>
              <a:rPr lang="en-US" sz="1500" dirty="0">
                <a:latin typeface="Comic Sans MS" panose="030F0702030302020204" pitchFamily="66" charset="0"/>
              </a:rPr>
              <a:t>    void </a:t>
            </a:r>
            <a:r>
              <a:rPr lang="en-US" sz="1500" dirty="0" err="1">
                <a:latin typeface="Comic Sans MS" panose="030F0702030302020204" pitchFamily="66" charset="0"/>
              </a:rPr>
              <a:t>makeSound</a:t>
            </a:r>
            <a:r>
              <a:rPr lang="en-US" sz="1500" dirty="0">
                <a:latin typeface="Comic Sans MS" panose="030F0702030302020204" pitchFamily="66" charset="0"/>
              </a:rPr>
              <a:t>() {</a:t>
            </a:r>
          </a:p>
          <a:p>
            <a:pPr algn="just"/>
            <a:r>
              <a:rPr lang="en-US" sz="1500" dirty="0">
                <a:latin typeface="Comic Sans MS" panose="030F0702030302020204" pitchFamily="66" charset="0"/>
              </a:rPr>
              <a:t>        </a:t>
            </a:r>
            <a:r>
              <a:rPr lang="en-US" sz="1500" dirty="0" err="1">
                <a:latin typeface="Comic Sans MS" panose="030F0702030302020204" pitchFamily="66" charset="0"/>
              </a:rPr>
              <a:t>System.out.println</a:t>
            </a:r>
            <a:r>
              <a:rPr lang="en-US" sz="1500" dirty="0">
                <a:latin typeface="Comic Sans MS" panose="030F0702030302020204" pitchFamily="66" charset="0"/>
              </a:rPr>
              <a:t>("Animal makes a sound");</a:t>
            </a:r>
          </a:p>
          <a:p>
            <a:pPr algn="just"/>
            <a:r>
              <a:rPr lang="en-US" sz="1500" dirty="0">
                <a:latin typeface="Comic Sans MS" panose="030F0702030302020204" pitchFamily="66" charset="0"/>
              </a:rPr>
              <a:t>    }</a:t>
            </a:r>
          </a:p>
          <a:p>
            <a:pPr algn="just"/>
            <a:r>
              <a:rPr lang="en-US" sz="1500" dirty="0">
                <a:latin typeface="Comic Sans MS" panose="030F0702030302020204" pitchFamily="66" charset="0"/>
              </a:rPr>
              <a:t>}</a:t>
            </a:r>
          </a:p>
          <a:p>
            <a:pPr algn="just"/>
            <a:endParaRPr lang="en-US" sz="1500" dirty="0">
              <a:latin typeface="Comic Sans MS" panose="030F0702030302020204" pitchFamily="66" charset="0"/>
            </a:endParaRPr>
          </a:p>
          <a:p>
            <a:pPr algn="just"/>
            <a:r>
              <a:rPr lang="en-US" sz="1500" dirty="0">
                <a:latin typeface="Comic Sans MS" panose="030F0702030302020204" pitchFamily="66" charset="0"/>
              </a:rPr>
              <a:t>// Child class that overrides </a:t>
            </a:r>
            <a:r>
              <a:rPr lang="en-US" sz="1500" dirty="0" err="1">
                <a:latin typeface="Comic Sans MS" panose="030F0702030302020204" pitchFamily="66" charset="0"/>
              </a:rPr>
              <a:t>makeSound</a:t>
            </a:r>
            <a:r>
              <a:rPr lang="en-US" sz="1500" dirty="0">
                <a:latin typeface="Comic Sans MS" panose="030F0702030302020204" pitchFamily="66" charset="0"/>
              </a:rPr>
              <a:t> method</a:t>
            </a:r>
          </a:p>
          <a:p>
            <a:pPr algn="just"/>
            <a:r>
              <a:rPr lang="en-US" sz="1500" dirty="0">
                <a:latin typeface="Comic Sans MS" panose="030F0702030302020204" pitchFamily="66" charset="0"/>
              </a:rPr>
              <a:t>class Dog extends Animal {</a:t>
            </a:r>
          </a:p>
          <a:p>
            <a:pPr algn="just"/>
            <a:r>
              <a:rPr lang="en-US" sz="1500" dirty="0">
                <a:latin typeface="Comic Sans MS" panose="030F0702030302020204" pitchFamily="66" charset="0"/>
              </a:rPr>
              <a:t>    @Override</a:t>
            </a:r>
          </a:p>
          <a:p>
            <a:pPr algn="just"/>
            <a:r>
              <a:rPr lang="en-US" sz="1500" dirty="0">
                <a:latin typeface="Comic Sans MS" panose="030F0702030302020204" pitchFamily="66" charset="0"/>
              </a:rPr>
              <a:t>    void </a:t>
            </a:r>
            <a:r>
              <a:rPr lang="en-US" sz="1500" dirty="0" err="1">
                <a:latin typeface="Comic Sans MS" panose="030F0702030302020204" pitchFamily="66" charset="0"/>
              </a:rPr>
              <a:t>makeSound</a:t>
            </a:r>
            <a:r>
              <a:rPr lang="en-US" sz="1500" dirty="0">
                <a:latin typeface="Comic Sans MS" panose="030F0702030302020204" pitchFamily="66" charset="0"/>
              </a:rPr>
              <a:t>() {</a:t>
            </a:r>
          </a:p>
          <a:p>
            <a:pPr algn="just"/>
            <a:r>
              <a:rPr lang="en-US" sz="1500" dirty="0">
                <a:latin typeface="Comic Sans MS" panose="030F0702030302020204" pitchFamily="66" charset="0"/>
              </a:rPr>
              <a:t>        </a:t>
            </a:r>
            <a:r>
              <a:rPr lang="en-US" sz="1500" dirty="0" err="1">
                <a:latin typeface="Comic Sans MS" panose="030F0702030302020204" pitchFamily="66" charset="0"/>
              </a:rPr>
              <a:t>System.out.println</a:t>
            </a:r>
            <a:r>
              <a:rPr lang="en-US" sz="1500" dirty="0">
                <a:latin typeface="Comic Sans MS" panose="030F0702030302020204" pitchFamily="66" charset="0"/>
              </a:rPr>
              <a:t>("Dog barks");</a:t>
            </a:r>
          </a:p>
          <a:p>
            <a:pPr algn="just"/>
            <a:r>
              <a:rPr lang="en-US" sz="1500" dirty="0">
                <a:latin typeface="Comic Sans MS" panose="030F0702030302020204" pitchFamily="66" charset="0"/>
              </a:rPr>
              <a:t>    }</a:t>
            </a:r>
          </a:p>
          <a:p>
            <a:pPr algn="just"/>
            <a:r>
              <a:rPr lang="en-US" sz="1500" dirty="0">
                <a:latin typeface="Comic Sans MS" panose="030F0702030302020204" pitchFamily="66" charset="0"/>
              </a:rPr>
              <a:t>}</a:t>
            </a:r>
          </a:p>
          <a:p>
            <a:pPr algn="just"/>
            <a:endParaRPr lang="en-US" sz="1500" dirty="0">
              <a:latin typeface="Comic Sans MS" panose="030F0702030302020204" pitchFamily="66" charset="0"/>
            </a:endParaRPr>
          </a:p>
          <a:p>
            <a:pPr algn="just"/>
            <a:r>
              <a:rPr lang="en-US" sz="1500" dirty="0">
                <a:latin typeface="Comic Sans MS" panose="030F0702030302020204" pitchFamily="66" charset="0"/>
              </a:rPr>
              <a:t>public class Main {</a:t>
            </a:r>
          </a:p>
          <a:p>
            <a:pPr algn="just"/>
            <a:r>
              <a:rPr lang="en-US" sz="1500" dirty="0">
                <a:latin typeface="Comic Sans MS" panose="030F0702030302020204" pitchFamily="66" charset="0"/>
              </a:rPr>
              <a:t>    public static void main(String[] </a:t>
            </a:r>
            <a:r>
              <a:rPr lang="en-US" sz="1500" dirty="0" err="1">
                <a:latin typeface="Comic Sans MS" panose="030F0702030302020204" pitchFamily="66" charset="0"/>
              </a:rPr>
              <a:t>args</a:t>
            </a:r>
            <a:r>
              <a:rPr lang="en-US" sz="1500" dirty="0">
                <a:latin typeface="Comic Sans MS" panose="030F0702030302020204" pitchFamily="66" charset="0"/>
              </a:rPr>
              <a:t>) {</a:t>
            </a:r>
          </a:p>
          <a:p>
            <a:pPr algn="just"/>
            <a:r>
              <a:rPr lang="en-US" sz="1500" dirty="0">
                <a:latin typeface="Comic Sans MS" panose="030F0702030302020204" pitchFamily="66" charset="0"/>
              </a:rPr>
              <a:t>        Animal </a:t>
            </a:r>
            <a:r>
              <a:rPr lang="en-US" sz="1500" dirty="0" err="1">
                <a:latin typeface="Comic Sans MS" panose="030F0702030302020204" pitchFamily="66" charset="0"/>
              </a:rPr>
              <a:t>animal</a:t>
            </a:r>
            <a:r>
              <a:rPr lang="en-US" sz="1500" dirty="0">
                <a:latin typeface="Comic Sans MS" panose="030F0702030302020204" pitchFamily="66" charset="0"/>
              </a:rPr>
              <a:t> = new Animal();</a:t>
            </a:r>
          </a:p>
          <a:p>
            <a:pPr algn="just"/>
            <a:r>
              <a:rPr lang="en-US" sz="1500" dirty="0">
                <a:latin typeface="Comic Sans MS" panose="030F0702030302020204" pitchFamily="66" charset="0"/>
              </a:rPr>
              <a:t>        </a:t>
            </a:r>
            <a:r>
              <a:rPr lang="en-US" sz="1500" dirty="0" err="1">
                <a:latin typeface="Comic Sans MS" panose="030F0702030302020204" pitchFamily="66" charset="0"/>
              </a:rPr>
              <a:t>animal.makeSound</a:t>
            </a:r>
            <a:r>
              <a:rPr lang="en-US" sz="1500" dirty="0">
                <a:latin typeface="Comic Sans MS" panose="030F0702030302020204" pitchFamily="66" charset="0"/>
              </a:rPr>
              <a:t>(); // Outputs: Animal makes a sound</a:t>
            </a:r>
          </a:p>
          <a:p>
            <a:pPr algn="just"/>
            <a:endParaRPr lang="en-US" sz="1500" dirty="0">
              <a:latin typeface="Comic Sans MS" panose="030F0702030302020204" pitchFamily="66" charset="0"/>
            </a:endParaRPr>
          </a:p>
          <a:p>
            <a:pPr algn="just"/>
            <a:r>
              <a:rPr lang="en-US" sz="1500" dirty="0">
                <a:latin typeface="Comic Sans MS" panose="030F0702030302020204" pitchFamily="66" charset="0"/>
              </a:rPr>
              <a:t>        Dog </a:t>
            </a:r>
            <a:r>
              <a:rPr lang="en-US" sz="1500" dirty="0" err="1">
                <a:latin typeface="Comic Sans MS" panose="030F0702030302020204" pitchFamily="66" charset="0"/>
              </a:rPr>
              <a:t>dog</a:t>
            </a:r>
            <a:r>
              <a:rPr lang="en-US" sz="1500" dirty="0">
                <a:latin typeface="Comic Sans MS" panose="030F0702030302020204" pitchFamily="66" charset="0"/>
              </a:rPr>
              <a:t> = new Dog();</a:t>
            </a:r>
          </a:p>
          <a:p>
            <a:pPr algn="just"/>
            <a:r>
              <a:rPr lang="en-US" sz="1500" dirty="0">
                <a:latin typeface="Comic Sans MS" panose="030F0702030302020204" pitchFamily="66" charset="0"/>
              </a:rPr>
              <a:t>        </a:t>
            </a:r>
            <a:r>
              <a:rPr lang="en-US" sz="1500" dirty="0" err="1">
                <a:latin typeface="Comic Sans MS" panose="030F0702030302020204" pitchFamily="66" charset="0"/>
              </a:rPr>
              <a:t>dog.makeSound</a:t>
            </a:r>
            <a:r>
              <a:rPr lang="en-US" sz="1500" dirty="0">
                <a:latin typeface="Comic Sans MS" panose="030F0702030302020204" pitchFamily="66" charset="0"/>
              </a:rPr>
              <a:t>(); // Outputs: Dog barks</a:t>
            </a:r>
          </a:p>
          <a:p>
            <a:pPr algn="just"/>
            <a:r>
              <a:rPr lang="en-US" sz="1500" dirty="0">
                <a:latin typeface="Comic Sans MS" panose="030F0702030302020204" pitchFamily="66" charset="0"/>
              </a:rPr>
              <a:t>    }</a:t>
            </a:r>
          </a:p>
          <a:p>
            <a:pPr algn="just"/>
            <a:r>
              <a:rPr lang="en-US" sz="2000" dirty="0">
                <a:latin typeface="Comic Sans MS" panose="030F0702030302020204" pitchFamily="66" charset="0"/>
              </a:rPr>
              <a:t>}</a:t>
            </a:r>
          </a:p>
        </p:txBody>
      </p:sp>
    </p:spTree>
    <p:extLst>
      <p:ext uri="{BB962C8B-B14F-4D97-AF65-F5344CB8AC3E}">
        <p14:creationId xmlns:p14="http://schemas.microsoft.com/office/powerpoint/2010/main" val="2532239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429F-22AA-362A-574D-D961DA2BA0B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689697-F2B0-04E7-EC9C-AF5F13B12741}"/>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Inheritance and Overriding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CFC8D755-C4B6-F0DE-DFCD-11D085C906E1}"/>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1570C0F1-6071-F042-7E0D-C173499D7F68}"/>
              </a:ext>
            </a:extLst>
          </p:cNvPr>
          <p:cNvSpPr txBox="1"/>
          <p:nvPr/>
        </p:nvSpPr>
        <p:spPr>
          <a:xfrm>
            <a:off x="558998" y="783756"/>
            <a:ext cx="10930759" cy="4401205"/>
          </a:xfrm>
          <a:prstGeom prst="rect">
            <a:avLst/>
          </a:prstGeom>
          <a:noFill/>
        </p:spPr>
        <p:txBody>
          <a:bodyPr wrap="square">
            <a:spAutoFit/>
          </a:bodyPr>
          <a:lstStyle/>
          <a:p>
            <a:pPr algn="just"/>
            <a:r>
              <a:rPr lang="en-US" sz="2000" dirty="0">
                <a:solidFill>
                  <a:srgbClr val="FF0000"/>
                </a:solidFill>
                <a:latin typeface="Comic Sans MS" panose="030F0702030302020204" pitchFamily="66" charset="0"/>
              </a:rPr>
              <a:t> Rules for Overriding Methods</a:t>
            </a:r>
          </a:p>
          <a:p>
            <a:pPr marL="342900" indent="-342900" algn="just">
              <a:buFont typeface="Wingdings" panose="05000000000000000000" pitchFamily="2" charset="2"/>
              <a:buChar char="Ø"/>
            </a:pPr>
            <a:r>
              <a:rPr lang="en-US" sz="2000" dirty="0">
                <a:latin typeface="Comic Sans MS" panose="030F0702030302020204" pitchFamily="66" charset="0"/>
              </a:rPr>
              <a:t>The method signature (name, parameters, return type) in the subclass must match the method signature in the parent class.</a:t>
            </a:r>
          </a:p>
          <a:p>
            <a:pPr marL="342900" indent="-342900" algn="just">
              <a:buFont typeface="Wingdings" panose="05000000000000000000" pitchFamily="2" charset="2"/>
              <a:buChar char="Ø"/>
            </a:pPr>
            <a:r>
              <a:rPr lang="en-US" sz="2000" dirty="0">
                <a:latin typeface="Comic Sans MS" panose="030F0702030302020204" pitchFamily="66" charset="0"/>
              </a:rPr>
              <a:t>The access modifier of the overridden method in the subclass must be the same or more permissive (e.g., public can override protected, but not vice versa).</a:t>
            </a:r>
          </a:p>
          <a:p>
            <a:pPr marL="342900" indent="-342900" algn="just">
              <a:buFont typeface="Wingdings" panose="05000000000000000000" pitchFamily="2" charset="2"/>
              <a:buChar char="Ø"/>
            </a:pPr>
            <a:r>
              <a:rPr lang="en-US" sz="2000" dirty="0">
                <a:latin typeface="Comic Sans MS" panose="030F0702030302020204" pitchFamily="66" charset="0"/>
              </a:rPr>
              <a:t>Non-static methods can be overridden, but static methods cannot be overridden (though they can be hidden).</a:t>
            </a:r>
          </a:p>
          <a:p>
            <a:pPr marL="342900" indent="-342900" algn="just">
              <a:buFont typeface="Wingdings" panose="05000000000000000000" pitchFamily="2" charset="2"/>
              <a:buChar char="Ø"/>
            </a:pPr>
            <a:r>
              <a:rPr lang="en-US" sz="2000" dirty="0">
                <a:latin typeface="Comic Sans MS" panose="030F0702030302020204" pitchFamily="66" charset="0"/>
              </a:rPr>
              <a:t>You cannot override final, static, or private methods.</a:t>
            </a:r>
          </a:p>
          <a:p>
            <a:pPr marL="342900" indent="-342900" algn="just">
              <a:buFont typeface="Wingdings" panose="05000000000000000000" pitchFamily="2" charset="2"/>
              <a:buChar char="Ø"/>
            </a:pPr>
            <a:r>
              <a:rPr lang="en-US" sz="2000" dirty="0">
                <a:latin typeface="Comic Sans MS" panose="030F0702030302020204" pitchFamily="66" charset="0"/>
              </a:rPr>
              <a:t>If a method is overridden in the subclass, calling that method on a reference of the superclass type will use the overridden method in the subclass if the object is actually an instance of the subclass</a:t>
            </a:r>
          </a:p>
          <a:p>
            <a:pPr marL="342900" indent="-342900" algn="just">
              <a:buFont typeface="Wingdings" panose="05000000000000000000" pitchFamily="2" charset="2"/>
              <a:buChar char="Ø"/>
            </a:pPr>
            <a:endParaRPr lang="en-US" sz="2000" dirty="0">
              <a:latin typeface="Comic Sans MS" panose="030F0702030302020204" pitchFamily="66" charset="0"/>
            </a:endParaRPr>
          </a:p>
          <a:p>
            <a:pPr marL="342900" indent="-342900" algn="just">
              <a:buFont typeface="Wingdings" panose="05000000000000000000" pitchFamily="2" charset="2"/>
              <a:buChar char="Ø"/>
            </a:pPr>
            <a:r>
              <a:rPr lang="en-US" sz="2000" dirty="0">
                <a:latin typeface="Comic Sans MS" panose="030F0702030302020204" pitchFamily="66" charset="0"/>
              </a:rPr>
              <a:t>Super </a:t>
            </a:r>
            <a:r>
              <a:rPr lang="en-US" sz="2000" dirty="0" err="1">
                <a:latin typeface="Comic Sans MS" panose="030F0702030302020204" pitchFamily="66" charset="0"/>
              </a:rPr>
              <a:t>Keyword:The</a:t>
            </a:r>
            <a:r>
              <a:rPr lang="en-US" sz="2000" dirty="0">
                <a:latin typeface="Comic Sans MS" panose="030F0702030302020204" pitchFamily="66" charset="0"/>
              </a:rPr>
              <a:t> super keyword can be used to refer to the superclass's methods and constructors.</a:t>
            </a:r>
          </a:p>
        </p:txBody>
      </p:sp>
    </p:spTree>
    <p:extLst>
      <p:ext uri="{BB962C8B-B14F-4D97-AF65-F5344CB8AC3E}">
        <p14:creationId xmlns:p14="http://schemas.microsoft.com/office/powerpoint/2010/main" val="2183097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E5AD2-DB66-3447-BABF-CB2A84B19D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C2128F5-8D56-42B9-01DF-A19236872292}"/>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Inheritance and Overriding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373D1C4A-A748-0F86-5419-E50B6F42BA2B}"/>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3547AA34-D457-0F5C-EAFC-D8CA13640A03}"/>
              </a:ext>
            </a:extLst>
          </p:cNvPr>
          <p:cNvSpPr txBox="1"/>
          <p:nvPr/>
        </p:nvSpPr>
        <p:spPr>
          <a:xfrm>
            <a:off x="558998" y="783756"/>
            <a:ext cx="10930759" cy="6555641"/>
          </a:xfrm>
          <a:prstGeom prst="rect">
            <a:avLst/>
          </a:prstGeom>
          <a:noFill/>
        </p:spPr>
        <p:txBody>
          <a:bodyPr wrap="square">
            <a:spAutoFit/>
          </a:bodyPr>
          <a:lstStyle/>
          <a:p>
            <a:pPr algn="just"/>
            <a:r>
              <a:rPr lang="en-US" sz="2000" dirty="0">
                <a:latin typeface="Comic Sans MS" panose="030F0702030302020204" pitchFamily="66" charset="0"/>
              </a:rPr>
              <a:t> class Animal {</a:t>
            </a:r>
          </a:p>
          <a:p>
            <a:pPr algn="just"/>
            <a:r>
              <a:rPr lang="en-US" sz="2000" dirty="0">
                <a:latin typeface="Comic Sans MS" panose="030F0702030302020204" pitchFamily="66" charset="0"/>
              </a:rPr>
              <a:t>    void </a:t>
            </a:r>
            <a:r>
              <a:rPr lang="en-US" sz="2000" dirty="0" err="1">
                <a:latin typeface="Comic Sans MS" panose="030F0702030302020204" pitchFamily="66" charset="0"/>
              </a:rPr>
              <a:t>makeSound</a:t>
            </a:r>
            <a:r>
              <a:rPr lang="en-US" sz="2000" dirty="0">
                <a:latin typeface="Comic Sans MS" panose="030F0702030302020204" pitchFamily="66" charset="0"/>
              </a:rPr>
              <a:t>()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("Animal makes a sound");</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class Dog extends Animal {</a:t>
            </a:r>
          </a:p>
          <a:p>
            <a:pPr algn="just"/>
            <a:r>
              <a:rPr lang="en-US" sz="2000" dirty="0">
                <a:latin typeface="Comic Sans MS" panose="030F0702030302020204" pitchFamily="66" charset="0"/>
              </a:rPr>
              <a:t>    @Override</a:t>
            </a:r>
          </a:p>
          <a:p>
            <a:pPr algn="just"/>
            <a:r>
              <a:rPr lang="en-US" sz="2000" dirty="0">
                <a:latin typeface="Comic Sans MS" panose="030F0702030302020204" pitchFamily="66" charset="0"/>
              </a:rPr>
              <a:t>    void </a:t>
            </a:r>
            <a:r>
              <a:rPr lang="en-US" sz="2000" dirty="0" err="1">
                <a:latin typeface="Comic Sans MS" panose="030F0702030302020204" pitchFamily="66" charset="0"/>
              </a:rPr>
              <a:t>makeSound</a:t>
            </a:r>
            <a:r>
              <a:rPr lang="en-US" sz="2000" dirty="0">
                <a:latin typeface="Comic Sans MS" panose="030F0702030302020204" pitchFamily="66" charset="0"/>
              </a:rPr>
              <a:t>() {</a:t>
            </a:r>
          </a:p>
          <a:p>
            <a:pPr algn="just"/>
            <a:r>
              <a:rPr lang="en-US" sz="2000" dirty="0">
                <a:latin typeface="Comic Sans MS" panose="030F0702030302020204" pitchFamily="66" charset="0"/>
              </a:rPr>
              <a:t>        </a:t>
            </a:r>
            <a:r>
              <a:rPr lang="en-US" sz="2000" dirty="0" err="1">
                <a:latin typeface="Comic Sans MS" panose="030F0702030302020204" pitchFamily="66" charset="0"/>
              </a:rPr>
              <a:t>super.makeSound</a:t>
            </a:r>
            <a:r>
              <a:rPr lang="en-US" sz="2000" dirty="0">
                <a:latin typeface="Comic Sans MS" panose="030F0702030302020204" pitchFamily="66" charset="0"/>
              </a:rPr>
              <a:t>(); // Call the superclass method</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("Dog barks");</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public class Main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Dog </a:t>
            </a:r>
            <a:r>
              <a:rPr lang="en-US" sz="2000" dirty="0" err="1">
                <a:latin typeface="Comic Sans MS" panose="030F0702030302020204" pitchFamily="66" charset="0"/>
              </a:rPr>
              <a:t>dog</a:t>
            </a:r>
            <a:r>
              <a:rPr lang="en-US" sz="2000" dirty="0">
                <a:latin typeface="Comic Sans MS" panose="030F0702030302020204" pitchFamily="66" charset="0"/>
              </a:rPr>
              <a:t> = new Dog();</a:t>
            </a:r>
          </a:p>
          <a:p>
            <a:pPr algn="just"/>
            <a:r>
              <a:rPr lang="en-US" sz="2000" dirty="0">
                <a:latin typeface="Comic Sans MS" panose="030F0702030302020204" pitchFamily="66" charset="0"/>
              </a:rPr>
              <a:t>        </a:t>
            </a:r>
            <a:r>
              <a:rPr lang="en-US" sz="2000" dirty="0" err="1">
                <a:latin typeface="Comic Sans MS" panose="030F0702030302020204" pitchFamily="66" charset="0"/>
              </a:rPr>
              <a:t>dog.makeSound</a:t>
            </a:r>
            <a:r>
              <a:rPr lang="en-US" sz="2000" dirty="0">
                <a:latin typeface="Comic Sans MS" panose="030F0702030302020204" pitchFamily="66" charset="0"/>
              </a:rPr>
              <a:t>(); // Outputs: Animal makes a sound \n Dog barks</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3955312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3897C-4ED7-ED15-9BEA-15516656FD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6F01A18-70F2-E816-B314-9F55427CBEDB}"/>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Abstraction and 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D2F66395-5812-DE00-AA97-F1357A21D103}"/>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E2B1D47F-ABBC-EA14-E9BA-0802F2B7FC72}"/>
              </a:ext>
            </a:extLst>
          </p:cNvPr>
          <p:cNvSpPr txBox="1"/>
          <p:nvPr/>
        </p:nvSpPr>
        <p:spPr>
          <a:xfrm>
            <a:off x="558998" y="783756"/>
            <a:ext cx="10930759" cy="6247864"/>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omic Sans MS" panose="030F0702030302020204" pitchFamily="66" charset="0"/>
              </a:rPr>
              <a:t>Data abstraction is the process of hiding certain details and showing only essential information to the </a:t>
            </a:r>
            <a:r>
              <a:rPr lang="en-US" sz="2000" dirty="0" err="1">
                <a:latin typeface="Comic Sans MS" panose="030F0702030302020204" pitchFamily="66" charset="0"/>
              </a:rPr>
              <a:t>user.Abstraction</a:t>
            </a:r>
            <a:r>
              <a:rPr lang="en-US" sz="2000" dirty="0">
                <a:latin typeface="Comic Sans MS" panose="030F0702030302020204" pitchFamily="66" charset="0"/>
              </a:rPr>
              <a:t> can be achieved with either abstract classes or interfaces.</a:t>
            </a:r>
          </a:p>
          <a:p>
            <a:pPr algn="just"/>
            <a:endParaRPr lang="en-US" sz="2000" dirty="0">
              <a:latin typeface="Comic Sans MS" panose="030F0702030302020204" pitchFamily="66" charset="0"/>
            </a:endParaRPr>
          </a:p>
          <a:p>
            <a:pPr marL="342900" indent="-342900" algn="just">
              <a:buFont typeface="Wingdings" panose="05000000000000000000" pitchFamily="2" charset="2"/>
              <a:buChar char="Ø"/>
            </a:pPr>
            <a:r>
              <a:rPr lang="en-US" sz="2000" dirty="0">
                <a:latin typeface="Comic Sans MS" panose="030F0702030302020204" pitchFamily="66" charset="0"/>
              </a:rPr>
              <a:t>An abstract class in Java is a class that cannot be instantiated directly. It is meant to be extended by other classes, which are expected to provide concrete implementations for certain methods. Abstract classes are used to define common behavior that multiple subclasses can inherit or override, while leaving some methods (abstract methods) for the subclasses to implement.</a:t>
            </a:r>
          </a:p>
          <a:p>
            <a:pPr algn="just"/>
            <a:r>
              <a:rPr lang="en-US" sz="2000" dirty="0">
                <a:solidFill>
                  <a:srgbClr val="FF0000"/>
                </a:solidFill>
                <a:latin typeface="Comic Sans MS" panose="030F0702030302020204" pitchFamily="66" charset="0"/>
              </a:rPr>
              <a:t>Key Features of Abstract Classes:</a:t>
            </a:r>
          </a:p>
          <a:p>
            <a:pPr algn="just"/>
            <a:r>
              <a:rPr lang="en-US" sz="2000" dirty="0">
                <a:latin typeface="Comic Sans MS" panose="030F0702030302020204" pitchFamily="66" charset="0"/>
              </a:rPr>
              <a:t>Cannot be instantiated: You cannot create an instance of an abstract class directly using new.</a:t>
            </a:r>
          </a:p>
          <a:p>
            <a:pPr marL="457200" indent="-457200" algn="just">
              <a:buFont typeface="+mj-lt"/>
              <a:buAutoNum type="arabicPeriod"/>
            </a:pPr>
            <a:r>
              <a:rPr lang="en-US" sz="2000" dirty="0">
                <a:latin typeface="Comic Sans MS" panose="030F0702030302020204" pitchFamily="66" charset="0"/>
              </a:rPr>
              <a:t>Abstract methods: These are methods that are declared without an implementation. Subclasses must provide their own implementation for these methods.</a:t>
            </a:r>
          </a:p>
          <a:p>
            <a:pPr marL="457200" indent="-457200" algn="just">
              <a:buFont typeface="+mj-lt"/>
              <a:buAutoNum type="arabicPeriod"/>
            </a:pPr>
            <a:r>
              <a:rPr lang="en-US" sz="2000" dirty="0">
                <a:latin typeface="Comic Sans MS" panose="030F0702030302020204" pitchFamily="66" charset="0"/>
              </a:rPr>
              <a:t>Concrete methods: An abstract class can also have methods that are fully implemented (concrete methods), which can be inherited by its subclasses.</a:t>
            </a:r>
          </a:p>
          <a:p>
            <a:pPr marL="457200" indent="-457200" algn="just">
              <a:buFont typeface="+mj-lt"/>
              <a:buAutoNum type="arabicPeriod"/>
            </a:pPr>
            <a:r>
              <a:rPr lang="en-US" sz="2000" dirty="0">
                <a:latin typeface="Comic Sans MS" panose="030F0702030302020204" pitchFamily="66" charset="0"/>
              </a:rPr>
              <a:t>Constructors: Abstract classes can have constructors, but they are called when a subclass is instantiated.</a:t>
            </a:r>
          </a:p>
          <a:p>
            <a:pPr marL="457200" indent="-457200" algn="just">
              <a:buFont typeface="+mj-lt"/>
              <a:buAutoNum type="arabicPeriod"/>
            </a:pPr>
            <a:r>
              <a:rPr lang="en-US" sz="2000" dirty="0">
                <a:latin typeface="Comic Sans MS" panose="030F0702030302020204" pitchFamily="66" charset="0"/>
              </a:rPr>
              <a:t>Fields and variables: Abstract classes can have fields and instance variables.</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2704890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915AE-FDB1-2196-CF91-C16954DD42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17D554-A3CC-ADE1-AD8C-D2DC976547E5}"/>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Abstraction and 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05FAEC8E-FA27-D008-C3EB-4418958938AF}"/>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2059C513-294F-D426-413D-7FBDABC85516}"/>
              </a:ext>
            </a:extLst>
          </p:cNvPr>
          <p:cNvSpPr txBox="1"/>
          <p:nvPr/>
        </p:nvSpPr>
        <p:spPr>
          <a:xfrm>
            <a:off x="558998" y="783756"/>
            <a:ext cx="10930759" cy="7371249"/>
          </a:xfrm>
          <a:prstGeom prst="rect">
            <a:avLst/>
          </a:prstGeom>
          <a:noFill/>
        </p:spPr>
        <p:txBody>
          <a:bodyPr wrap="square">
            <a:spAutoFit/>
          </a:bodyPr>
          <a:lstStyle/>
          <a:p>
            <a:pPr algn="just"/>
            <a:r>
              <a:rPr lang="en-US" sz="2000" dirty="0">
                <a:solidFill>
                  <a:srgbClr val="FF0000"/>
                </a:solidFill>
                <a:latin typeface="Comic Sans MS" panose="030F0702030302020204" pitchFamily="66" charset="0"/>
              </a:rPr>
              <a:t>Syntax:</a:t>
            </a:r>
          </a:p>
          <a:p>
            <a:pPr lvl="1" algn="just"/>
            <a:r>
              <a:rPr lang="en-US" sz="2000" dirty="0">
                <a:latin typeface="Comic Sans MS" panose="030F0702030302020204" pitchFamily="66" charset="0"/>
              </a:rPr>
              <a:t>abstract class Animal {</a:t>
            </a:r>
          </a:p>
          <a:p>
            <a:pPr lvl="1" algn="just"/>
            <a:r>
              <a:rPr lang="en-US" sz="2000" dirty="0">
                <a:latin typeface="Comic Sans MS" panose="030F0702030302020204" pitchFamily="66" charset="0"/>
              </a:rPr>
              <a:t>    // Abstract method (does not have a body)</a:t>
            </a:r>
          </a:p>
          <a:p>
            <a:pPr lvl="1" algn="just"/>
            <a:r>
              <a:rPr lang="en-US" sz="2000" dirty="0">
                <a:latin typeface="Comic Sans MS" panose="030F0702030302020204" pitchFamily="66" charset="0"/>
              </a:rPr>
              <a:t>    abstract void sound();</a:t>
            </a:r>
          </a:p>
          <a:p>
            <a:pPr marL="800100" lvl="1" indent="-342900" algn="just">
              <a:buFont typeface="Wingdings" panose="05000000000000000000" pitchFamily="2" charset="2"/>
              <a:buChar char="Ø"/>
            </a:pPr>
            <a:endParaRPr lang="en-US" sz="2000" dirty="0">
              <a:latin typeface="Comic Sans MS" panose="030F0702030302020204" pitchFamily="66" charset="0"/>
            </a:endParaRPr>
          </a:p>
          <a:p>
            <a:pPr lvl="1" algn="just"/>
            <a:r>
              <a:rPr lang="en-US" sz="2000" dirty="0">
                <a:latin typeface="Comic Sans MS" panose="030F0702030302020204" pitchFamily="66" charset="0"/>
              </a:rPr>
              <a:t>    // Regular (concrete) method</a:t>
            </a:r>
          </a:p>
          <a:p>
            <a:pPr lvl="1" algn="just"/>
            <a:r>
              <a:rPr lang="en-US" sz="2000" dirty="0">
                <a:latin typeface="Comic Sans MS" panose="030F0702030302020204" pitchFamily="66" charset="0"/>
              </a:rPr>
              <a:t>    void sleep() {</a:t>
            </a:r>
          </a:p>
          <a:p>
            <a:pPr lvl="1"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("This animal sleeps.");</a:t>
            </a:r>
          </a:p>
          <a:p>
            <a:pPr lvl="1" algn="just"/>
            <a:r>
              <a:rPr lang="en-US" sz="2000" dirty="0">
                <a:latin typeface="Comic Sans MS" panose="030F0702030302020204" pitchFamily="66" charset="0"/>
              </a:rPr>
              <a:t>    }</a:t>
            </a:r>
          </a:p>
          <a:p>
            <a:pPr lvl="1" algn="just"/>
            <a:r>
              <a:rPr lang="en-US" sz="2000" dirty="0">
                <a:latin typeface="Comic Sans MS" panose="030F0702030302020204" pitchFamily="66" charset="0"/>
              </a:rPr>
              <a:t>}</a:t>
            </a:r>
          </a:p>
          <a:p>
            <a:pPr algn="just"/>
            <a:r>
              <a:rPr lang="en-US" sz="2000" dirty="0" err="1">
                <a:latin typeface="Comic Sans MS" panose="030F0702030302020204" pitchFamily="66" charset="0"/>
              </a:rPr>
              <a:t>Example:Here’s</a:t>
            </a:r>
            <a:r>
              <a:rPr lang="en-US" sz="2000" dirty="0">
                <a:latin typeface="Comic Sans MS" panose="030F0702030302020204" pitchFamily="66" charset="0"/>
              </a:rPr>
              <a:t> an example using an abstract class Animal, with one abstract method sound() and one concrete method sleep().</a:t>
            </a:r>
          </a:p>
          <a:p>
            <a:pPr lvl="1" algn="just"/>
            <a:r>
              <a:rPr lang="en-US" sz="1700" dirty="0">
                <a:latin typeface="Comic Sans MS" panose="030F0702030302020204" pitchFamily="66" charset="0"/>
              </a:rPr>
              <a:t>abstract class Animal {</a:t>
            </a:r>
          </a:p>
          <a:p>
            <a:pPr lvl="1" algn="just"/>
            <a:r>
              <a:rPr lang="en-US" sz="1700" dirty="0">
                <a:latin typeface="Comic Sans MS" panose="030F0702030302020204" pitchFamily="66" charset="0"/>
              </a:rPr>
              <a:t>    // Abstract method (does not have a body)</a:t>
            </a:r>
          </a:p>
          <a:p>
            <a:pPr lvl="1" algn="just"/>
            <a:r>
              <a:rPr lang="en-US" sz="1700" dirty="0">
                <a:latin typeface="Comic Sans MS" panose="030F0702030302020204" pitchFamily="66" charset="0"/>
              </a:rPr>
              <a:t>    abstract void sound();</a:t>
            </a:r>
          </a:p>
          <a:p>
            <a:pPr lvl="1" algn="just"/>
            <a:endParaRPr lang="en-US" sz="1700" dirty="0">
              <a:latin typeface="Comic Sans MS" panose="030F0702030302020204" pitchFamily="66" charset="0"/>
            </a:endParaRPr>
          </a:p>
          <a:p>
            <a:pPr lvl="1" algn="just"/>
            <a:r>
              <a:rPr lang="en-US" sz="1700" dirty="0">
                <a:latin typeface="Comic Sans MS" panose="030F0702030302020204" pitchFamily="66" charset="0"/>
              </a:rPr>
              <a:t>    // Concrete method</a:t>
            </a:r>
          </a:p>
          <a:p>
            <a:pPr lvl="1" algn="just"/>
            <a:r>
              <a:rPr lang="en-US" sz="1700" dirty="0">
                <a:latin typeface="Comic Sans MS" panose="030F0702030302020204" pitchFamily="66" charset="0"/>
              </a:rPr>
              <a:t>    void sleep() {</a:t>
            </a:r>
          </a:p>
          <a:p>
            <a:pPr lvl="1" algn="just"/>
            <a:r>
              <a:rPr lang="en-US" sz="1700" dirty="0">
                <a:latin typeface="Comic Sans MS" panose="030F0702030302020204" pitchFamily="66" charset="0"/>
              </a:rPr>
              <a:t>        </a:t>
            </a:r>
            <a:r>
              <a:rPr lang="en-US" sz="1700" dirty="0" err="1">
                <a:latin typeface="Comic Sans MS" panose="030F0702030302020204" pitchFamily="66" charset="0"/>
              </a:rPr>
              <a:t>System.out.println</a:t>
            </a:r>
            <a:r>
              <a:rPr lang="en-US" sz="1700" dirty="0">
                <a:latin typeface="Comic Sans MS" panose="030F0702030302020204" pitchFamily="66" charset="0"/>
              </a:rPr>
              <a:t>("This animal is sleeping.");</a:t>
            </a:r>
          </a:p>
          <a:p>
            <a:pPr lvl="1" algn="just"/>
            <a:r>
              <a:rPr lang="en-US" sz="1700" dirty="0">
                <a:latin typeface="Comic Sans MS" panose="030F0702030302020204" pitchFamily="66" charset="0"/>
              </a:rPr>
              <a:t>    }</a:t>
            </a:r>
          </a:p>
          <a:p>
            <a:pPr lvl="1" algn="just"/>
            <a:r>
              <a:rPr lang="en-US" sz="1700" dirty="0">
                <a:latin typeface="Comic Sans MS" panose="030F0702030302020204" pitchFamily="66" charset="0"/>
              </a:rPr>
              <a:t>}</a:t>
            </a:r>
          </a:p>
          <a:p>
            <a:pPr algn="just"/>
            <a:endParaRPr lang="en-US" sz="2000" dirty="0">
              <a:latin typeface="Comic Sans MS" panose="030F0702030302020204" pitchFamily="66" charset="0"/>
            </a:endParaRPr>
          </a:p>
          <a:p>
            <a:pPr marL="342900" indent="-342900" algn="just">
              <a:buFont typeface="Wingdings" panose="05000000000000000000" pitchFamily="2" charset="2"/>
              <a:buChar char="Ø"/>
            </a:pPr>
            <a:endParaRPr lang="en-US" sz="2000" dirty="0">
              <a:latin typeface="Comic Sans MS" panose="030F0702030302020204" pitchFamily="66" charset="0"/>
            </a:endParaRP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4129360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88CC6-1318-C2A6-E943-6CD9F9B7C0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FB71ED6-F4F2-49E4-008C-3D726CE57056}"/>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Abstraction and 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CF97A57D-DD70-0030-8F60-A84E948E5731}"/>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C8C4BD06-D3D8-FA19-4F8A-C947DFB81293}"/>
              </a:ext>
            </a:extLst>
          </p:cNvPr>
          <p:cNvSpPr txBox="1"/>
          <p:nvPr/>
        </p:nvSpPr>
        <p:spPr>
          <a:xfrm>
            <a:off x="558998" y="783756"/>
            <a:ext cx="10930759" cy="5601533"/>
          </a:xfrm>
          <a:prstGeom prst="rect">
            <a:avLst/>
          </a:prstGeom>
          <a:noFill/>
        </p:spPr>
        <p:txBody>
          <a:bodyPr wrap="square">
            <a:spAutoFit/>
          </a:bodyPr>
          <a:lstStyle/>
          <a:p>
            <a:pPr algn="just"/>
            <a:r>
              <a:rPr lang="en-US" sz="2000" dirty="0">
                <a:latin typeface="Comic Sans MS" panose="030F0702030302020204" pitchFamily="66" charset="0"/>
              </a:rPr>
              <a:t>Subclass </a:t>
            </a:r>
            <a:r>
              <a:rPr lang="en-US" sz="2000" dirty="0" err="1">
                <a:latin typeface="Comic Sans MS" panose="030F0702030302020204" pitchFamily="66" charset="0"/>
              </a:rPr>
              <a:t>Implementation:To</a:t>
            </a:r>
            <a:r>
              <a:rPr lang="en-US" sz="2000" dirty="0">
                <a:latin typeface="Comic Sans MS" panose="030F0702030302020204" pitchFamily="66" charset="0"/>
              </a:rPr>
              <a:t> make an abstract class useful, a subclass must provide implementations for the abstract methods.</a:t>
            </a:r>
          </a:p>
          <a:p>
            <a:pPr algn="just"/>
            <a:r>
              <a:rPr lang="en-US" sz="1700" dirty="0">
                <a:latin typeface="Comic Sans MS" panose="030F0702030302020204" pitchFamily="66" charset="0"/>
              </a:rPr>
              <a:t>abstract class Animal {</a:t>
            </a:r>
          </a:p>
          <a:p>
            <a:pPr lvl="1" algn="just"/>
            <a:r>
              <a:rPr lang="en-US" sz="1700" dirty="0">
                <a:latin typeface="Comic Sans MS" panose="030F0702030302020204" pitchFamily="66" charset="0"/>
              </a:rPr>
              <a:t>class Dog extends Animal {</a:t>
            </a:r>
          </a:p>
          <a:p>
            <a:pPr lvl="1" algn="just"/>
            <a:r>
              <a:rPr lang="en-US" sz="1700" dirty="0">
                <a:latin typeface="Comic Sans MS" panose="030F0702030302020204" pitchFamily="66" charset="0"/>
              </a:rPr>
              <a:t>    // Implement the abstract method from Animal class</a:t>
            </a:r>
          </a:p>
          <a:p>
            <a:pPr lvl="1" algn="just"/>
            <a:r>
              <a:rPr lang="en-US" sz="1700" dirty="0">
                <a:latin typeface="Comic Sans MS" panose="030F0702030302020204" pitchFamily="66" charset="0"/>
              </a:rPr>
              <a:t>    void sound() {</a:t>
            </a:r>
          </a:p>
          <a:p>
            <a:pPr lvl="1" algn="just"/>
            <a:r>
              <a:rPr lang="en-US" sz="1700" dirty="0">
                <a:latin typeface="Comic Sans MS" panose="030F0702030302020204" pitchFamily="66" charset="0"/>
              </a:rPr>
              <a:t>        </a:t>
            </a:r>
            <a:r>
              <a:rPr lang="en-US" sz="1700" dirty="0" err="1">
                <a:latin typeface="Comic Sans MS" panose="030F0702030302020204" pitchFamily="66" charset="0"/>
              </a:rPr>
              <a:t>System.out.println</a:t>
            </a:r>
            <a:r>
              <a:rPr lang="en-US" sz="1700" dirty="0">
                <a:latin typeface="Comic Sans MS" panose="030F0702030302020204" pitchFamily="66" charset="0"/>
              </a:rPr>
              <a:t>("The dog barks.");</a:t>
            </a:r>
          </a:p>
          <a:p>
            <a:pPr lvl="1" algn="just"/>
            <a:r>
              <a:rPr lang="en-US" sz="1700" dirty="0">
                <a:latin typeface="Comic Sans MS" panose="030F0702030302020204" pitchFamily="66" charset="0"/>
              </a:rPr>
              <a:t>    }</a:t>
            </a:r>
          </a:p>
          <a:p>
            <a:pPr lvl="1" algn="just"/>
            <a:r>
              <a:rPr lang="en-US" sz="1700" dirty="0">
                <a:latin typeface="Comic Sans MS" panose="030F0702030302020204" pitchFamily="66" charset="0"/>
              </a:rPr>
              <a:t>}</a:t>
            </a:r>
          </a:p>
          <a:p>
            <a:pPr lvl="1" algn="just"/>
            <a:endParaRPr lang="en-US" sz="1700" dirty="0">
              <a:latin typeface="Comic Sans MS" panose="030F0702030302020204" pitchFamily="66" charset="0"/>
            </a:endParaRPr>
          </a:p>
          <a:p>
            <a:pPr lvl="1" algn="just"/>
            <a:r>
              <a:rPr lang="en-US" sz="1700" dirty="0">
                <a:latin typeface="Comic Sans MS" panose="030F0702030302020204" pitchFamily="66" charset="0"/>
              </a:rPr>
              <a:t>class Cat extends Animal {</a:t>
            </a:r>
          </a:p>
          <a:p>
            <a:pPr lvl="1" algn="just"/>
            <a:r>
              <a:rPr lang="en-US" sz="1700" dirty="0">
                <a:latin typeface="Comic Sans MS" panose="030F0702030302020204" pitchFamily="66" charset="0"/>
              </a:rPr>
              <a:t>    // Implement the abstract method from Animal class</a:t>
            </a:r>
          </a:p>
          <a:p>
            <a:pPr lvl="1" algn="just"/>
            <a:r>
              <a:rPr lang="en-US" sz="1700" dirty="0">
                <a:latin typeface="Comic Sans MS" panose="030F0702030302020204" pitchFamily="66" charset="0"/>
              </a:rPr>
              <a:t>    void sound() {</a:t>
            </a:r>
          </a:p>
          <a:p>
            <a:pPr lvl="1" algn="just"/>
            <a:r>
              <a:rPr lang="en-US" sz="1700" dirty="0">
                <a:latin typeface="Comic Sans MS" panose="030F0702030302020204" pitchFamily="66" charset="0"/>
              </a:rPr>
              <a:t>        </a:t>
            </a:r>
            <a:r>
              <a:rPr lang="en-US" sz="1700" dirty="0" err="1">
                <a:latin typeface="Comic Sans MS" panose="030F0702030302020204" pitchFamily="66" charset="0"/>
              </a:rPr>
              <a:t>System.out.println</a:t>
            </a:r>
            <a:r>
              <a:rPr lang="en-US" sz="1700" dirty="0">
                <a:latin typeface="Comic Sans MS" panose="030F0702030302020204" pitchFamily="66" charset="0"/>
              </a:rPr>
              <a:t>("The cat meows.");</a:t>
            </a:r>
          </a:p>
          <a:p>
            <a:pPr lvl="1" algn="just"/>
            <a:r>
              <a:rPr lang="en-US" sz="1700" dirty="0">
                <a:latin typeface="Comic Sans MS" panose="030F0702030302020204" pitchFamily="66" charset="0"/>
              </a:rPr>
              <a:t>    }</a:t>
            </a:r>
          </a:p>
          <a:p>
            <a:pPr lvl="1" algn="just"/>
            <a:r>
              <a:rPr lang="en-US" sz="1700" dirty="0">
                <a:latin typeface="Comic Sans MS" panose="030F0702030302020204" pitchFamily="66" charset="0"/>
              </a:rPr>
              <a:t>}</a:t>
            </a:r>
          </a:p>
          <a:p>
            <a:pPr algn="just"/>
            <a:endParaRPr lang="en-US" sz="2000" dirty="0">
              <a:latin typeface="Comic Sans MS" panose="030F0702030302020204" pitchFamily="66" charset="0"/>
            </a:endParaRPr>
          </a:p>
          <a:p>
            <a:pPr marL="342900" indent="-342900" algn="just">
              <a:buFont typeface="Wingdings" panose="05000000000000000000" pitchFamily="2" charset="2"/>
              <a:buChar char="Ø"/>
            </a:pPr>
            <a:endParaRPr lang="en-US" sz="2000" dirty="0">
              <a:latin typeface="Comic Sans MS" panose="030F0702030302020204" pitchFamily="66" charset="0"/>
            </a:endParaRP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14778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3D25B-75B9-D62C-BD2E-8918103310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F4BBD2F-9FBF-FD02-BA61-01FE2872A4EE}"/>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Abstraction and 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C18822D6-59D7-06F9-978E-C902C7C6AC21}"/>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651A41E9-47E9-8013-B6D6-2498777C9428}"/>
              </a:ext>
            </a:extLst>
          </p:cNvPr>
          <p:cNvSpPr txBox="1"/>
          <p:nvPr/>
        </p:nvSpPr>
        <p:spPr>
          <a:xfrm>
            <a:off x="558998" y="783756"/>
            <a:ext cx="10930759" cy="6340197"/>
          </a:xfrm>
          <a:prstGeom prst="rect">
            <a:avLst/>
          </a:prstGeom>
          <a:noFill/>
        </p:spPr>
        <p:txBody>
          <a:bodyPr wrap="square">
            <a:spAutoFit/>
          </a:bodyPr>
          <a:lstStyle/>
          <a:p>
            <a:pPr algn="just"/>
            <a:r>
              <a:rPr lang="en-US" sz="2000" dirty="0">
                <a:latin typeface="Comic Sans MS" panose="030F0702030302020204" pitchFamily="66" charset="0"/>
              </a:rPr>
              <a:t>Main Method to Test:</a:t>
            </a:r>
          </a:p>
          <a:p>
            <a:pPr algn="just"/>
            <a:r>
              <a:rPr lang="en-US" sz="1700" dirty="0">
                <a:latin typeface="Comic Sans MS" panose="030F0702030302020204" pitchFamily="66" charset="0"/>
              </a:rPr>
              <a:t>public class Main {</a:t>
            </a:r>
          </a:p>
          <a:p>
            <a:pPr algn="just"/>
            <a:r>
              <a:rPr lang="en-US" sz="1700" dirty="0">
                <a:latin typeface="Comic Sans MS" panose="030F0702030302020204" pitchFamily="66" charset="0"/>
              </a:rPr>
              <a:t>    public static void main(String[] </a:t>
            </a:r>
            <a:r>
              <a:rPr lang="en-US" sz="1700" dirty="0" err="1">
                <a:latin typeface="Comic Sans MS" panose="030F0702030302020204" pitchFamily="66" charset="0"/>
              </a:rPr>
              <a:t>args</a:t>
            </a:r>
            <a:r>
              <a:rPr lang="en-US" sz="1700" dirty="0">
                <a:latin typeface="Comic Sans MS" panose="030F0702030302020204" pitchFamily="66" charset="0"/>
              </a:rPr>
              <a:t>) {</a:t>
            </a:r>
          </a:p>
          <a:p>
            <a:pPr algn="just"/>
            <a:r>
              <a:rPr lang="en-US" sz="1700" dirty="0">
                <a:latin typeface="Comic Sans MS" panose="030F0702030302020204" pitchFamily="66" charset="0"/>
              </a:rPr>
              <a:t>        // Cannot instantiate an abstract class</a:t>
            </a:r>
          </a:p>
          <a:p>
            <a:pPr algn="just"/>
            <a:r>
              <a:rPr lang="en-US" sz="1700" dirty="0">
                <a:latin typeface="Comic Sans MS" panose="030F0702030302020204" pitchFamily="66" charset="0"/>
              </a:rPr>
              <a:t>        // Animal </a:t>
            </a:r>
            <a:r>
              <a:rPr lang="en-US" sz="1700" dirty="0" err="1">
                <a:latin typeface="Comic Sans MS" panose="030F0702030302020204" pitchFamily="66" charset="0"/>
              </a:rPr>
              <a:t>animal</a:t>
            </a:r>
            <a:r>
              <a:rPr lang="en-US" sz="1700" dirty="0">
                <a:latin typeface="Comic Sans MS" panose="030F0702030302020204" pitchFamily="66" charset="0"/>
              </a:rPr>
              <a:t> = new Animal(); // This will cause a compile-time error</a:t>
            </a:r>
          </a:p>
          <a:p>
            <a:pPr algn="just"/>
            <a:endParaRPr lang="en-US" sz="1700" dirty="0">
              <a:latin typeface="Comic Sans MS" panose="030F0702030302020204" pitchFamily="66" charset="0"/>
            </a:endParaRPr>
          </a:p>
          <a:p>
            <a:pPr algn="just"/>
            <a:r>
              <a:rPr lang="en-US" sz="1700" dirty="0">
                <a:latin typeface="Comic Sans MS" panose="030F0702030302020204" pitchFamily="66" charset="0"/>
              </a:rPr>
              <a:t>        // Instantiate Dog and Cat classes</a:t>
            </a:r>
          </a:p>
          <a:p>
            <a:pPr algn="just"/>
            <a:r>
              <a:rPr lang="en-US" sz="1700" dirty="0">
                <a:latin typeface="Comic Sans MS" panose="030F0702030302020204" pitchFamily="66" charset="0"/>
              </a:rPr>
              <a:t>        Animal dog = new Dog();</a:t>
            </a:r>
          </a:p>
          <a:p>
            <a:pPr algn="just"/>
            <a:r>
              <a:rPr lang="en-US" sz="1700" dirty="0">
                <a:latin typeface="Comic Sans MS" panose="030F0702030302020204" pitchFamily="66" charset="0"/>
              </a:rPr>
              <a:t>        Animal cat = new Cat();</a:t>
            </a:r>
          </a:p>
          <a:p>
            <a:pPr algn="just"/>
            <a:endParaRPr lang="en-US" sz="1700" dirty="0">
              <a:latin typeface="Comic Sans MS" panose="030F0702030302020204" pitchFamily="66" charset="0"/>
            </a:endParaRPr>
          </a:p>
          <a:p>
            <a:pPr algn="just"/>
            <a:r>
              <a:rPr lang="en-US" sz="1700" dirty="0">
                <a:latin typeface="Comic Sans MS" panose="030F0702030302020204" pitchFamily="66" charset="0"/>
              </a:rPr>
              <a:t>        // Call methods</a:t>
            </a:r>
          </a:p>
          <a:p>
            <a:pPr algn="just"/>
            <a:r>
              <a:rPr lang="en-US" sz="1700" dirty="0">
                <a:latin typeface="Comic Sans MS" panose="030F0702030302020204" pitchFamily="66" charset="0"/>
              </a:rPr>
              <a:t>        </a:t>
            </a:r>
            <a:r>
              <a:rPr lang="en-US" sz="1700" dirty="0" err="1">
                <a:latin typeface="Comic Sans MS" panose="030F0702030302020204" pitchFamily="66" charset="0"/>
              </a:rPr>
              <a:t>dog.sound</a:t>
            </a:r>
            <a:r>
              <a:rPr lang="en-US" sz="1700" dirty="0">
                <a:latin typeface="Comic Sans MS" panose="030F0702030302020204" pitchFamily="66" charset="0"/>
              </a:rPr>
              <a:t>();  // Output: The dog barks.</a:t>
            </a:r>
          </a:p>
          <a:p>
            <a:pPr algn="just"/>
            <a:r>
              <a:rPr lang="en-US" sz="1700" dirty="0">
                <a:latin typeface="Comic Sans MS" panose="030F0702030302020204" pitchFamily="66" charset="0"/>
              </a:rPr>
              <a:t>        </a:t>
            </a:r>
            <a:r>
              <a:rPr lang="en-US" sz="1700" dirty="0" err="1">
                <a:latin typeface="Comic Sans MS" panose="030F0702030302020204" pitchFamily="66" charset="0"/>
              </a:rPr>
              <a:t>dog.sleep</a:t>
            </a:r>
            <a:r>
              <a:rPr lang="en-US" sz="1700" dirty="0">
                <a:latin typeface="Comic Sans MS" panose="030F0702030302020204" pitchFamily="66" charset="0"/>
              </a:rPr>
              <a:t>();  // Output: This animal is sleeping.</a:t>
            </a:r>
          </a:p>
          <a:p>
            <a:pPr algn="just"/>
            <a:r>
              <a:rPr lang="en-US" sz="1700" dirty="0">
                <a:latin typeface="Comic Sans MS" panose="030F0702030302020204" pitchFamily="66" charset="0"/>
              </a:rPr>
              <a:t>        </a:t>
            </a:r>
          </a:p>
          <a:p>
            <a:pPr algn="just"/>
            <a:r>
              <a:rPr lang="en-US" sz="1700" dirty="0">
                <a:latin typeface="Comic Sans MS" panose="030F0702030302020204" pitchFamily="66" charset="0"/>
              </a:rPr>
              <a:t>        </a:t>
            </a:r>
            <a:r>
              <a:rPr lang="en-US" sz="1700" dirty="0" err="1">
                <a:latin typeface="Comic Sans MS" panose="030F0702030302020204" pitchFamily="66" charset="0"/>
              </a:rPr>
              <a:t>cat.sound</a:t>
            </a:r>
            <a:r>
              <a:rPr lang="en-US" sz="1700" dirty="0">
                <a:latin typeface="Comic Sans MS" panose="030F0702030302020204" pitchFamily="66" charset="0"/>
              </a:rPr>
              <a:t>();  // Output: The cat meows.</a:t>
            </a:r>
          </a:p>
          <a:p>
            <a:pPr algn="just"/>
            <a:r>
              <a:rPr lang="en-US" sz="1700" dirty="0">
                <a:latin typeface="Comic Sans MS" panose="030F0702030302020204" pitchFamily="66" charset="0"/>
              </a:rPr>
              <a:t>        </a:t>
            </a:r>
            <a:r>
              <a:rPr lang="en-US" sz="1700" dirty="0" err="1">
                <a:latin typeface="Comic Sans MS" panose="030F0702030302020204" pitchFamily="66" charset="0"/>
              </a:rPr>
              <a:t>cat.sleep</a:t>
            </a:r>
            <a:r>
              <a:rPr lang="en-US" sz="1700" dirty="0">
                <a:latin typeface="Comic Sans MS" panose="030F0702030302020204" pitchFamily="66" charset="0"/>
              </a:rPr>
              <a:t>();  // Output: This animal is sleeping.</a:t>
            </a:r>
          </a:p>
          <a:p>
            <a:pPr algn="just"/>
            <a:r>
              <a:rPr lang="en-US" sz="1700" dirty="0">
                <a:latin typeface="Comic Sans MS" panose="030F0702030302020204" pitchFamily="66" charset="0"/>
              </a:rPr>
              <a:t>    }</a:t>
            </a:r>
          </a:p>
          <a:p>
            <a:pPr algn="just"/>
            <a:r>
              <a:rPr lang="en-US" sz="1700" dirty="0">
                <a:latin typeface="Comic Sans MS" panose="030F0702030302020204" pitchFamily="66" charset="0"/>
              </a:rPr>
              <a:t>}</a:t>
            </a:r>
          </a:p>
          <a:p>
            <a:pPr algn="just"/>
            <a:endParaRPr lang="en-US" sz="1700" dirty="0">
              <a:latin typeface="Comic Sans MS" panose="030F0702030302020204" pitchFamily="66" charset="0"/>
            </a:endParaRPr>
          </a:p>
          <a:p>
            <a:pPr algn="just"/>
            <a:endParaRPr lang="en-US" sz="2000" dirty="0">
              <a:latin typeface="Comic Sans MS" panose="030F0702030302020204" pitchFamily="66" charset="0"/>
            </a:endParaRPr>
          </a:p>
          <a:p>
            <a:pPr marL="342900" indent="-342900" algn="just">
              <a:buFont typeface="Wingdings" panose="05000000000000000000" pitchFamily="2" charset="2"/>
              <a:buChar char="Ø"/>
            </a:pPr>
            <a:endParaRPr lang="en-US" sz="2000" dirty="0">
              <a:latin typeface="Comic Sans MS" panose="030F0702030302020204" pitchFamily="66" charset="0"/>
            </a:endParaRP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4268593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658A6-7450-964C-9CD3-0B16B79193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468794-F20F-1EE5-DAB4-06ADCB8059C1}"/>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Java Abstraction and 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7AA7945A-96CB-F6AF-B252-0EA3B8DE56EA}"/>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B596E535-47AE-19F3-4F1F-62432F9829A1}"/>
              </a:ext>
            </a:extLst>
          </p:cNvPr>
          <p:cNvSpPr txBox="1"/>
          <p:nvPr/>
        </p:nvSpPr>
        <p:spPr>
          <a:xfrm>
            <a:off x="558998" y="783756"/>
            <a:ext cx="10930759" cy="5632311"/>
          </a:xfrm>
          <a:prstGeom prst="rect">
            <a:avLst/>
          </a:prstGeom>
          <a:noFill/>
        </p:spPr>
        <p:txBody>
          <a:bodyPr wrap="square">
            <a:spAutoFit/>
          </a:bodyPr>
          <a:lstStyle/>
          <a:p>
            <a:pPr algn="just"/>
            <a:r>
              <a:rPr lang="en-US" sz="2000" dirty="0">
                <a:latin typeface="Comic Sans MS" panose="030F0702030302020204" pitchFamily="66" charset="0"/>
              </a:rPr>
              <a:t>Explanation:</a:t>
            </a:r>
          </a:p>
          <a:p>
            <a:pPr marL="342900" indent="-342900" algn="just">
              <a:buFont typeface="Wingdings" panose="05000000000000000000" pitchFamily="2" charset="2"/>
              <a:buChar char="Ø"/>
            </a:pPr>
            <a:r>
              <a:rPr lang="en-US" sz="2000" dirty="0">
                <a:latin typeface="Comic Sans MS" panose="030F0702030302020204" pitchFamily="66" charset="0"/>
              </a:rPr>
              <a:t>Animal is an abstract class with one abstract method (sound()) and one concrete method (sleep()).</a:t>
            </a:r>
          </a:p>
          <a:p>
            <a:pPr marL="342900" indent="-342900" algn="just">
              <a:buFont typeface="Wingdings" panose="05000000000000000000" pitchFamily="2" charset="2"/>
              <a:buChar char="Ø"/>
            </a:pPr>
            <a:r>
              <a:rPr lang="en-US" sz="2000" dirty="0">
                <a:latin typeface="Comic Sans MS" panose="030F0702030302020204" pitchFamily="66" charset="0"/>
              </a:rPr>
              <a:t>Dog and Cat are subclasses that implement the sound() method.</a:t>
            </a:r>
          </a:p>
          <a:p>
            <a:pPr marL="342900" indent="-342900" algn="just">
              <a:buFont typeface="Wingdings" panose="05000000000000000000" pitchFamily="2" charset="2"/>
              <a:buChar char="Ø"/>
            </a:pPr>
            <a:r>
              <a:rPr lang="en-US" sz="2000" dirty="0">
                <a:latin typeface="Comic Sans MS" panose="030F0702030302020204" pitchFamily="66" charset="0"/>
              </a:rPr>
              <a:t>We cannot instantiate the Animal class directly, but we can instantiate subclasses such as Dog and Cat.</a:t>
            </a:r>
            <a:endParaRPr lang="en-US" sz="1700" dirty="0">
              <a:latin typeface="Comic Sans MS" panose="030F0702030302020204" pitchFamily="66" charset="0"/>
            </a:endParaRPr>
          </a:p>
          <a:p>
            <a:pPr algn="just"/>
            <a:endParaRPr lang="en-US" sz="2000" dirty="0">
              <a:latin typeface="Comic Sans MS" panose="030F0702030302020204" pitchFamily="66" charset="0"/>
            </a:endParaRPr>
          </a:p>
          <a:p>
            <a:pPr algn="just"/>
            <a:r>
              <a:rPr lang="en-US" sz="2000" dirty="0">
                <a:solidFill>
                  <a:srgbClr val="FF0000"/>
                </a:solidFill>
                <a:latin typeface="Comic Sans MS" panose="030F0702030302020204" pitchFamily="66" charset="0"/>
              </a:rPr>
              <a:t>When to Use an Abstract Class:</a:t>
            </a:r>
          </a:p>
          <a:p>
            <a:pPr marL="342900" indent="-342900" algn="just">
              <a:buFont typeface="Wingdings" panose="05000000000000000000" pitchFamily="2" charset="2"/>
              <a:buChar char="Ø"/>
            </a:pPr>
            <a:r>
              <a:rPr lang="en-US" sz="2000" dirty="0">
                <a:latin typeface="Comic Sans MS" panose="030F0702030302020204" pitchFamily="66" charset="0"/>
              </a:rPr>
              <a:t>Common behavior: Use an abstract class when you have multiple related classes that share some common behavior but also need specific implementations.</a:t>
            </a:r>
          </a:p>
          <a:p>
            <a:pPr marL="342900" indent="-342900" algn="just">
              <a:buFont typeface="Wingdings" panose="05000000000000000000" pitchFamily="2" charset="2"/>
              <a:buChar char="Ø"/>
            </a:pPr>
            <a:r>
              <a:rPr lang="en-US" sz="2000" dirty="0">
                <a:latin typeface="Comic Sans MS" panose="030F0702030302020204" pitchFamily="66" charset="0"/>
              </a:rPr>
              <a:t>Code Reusability: Abstract classes allow you to write code in the abstract class (like concrete methods), reducing redundancy in the subclass.</a:t>
            </a:r>
          </a:p>
          <a:p>
            <a:pPr marL="342900" indent="-342900" algn="just">
              <a:buFont typeface="Wingdings" panose="05000000000000000000" pitchFamily="2" charset="2"/>
              <a:buChar char="Ø"/>
            </a:pPr>
            <a:r>
              <a:rPr lang="en-US" sz="2000" dirty="0">
                <a:latin typeface="Comic Sans MS" panose="030F0702030302020204" pitchFamily="66" charset="0"/>
              </a:rPr>
              <a:t>Base for polymorphism: An abstract class can be used as a base for creating polymorphic behavior. Subclasses can implement their own version of the abstract methods, allowing the same method call to behave differently depending on the object type.</a:t>
            </a: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3869204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E3415-3F8E-0E51-56BB-20A4D45A9C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258CCF-4668-9573-1C05-F0326A48825B}"/>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FA4FF5B7-E599-93DA-2C0B-513249545C3C}"/>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3C428F94-31DB-E353-3ABD-657469EB3E3C}"/>
              </a:ext>
            </a:extLst>
          </p:cNvPr>
          <p:cNvSpPr txBox="1"/>
          <p:nvPr/>
        </p:nvSpPr>
        <p:spPr>
          <a:xfrm>
            <a:off x="558998" y="783756"/>
            <a:ext cx="10930759" cy="5324535"/>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omic Sans MS" panose="030F0702030302020204" pitchFamily="66" charset="0"/>
              </a:rPr>
              <a:t>An interface in Java is a reference type, similar to a class, that can contain only constants, method signatures, default methods, and static methods. It is used to specify a set of methods that a class must implement, but it does not provide the method implementation itself.</a:t>
            </a:r>
          </a:p>
          <a:p>
            <a:pPr algn="just"/>
            <a:r>
              <a:rPr lang="en-US" sz="2000" dirty="0">
                <a:solidFill>
                  <a:srgbClr val="FF0000"/>
                </a:solidFill>
                <a:latin typeface="Comic Sans MS" panose="030F0702030302020204" pitchFamily="66" charset="0"/>
              </a:rPr>
              <a:t>When to Use an Abstract Class:</a:t>
            </a:r>
          </a:p>
          <a:p>
            <a:pPr marL="342900" indent="-342900" algn="just">
              <a:buFont typeface="Wingdings" panose="05000000000000000000" pitchFamily="2" charset="2"/>
              <a:buChar char="Ø"/>
            </a:pPr>
            <a:r>
              <a:rPr lang="en-US" sz="2000" dirty="0">
                <a:latin typeface="Comic Sans MS" panose="030F0702030302020204" pitchFamily="66" charset="0"/>
              </a:rPr>
              <a:t>Method Declarations: An interface can contain abstract methods (methods without a body). These methods are intended to be implemented by the classes that implement the interface.</a:t>
            </a:r>
          </a:p>
          <a:p>
            <a:pPr marL="342900" indent="-342900" algn="just">
              <a:buFont typeface="Wingdings" panose="05000000000000000000" pitchFamily="2" charset="2"/>
              <a:buChar char="Ø"/>
            </a:pPr>
            <a:r>
              <a:rPr lang="en-US" sz="2000" dirty="0">
                <a:latin typeface="Comic Sans MS" panose="030F0702030302020204" pitchFamily="66" charset="0"/>
              </a:rPr>
              <a:t>Constants: An interface can contain constants (public, static, final variables).</a:t>
            </a:r>
          </a:p>
          <a:p>
            <a:pPr marL="342900" indent="-342900" algn="just">
              <a:buFont typeface="Wingdings" panose="05000000000000000000" pitchFamily="2" charset="2"/>
              <a:buChar char="Ø"/>
            </a:pPr>
            <a:r>
              <a:rPr lang="en-US" sz="2000" dirty="0">
                <a:latin typeface="Comic Sans MS" panose="030F0702030302020204" pitchFamily="66" charset="0"/>
              </a:rPr>
              <a:t>No Method Implementation (Until Java 8): In earlier versions of Java, interfaces could only declare method signatures (abstract methods) and constants. In Java 8 and later, interfaces can also have default methods and static methods with implementations.</a:t>
            </a:r>
          </a:p>
          <a:p>
            <a:pPr marL="342900" indent="-342900" algn="just">
              <a:buFont typeface="Wingdings" panose="05000000000000000000" pitchFamily="2" charset="2"/>
              <a:buChar char="Ø"/>
            </a:pPr>
            <a:r>
              <a:rPr lang="en-US" sz="2000" dirty="0">
                <a:latin typeface="Comic Sans MS" panose="030F0702030302020204" pitchFamily="66" charset="0"/>
              </a:rPr>
              <a:t>Multiple Inheritance: A class can implement multiple interfaces. This provides a way to overcome Java’s restriction of single inheritance (only one parent class).No Constructors: Interfaces cannot have constructors because they cannot be instantiated directly.</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52747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E151-B763-8E59-AE96-0F42FCB9B41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9D01A3E-9A48-34B6-3B41-D15661E6B4FF}"/>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D9173156-63A5-6E29-1F6E-ABD364DADC2C}"/>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A8E9EC03-347C-862B-7CFA-767216B389B6}"/>
              </a:ext>
            </a:extLst>
          </p:cNvPr>
          <p:cNvSpPr txBox="1"/>
          <p:nvPr/>
        </p:nvSpPr>
        <p:spPr>
          <a:xfrm>
            <a:off x="558998" y="783756"/>
            <a:ext cx="10930759" cy="5940088"/>
          </a:xfrm>
          <a:prstGeom prst="rect">
            <a:avLst/>
          </a:prstGeom>
          <a:noFill/>
        </p:spPr>
        <p:txBody>
          <a:bodyPr wrap="square">
            <a:spAutoFit/>
          </a:bodyPr>
          <a:lstStyle/>
          <a:p>
            <a:pPr algn="just"/>
            <a:r>
              <a:rPr lang="en-US" sz="2000" dirty="0">
                <a:solidFill>
                  <a:srgbClr val="FF0000"/>
                </a:solidFill>
                <a:latin typeface="Comic Sans MS" panose="030F0702030302020204" pitchFamily="66" charset="0"/>
              </a:rPr>
              <a:t>Syntax of an Interface</a:t>
            </a:r>
          </a:p>
          <a:p>
            <a:pPr algn="just"/>
            <a:r>
              <a:rPr lang="en-US" sz="2000" dirty="0">
                <a:latin typeface="Comic Sans MS" panose="030F0702030302020204" pitchFamily="66" charset="0"/>
              </a:rPr>
              <a:t>interface Animal {</a:t>
            </a:r>
          </a:p>
          <a:p>
            <a:pPr algn="just"/>
            <a:r>
              <a:rPr lang="en-US" sz="2000" dirty="0">
                <a:latin typeface="Comic Sans MS" panose="030F0702030302020204" pitchFamily="66" charset="0"/>
              </a:rPr>
              <a:t>    // Constant</a:t>
            </a:r>
          </a:p>
          <a:p>
            <a:pPr algn="just"/>
            <a:r>
              <a:rPr lang="en-US" sz="2000" dirty="0">
                <a:latin typeface="Comic Sans MS" panose="030F0702030302020204" pitchFamily="66" charset="0"/>
              </a:rPr>
              <a:t>    String TYPE = "Mammal";</a:t>
            </a: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r>
              <a:rPr lang="en-US" sz="2000" dirty="0">
                <a:latin typeface="Comic Sans MS" panose="030F0702030302020204" pitchFamily="66" charset="0"/>
              </a:rPr>
              <a:t>    // Abstract method (no body)</a:t>
            </a:r>
          </a:p>
          <a:p>
            <a:pPr algn="just"/>
            <a:r>
              <a:rPr lang="en-US" sz="2000" dirty="0">
                <a:latin typeface="Comic Sans MS" panose="030F0702030302020204" pitchFamily="66" charset="0"/>
              </a:rPr>
              <a:t>    void sound();</a:t>
            </a: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r>
              <a:rPr lang="en-US" sz="2000" dirty="0">
                <a:latin typeface="Comic Sans MS" panose="030F0702030302020204" pitchFamily="66" charset="0"/>
              </a:rPr>
              <a:t>    // Default method (with implementation)</a:t>
            </a:r>
          </a:p>
          <a:p>
            <a:pPr algn="just"/>
            <a:r>
              <a:rPr lang="en-US" sz="2000" dirty="0">
                <a:latin typeface="Comic Sans MS" panose="030F0702030302020204" pitchFamily="66" charset="0"/>
              </a:rPr>
              <a:t>    default void eat()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("This animal is eating.");</a:t>
            </a:r>
          </a:p>
          <a:p>
            <a:pPr algn="just"/>
            <a:r>
              <a:rPr lang="en-US" sz="2000" dirty="0">
                <a:latin typeface="Comic Sans MS" panose="030F0702030302020204" pitchFamily="66" charset="0"/>
              </a:rPr>
              <a:t>    }</a:t>
            </a:r>
          </a:p>
          <a:p>
            <a:pPr marL="342900" indent="-342900" algn="just">
              <a:buFont typeface="Wingdings" panose="05000000000000000000" pitchFamily="2" charset="2"/>
              <a:buChar char="Ø"/>
            </a:pPr>
            <a:endParaRPr lang="en-US" sz="2000" dirty="0">
              <a:latin typeface="Comic Sans MS" panose="030F0702030302020204" pitchFamily="66" charset="0"/>
            </a:endParaRPr>
          </a:p>
          <a:p>
            <a:pPr algn="just"/>
            <a:r>
              <a:rPr lang="en-US" sz="2000" dirty="0">
                <a:latin typeface="Comic Sans MS" panose="030F0702030302020204" pitchFamily="66" charset="0"/>
              </a:rPr>
              <a:t>    // Static method (with implementation)</a:t>
            </a:r>
          </a:p>
          <a:p>
            <a:pPr algn="just"/>
            <a:r>
              <a:rPr lang="en-US" sz="2000" dirty="0">
                <a:latin typeface="Comic Sans MS" panose="030F0702030302020204" pitchFamily="66" charset="0"/>
              </a:rPr>
              <a:t>    static void sleep()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("This animal is sleeping.");</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777911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5CFA8-D5BA-C75E-45CB-1BA18A4AC4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1DB477-EE54-0345-A671-D3AE3B697229}"/>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Implementing an Interface</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5AB2BBFF-E964-7210-41BA-98AB50A53A27}"/>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829EEFB6-95EF-E636-19CC-6FC1A58FE54C}"/>
              </a:ext>
            </a:extLst>
          </p:cNvPr>
          <p:cNvSpPr txBox="1"/>
          <p:nvPr/>
        </p:nvSpPr>
        <p:spPr>
          <a:xfrm>
            <a:off x="558998" y="783756"/>
            <a:ext cx="10930759" cy="6247864"/>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omic Sans MS" panose="030F0702030302020204" pitchFamily="66" charset="0"/>
              </a:rPr>
              <a:t>To access the interface methods, the interface must be "implemented" (</a:t>
            </a:r>
            <a:r>
              <a:rPr lang="en-US" sz="2000" dirty="0" err="1">
                <a:latin typeface="Comic Sans MS" panose="030F0702030302020204" pitchFamily="66" charset="0"/>
              </a:rPr>
              <a:t>kinda</a:t>
            </a:r>
            <a:r>
              <a:rPr lang="en-US" sz="2000" dirty="0">
                <a:latin typeface="Comic Sans MS" panose="030F0702030302020204" pitchFamily="66" charset="0"/>
              </a:rPr>
              <a:t> like inherited) by another class with the implements keyword (instead of extends). The body of the interface method is provided by the "implement" class:</a:t>
            </a:r>
          </a:p>
          <a:p>
            <a:pPr marL="342900" indent="-342900" algn="just">
              <a:buFont typeface="Wingdings" panose="05000000000000000000" pitchFamily="2" charset="2"/>
              <a:buChar char="Ø"/>
            </a:pPr>
            <a:endParaRPr lang="en-US" sz="2000" dirty="0">
              <a:latin typeface="Comic Sans MS" panose="030F0702030302020204" pitchFamily="66" charset="0"/>
            </a:endParaRPr>
          </a:p>
          <a:p>
            <a:pPr marL="342900" indent="-342900" algn="just">
              <a:buFont typeface="Wingdings" panose="05000000000000000000" pitchFamily="2" charset="2"/>
              <a:buChar char="Ø"/>
            </a:pPr>
            <a:r>
              <a:rPr lang="en-US" sz="2000" dirty="0">
                <a:latin typeface="Comic Sans MS" panose="030F0702030302020204" pitchFamily="66" charset="0"/>
              </a:rPr>
              <a:t>A class that implements an interface must provide implementations for all of the abstract methods defined in the interface (unless the class is also abstract).</a:t>
            </a:r>
          </a:p>
          <a:p>
            <a:pPr algn="just"/>
            <a:r>
              <a:rPr lang="en-US" sz="2000" dirty="0">
                <a:latin typeface="Comic Sans MS" panose="030F0702030302020204" pitchFamily="66" charset="0"/>
              </a:rPr>
              <a:t>class Dog implements Animal {</a:t>
            </a:r>
          </a:p>
          <a:p>
            <a:pPr algn="just"/>
            <a:r>
              <a:rPr lang="en-US" sz="2000" dirty="0">
                <a:latin typeface="Comic Sans MS" panose="030F0702030302020204" pitchFamily="66" charset="0"/>
              </a:rPr>
              <a:t>    // Provide implementation for the abstract method</a:t>
            </a:r>
          </a:p>
          <a:p>
            <a:pPr algn="just"/>
            <a:r>
              <a:rPr lang="en-US" sz="2000" dirty="0">
                <a:latin typeface="Comic Sans MS" panose="030F0702030302020204" pitchFamily="66" charset="0"/>
              </a:rPr>
              <a:t>    public void sound()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("The dog barks.");</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class Cat implements Animal {</a:t>
            </a:r>
          </a:p>
          <a:p>
            <a:pPr algn="just"/>
            <a:r>
              <a:rPr lang="en-US" sz="2000" dirty="0">
                <a:latin typeface="Comic Sans MS" panose="030F0702030302020204" pitchFamily="66" charset="0"/>
              </a:rPr>
              <a:t>    // Provide implementation for the abstract method</a:t>
            </a:r>
          </a:p>
          <a:p>
            <a:pPr algn="just"/>
            <a:r>
              <a:rPr lang="en-US" sz="2000" dirty="0">
                <a:latin typeface="Comic Sans MS" panose="030F0702030302020204" pitchFamily="66" charset="0"/>
              </a:rPr>
              <a:t>    public void sound()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("The cat meows.");</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4132016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A4A8C-3289-F06C-597B-31F7FB375D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D373F0-FB7E-679E-E750-517970B8F8A8}"/>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Using the Interface and Implementing Classes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DB83B1B9-D968-8052-08B5-6FDB3B08E1CC}"/>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4C99FD44-3C4F-9226-126F-94823416B185}"/>
              </a:ext>
            </a:extLst>
          </p:cNvPr>
          <p:cNvSpPr txBox="1"/>
          <p:nvPr/>
        </p:nvSpPr>
        <p:spPr>
          <a:xfrm>
            <a:off x="558998" y="783756"/>
            <a:ext cx="10930759" cy="5940088"/>
          </a:xfrm>
          <a:prstGeom prst="rect">
            <a:avLst/>
          </a:prstGeom>
          <a:noFill/>
        </p:spPr>
        <p:txBody>
          <a:bodyPr wrap="square">
            <a:spAutoFit/>
          </a:bodyPr>
          <a:lstStyle/>
          <a:p>
            <a:pPr algn="just"/>
            <a:r>
              <a:rPr lang="en-US" sz="2000" dirty="0">
                <a:latin typeface="Comic Sans MS" panose="030F0702030302020204" pitchFamily="66" charset="0"/>
              </a:rPr>
              <a:t>public class Main {</a:t>
            </a: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 Create instances of Dog and Cat</a:t>
            </a:r>
          </a:p>
          <a:p>
            <a:pPr algn="just"/>
            <a:r>
              <a:rPr lang="en-US" sz="2000" dirty="0">
                <a:latin typeface="Comic Sans MS" panose="030F0702030302020204" pitchFamily="66" charset="0"/>
              </a:rPr>
              <a:t>        Animal dog = new Dog();</a:t>
            </a:r>
          </a:p>
          <a:p>
            <a:pPr algn="just"/>
            <a:r>
              <a:rPr lang="en-US" sz="2000" dirty="0">
                <a:latin typeface="Comic Sans MS" panose="030F0702030302020204" pitchFamily="66" charset="0"/>
              </a:rPr>
              <a:t>        Animal cat = new Cat();</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Call the implemented method</a:t>
            </a:r>
          </a:p>
          <a:p>
            <a:pPr algn="just"/>
            <a:r>
              <a:rPr lang="en-US" sz="2000" dirty="0">
                <a:latin typeface="Comic Sans MS" panose="030F0702030302020204" pitchFamily="66" charset="0"/>
              </a:rPr>
              <a:t>        </a:t>
            </a:r>
            <a:r>
              <a:rPr lang="en-US" sz="2000" dirty="0" err="1">
                <a:latin typeface="Comic Sans MS" panose="030F0702030302020204" pitchFamily="66" charset="0"/>
              </a:rPr>
              <a:t>dog.sound</a:t>
            </a:r>
            <a:r>
              <a:rPr lang="en-US" sz="2000" dirty="0">
                <a:latin typeface="Comic Sans MS" panose="030F0702030302020204" pitchFamily="66" charset="0"/>
              </a:rPr>
              <a:t>();  // Output: The dog barks.</a:t>
            </a:r>
          </a:p>
          <a:p>
            <a:pPr algn="just"/>
            <a:r>
              <a:rPr lang="en-US" sz="2000" dirty="0">
                <a:latin typeface="Comic Sans MS" panose="030F0702030302020204" pitchFamily="66" charset="0"/>
              </a:rPr>
              <a:t>        </a:t>
            </a:r>
            <a:r>
              <a:rPr lang="en-US" sz="2000" dirty="0" err="1">
                <a:latin typeface="Comic Sans MS" panose="030F0702030302020204" pitchFamily="66" charset="0"/>
              </a:rPr>
              <a:t>cat.sound</a:t>
            </a:r>
            <a:r>
              <a:rPr lang="en-US" sz="2000" dirty="0">
                <a:latin typeface="Comic Sans MS" panose="030F0702030302020204" pitchFamily="66" charset="0"/>
              </a:rPr>
              <a:t>();  // Output: The cat meows.</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Call the default method</a:t>
            </a:r>
          </a:p>
          <a:p>
            <a:pPr algn="just"/>
            <a:r>
              <a:rPr lang="en-US" sz="2000" dirty="0">
                <a:latin typeface="Comic Sans MS" panose="030F0702030302020204" pitchFamily="66" charset="0"/>
              </a:rPr>
              <a:t>        </a:t>
            </a:r>
            <a:r>
              <a:rPr lang="en-US" sz="2000" dirty="0" err="1">
                <a:latin typeface="Comic Sans MS" panose="030F0702030302020204" pitchFamily="66" charset="0"/>
              </a:rPr>
              <a:t>dog.sleep</a:t>
            </a:r>
            <a:r>
              <a:rPr lang="en-US" sz="2000" dirty="0">
                <a:latin typeface="Comic Sans MS" panose="030F0702030302020204" pitchFamily="66" charset="0"/>
              </a:rPr>
              <a:t>();  // Output: The animal is sleeping.</a:t>
            </a:r>
          </a:p>
          <a:p>
            <a:pPr algn="just"/>
            <a:r>
              <a:rPr lang="en-US" sz="2000" dirty="0">
                <a:latin typeface="Comic Sans MS" panose="030F0702030302020204" pitchFamily="66" charset="0"/>
              </a:rPr>
              <a:t>        </a:t>
            </a:r>
            <a:r>
              <a:rPr lang="en-US" sz="2000" dirty="0" err="1">
                <a:latin typeface="Comic Sans MS" panose="030F0702030302020204" pitchFamily="66" charset="0"/>
              </a:rPr>
              <a:t>cat.sleep</a:t>
            </a:r>
            <a:r>
              <a:rPr lang="en-US" sz="2000" dirty="0">
                <a:latin typeface="Comic Sans MS" panose="030F0702030302020204" pitchFamily="66" charset="0"/>
              </a:rPr>
              <a:t>();  // Output: The animal is sleeping.</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 Call the static method</a:t>
            </a:r>
          </a:p>
          <a:p>
            <a:pPr algn="just"/>
            <a:r>
              <a:rPr lang="en-US" sz="2000" dirty="0">
                <a:latin typeface="Comic Sans MS" panose="030F0702030302020204" pitchFamily="66" charset="0"/>
              </a:rPr>
              <a:t>        </a:t>
            </a:r>
            <a:r>
              <a:rPr lang="en-US" sz="2000" dirty="0" err="1">
                <a:latin typeface="Comic Sans MS" panose="030F0702030302020204" pitchFamily="66" charset="0"/>
              </a:rPr>
              <a:t>Animal.breathe</a:t>
            </a:r>
            <a:r>
              <a:rPr lang="en-US" sz="2000" dirty="0">
                <a:latin typeface="Comic Sans MS" panose="030F0702030302020204" pitchFamily="66" charset="0"/>
              </a:rPr>
              <a:t>();  // Output: The animal is breathing.</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3418007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9F86C-1E25-9306-1D5E-F77A19AE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E7D9972-FC2D-3B5A-8BE8-904750CFBC6E}"/>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Multiple Interfaces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030401FC-F0E2-F747-9B6A-6A337451BD9F}"/>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AE6D814C-1332-D617-7798-27E4FF9E56A7}"/>
              </a:ext>
            </a:extLst>
          </p:cNvPr>
          <p:cNvSpPr txBox="1"/>
          <p:nvPr/>
        </p:nvSpPr>
        <p:spPr>
          <a:xfrm>
            <a:off x="558998" y="783756"/>
            <a:ext cx="10930759" cy="6247864"/>
          </a:xfrm>
          <a:prstGeom prst="rect">
            <a:avLst/>
          </a:prstGeom>
          <a:noFill/>
        </p:spPr>
        <p:txBody>
          <a:bodyPr wrap="square">
            <a:spAutoFit/>
          </a:bodyPr>
          <a:lstStyle/>
          <a:p>
            <a:pPr marL="342900" indent="-342900" algn="just">
              <a:buFont typeface="Wingdings" panose="05000000000000000000" pitchFamily="2" charset="2"/>
              <a:buChar char="Ø"/>
            </a:pPr>
            <a:r>
              <a:rPr lang="en-US" sz="1900" dirty="0">
                <a:latin typeface="Comic Sans MS" panose="030F0702030302020204" pitchFamily="66" charset="0"/>
              </a:rPr>
              <a:t>Java does not support "multiple inheritance" (a class can only inherit from one superclass). However, it can be achieved with interfaces, because the class can implement multiple interfaces. Note: To implement multiple interfaces, separate them with a comma.</a:t>
            </a:r>
          </a:p>
          <a:p>
            <a:pPr algn="just"/>
            <a:r>
              <a:rPr lang="en-US" sz="1700" dirty="0">
                <a:latin typeface="Comic Sans MS" panose="030F0702030302020204" pitchFamily="66" charset="0"/>
              </a:rPr>
              <a:t>interface Animal {</a:t>
            </a:r>
          </a:p>
          <a:p>
            <a:pPr algn="just"/>
            <a:r>
              <a:rPr lang="en-US" sz="1700" dirty="0">
                <a:latin typeface="Comic Sans MS" panose="030F0702030302020204" pitchFamily="66" charset="0"/>
              </a:rPr>
              <a:t>    void sound();</a:t>
            </a:r>
          </a:p>
          <a:p>
            <a:pPr algn="just"/>
            <a:r>
              <a:rPr lang="en-US" sz="1700" dirty="0">
                <a:latin typeface="Comic Sans MS" panose="030F0702030302020204" pitchFamily="66" charset="0"/>
              </a:rPr>
              <a:t>}</a:t>
            </a:r>
          </a:p>
          <a:p>
            <a:pPr algn="just"/>
            <a:endParaRPr lang="en-US" sz="1700" dirty="0">
              <a:latin typeface="Comic Sans MS" panose="030F0702030302020204" pitchFamily="66" charset="0"/>
            </a:endParaRPr>
          </a:p>
          <a:p>
            <a:pPr algn="just"/>
            <a:r>
              <a:rPr lang="en-US" sz="1700" dirty="0">
                <a:latin typeface="Comic Sans MS" panose="030F0702030302020204" pitchFamily="66" charset="0"/>
              </a:rPr>
              <a:t>interface Vehicle {</a:t>
            </a:r>
          </a:p>
          <a:p>
            <a:pPr algn="just"/>
            <a:r>
              <a:rPr lang="en-US" sz="1700" dirty="0">
                <a:latin typeface="Comic Sans MS" panose="030F0702030302020204" pitchFamily="66" charset="0"/>
              </a:rPr>
              <a:t>    void move();</a:t>
            </a:r>
          </a:p>
          <a:p>
            <a:pPr algn="just"/>
            <a:r>
              <a:rPr lang="en-US" sz="1700" dirty="0">
                <a:latin typeface="Comic Sans MS" panose="030F0702030302020204" pitchFamily="66" charset="0"/>
              </a:rPr>
              <a:t>}</a:t>
            </a:r>
          </a:p>
          <a:p>
            <a:pPr algn="just"/>
            <a:endParaRPr lang="en-US" sz="1700" dirty="0">
              <a:latin typeface="Comic Sans MS" panose="030F0702030302020204" pitchFamily="66" charset="0"/>
            </a:endParaRPr>
          </a:p>
          <a:p>
            <a:pPr algn="just"/>
            <a:r>
              <a:rPr lang="en-US" sz="1700" dirty="0">
                <a:latin typeface="Comic Sans MS" panose="030F0702030302020204" pitchFamily="66" charset="0"/>
              </a:rPr>
              <a:t>class Dog implements Animal {</a:t>
            </a:r>
          </a:p>
          <a:p>
            <a:pPr algn="just"/>
            <a:r>
              <a:rPr lang="en-US" sz="1700" dirty="0">
                <a:latin typeface="Comic Sans MS" panose="030F0702030302020204" pitchFamily="66" charset="0"/>
              </a:rPr>
              <a:t>    public void sound() {</a:t>
            </a:r>
          </a:p>
          <a:p>
            <a:pPr algn="just"/>
            <a:r>
              <a:rPr lang="en-US" sz="1700" dirty="0">
                <a:latin typeface="Comic Sans MS" panose="030F0702030302020204" pitchFamily="66" charset="0"/>
              </a:rPr>
              <a:t>        </a:t>
            </a:r>
            <a:r>
              <a:rPr lang="en-US" sz="1700" dirty="0" err="1">
                <a:latin typeface="Comic Sans MS" panose="030F0702030302020204" pitchFamily="66" charset="0"/>
              </a:rPr>
              <a:t>System.out.println</a:t>
            </a:r>
            <a:r>
              <a:rPr lang="en-US" sz="1700" dirty="0">
                <a:latin typeface="Comic Sans MS" panose="030F0702030302020204" pitchFamily="66" charset="0"/>
              </a:rPr>
              <a:t>("The dog barks.");</a:t>
            </a:r>
          </a:p>
          <a:p>
            <a:pPr algn="just"/>
            <a:r>
              <a:rPr lang="en-US" sz="1700" dirty="0">
                <a:latin typeface="Comic Sans MS" panose="030F0702030302020204" pitchFamily="66" charset="0"/>
              </a:rPr>
              <a:t>    }</a:t>
            </a:r>
          </a:p>
          <a:p>
            <a:pPr algn="just"/>
            <a:r>
              <a:rPr lang="en-US" sz="1700" dirty="0">
                <a:latin typeface="Comic Sans MS" panose="030F0702030302020204" pitchFamily="66" charset="0"/>
              </a:rPr>
              <a:t>}</a:t>
            </a:r>
          </a:p>
          <a:p>
            <a:pPr algn="just"/>
            <a:endParaRPr lang="en-US" sz="1700" dirty="0">
              <a:latin typeface="Comic Sans MS" panose="030F0702030302020204" pitchFamily="66" charset="0"/>
            </a:endParaRPr>
          </a:p>
          <a:p>
            <a:pPr algn="just"/>
            <a:r>
              <a:rPr lang="en-US" sz="1700" dirty="0">
                <a:latin typeface="Comic Sans MS" panose="030F0702030302020204" pitchFamily="66" charset="0"/>
              </a:rPr>
              <a:t>class Car implements Vehicle {</a:t>
            </a:r>
          </a:p>
          <a:p>
            <a:pPr algn="just"/>
            <a:r>
              <a:rPr lang="en-US" sz="1700" dirty="0">
                <a:latin typeface="Comic Sans MS" panose="030F0702030302020204" pitchFamily="66" charset="0"/>
              </a:rPr>
              <a:t>    public void move() {</a:t>
            </a:r>
          </a:p>
          <a:p>
            <a:pPr algn="just"/>
            <a:r>
              <a:rPr lang="en-US" sz="1700" dirty="0">
                <a:latin typeface="Comic Sans MS" panose="030F0702030302020204" pitchFamily="66" charset="0"/>
              </a:rPr>
              <a:t>        </a:t>
            </a:r>
            <a:r>
              <a:rPr lang="en-US" sz="1700" dirty="0" err="1">
                <a:latin typeface="Comic Sans MS" panose="030F0702030302020204" pitchFamily="66" charset="0"/>
              </a:rPr>
              <a:t>System.out.println</a:t>
            </a:r>
            <a:r>
              <a:rPr lang="en-US" sz="1700" dirty="0">
                <a:latin typeface="Comic Sans MS" panose="030F0702030302020204" pitchFamily="66" charset="0"/>
              </a:rPr>
              <a:t>("The car moves.");</a:t>
            </a:r>
          </a:p>
          <a:p>
            <a:pPr algn="just"/>
            <a:r>
              <a:rPr lang="en-US" sz="1700" dirty="0">
                <a:latin typeface="Comic Sans MS" panose="030F0702030302020204" pitchFamily="66" charset="0"/>
              </a:rPr>
              <a:t>    }</a:t>
            </a:r>
          </a:p>
          <a:p>
            <a:pPr algn="just"/>
            <a:r>
              <a:rPr lang="en-US" sz="17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1537294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173C3-F25C-82E7-B781-C5DC4629AE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5223F8-F54C-D9C0-F531-32E75E1B75EE}"/>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Multiple Interfaces</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D7ACFF87-BF87-7F0D-E680-AAEF31EFE790}"/>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D14400F3-40C2-8907-8719-3AD1562A8D12}"/>
              </a:ext>
            </a:extLst>
          </p:cNvPr>
          <p:cNvSpPr txBox="1"/>
          <p:nvPr/>
        </p:nvSpPr>
        <p:spPr>
          <a:xfrm>
            <a:off x="558998" y="783756"/>
            <a:ext cx="10930759" cy="6494085"/>
          </a:xfrm>
          <a:prstGeom prst="rect">
            <a:avLst/>
          </a:prstGeom>
          <a:noFill/>
        </p:spPr>
        <p:txBody>
          <a:bodyPr wrap="square">
            <a:spAutoFit/>
          </a:bodyPr>
          <a:lstStyle/>
          <a:p>
            <a:pPr algn="just"/>
            <a:r>
              <a:rPr lang="en-US" dirty="0">
                <a:latin typeface="Comic Sans MS" panose="030F0702030302020204" pitchFamily="66" charset="0"/>
              </a:rPr>
              <a:t>class Robot implements Animal, Vehicle {</a:t>
            </a:r>
          </a:p>
          <a:p>
            <a:pPr algn="just"/>
            <a:r>
              <a:rPr lang="en-US" dirty="0">
                <a:latin typeface="Comic Sans MS" panose="030F0702030302020204" pitchFamily="66" charset="0"/>
              </a:rPr>
              <a:t>    public void sound() {</a:t>
            </a:r>
          </a:p>
          <a:p>
            <a:pPr algn="just"/>
            <a:r>
              <a:rPr lang="en-US" dirty="0">
                <a:latin typeface="Comic Sans MS" panose="030F0702030302020204" pitchFamily="66" charset="0"/>
              </a:rPr>
              <a:t>        </a:t>
            </a:r>
            <a:r>
              <a:rPr lang="en-US" dirty="0" err="1">
                <a:latin typeface="Comic Sans MS" panose="030F0702030302020204" pitchFamily="66" charset="0"/>
              </a:rPr>
              <a:t>System.out.println</a:t>
            </a:r>
            <a:r>
              <a:rPr lang="en-US" dirty="0">
                <a:latin typeface="Comic Sans MS" panose="030F0702030302020204" pitchFamily="66" charset="0"/>
              </a:rPr>
              <a:t>("The robot beeps.");</a:t>
            </a:r>
          </a:p>
          <a:p>
            <a:pPr algn="just"/>
            <a:r>
              <a:rPr lang="en-US" dirty="0">
                <a:latin typeface="Comic Sans MS" panose="030F0702030302020204" pitchFamily="66" charset="0"/>
              </a:rPr>
              <a:t>    }</a:t>
            </a:r>
          </a:p>
          <a:p>
            <a:pPr algn="just"/>
            <a:endParaRPr lang="en-US" dirty="0">
              <a:latin typeface="Comic Sans MS" panose="030F0702030302020204" pitchFamily="66" charset="0"/>
            </a:endParaRPr>
          </a:p>
          <a:p>
            <a:pPr algn="just"/>
            <a:r>
              <a:rPr lang="en-US" dirty="0">
                <a:latin typeface="Comic Sans MS" panose="030F0702030302020204" pitchFamily="66" charset="0"/>
              </a:rPr>
              <a:t>    public void move() {</a:t>
            </a:r>
          </a:p>
          <a:p>
            <a:pPr algn="just"/>
            <a:r>
              <a:rPr lang="en-US" dirty="0">
                <a:latin typeface="Comic Sans MS" panose="030F0702030302020204" pitchFamily="66" charset="0"/>
              </a:rPr>
              <a:t>        </a:t>
            </a:r>
            <a:r>
              <a:rPr lang="en-US" dirty="0" err="1">
                <a:latin typeface="Comic Sans MS" panose="030F0702030302020204" pitchFamily="66" charset="0"/>
              </a:rPr>
              <a:t>System.out.println</a:t>
            </a:r>
            <a:r>
              <a:rPr lang="en-US" dirty="0">
                <a:latin typeface="Comic Sans MS" panose="030F0702030302020204" pitchFamily="66" charset="0"/>
              </a:rPr>
              <a:t>("The robot moves.");</a:t>
            </a:r>
          </a:p>
          <a:p>
            <a:pPr algn="just"/>
            <a:r>
              <a:rPr lang="en-US" dirty="0">
                <a:latin typeface="Comic Sans MS" panose="030F0702030302020204" pitchFamily="66" charset="0"/>
              </a:rPr>
              <a:t>    }</a:t>
            </a:r>
          </a:p>
          <a:p>
            <a:pPr algn="just"/>
            <a:r>
              <a:rPr lang="en-US" dirty="0">
                <a:latin typeface="Comic Sans MS" panose="030F0702030302020204" pitchFamily="66" charset="0"/>
              </a:rPr>
              <a:t>}</a:t>
            </a:r>
          </a:p>
          <a:p>
            <a:pPr algn="just"/>
            <a:endParaRPr lang="en-US" dirty="0">
              <a:latin typeface="Comic Sans MS" panose="030F0702030302020204" pitchFamily="66" charset="0"/>
            </a:endParaRPr>
          </a:p>
          <a:p>
            <a:pPr algn="just"/>
            <a:r>
              <a:rPr lang="en-US" dirty="0">
                <a:latin typeface="Comic Sans MS" panose="030F0702030302020204" pitchFamily="66" charset="0"/>
              </a:rPr>
              <a:t>public class Main {</a:t>
            </a:r>
          </a:p>
          <a:p>
            <a:pPr algn="just"/>
            <a:r>
              <a:rPr lang="en-US" dirty="0">
                <a:latin typeface="Comic Sans MS" panose="030F0702030302020204" pitchFamily="66" charset="0"/>
              </a:rPr>
              <a:t>    public static void main(String[] </a:t>
            </a:r>
            <a:r>
              <a:rPr lang="en-US" dirty="0" err="1">
                <a:latin typeface="Comic Sans MS" panose="030F0702030302020204" pitchFamily="66" charset="0"/>
              </a:rPr>
              <a:t>args</a:t>
            </a:r>
            <a:r>
              <a:rPr lang="en-US" dirty="0">
                <a:latin typeface="Comic Sans MS" panose="030F0702030302020204" pitchFamily="66" charset="0"/>
              </a:rPr>
              <a:t>) {</a:t>
            </a:r>
          </a:p>
          <a:p>
            <a:pPr algn="just"/>
            <a:r>
              <a:rPr lang="en-US" dirty="0">
                <a:latin typeface="Comic Sans MS" panose="030F0702030302020204" pitchFamily="66" charset="0"/>
              </a:rPr>
              <a:t>        Animal dog = new Dog();</a:t>
            </a:r>
          </a:p>
          <a:p>
            <a:pPr algn="just"/>
            <a:r>
              <a:rPr lang="en-US" dirty="0">
                <a:latin typeface="Comic Sans MS" panose="030F0702030302020204" pitchFamily="66" charset="0"/>
              </a:rPr>
              <a:t>        Vehicle car = new Car();</a:t>
            </a:r>
          </a:p>
          <a:p>
            <a:pPr algn="just"/>
            <a:r>
              <a:rPr lang="en-US" dirty="0">
                <a:latin typeface="Comic Sans MS" panose="030F0702030302020204" pitchFamily="66" charset="0"/>
              </a:rPr>
              <a:t>        Robot </a:t>
            </a:r>
            <a:r>
              <a:rPr lang="en-US" dirty="0" err="1">
                <a:latin typeface="Comic Sans MS" panose="030F0702030302020204" pitchFamily="66" charset="0"/>
              </a:rPr>
              <a:t>robot</a:t>
            </a:r>
            <a:r>
              <a:rPr lang="en-US" dirty="0">
                <a:latin typeface="Comic Sans MS" panose="030F0702030302020204" pitchFamily="66" charset="0"/>
              </a:rPr>
              <a:t> = new Robot();</a:t>
            </a:r>
          </a:p>
          <a:p>
            <a:pPr algn="just"/>
            <a:endParaRPr lang="en-US" dirty="0">
              <a:latin typeface="Comic Sans MS" panose="030F0702030302020204" pitchFamily="66" charset="0"/>
            </a:endParaRPr>
          </a:p>
          <a:p>
            <a:pPr algn="just"/>
            <a:r>
              <a:rPr lang="en-US" dirty="0">
                <a:latin typeface="Comic Sans MS" panose="030F0702030302020204" pitchFamily="66" charset="0"/>
              </a:rPr>
              <a:t>        </a:t>
            </a:r>
            <a:r>
              <a:rPr lang="en-US" dirty="0" err="1">
                <a:latin typeface="Comic Sans MS" panose="030F0702030302020204" pitchFamily="66" charset="0"/>
              </a:rPr>
              <a:t>dog.sound</a:t>
            </a:r>
            <a:r>
              <a:rPr lang="en-US" dirty="0">
                <a:latin typeface="Comic Sans MS" panose="030F0702030302020204" pitchFamily="66" charset="0"/>
              </a:rPr>
              <a:t>();    // Output: The dog barks.</a:t>
            </a:r>
          </a:p>
          <a:p>
            <a:pPr algn="just"/>
            <a:r>
              <a:rPr lang="en-US" dirty="0">
                <a:latin typeface="Comic Sans MS" panose="030F0702030302020204" pitchFamily="66" charset="0"/>
              </a:rPr>
              <a:t>        </a:t>
            </a:r>
            <a:r>
              <a:rPr lang="en-US" dirty="0" err="1">
                <a:latin typeface="Comic Sans MS" panose="030F0702030302020204" pitchFamily="66" charset="0"/>
              </a:rPr>
              <a:t>car.move</a:t>
            </a:r>
            <a:r>
              <a:rPr lang="en-US" dirty="0">
                <a:latin typeface="Comic Sans MS" panose="030F0702030302020204" pitchFamily="66" charset="0"/>
              </a:rPr>
              <a:t>();     // Output: The car moves.</a:t>
            </a:r>
          </a:p>
          <a:p>
            <a:pPr algn="just"/>
            <a:r>
              <a:rPr lang="en-US" dirty="0">
                <a:latin typeface="Comic Sans MS" panose="030F0702030302020204" pitchFamily="66" charset="0"/>
              </a:rPr>
              <a:t>        </a:t>
            </a:r>
            <a:r>
              <a:rPr lang="en-US" dirty="0" err="1">
                <a:latin typeface="Comic Sans MS" panose="030F0702030302020204" pitchFamily="66" charset="0"/>
              </a:rPr>
              <a:t>robot.sound</a:t>
            </a:r>
            <a:r>
              <a:rPr lang="en-US" dirty="0">
                <a:latin typeface="Comic Sans MS" panose="030F0702030302020204" pitchFamily="66" charset="0"/>
              </a:rPr>
              <a:t>();  // Output: The robot beeps.</a:t>
            </a:r>
          </a:p>
          <a:p>
            <a:pPr algn="just"/>
            <a:r>
              <a:rPr lang="en-US" dirty="0">
                <a:latin typeface="Comic Sans MS" panose="030F0702030302020204" pitchFamily="66" charset="0"/>
              </a:rPr>
              <a:t>        </a:t>
            </a:r>
            <a:r>
              <a:rPr lang="en-US" dirty="0" err="1">
                <a:latin typeface="Comic Sans MS" panose="030F0702030302020204" pitchFamily="66" charset="0"/>
              </a:rPr>
              <a:t>robot.move</a:t>
            </a:r>
            <a:r>
              <a:rPr lang="en-US" dirty="0">
                <a:latin typeface="Comic Sans MS" panose="030F0702030302020204" pitchFamily="66" charset="0"/>
              </a:rPr>
              <a:t>();   // Output: The robot moves.</a:t>
            </a:r>
          </a:p>
          <a:p>
            <a:pPr algn="just"/>
            <a:r>
              <a:rPr lang="en-US" dirty="0">
                <a:latin typeface="Comic Sans MS" panose="030F0702030302020204" pitchFamily="66" charset="0"/>
              </a:rPr>
              <a:t>    }</a:t>
            </a:r>
          </a:p>
          <a:p>
            <a:pPr algn="just"/>
            <a:r>
              <a:rPr lang="en-US"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4185112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B89CC-30F5-6974-C705-617BAA2FFC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F6163E-BCCA-9108-760B-17CE4DADFA4E}"/>
              </a:ext>
            </a:extLst>
          </p:cNvPr>
          <p:cNvSpPr/>
          <p:nvPr/>
        </p:nvSpPr>
        <p:spPr>
          <a:xfrm>
            <a:off x="430923" y="210208"/>
            <a:ext cx="10930759" cy="523220"/>
          </a:xfrm>
          <a:prstGeom prst="rect">
            <a:avLst/>
          </a:prstGeom>
        </p:spPr>
        <p:txBody>
          <a:bodyPr wrap="square">
            <a:spAutoFit/>
          </a:bodyPr>
          <a:lstStyle/>
          <a:p>
            <a:pPr lvl="1" algn="ctr"/>
            <a:r>
              <a:rPr lang="en-US" sz="2800" dirty="0">
                <a:solidFill>
                  <a:srgbClr val="FF0000"/>
                </a:solidFill>
                <a:latin typeface="Comic Sans MS" panose="030F0702030302020204" pitchFamily="66" charset="0"/>
              </a:rPr>
              <a:t>Default Method Overriding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534C15D0-A0E7-8E35-A941-A634F4BBE7E7}"/>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FECED2E1-D507-8BCA-9180-48B651D163B7}"/>
              </a:ext>
            </a:extLst>
          </p:cNvPr>
          <p:cNvSpPr txBox="1"/>
          <p:nvPr/>
        </p:nvSpPr>
        <p:spPr>
          <a:xfrm>
            <a:off x="558998" y="783756"/>
            <a:ext cx="10930759" cy="5955476"/>
          </a:xfrm>
          <a:prstGeom prst="rect">
            <a:avLst/>
          </a:prstGeom>
          <a:noFill/>
        </p:spPr>
        <p:txBody>
          <a:bodyPr wrap="square">
            <a:spAutoFit/>
          </a:bodyPr>
          <a:lstStyle/>
          <a:p>
            <a:pPr marL="342900" indent="-342900" algn="just">
              <a:buFont typeface="Wingdings" panose="05000000000000000000" pitchFamily="2" charset="2"/>
              <a:buChar char="Ø"/>
            </a:pPr>
            <a:r>
              <a:rPr lang="en-US" sz="1900" dirty="0">
                <a:latin typeface="Comic Sans MS" panose="030F0702030302020204" pitchFamily="66" charset="0"/>
              </a:rPr>
              <a:t>If a class implements an interface that has a default method, the class can override the default method to provide its own </a:t>
            </a:r>
            <a:r>
              <a:rPr lang="en-US" sz="1900" dirty="0" err="1">
                <a:latin typeface="Comic Sans MS" panose="030F0702030302020204" pitchFamily="66" charset="0"/>
              </a:rPr>
              <a:t>implementation.</a:t>
            </a:r>
            <a:r>
              <a:rPr lang="en-US" sz="1700" dirty="0" err="1">
                <a:latin typeface="Comic Sans MS" panose="030F0702030302020204" pitchFamily="66" charset="0"/>
              </a:rPr>
              <a:t>interface</a:t>
            </a:r>
            <a:r>
              <a:rPr lang="en-US" sz="1700" dirty="0">
                <a:latin typeface="Comic Sans MS" panose="030F0702030302020204" pitchFamily="66" charset="0"/>
              </a:rPr>
              <a:t> Animal {</a:t>
            </a:r>
          </a:p>
          <a:p>
            <a:pPr algn="just"/>
            <a:r>
              <a:rPr lang="en-US" sz="1700" dirty="0">
                <a:latin typeface="Comic Sans MS" panose="030F0702030302020204" pitchFamily="66" charset="0"/>
              </a:rPr>
              <a:t>interface Animal {</a:t>
            </a:r>
          </a:p>
          <a:p>
            <a:pPr algn="just"/>
            <a:r>
              <a:rPr lang="en-US" sz="1700" dirty="0">
                <a:latin typeface="Comic Sans MS" panose="030F0702030302020204" pitchFamily="66" charset="0"/>
              </a:rPr>
              <a:t>    default void sleep() {</a:t>
            </a:r>
          </a:p>
          <a:p>
            <a:pPr algn="just"/>
            <a:r>
              <a:rPr lang="en-US" sz="1700" dirty="0">
                <a:latin typeface="Comic Sans MS" panose="030F0702030302020204" pitchFamily="66" charset="0"/>
              </a:rPr>
              <a:t>        </a:t>
            </a:r>
            <a:r>
              <a:rPr lang="en-US" sz="1700" dirty="0" err="1">
                <a:latin typeface="Comic Sans MS" panose="030F0702030302020204" pitchFamily="66" charset="0"/>
              </a:rPr>
              <a:t>System.out.println</a:t>
            </a:r>
            <a:r>
              <a:rPr lang="en-US" sz="1700" dirty="0">
                <a:latin typeface="Comic Sans MS" panose="030F0702030302020204" pitchFamily="66" charset="0"/>
              </a:rPr>
              <a:t>("This animal is sleeping.");</a:t>
            </a:r>
          </a:p>
          <a:p>
            <a:pPr algn="just"/>
            <a:r>
              <a:rPr lang="en-US" sz="1700" dirty="0">
                <a:latin typeface="Comic Sans MS" panose="030F0702030302020204" pitchFamily="66" charset="0"/>
              </a:rPr>
              <a:t>    }</a:t>
            </a:r>
          </a:p>
          <a:p>
            <a:pPr algn="just"/>
            <a:r>
              <a:rPr lang="en-US" sz="1700" dirty="0">
                <a:latin typeface="Comic Sans MS" panose="030F0702030302020204" pitchFamily="66" charset="0"/>
              </a:rPr>
              <a:t>}</a:t>
            </a:r>
          </a:p>
          <a:p>
            <a:pPr algn="just"/>
            <a:endParaRPr lang="en-US" sz="1700" dirty="0">
              <a:latin typeface="Comic Sans MS" panose="030F0702030302020204" pitchFamily="66" charset="0"/>
            </a:endParaRPr>
          </a:p>
          <a:p>
            <a:pPr algn="just"/>
            <a:r>
              <a:rPr lang="en-US" sz="1700" dirty="0">
                <a:latin typeface="Comic Sans MS" panose="030F0702030302020204" pitchFamily="66" charset="0"/>
              </a:rPr>
              <a:t>class Dog implements Animal {</a:t>
            </a:r>
          </a:p>
          <a:p>
            <a:pPr algn="just"/>
            <a:r>
              <a:rPr lang="en-US" sz="1700" dirty="0">
                <a:latin typeface="Comic Sans MS" panose="030F0702030302020204" pitchFamily="66" charset="0"/>
              </a:rPr>
              <a:t>    @Override</a:t>
            </a:r>
          </a:p>
          <a:p>
            <a:pPr algn="just"/>
            <a:r>
              <a:rPr lang="en-US" sz="1700" dirty="0">
                <a:latin typeface="Comic Sans MS" panose="030F0702030302020204" pitchFamily="66" charset="0"/>
              </a:rPr>
              <a:t>    public void sleep() {</a:t>
            </a:r>
          </a:p>
          <a:p>
            <a:pPr algn="just"/>
            <a:r>
              <a:rPr lang="en-US" sz="1700" dirty="0">
                <a:latin typeface="Comic Sans MS" panose="030F0702030302020204" pitchFamily="66" charset="0"/>
              </a:rPr>
              <a:t>        </a:t>
            </a:r>
            <a:r>
              <a:rPr lang="en-US" sz="1700" dirty="0" err="1">
                <a:latin typeface="Comic Sans MS" panose="030F0702030302020204" pitchFamily="66" charset="0"/>
              </a:rPr>
              <a:t>System.out.println</a:t>
            </a:r>
            <a:r>
              <a:rPr lang="en-US" sz="1700" dirty="0">
                <a:latin typeface="Comic Sans MS" panose="030F0702030302020204" pitchFamily="66" charset="0"/>
              </a:rPr>
              <a:t>("The dog is sleeping in its bed.");</a:t>
            </a:r>
          </a:p>
          <a:p>
            <a:pPr algn="just"/>
            <a:r>
              <a:rPr lang="en-US" sz="1700" dirty="0">
                <a:latin typeface="Comic Sans MS" panose="030F0702030302020204" pitchFamily="66" charset="0"/>
              </a:rPr>
              <a:t>    }</a:t>
            </a:r>
          </a:p>
          <a:p>
            <a:pPr algn="just"/>
            <a:r>
              <a:rPr lang="en-US" sz="1700" dirty="0">
                <a:latin typeface="Comic Sans MS" panose="030F0702030302020204" pitchFamily="66" charset="0"/>
              </a:rPr>
              <a:t>}</a:t>
            </a:r>
          </a:p>
          <a:p>
            <a:pPr algn="just"/>
            <a:endParaRPr lang="en-US" sz="1700" dirty="0">
              <a:latin typeface="Comic Sans MS" panose="030F0702030302020204" pitchFamily="66" charset="0"/>
            </a:endParaRPr>
          </a:p>
          <a:p>
            <a:pPr algn="just"/>
            <a:r>
              <a:rPr lang="en-US" sz="1700" dirty="0">
                <a:latin typeface="Comic Sans MS" panose="030F0702030302020204" pitchFamily="66" charset="0"/>
              </a:rPr>
              <a:t>class Main {</a:t>
            </a:r>
          </a:p>
          <a:p>
            <a:pPr algn="just"/>
            <a:r>
              <a:rPr lang="en-US" sz="1700" dirty="0">
                <a:latin typeface="Comic Sans MS" panose="030F0702030302020204" pitchFamily="66" charset="0"/>
              </a:rPr>
              <a:t>    public static void main(String[] </a:t>
            </a:r>
            <a:r>
              <a:rPr lang="en-US" sz="1700" dirty="0" err="1">
                <a:latin typeface="Comic Sans MS" panose="030F0702030302020204" pitchFamily="66" charset="0"/>
              </a:rPr>
              <a:t>args</a:t>
            </a:r>
            <a:r>
              <a:rPr lang="en-US" sz="1700" dirty="0">
                <a:latin typeface="Comic Sans MS" panose="030F0702030302020204" pitchFamily="66" charset="0"/>
              </a:rPr>
              <a:t>) {</a:t>
            </a:r>
          </a:p>
          <a:p>
            <a:pPr algn="just"/>
            <a:r>
              <a:rPr lang="en-US" sz="1700" dirty="0">
                <a:latin typeface="Comic Sans MS" panose="030F0702030302020204" pitchFamily="66" charset="0"/>
              </a:rPr>
              <a:t>        Animal </a:t>
            </a:r>
            <a:r>
              <a:rPr lang="en-US" sz="1700" dirty="0" err="1">
                <a:latin typeface="Comic Sans MS" panose="030F0702030302020204" pitchFamily="66" charset="0"/>
              </a:rPr>
              <a:t>animal</a:t>
            </a:r>
            <a:r>
              <a:rPr lang="en-US" sz="1700" dirty="0">
                <a:latin typeface="Comic Sans MS" panose="030F0702030302020204" pitchFamily="66" charset="0"/>
              </a:rPr>
              <a:t> = new Dog();</a:t>
            </a:r>
          </a:p>
          <a:p>
            <a:pPr algn="just"/>
            <a:r>
              <a:rPr lang="en-US" sz="1700" dirty="0">
                <a:latin typeface="Comic Sans MS" panose="030F0702030302020204" pitchFamily="66" charset="0"/>
              </a:rPr>
              <a:t>        </a:t>
            </a:r>
            <a:r>
              <a:rPr lang="en-US" sz="1700" dirty="0" err="1">
                <a:latin typeface="Comic Sans MS" panose="030F0702030302020204" pitchFamily="66" charset="0"/>
              </a:rPr>
              <a:t>animal.sleep</a:t>
            </a:r>
            <a:r>
              <a:rPr lang="en-US" sz="1700" dirty="0">
                <a:latin typeface="Comic Sans MS" panose="030F0702030302020204" pitchFamily="66" charset="0"/>
              </a:rPr>
              <a:t>();  // Output: The dog is sleeping in its bed.</a:t>
            </a:r>
          </a:p>
          <a:p>
            <a:pPr algn="just"/>
            <a:r>
              <a:rPr lang="en-US" sz="1700" dirty="0">
                <a:latin typeface="Comic Sans MS" panose="030F0702030302020204" pitchFamily="66" charset="0"/>
              </a:rPr>
              <a:t>    }</a:t>
            </a:r>
          </a:p>
          <a:p>
            <a:pPr algn="just"/>
            <a:r>
              <a:rPr lang="en-US" sz="17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795652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09A9E-D349-4D4B-BB6A-D2A695B8DB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1466FAD-F988-2F20-C5AB-DE1FBFBCE7E6}"/>
              </a:ext>
            </a:extLst>
          </p:cNvPr>
          <p:cNvSpPr/>
          <p:nvPr/>
        </p:nvSpPr>
        <p:spPr>
          <a:xfrm>
            <a:off x="430923" y="210208"/>
            <a:ext cx="10930759" cy="523220"/>
          </a:xfrm>
          <a:prstGeom prst="rect">
            <a:avLst/>
          </a:prstGeom>
        </p:spPr>
        <p:txBody>
          <a:bodyPr wrap="square">
            <a:spAutoFit/>
          </a:bodyPr>
          <a:lstStyle/>
          <a:p>
            <a:pPr lvl="1" algn="ctr"/>
            <a:r>
              <a:rPr lang="en-US" sz="2800" dirty="0">
                <a:solidFill>
                  <a:srgbClr val="FF0000"/>
                </a:solidFill>
                <a:latin typeface="Comic Sans MS" panose="030F0702030302020204" pitchFamily="66" charset="0"/>
              </a:rPr>
              <a:t>Default Method Overriding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FBBDA256-2AD7-1AC4-38C9-1BF8B8A1409A}"/>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B586399E-EAA8-11EC-442E-4E4B4A1E86A1}"/>
              </a:ext>
            </a:extLst>
          </p:cNvPr>
          <p:cNvSpPr txBox="1"/>
          <p:nvPr/>
        </p:nvSpPr>
        <p:spPr>
          <a:xfrm>
            <a:off x="558998" y="783756"/>
            <a:ext cx="10930759" cy="5940088"/>
          </a:xfrm>
          <a:prstGeom prst="rect">
            <a:avLst/>
          </a:prstGeom>
          <a:noFill/>
        </p:spPr>
        <p:txBody>
          <a:bodyPr wrap="square">
            <a:spAutoFit/>
          </a:bodyPr>
          <a:lstStyle/>
          <a:p>
            <a:r>
              <a:rPr lang="en-US" sz="2000" b="1" dirty="0">
                <a:latin typeface="Comic Sans MS" panose="030F0702030302020204" pitchFamily="66" charset="0"/>
              </a:rPr>
              <a:t>Key Points About Interfaces:</a:t>
            </a:r>
          </a:p>
          <a:p>
            <a:pPr>
              <a:buFont typeface="+mj-lt"/>
              <a:buAutoNum type="arabicPeriod"/>
            </a:pPr>
            <a:r>
              <a:rPr lang="en-US" sz="2000" b="1" dirty="0">
                <a:latin typeface="Comic Sans MS" panose="030F0702030302020204" pitchFamily="66" charset="0"/>
              </a:rPr>
              <a:t>Abstract Methods</a:t>
            </a:r>
            <a:r>
              <a:rPr lang="en-US" sz="2000" dirty="0">
                <a:latin typeface="Comic Sans MS" panose="030F0702030302020204" pitchFamily="66" charset="0"/>
              </a:rPr>
              <a:t>:</a:t>
            </a:r>
          </a:p>
          <a:p>
            <a:pPr marL="742950" lvl="1" indent="-285750">
              <a:buFont typeface="+mj-lt"/>
              <a:buAutoNum type="arabicPeriod"/>
            </a:pPr>
            <a:r>
              <a:rPr lang="en-US" sz="2000" dirty="0">
                <a:latin typeface="Comic Sans MS" panose="030F0702030302020204" pitchFamily="66" charset="0"/>
              </a:rPr>
              <a:t>Interfaces can define abstract methods, which are methods without a body. These methods must be implemented by any class that implements the interface.</a:t>
            </a:r>
          </a:p>
          <a:p>
            <a:pPr>
              <a:buFont typeface="+mj-lt"/>
              <a:buAutoNum type="arabicPeriod"/>
            </a:pPr>
            <a:r>
              <a:rPr lang="en-US" sz="2000" b="1" dirty="0">
                <a:latin typeface="Comic Sans MS" panose="030F0702030302020204" pitchFamily="66" charset="0"/>
              </a:rPr>
              <a:t>Default Methods (Java 8 and later)</a:t>
            </a:r>
            <a:r>
              <a:rPr lang="en-US" sz="2000" dirty="0">
                <a:latin typeface="Comic Sans MS" panose="030F0702030302020204" pitchFamily="66" charset="0"/>
              </a:rPr>
              <a:t>:</a:t>
            </a:r>
          </a:p>
          <a:p>
            <a:pPr marL="742950" lvl="1" indent="-285750">
              <a:buFont typeface="+mj-lt"/>
              <a:buAutoNum type="arabicPeriod"/>
            </a:pPr>
            <a:r>
              <a:rPr lang="en-US" sz="2000" dirty="0">
                <a:latin typeface="Comic Sans MS" panose="030F0702030302020204" pitchFamily="66" charset="0"/>
              </a:rPr>
              <a:t>Default methods allow you to add behavior to interfaces without affecting the classes that implement the interface. They provide a default implementation.</a:t>
            </a:r>
          </a:p>
          <a:p>
            <a:pPr marL="742950" lvl="1" indent="-285750">
              <a:buFont typeface="+mj-lt"/>
              <a:buAutoNum type="arabicPeriod"/>
            </a:pPr>
            <a:r>
              <a:rPr lang="en-US" sz="2000" dirty="0">
                <a:latin typeface="Comic Sans MS" panose="030F0702030302020204" pitchFamily="66" charset="0"/>
              </a:rPr>
              <a:t>A class that implements the interface can override the default method if it needs a custom implementation.</a:t>
            </a:r>
          </a:p>
          <a:p>
            <a:pPr>
              <a:buFont typeface="+mj-lt"/>
              <a:buAutoNum type="arabicPeriod"/>
            </a:pPr>
            <a:r>
              <a:rPr lang="en-US" sz="2000" b="1" dirty="0">
                <a:latin typeface="Comic Sans MS" panose="030F0702030302020204" pitchFamily="66" charset="0"/>
              </a:rPr>
              <a:t>Static Methods</a:t>
            </a:r>
            <a:r>
              <a:rPr lang="en-US" sz="2000" dirty="0">
                <a:latin typeface="Comic Sans MS" panose="030F0702030302020204" pitchFamily="66" charset="0"/>
              </a:rPr>
              <a:t>:</a:t>
            </a:r>
          </a:p>
          <a:p>
            <a:pPr marL="742950" lvl="1" indent="-285750">
              <a:buFont typeface="+mj-lt"/>
              <a:buAutoNum type="arabicPeriod"/>
            </a:pPr>
            <a:r>
              <a:rPr lang="en-US" sz="2000" dirty="0">
                <a:latin typeface="Comic Sans MS" panose="030F0702030302020204" pitchFamily="66" charset="0"/>
              </a:rPr>
              <a:t>Interfaces can have static methods that are called on the interface itself, not on instances of implementing classes.</a:t>
            </a:r>
          </a:p>
          <a:p>
            <a:pPr marL="742950" lvl="1" indent="-285750">
              <a:buFont typeface="+mj-lt"/>
              <a:buAutoNum type="arabicPeriod"/>
            </a:pPr>
            <a:r>
              <a:rPr lang="en-US" sz="2000" dirty="0">
                <a:latin typeface="Comic Sans MS" panose="030F0702030302020204" pitchFamily="66" charset="0"/>
              </a:rPr>
              <a:t>Static methods in interfaces are not inherited by implementing classes.</a:t>
            </a:r>
          </a:p>
          <a:p>
            <a:pPr>
              <a:buFont typeface="+mj-lt"/>
              <a:buAutoNum type="arabicPeriod"/>
            </a:pPr>
            <a:r>
              <a:rPr lang="en-US" sz="2000" b="1" dirty="0">
                <a:latin typeface="Comic Sans MS" panose="030F0702030302020204" pitchFamily="66" charset="0"/>
              </a:rPr>
              <a:t>Multiple Inheritance</a:t>
            </a:r>
            <a:r>
              <a:rPr lang="en-US" sz="2000" dirty="0">
                <a:latin typeface="Comic Sans MS" panose="030F0702030302020204" pitchFamily="66" charset="0"/>
              </a:rPr>
              <a:t>:</a:t>
            </a:r>
          </a:p>
          <a:p>
            <a:pPr marL="742950" lvl="1" indent="-285750">
              <a:buFont typeface="+mj-lt"/>
              <a:buAutoNum type="arabicPeriod"/>
            </a:pPr>
            <a:r>
              <a:rPr lang="en-US" sz="2000" dirty="0">
                <a:latin typeface="Comic Sans MS" panose="030F0702030302020204" pitchFamily="66" charset="0"/>
              </a:rPr>
              <a:t>A class can implement multiple interfaces. This allows Java to simulate multiple inheritance of behavior, even though a class can only inherit from one superclass.</a:t>
            </a:r>
          </a:p>
          <a:p>
            <a:pPr>
              <a:buFont typeface="+mj-lt"/>
              <a:buAutoNum type="arabicPeriod"/>
            </a:pPr>
            <a:r>
              <a:rPr lang="en-US" sz="2000" b="1" dirty="0">
                <a:latin typeface="Comic Sans MS" panose="030F0702030302020204" pitchFamily="66" charset="0"/>
              </a:rPr>
              <a:t>No Constructors</a:t>
            </a:r>
            <a:r>
              <a:rPr lang="en-US" sz="2000" dirty="0">
                <a:latin typeface="Comic Sans MS" panose="030F0702030302020204" pitchFamily="66" charset="0"/>
              </a:rPr>
              <a:t>:</a:t>
            </a:r>
          </a:p>
          <a:p>
            <a:pPr marL="742950" lvl="1" indent="-285750">
              <a:buFont typeface="+mj-lt"/>
              <a:buAutoNum type="arabicPeriod"/>
            </a:pPr>
            <a:r>
              <a:rPr lang="en-US" sz="2000" dirty="0">
                <a:latin typeface="Comic Sans MS" panose="030F0702030302020204" pitchFamily="66" charset="0"/>
              </a:rPr>
              <a:t>You cannot instantiate an interface directly because it cannot have a constructor.</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2088101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1569A-D878-9F63-08EE-DAEB44B08E0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2E43C5A-9FEC-E1AE-3AB5-3376EF88E628}"/>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Exception Handling</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20BE1CFB-F6A2-FB20-B1D5-B6159DDF540A}"/>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33003756-B010-C357-CA98-19C932431DBA}"/>
              </a:ext>
            </a:extLst>
          </p:cNvPr>
          <p:cNvSpPr txBox="1"/>
          <p:nvPr/>
        </p:nvSpPr>
        <p:spPr>
          <a:xfrm>
            <a:off x="558998" y="783756"/>
            <a:ext cx="10930759" cy="5909310"/>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Comic Sans MS" panose="030F0702030302020204" pitchFamily="66" charset="0"/>
              </a:rPr>
              <a:t>Exception handling is a mechanism that allows a program to handle runtime errors, such as dividing by zero, file not found, or null pointer exceptions, without crashing the program.</a:t>
            </a:r>
          </a:p>
          <a:p>
            <a:pPr marL="285750" indent="-285750" algn="just">
              <a:buFont typeface="Wingdings" panose="05000000000000000000" pitchFamily="2" charset="2"/>
              <a:buChar char="Ø"/>
            </a:pPr>
            <a:endParaRPr lang="en-US" dirty="0">
              <a:latin typeface="Comic Sans MS" panose="030F0702030302020204" pitchFamily="66" charset="0"/>
            </a:endParaRPr>
          </a:p>
          <a:p>
            <a:pPr marL="285750" indent="-285750" algn="just">
              <a:buFont typeface="Wingdings" panose="05000000000000000000" pitchFamily="2" charset="2"/>
              <a:buChar char="Ø"/>
            </a:pPr>
            <a:r>
              <a:rPr lang="en-US" dirty="0">
                <a:latin typeface="Comic Sans MS" panose="030F0702030302020204" pitchFamily="66" charset="0"/>
              </a:rPr>
              <a:t>When executing Java code, different errors can occur: coding errors made by the programmer, errors due to wrong input, or other unforeseeable things.</a:t>
            </a:r>
          </a:p>
          <a:p>
            <a:pPr marL="285750" indent="-285750" algn="just">
              <a:buFont typeface="Wingdings" panose="05000000000000000000" pitchFamily="2" charset="2"/>
              <a:buChar char="Ø"/>
            </a:pPr>
            <a:endParaRPr lang="en-US" dirty="0">
              <a:latin typeface="Comic Sans MS" panose="030F0702030302020204" pitchFamily="66" charset="0"/>
            </a:endParaRPr>
          </a:p>
          <a:p>
            <a:pPr marL="285750" indent="-285750" algn="just">
              <a:buFont typeface="Wingdings" panose="05000000000000000000" pitchFamily="2" charset="2"/>
              <a:buChar char="Ø"/>
            </a:pPr>
            <a:r>
              <a:rPr lang="en-US" dirty="0">
                <a:latin typeface="Comic Sans MS" panose="030F0702030302020204" pitchFamily="66" charset="0"/>
              </a:rPr>
              <a:t>When an error occurs, Java will normally stop and generate an error message. The technical term for this is: Java will throw an exception (throw an error).</a:t>
            </a:r>
          </a:p>
          <a:p>
            <a:pPr marL="285750" indent="-285750" algn="just">
              <a:buFont typeface="Wingdings" panose="05000000000000000000" pitchFamily="2" charset="2"/>
              <a:buChar char="Ø"/>
            </a:pPr>
            <a:endParaRPr lang="en-US" dirty="0">
              <a:latin typeface="Comic Sans MS" panose="030F0702030302020204" pitchFamily="66" charset="0"/>
            </a:endParaRPr>
          </a:p>
          <a:p>
            <a:pPr marL="285750" indent="-285750" algn="just">
              <a:buFont typeface="Wingdings" panose="05000000000000000000" pitchFamily="2" charset="2"/>
              <a:buChar char="Ø"/>
            </a:pPr>
            <a:r>
              <a:rPr lang="en-US" dirty="0">
                <a:latin typeface="Comic Sans MS" panose="030F0702030302020204" pitchFamily="66" charset="0"/>
              </a:rPr>
              <a:t> In Java, exceptions are objects that are instances of the Throwable class (or its subclasses). Java provides a robust mechanism to handle exceptions using try, catch, throw, throws, and finally.</a:t>
            </a:r>
          </a:p>
          <a:p>
            <a:pPr algn="just"/>
            <a:endParaRPr lang="en-US" dirty="0">
              <a:latin typeface="Comic Sans MS" panose="030F0702030302020204" pitchFamily="66" charset="0"/>
            </a:endParaRPr>
          </a:p>
          <a:p>
            <a:pPr algn="just"/>
            <a:r>
              <a:rPr lang="en-US" dirty="0">
                <a:solidFill>
                  <a:srgbClr val="FF0000"/>
                </a:solidFill>
                <a:latin typeface="Comic Sans MS" panose="030F0702030302020204" pitchFamily="66" charset="0"/>
              </a:rPr>
              <a:t>Key Components of Exception Handling in Java</a:t>
            </a:r>
          </a:p>
          <a:p>
            <a:pPr marL="285750" indent="-285750" algn="just">
              <a:buFont typeface="Wingdings" panose="05000000000000000000" pitchFamily="2" charset="2"/>
              <a:buChar char="Ø"/>
            </a:pPr>
            <a:r>
              <a:rPr lang="en-US" dirty="0">
                <a:latin typeface="Comic Sans MS" panose="030F0702030302020204" pitchFamily="66" charset="0"/>
              </a:rPr>
              <a:t>The try statement allows you to define a block of code to be tested for errors while it is being executed.</a:t>
            </a:r>
          </a:p>
          <a:p>
            <a:pPr marL="285750" indent="-285750" algn="just">
              <a:buFont typeface="Wingdings" panose="05000000000000000000" pitchFamily="2" charset="2"/>
              <a:buChar char="Ø"/>
            </a:pPr>
            <a:r>
              <a:rPr lang="en-US" dirty="0">
                <a:latin typeface="Comic Sans MS" panose="030F0702030302020204" pitchFamily="66" charset="0"/>
              </a:rPr>
              <a:t>The catch statement allows you to define a block of code to be executed, if an error occurs in the try block.</a:t>
            </a:r>
          </a:p>
          <a:p>
            <a:pPr marL="285750" indent="-285750" algn="just">
              <a:buFont typeface="Wingdings" panose="05000000000000000000" pitchFamily="2" charset="2"/>
              <a:buChar char="Ø"/>
            </a:pPr>
            <a:r>
              <a:rPr lang="en-US" dirty="0">
                <a:latin typeface="Comic Sans MS" panose="030F0702030302020204" pitchFamily="66" charset="0"/>
              </a:rPr>
              <a:t>throw keyword: This is used to explicitly throw an exception from your code.</a:t>
            </a:r>
          </a:p>
          <a:p>
            <a:pPr marL="285750" indent="-285750" algn="just">
              <a:buFont typeface="Wingdings" panose="05000000000000000000" pitchFamily="2" charset="2"/>
              <a:buChar char="Ø"/>
            </a:pPr>
            <a:r>
              <a:rPr lang="en-US" dirty="0">
                <a:latin typeface="Comic Sans MS" panose="030F0702030302020204" pitchFamily="66" charset="0"/>
              </a:rPr>
              <a:t>finally block: This block is used to execute code that must run regardless of whether an exception was thrown or not (e.g., closing files or database connections).</a:t>
            </a:r>
          </a:p>
        </p:txBody>
      </p:sp>
    </p:spTree>
    <p:extLst>
      <p:ext uri="{BB962C8B-B14F-4D97-AF65-F5344CB8AC3E}">
        <p14:creationId xmlns:p14="http://schemas.microsoft.com/office/powerpoint/2010/main" val="34826403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8265-493B-180E-E612-2953F61B17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AAE4405-4576-CAB5-4AB3-4EED747FF36D}"/>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Types of Exceptions in Java</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AD9EF72C-02AD-7816-B6E7-080ED806E179}"/>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ABAED08D-932C-4DDA-E8EA-2B9DA6C75B83}"/>
              </a:ext>
            </a:extLst>
          </p:cNvPr>
          <p:cNvSpPr txBox="1"/>
          <p:nvPr/>
        </p:nvSpPr>
        <p:spPr>
          <a:xfrm>
            <a:off x="558998" y="783756"/>
            <a:ext cx="10930759" cy="7017306"/>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Comic Sans MS" panose="030F0702030302020204" pitchFamily="66" charset="0"/>
              </a:rPr>
              <a:t>Exception handling is a mechanism that allows a program to handle runtime errors, such as dividing by zero, file not found, or null pointer exceptions, without crashing the program.</a:t>
            </a:r>
          </a:p>
          <a:p>
            <a:pPr algn="just"/>
            <a:endParaRPr lang="en-US" dirty="0">
              <a:latin typeface="Comic Sans MS" panose="030F0702030302020204" pitchFamily="66" charset="0"/>
            </a:endParaRPr>
          </a:p>
          <a:p>
            <a:pPr marL="285750" indent="-285750" algn="just">
              <a:buFont typeface="Wingdings" panose="05000000000000000000" pitchFamily="2" charset="2"/>
              <a:buChar char="Ø"/>
            </a:pPr>
            <a:r>
              <a:rPr lang="en-US" dirty="0">
                <a:latin typeface="Comic Sans MS" panose="030F0702030302020204" pitchFamily="66" charset="0"/>
              </a:rPr>
              <a:t>There are many exception types available in Java: </a:t>
            </a:r>
            <a:r>
              <a:rPr lang="en-US" dirty="0" err="1">
                <a:latin typeface="Comic Sans MS" panose="030F0702030302020204" pitchFamily="66" charset="0"/>
              </a:rPr>
              <a:t>ArithmeticException</a:t>
            </a:r>
            <a:r>
              <a:rPr lang="en-US" dirty="0">
                <a:latin typeface="Comic Sans MS" panose="030F0702030302020204" pitchFamily="66" charset="0"/>
              </a:rPr>
              <a:t>, </a:t>
            </a:r>
            <a:r>
              <a:rPr lang="en-US" dirty="0" err="1">
                <a:latin typeface="Comic Sans MS" panose="030F0702030302020204" pitchFamily="66" charset="0"/>
              </a:rPr>
              <a:t>FileNotFoundException</a:t>
            </a:r>
            <a:r>
              <a:rPr lang="en-US" dirty="0">
                <a:latin typeface="Comic Sans MS" panose="030F0702030302020204" pitchFamily="66" charset="0"/>
              </a:rPr>
              <a:t>, </a:t>
            </a:r>
            <a:r>
              <a:rPr lang="en-US" dirty="0" err="1">
                <a:latin typeface="Comic Sans MS" panose="030F0702030302020204" pitchFamily="66" charset="0"/>
              </a:rPr>
              <a:t>ArrayIndexOutOfBoundsException</a:t>
            </a:r>
            <a:r>
              <a:rPr lang="en-US" dirty="0">
                <a:latin typeface="Comic Sans MS" panose="030F0702030302020204" pitchFamily="66" charset="0"/>
              </a:rPr>
              <a:t>, </a:t>
            </a:r>
            <a:r>
              <a:rPr lang="en-US" dirty="0" err="1">
                <a:latin typeface="Comic Sans MS" panose="030F0702030302020204" pitchFamily="66" charset="0"/>
              </a:rPr>
              <a:t>SecurityException</a:t>
            </a:r>
            <a:r>
              <a:rPr lang="en-US" dirty="0">
                <a:latin typeface="Comic Sans MS" panose="030F0702030302020204" pitchFamily="66" charset="0"/>
              </a:rPr>
              <a:t>, </a:t>
            </a:r>
            <a:r>
              <a:rPr lang="en-US" dirty="0" err="1">
                <a:latin typeface="Comic Sans MS" panose="030F0702030302020204" pitchFamily="66" charset="0"/>
              </a:rPr>
              <a:t>etc</a:t>
            </a:r>
            <a:r>
              <a:rPr lang="en-US" dirty="0">
                <a:latin typeface="Comic Sans MS" panose="030F0702030302020204" pitchFamily="66" charset="0"/>
              </a:rPr>
              <a:t>:</a:t>
            </a:r>
          </a:p>
          <a:p>
            <a:pPr algn="just"/>
            <a:endParaRPr lang="en-US" dirty="0">
              <a:latin typeface="Comic Sans MS" panose="030F0702030302020204" pitchFamily="66" charset="0"/>
            </a:endParaRPr>
          </a:p>
          <a:p>
            <a:pPr marL="285750" indent="-285750" algn="just">
              <a:buFont typeface="Wingdings" panose="05000000000000000000" pitchFamily="2" charset="2"/>
              <a:buChar char="Ø"/>
            </a:pPr>
            <a:r>
              <a:rPr lang="en-US" dirty="0">
                <a:latin typeface="Comic Sans MS" panose="030F0702030302020204" pitchFamily="66" charset="0"/>
              </a:rPr>
              <a:t>Basic Structure of Exception </a:t>
            </a:r>
            <a:r>
              <a:rPr lang="en-US" dirty="0" err="1">
                <a:latin typeface="Comic Sans MS" panose="030F0702030302020204" pitchFamily="66" charset="0"/>
              </a:rPr>
              <a:t>HandlingHere’s</a:t>
            </a:r>
            <a:r>
              <a:rPr lang="en-US" dirty="0">
                <a:latin typeface="Comic Sans MS" panose="030F0702030302020204" pitchFamily="66" charset="0"/>
              </a:rPr>
              <a:t> a basic example that demonstrates the use of try, catch, and finally blocks:</a:t>
            </a:r>
          </a:p>
          <a:p>
            <a:pPr algn="just"/>
            <a:endParaRPr lang="en-US" dirty="0">
              <a:latin typeface="Comic Sans MS" panose="030F0702030302020204" pitchFamily="66" charset="0"/>
            </a:endParaRPr>
          </a:p>
          <a:p>
            <a:pPr algn="just"/>
            <a:r>
              <a:rPr lang="en-US" dirty="0">
                <a:latin typeface="Comic Sans MS" panose="030F0702030302020204" pitchFamily="66" charset="0"/>
              </a:rPr>
              <a:t>public class </a:t>
            </a:r>
            <a:r>
              <a:rPr lang="en-US" dirty="0" err="1">
                <a:latin typeface="Comic Sans MS" panose="030F0702030302020204" pitchFamily="66" charset="0"/>
              </a:rPr>
              <a:t>ExceptionExample</a:t>
            </a:r>
            <a:r>
              <a:rPr lang="en-US" dirty="0">
                <a:latin typeface="Comic Sans MS" panose="030F0702030302020204" pitchFamily="66" charset="0"/>
              </a:rPr>
              <a:t> {</a:t>
            </a:r>
          </a:p>
          <a:p>
            <a:pPr algn="just"/>
            <a:r>
              <a:rPr lang="en-US" dirty="0">
                <a:latin typeface="Comic Sans MS" panose="030F0702030302020204" pitchFamily="66" charset="0"/>
              </a:rPr>
              <a:t>    public static void main(String[] </a:t>
            </a:r>
            <a:r>
              <a:rPr lang="en-US" dirty="0" err="1">
                <a:latin typeface="Comic Sans MS" panose="030F0702030302020204" pitchFamily="66" charset="0"/>
              </a:rPr>
              <a:t>args</a:t>
            </a:r>
            <a:r>
              <a:rPr lang="en-US" dirty="0">
                <a:latin typeface="Comic Sans MS" panose="030F0702030302020204" pitchFamily="66" charset="0"/>
              </a:rPr>
              <a:t>) {</a:t>
            </a:r>
          </a:p>
          <a:p>
            <a:pPr algn="just"/>
            <a:r>
              <a:rPr lang="en-US" dirty="0">
                <a:latin typeface="Comic Sans MS" panose="030F0702030302020204" pitchFamily="66" charset="0"/>
              </a:rPr>
              <a:t>        try {</a:t>
            </a:r>
          </a:p>
          <a:p>
            <a:pPr algn="just"/>
            <a:r>
              <a:rPr lang="en-US" dirty="0">
                <a:latin typeface="Comic Sans MS" panose="030F0702030302020204" pitchFamily="66" charset="0"/>
              </a:rPr>
              <a:t>            // Code that might throw an exception</a:t>
            </a:r>
          </a:p>
          <a:p>
            <a:pPr algn="just"/>
            <a:r>
              <a:rPr lang="en-US" dirty="0">
                <a:latin typeface="Comic Sans MS" panose="030F0702030302020204" pitchFamily="66" charset="0"/>
              </a:rPr>
              <a:t>            int result = 10 / 0; // This will throw an </a:t>
            </a:r>
            <a:r>
              <a:rPr lang="en-US" dirty="0" err="1">
                <a:latin typeface="Comic Sans MS" panose="030F0702030302020204" pitchFamily="66" charset="0"/>
              </a:rPr>
              <a:t>ArithmeticException</a:t>
            </a:r>
            <a:endParaRPr lang="en-US" dirty="0">
              <a:latin typeface="Comic Sans MS" panose="030F0702030302020204" pitchFamily="66" charset="0"/>
            </a:endParaRPr>
          </a:p>
          <a:p>
            <a:pPr algn="just"/>
            <a:r>
              <a:rPr lang="en-US" dirty="0">
                <a:latin typeface="Comic Sans MS" panose="030F0702030302020204" pitchFamily="66" charset="0"/>
              </a:rPr>
              <a:t>        } catch (</a:t>
            </a:r>
            <a:r>
              <a:rPr lang="en-US" dirty="0" err="1">
                <a:latin typeface="Comic Sans MS" panose="030F0702030302020204" pitchFamily="66" charset="0"/>
              </a:rPr>
              <a:t>ArithmeticException</a:t>
            </a:r>
            <a:r>
              <a:rPr lang="en-US" dirty="0">
                <a:latin typeface="Comic Sans MS" panose="030F0702030302020204" pitchFamily="66" charset="0"/>
              </a:rPr>
              <a:t> e) {</a:t>
            </a:r>
          </a:p>
          <a:p>
            <a:pPr algn="just"/>
            <a:r>
              <a:rPr lang="en-US" dirty="0">
                <a:latin typeface="Comic Sans MS" panose="030F0702030302020204" pitchFamily="66" charset="0"/>
              </a:rPr>
              <a:t>            // Handle </a:t>
            </a:r>
            <a:r>
              <a:rPr lang="en-US" dirty="0" err="1">
                <a:latin typeface="Comic Sans MS" panose="030F0702030302020204" pitchFamily="66" charset="0"/>
              </a:rPr>
              <a:t>ArithmeticException</a:t>
            </a:r>
            <a:endParaRPr lang="en-US" dirty="0">
              <a:latin typeface="Comic Sans MS" panose="030F0702030302020204" pitchFamily="66" charset="0"/>
            </a:endParaRPr>
          </a:p>
          <a:p>
            <a:pPr algn="just"/>
            <a:r>
              <a:rPr lang="en-US" dirty="0">
                <a:latin typeface="Comic Sans MS" panose="030F0702030302020204" pitchFamily="66" charset="0"/>
              </a:rPr>
              <a:t>            </a:t>
            </a:r>
            <a:r>
              <a:rPr lang="en-US" dirty="0" err="1">
                <a:latin typeface="Comic Sans MS" panose="030F0702030302020204" pitchFamily="66" charset="0"/>
              </a:rPr>
              <a:t>System.out.println</a:t>
            </a:r>
            <a:r>
              <a:rPr lang="en-US" dirty="0">
                <a:latin typeface="Comic Sans MS" panose="030F0702030302020204" pitchFamily="66" charset="0"/>
              </a:rPr>
              <a:t>("Error: Cannot divide by zero");</a:t>
            </a:r>
          </a:p>
          <a:p>
            <a:pPr algn="just"/>
            <a:r>
              <a:rPr lang="en-US" dirty="0">
                <a:latin typeface="Comic Sans MS" panose="030F0702030302020204" pitchFamily="66" charset="0"/>
              </a:rPr>
              <a:t>        } finally {</a:t>
            </a:r>
          </a:p>
          <a:p>
            <a:pPr algn="just"/>
            <a:r>
              <a:rPr lang="en-US" dirty="0">
                <a:latin typeface="Comic Sans MS" panose="030F0702030302020204" pitchFamily="66" charset="0"/>
              </a:rPr>
              <a:t>            // Code that will always execute, regardless of exception</a:t>
            </a:r>
          </a:p>
          <a:p>
            <a:pPr algn="just"/>
            <a:r>
              <a:rPr lang="en-US" dirty="0">
                <a:latin typeface="Comic Sans MS" panose="030F0702030302020204" pitchFamily="66" charset="0"/>
              </a:rPr>
              <a:t>            </a:t>
            </a:r>
            <a:r>
              <a:rPr lang="en-US" dirty="0" err="1">
                <a:latin typeface="Comic Sans MS" panose="030F0702030302020204" pitchFamily="66" charset="0"/>
              </a:rPr>
              <a:t>System.out.println</a:t>
            </a:r>
            <a:r>
              <a:rPr lang="en-US" dirty="0">
                <a:latin typeface="Comic Sans MS" panose="030F0702030302020204" pitchFamily="66" charset="0"/>
              </a:rPr>
              <a:t>("This block will always execute.");</a:t>
            </a:r>
          </a:p>
          <a:p>
            <a:pPr algn="just"/>
            <a:r>
              <a:rPr lang="en-US" dirty="0">
                <a:latin typeface="Comic Sans MS" panose="030F0702030302020204" pitchFamily="66" charset="0"/>
              </a:rPr>
              <a:t>        }</a:t>
            </a:r>
          </a:p>
          <a:p>
            <a:pPr algn="just"/>
            <a:r>
              <a:rPr lang="en-US" dirty="0">
                <a:latin typeface="Comic Sans MS" panose="030F0702030302020204" pitchFamily="66" charset="0"/>
              </a:rPr>
              <a:t>    }</a:t>
            </a:r>
          </a:p>
          <a:p>
            <a:pPr algn="just"/>
            <a:r>
              <a:rPr lang="en-US" dirty="0">
                <a:latin typeface="Comic Sans MS" panose="030F0702030302020204" pitchFamily="66" charset="0"/>
              </a:rPr>
              <a:t>}</a:t>
            </a:r>
          </a:p>
          <a:p>
            <a:pPr algn="just"/>
            <a:endParaRPr lang="en-US" dirty="0">
              <a:latin typeface="Comic Sans MS" panose="030F0702030302020204" pitchFamily="66" charset="0"/>
            </a:endParaRPr>
          </a:p>
          <a:p>
            <a:pPr algn="just"/>
            <a:endParaRPr lang="en-US" dirty="0">
              <a:latin typeface="Comic Sans MS" panose="030F0702030302020204" pitchFamily="66" charset="0"/>
            </a:endParaRPr>
          </a:p>
        </p:txBody>
      </p:sp>
    </p:spTree>
    <p:extLst>
      <p:ext uri="{BB962C8B-B14F-4D97-AF65-F5344CB8AC3E}">
        <p14:creationId xmlns:p14="http://schemas.microsoft.com/office/powerpoint/2010/main" val="453856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BFD34-8124-1AD9-A335-B57E0D95F3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FA21F3-5F4D-7607-80E4-100B28EFE647}"/>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JDBC (Java Database Connectivity)</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98A5BE68-91C8-299C-1B9F-973A860925C5}"/>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9CBDE2FC-A49D-8AB7-9D83-E21ACF62B860}"/>
              </a:ext>
            </a:extLst>
          </p:cNvPr>
          <p:cNvSpPr txBox="1"/>
          <p:nvPr/>
        </p:nvSpPr>
        <p:spPr>
          <a:xfrm>
            <a:off x="558998" y="783756"/>
            <a:ext cx="10930759" cy="5940088"/>
          </a:xfrm>
          <a:prstGeom prst="rect">
            <a:avLst/>
          </a:prstGeom>
          <a:noFill/>
        </p:spPr>
        <p:txBody>
          <a:bodyPr wrap="square">
            <a:spAutoFit/>
          </a:bodyPr>
          <a:lstStyle/>
          <a:p>
            <a:pPr marL="342900" indent="-342900" algn="just">
              <a:buFont typeface="Wingdings" panose="05000000000000000000" pitchFamily="2" charset="2"/>
              <a:buChar char="Ø"/>
            </a:pPr>
            <a:r>
              <a:rPr lang="en-US" sz="1900" dirty="0">
                <a:latin typeface="Comic Sans MS" panose="030F0702030302020204" pitchFamily="66" charset="0"/>
              </a:rPr>
              <a:t>JDBC (Java Database Connectivity) is an API in Java that allows you to interact with databases using SQL. It provides a standard interface for connecting to relational databases, executing SQL queries, and processing the results. JDBC is part of the Java Standard API and is used to interact with various databases, such as MySQL, PostgreSQL, Oracle, SQL Server, etc.</a:t>
            </a:r>
          </a:p>
          <a:p>
            <a:pPr algn="just"/>
            <a:endParaRPr lang="en-US" sz="1900" dirty="0">
              <a:latin typeface="Comic Sans MS" panose="030F0702030302020204" pitchFamily="66" charset="0"/>
            </a:endParaRPr>
          </a:p>
          <a:p>
            <a:pPr algn="just"/>
            <a:r>
              <a:rPr lang="en-US" sz="1900" dirty="0">
                <a:solidFill>
                  <a:srgbClr val="FF0000"/>
                </a:solidFill>
                <a:latin typeface="Comic Sans MS" panose="030F0702030302020204" pitchFamily="66" charset="0"/>
              </a:rPr>
              <a:t>Steps to use JDBC in Java</a:t>
            </a:r>
          </a:p>
          <a:p>
            <a:pPr algn="just"/>
            <a:r>
              <a:rPr lang="en-US" sz="1900" dirty="0">
                <a:latin typeface="Comic Sans MS" panose="030F0702030302020204" pitchFamily="66" charset="0"/>
              </a:rPr>
              <a:t>Here are the basic steps you need to follow to use JDBC in a Java program:</a:t>
            </a:r>
          </a:p>
          <a:p>
            <a:pPr marL="342900" indent="-342900" algn="just">
              <a:buFont typeface="Wingdings" panose="05000000000000000000" pitchFamily="2" charset="2"/>
              <a:buChar char="Ø"/>
            </a:pPr>
            <a:r>
              <a:rPr lang="en-US" sz="1900" dirty="0">
                <a:latin typeface="Comic Sans MS" panose="030F0702030302020204" pitchFamily="66" charset="0"/>
              </a:rPr>
              <a:t>Load the JDBC Driver: JDBC requires the database-specific driver to be loaded.</a:t>
            </a:r>
          </a:p>
          <a:p>
            <a:pPr marL="342900" indent="-342900" algn="just">
              <a:buFont typeface="Wingdings" panose="05000000000000000000" pitchFamily="2" charset="2"/>
              <a:buChar char="Ø"/>
            </a:pPr>
            <a:r>
              <a:rPr lang="en-US" sz="1900" dirty="0">
                <a:latin typeface="Comic Sans MS" panose="030F0702030302020204" pitchFamily="66" charset="0"/>
              </a:rPr>
              <a:t>Establish a Connection: Use </a:t>
            </a:r>
            <a:r>
              <a:rPr lang="en-US" sz="1900" dirty="0" err="1">
                <a:latin typeface="Comic Sans MS" panose="030F0702030302020204" pitchFamily="66" charset="0"/>
              </a:rPr>
              <a:t>DriverManager.getConnection</a:t>
            </a:r>
            <a:r>
              <a:rPr lang="en-US" sz="1900" dirty="0">
                <a:latin typeface="Comic Sans MS" panose="030F0702030302020204" pitchFamily="66" charset="0"/>
              </a:rPr>
              <a:t>() to establish a connection to the database.</a:t>
            </a:r>
          </a:p>
          <a:p>
            <a:pPr marL="342900" indent="-342900" algn="just">
              <a:buFont typeface="Wingdings" panose="05000000000000000000" pitchFamily="2" charset="2"/>
              <a:buChar char="Ø"/>
            </a:pPr>
            <a:r>
              <a:rPr lang="en-US" sz="1900" dirty="0">
                <a:latin typeface="Comic Sans MS" panose="030F0702030302020204" pitchFamily="66" charset="0"/>
              </a:rPr>
              <a:t>Create a Statement: Use </a:t>
            </a:r>
            <a:r>
              <a:rPr lang="en-US" sz="1900" dirty="0" err="1">
                <a:latin typeface="Comic Sans MS" panose="030F0702030302020204" pitchFamily="66" charset="0"/>
              </a:rPr>
              <a:t>Connection.createStatement</a:t>
            </a:r>
            <a:r>
              <a:rPr lang="en-US" sz="1900" dirty="0">
                <a:latin typeface="Comic Sans MS" panose="030F0702030302020204" pitchFamily="66" charset="0"/>
              </a:rPr>
              <a:t>() or </a:t>
            </a:r>
            <a:r>
              <a:rPr lang="en-US" sz="1900" dirty="0" err="1">
                <a:latin typeface="Comic Sans MS" panose="030F0702030302020204" pitchFamily="66" charset="0"/>
              </a:rPr>
              <a:t>Connection.prepareStatement</a:t>
            </a:r>
            <a:r>
              <a:rPr lang="en-US" sz="1900" dirty="0">
                <a:latin typeface="Comic Sans MS" panose="030F0702030302020204" pitchFamily="66" charset="0"/>
              </a:rPr>
              <a:t>() to execute SQL queries.</a:t>
            </a:r>
          </a:p>
          <a:p>
            <a:pPr marL="342900" indent="-342900" algn="just">
              <a:buFont typeface="Wingdings" panose="05000000000000000000" pitchFamily="2" charset="2"/>
              <a:buChar char="Ø"/>
            </a:pPr>
            <a:r>
              <a:rPr lang="en-US" sz="1900" dirty="0">
                <a:latin typeface="Comic Sans MS" panose="030F0702030302020204" pitchFamily="66" charset="0"/>
              </a:rPr>
              <a:t>Execute Queries: Use methods like </a:t>
            </a:r>
            <a:r>
              <a:rPr lang="en-US" sz="1900" dirty="0" err="1">
                <a:latin typeface="Comic Sans MS" panose="030F0702030302020204" pitchFamily="66" charset="0"/>
              </a:rPr>
              <a:t>executeQuery</a:t>
            </a:r>
            <a:r>
              <a:rPr lang="en-US" sz="1900" dirty="0">
                <a:latin typeface="Comic Sans MS" panose="030F0702030302020204" pitchFamily="66" charset="0"/>
              </a:rPr>
              <a:t>() for SELECT queries or </a:t>
            </a:r>
            <a:r>
              <a:rPr lang="en-US" sz="1900" dirty="0" err="1">
                <a:latin typeface="Comic Sans MS" panose="030F0702030302020204" pitchFamily="66" charset="0"/>
              </a:rPr>
              <a:t>executeUpdate</a:t>
            </a:r>
            <a:r>
              <a:rPr lang="en-US" sz="1900" dirty="0">
                <a:latin typeface="Comic Sans MS" panose="030F0702030302020204" pitchFamily="66" charset="0"/>
              </a:rPr>
              <a:t>() for INSERT, UPDATE, and DELETE queries.</a:t>
            </a:r>
          </a:p>
          <a:p>
            <a:pPr marL="342900" indent="-342900" algn="just">
              <a:buFont typeface="Wingdings" panose="05000000000000000000" pitchFamily="2" charset="2"/>
              <a:buChar char="Ø"/>
            </a:pPr>
            <a:r>
              <a:rPr lang="en-US" sz="1900" dirty="0">
                <a:latin typeface="Comic Sans MS" panose="030F0702030302020204" pitchFamily="66" charset="0"/>
              </a:rPr>
              <a:t>Process the Results: If you are executing a SELECT query, you can process the results using </a:t>
            </a:r>
            <a:r>
              <a:rPr lang="en-US" sz="1900" dirty="0" err="1">
                <a:latin typeface="Comic Sans MS" panose="030F0702030302020204" pitchFamily="66" charset="0"/>
              </a:rPr>
              <a:t>ResultSet</a:t>
            </a:r>
            <a:r>
              <a:rPr lang="en-US" sz="1900" dirty="0">
                <a:latin typeface="Comic Sans MS" panose="030F0702030302020204" pitchFamily="66" charset="0"/>
              </a:rPr>
              <a:t>. </a:t>
            </a:r>
            <a:r>
              <a:rPr lang="en-US" sz="1900" dirty="0" err="1">
                <a:latin typeface="Comic Sans MS" panose="030F0702030302020204" pitchFamily="66" charset="0"/>
              </a:rPr>
              <a:t>executeQuery</a:t>
            </a:r>
            <a:r>
              <a:rPr lang="en-US" sz="1900" dirty="0">
                <a:latin typeface="Comic Sans MS" panose="030F0702030302020204" pitchFamily="66" charset="0"/>
              </a:rPr>
              <a:t>() returns a </a:t>
            </a:r>
            <a:r>
              <a:rPr lang="en-US" sz="1900" dirty="0" err="1">
                <a:latin typeface="Comic Sans MS" panose="030F0702030302020204" pitchFamily="66" charset="0"/>
              </a:rPr>
              <a:t>ResultSet</a:t>
            </a:r>
            <a:r>
              <a:rPr lang="en-US" sz="1900" dirty="0">
                <a:latin typeface="Comic Sans MS" panose="030F0702030302020204" pitchFamily="66" charset="0"/>
              </a:rPr>
              <a:t> object, which is used to iterate through the results. </a:t>
            </a:r>
            <a:r>
              <a:rPr lang="en-US" sz="1900" dirty="0" err="1">
                <a:latin typeface="Comic Sans MS" panose="030F0702030302020204" pitchFamily="66" charset="0"/>
              </a:rPr>
              <a:t>executeUpdate</a:t>
            </a:r>
            <a:r>
              <a:rPr lang="en-US" sz="1900">
                <a:latin typeface="Comic Sans MS" panose="030F0702030302020204" pitchFamily="66" charset="0"/>
              </a:rPr>
              <a:t>() returns an integer representing the number of affected rows.</a:t>
            </a:r>
            <a:endParaRPr lang="en-US" sz="1900" dirty="0">
              <a:latin typeface="Comic Sans MS" panose="030F0702030302020204" pitchFamily="66" charset="0"/>
            </a:endParaRPr>
          </a:p>
          <a:p>
            <a:pPr marL="342900" indent="-342900" algn="just">
              <a:buFont typeface="Wingdings" panose="05000000000000000000" pitchFamily="2" charset="2"/>
              <a:buChar char="Ø"/>
            </a:pPr>
            <a:r>
              <a:rPr lang="en-US" sz="1900" dirty="0">
                <a:latin typeface="Comic Sans MS" panose="030F0702030302020204" pitchFamily="66" charset="0"/>
              </a:rPr>
              <a:t>Close the Connection: </a:t>
            </a:r>
          </a:p>
          <a:p>
            <a:pPr marL="342900" indent="-342900" algn="just">
              <a:buFont typeface="Wingdings" panose="05000000000000000000" pitchFamily="2" charset="2"/>
              <a:buChar char="Ø"/>
            </a:pPr>
            <a:r>
              <a:rPr lang="en-US" sz="1900" dirty="0">
                <a:latin typeface="Comic Sans MS" panose="030F0702030302020204" pitchFamily="66" charset="0"/>
              </a:rPr>
              <a:t>Close the Statement, </a:t>
            </a:r>
            <a:r>
              <a:rPr lang="en-US" sz="1900" dirty="0" err="1">
                <a:latin typeface="Comic Sans MS" panose="030F0702030302020204" pitchFamily="66" charset="0"/>
              </a:rPr>
              <a:t>ResultSet</a:t>
            </a:r>
            <a:r>
              <a:rPr lang="en-US" sz="1900" dirty="0">
                <a:latin typeface="Comic Sans MS" panose="030F0702030302020204" pitchFamily="66" charset="0"/>
              </a:rPr>
              <a:t>, and Connection objects to release resources.</a:t>
            </a:r>
          </a:p>
        </p:txBody>
      </p:sp>
    </p:spTree>
    <p:extLst>
      <p:ext uri="{BB962C8B-B14F-4D97-AF65-F5344CB8AC3E}">
        <p14:creationId xmlns:p14="http://schemas.microsoft.com/office/powerpoint/2010/main" val="2692481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D53B5-5F74-2432-9633-0ED9BCBB3D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A115D7-9761-B4F6-3DF9-B1D65CF7D0AF}"/>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Multithreading and Concurrency</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D8E19BCB-4FDA-7DB0-0A20-2D6B7B577004}"/>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557A9A8F-A437-E83C-0D9E-9593E9BF7434}"/>
              </a:ext>
            </a:extLst>
          </p:cNvPr>
          <p:cNvSpPr txBox="1"/>
          <p:nvPr/>
        </p:nvSpPr>
        <p:spPr>
          <a:xfrm>
            <a:off x="558998" y="783756"/>
            <a:ext cx="10930759" cy="5632311"/>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omic Sans MS" panose="030F0702030302020204" pitchFamily="66" charset="0"/>
              </a:rPr>
              <a:t>A Thread in Java represents a single path of execution in a program. A thread can run independently, allowing your program to perform multiple tasks at the same time. By default, every Java application has one thread—the main thread, which starts execution from the main() method.</a:t>
            </a:r>
          </a:p>
          <a:p>
            <a:pPr algn="just"/>
            <a:r>
              <a:rPr lang="en-US" sz="2000" dirty="0">
                <a:solidFill>
                  <a:srgbClr val="FF0000"/>
                </a:solidFill>
                <a:latin typeface="Comic Sans MS" panose="030F0702030302020204" pitchFamily="66" charset="0"/>
              </a:rPr>
              <a:t>Key Concepts:</a:t>
            </a:r>
          </a:p>
          <a:p>
            <a:pPr marL="342900" indent="-342900" algn="just">
              <a:buFont typeface="Wingdings" panose="05000000000000000000" pitchFamily="2" charset="2"/>
              <a:buChar char="Ø"/>
            </a:pPr>
            <a:r>
              <a:rPr lang="en-US" sz="2000" dirty="0">
                <a:latin typeface="Comic Sans MS" panose="030F0702030302020204" pitchFamily="66" charset="0"/>
              </a:rPr>
              <a:t>Thread: A thread is an instance of the Thread class or an implementation of the Runnable interface. It represents a single unit of execution.</a:t>
            </a:r>
          </a:p>
          <a:p>
            <a:pPr marL="342900" indent="-342900" algn="just">
              <a:buFont typeface="Wingdings" panose="05000000000000000000" pitchFamily="2" charset="2"/>
              <a:buChar char="Ø"/>
            </a:pPr>
            <a:r>
              <a:rPr lang="en-US" sz="2000" dirty="0">
                <a:latin typeface="Comic Sans MS" panose="030F0702030302020204" pitchFamily="66" charset="0"/>
              </a:rPr>
              <a:t>Multithreading: This involves executing multiple threads concurrently to perform multiple operations at the same time. This improves the responsiveness of the application.</a:t>
            </a:r>
          </a:p>
          <a:p>
            <a:pPr marL="342900" indent="-342900" algn="just">
              <a:buFont typeface="Wingdings" panose="05000000000000000000" pitchFamily="2" charset="2"/>
              <a:buChar char="Ø"/>
            </a:pPr>
            <a:r>
              <a:rPr lang="en-US" sz="2000" dirty="0">
                <a:latin typeface="Comic Sans MS" panose="030F0702030302020204" pitchFamily="66" charset="0"/>
              </a:rPr>
              <a:t>Thread </a:t>
            </a:r>
            <a:r>
              <a:rPr lang="en-US" sz="2000" dirty="0" err="1">
                <a:latin typeface="Comic Sans MS" panose="030F0702030302020204" pitchFamily="66" charset="0"/>
              </a:rPr>
              <a:t>States:The</a:t>
            </a:r>
            <a:r>
              <a:rPr lang="en-US" sz="2000" dirty="0">
                <a:latin typeface="Comic Sans MS" panose="030F0702030302020204" pitchFamily="66" charset="0"/>
              </a:rPr>
              <a:t> life cycle of a thread consists of several states:</a:t>
            </a:r>
          </a:p>
          <a:p>
            <a:pPr marL="914400" lvl="1" indent="-457200" algn="just">
              <a:buFont typeface="+mj-lt"/>
              <a:buAutoNum type="arabicPeriod"/>
            </a:pPr>
            <a:r>
              <a:rPr lang="en-US" sz="2000" dirty="0">
                <a:latin typeface="Comic Sans MS" panose="030F0702030302020204" pitchFamily="66" charset="0"/>
              </a:rPr>
              <a:t>New: The thread is created but not yet started.</a:t>
            </a:r>
          </a:p>
          <a:p>
            <a:pPr marL="914400" lvl="1" indent="-457200" algn="just">
              <a:buFont typeface="+mj-lt"/>
              <a:buAutoNum type="arabicPeriod"/>
            </a:pPr>
            <a:r>
              <a:rPr lang="en-US" sz="2000" dirty="0">
                <a:latin typeface="Comic Sans MS" panose="030F0702030302020204" pitchFamily="66" charset="0"/>
              </a:rPr>
              <a:t>Runnable: The thread is ready to run and waiting for CPU time.</a:t>
            </a:r>
          </a:p>
          <a:p>
            <a:pPr marL="914400" lvl="1" indent="-457200" algn="just">
              <a:buFont typeface="+mj-lt"/>
              <a:buAutoNum type="arabicPeriod"/>
            </a:pPr>
            <a:r>
              <a:rPr lang="en-US" sz="2000" dirty="0">
                <a:latin typeface="Comic Sans MS" panose="030F0702030302020204" pitchFamily="66" charset="0"/>
              </a:rPr>
              <a:t>Blocked: The thread is waiting for resources (e.g., I/O operations).</a:t>
            </a:r>
          </a:p>
          <a:p>
            <a:pPr marL="914400" lvl="1" indent="-457200" algn="just">
              <a:buFont typeface="+mj-lt"/>
              <a:buAutoNum type="arabicPeriod"/>
            </a:pPr>
            <a:r>
              <a:rPr lang="en-US" sz="2000" dirty="0">
                <a:latin typeface="Comic Sans MS" panose="030F0702030302020204" pitchFamily="66" charset="0"/>
              </a:rPr>
              <a:t>Waiting: The thread is waiting indefinitely for another thread to perform a particular action.</a:t>
            </a:r>
          </a:p>
          <a:p>
            <a:pPr marL="914400" lvl="1" indent="-457200" algn="just">
              <a:buFont typeface="+mj-lt"/>
              <a:buAutoNum type="arabicPeriod"/>
            </a:pPr>
            <a:r>
              <a:rPr lang="en-US" sz="2000" dirty="0">
                <a:latin typeface="Comic Sans MS" panose="030F0702030302020204" pitchFamily="66" charset="0"/>
              </a:rPr>
              <a:t>Timed Waiting: The thread is waiting for a specified period of time.</a:t>
            </a:r>
          </a:p>
          <a:p>
            <a:pPr marL="914400" lvl="1" indent="-457200" algn="just">
              <a:buFont typeface="+mj-lt"/>
              <a:buAutoNum type="arabicPeriod"/>
            </a:pPr>
            <a:r>
              <a:rPr lang="en-US" sz="2000" dirty="0">
                <a:latin typeface="Comic Sans MS" panose="030F0702030302020204" pitchFamily="66" charset="0"/>
              </a:rPr>
              <a:t>Terminated: The thread has completed its execution or has been killed.</a:t>
            </a:r>
          </a:p>
        </p:txBody>
      </p:sp>
    </p:spTree>
    <p:extLst>
      <p:ext uri="{BB962C8B-B14F-4D97-AF65-F5344CB8AC3E}">
        <p14:creationId xmlns:p14="http://schemas.microsoft.com/office/powerpoint/2010/main" val="2583168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BD9CE-6EB4-DA02-85D0-469037EAC1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50A0D76-119F-4413-DFA3-A0048BFE1776}"/>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Multithreading and Concurrency</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9AD2E519-E8C0-747A-2E18-12A2F2B5A215}"/>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pic>
        <p:nvPicPr>
          <p:cNvPr id="3" name="Picture 2">
            <a:extLst>
              <a:ext uri="{FF2B5EF4-FFF2-40B4-BE49-F238E27FC236}">
                <a16:creationId xmlns:a16="http://schemas.microsoft.com/office/drawing/2014/main" id="{0D9D5A0B-5C69-F011-F8C5-593B05ADB825}"/>
              </a:ext>
            </a:extLst>
          </p:cNvPr>
          <p:cNvPicPr>
            <a:picLocks noChangeAspect="1"/>
          </p:cNvPicPr>
          <p:nvPr/>
        </p:nvPicPr>
        <p:blipFill>
          <a:blip r:embed="rId2"/>
          <a:stretch>
            <a:fillRect/>
          </a:stretch>
        </p:blipFill>
        <p:spPr>
          <a:xfrm>
            <a:off x="2313710" y="1523999"/>
            <a:ext cx="6482628" cy="4573283"/>
          </a:xfrm>
          <a:prstGeom prst="rect">
            <a:avLst/>
          </a:prstGeom>
        </p:spPr>
      </p:pic>
    </p:spTree>
    <p:extLst>
      <p:ext uri="{BB962C8B-B14F-4D97-AF65-F5344CB8AC3E}">
        <p14:creationId xmlns:p14="http://schemas.microsoft.com/office/powerpoint/2010/main" val="1831254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EBF24-24F0-EADC-591D-788023D63B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6FC957-EF66-780E-2098-4399CDBD0C36}"/>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Multithreading and Concurrency</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B1F59865-645F-D40B-156B-5950304812C0}"/>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09FB6D42-12B3-1F76-F691-49608232C4AF}"/>
              </a:ext>
            </a:extLst>
          </p:cNvPr>
          <p:cNvSpPr txBox="1"/>
          <p:nvPr/>
        </p:nvSpPr>
        <p:spPr>
          <a:xfrm>
            <a:off x="558998" y="783756"/>
            <a:ext cx="10930759" cy="4401205"/>
          </a:xfrm>
          <a:prstGeom prst="rect">
            <a:avLst/>
          </a:prstGeom>
          <a:noFill/>
        </p:spPr>
        <p:txBody>
          <a:bodyPr wrap="square">
            <a:spAutoFit/>
          </a:bodyPr>
          <a:lstStyle/>
          <a:p>
            <a:pPr algn="just"/>
            <a:r>
              <a:rPr lang="en-US" sz="2000" dirty="0">
                <a:latin typeface="Comic Sans MS" panose="030F0702030302020204" pitchFamily="66" charset="0"/>
              </a:rPr>
              <a:t>public class </a:t>
            </a:r>
            <a:r>
              <a:rPr lang="en-US" sz="2000" dirty="0" err="1">
                <a:latin typeface="Comic Sans MS" panose="030F0702030302020204" pitchFamily="66" charset="0"/>
              </a:rPr>
              <a:t>ThreadExample</a:t>
            </a:r>
            <a:r>
              <a:rPr lang="en-US" sz="2000" dirty="0">
                <a:latin typeface="Comic Sans MS" panose="030F0702030302020204" pitchFamily="66" charset="0"/>
              </a:rPr>
              <a:t> extends Thread {</a:t>
            </a:r>
          </a:p>
          <a:p>
            <a:pPr algn="just"/>
            <a:r>
              <a:rPr lang="en-US" sz="2000" dirty="0">
                <a:latin typeface="Comic Sans MS" panose="030F0702030302020204" pitchFamily="66" charset="0"/>
              </a:rPr>
              <a:t>    public void run()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("Thread is running...");</a:t>
            </a:r>
          </a:p>
          <a:p>
            <a:pPr algn="just"/>
            <a:r>
              <a:rPr lang="en-US" sz="2000" dirty="0">
                <a:latin typeface="Comic Sans MS" panose="030F0702030302020204" pitchFamily="66" charset="0"/>
              </a:rPr>
              <a:t>    }</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a:t>
            </a:r>
            <a:r>
              <a:rPr lang="en-US" sz="2000" dirty="0" err="1">
                <a:latin typeface="Comic Sans MS" panose="030F0702030302020204" pitchFamily="66" charset="0"/>
              </a:rPr>
              <a:t>ThreadExample</a:t>
            </a:r>
            <a:r>
              <a:rPr lang="en-US" sz="2000" dirty="0">
                <a:latin typeface="Comic Sans MS" panose="030F0702030302020204" pitchFamily="66" charset="0"/>
              </a:rPr>
              <a:t> t = new </a:t>
            </a:r>
            <a:r>
              <a:rPr lang="en-US" sz="2000" dirty="0" err="1">
                <a:latin typeface="Comic Sans MS" panose="030F0702030302020204" pitchFamily="66" charset="0"/>
              </a:rPr>
              <a:t>ThreadExample</a:t>
            </a:r>
            <a:r>
              <a:rPr lang="en-US" sz="2000" dirty="0">
                <a:latin typeface="Comic Sans MS" panose="030F0702030302020204" pitchFamily="66" charset="0"/>
              </a:rPr>
              <a:t>();</a:t>
            </a:r>
          </a:p>
          <a:p>
            <a:pPr algn="just"/>
            <a:r>
              <a:rPr lang="en-US" sz="2000" dirty="0">
                <a:latin typeface="Comic Sans MS" panose="030F0702030302020204" pitchFamily="66" charset="0"/>
              </a:rPr>
              <a:t>        </a:t>
            </a:r>
            <a:r>
              <a:rPr lang="en-US" sz="2000" dirty="0" err="1">
                <a:latin typeface="Comic Sans MS" panose="030F0702030302020204" pitchFamily="66" charset="0"/>
              </a:rPr>
              <a:t>t.start</a:t>
            </a:r>
            <a:r>
              <a:rPr lang="en-US" sz="2000" dirty="0">
                <a:latin typeface="Comic Sans MS" panose="030F0702030302020204" pitchFamily="66" charset="0"/>
              </a:rPr>
              <a:t>(); // The thread enters the Runnable state</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r>
              <a:rPr lang="en-US" sz="2000" dirty="0">
                <a:solidFill>
                  <a:srgbClr val="FF0000"/>
                </a:solidFill>
                <a:latin typeface="Comic Sans MS" panose="030F0702030302020204" pitchFamily="66" charset="0"/>
              </a:rPr>
              <a:t>Creating Threads</a:t>
            </a:r>
          </a:p>
          <a:p>
            <a:pPr algn="just"/>
            <a:r>
              <a:rPr lang="en-US" sz="2000" dirty="0">
                <a:latin typeface="Comic Sans MS" panose="030F0702030302020204" pitchFamily="66" charset="0"/>
              </a:rPr>
              <a:t>There are two primary ways to create and start threads in Java:</a:t>
            </a:r>
          </a:p>
          <a:p>
            <a:pPr algn="just"/>
            <a:r>
              <a:rPr lang="en-US" sz="2000" dirty="0">
                <a:latin typeface="Comic Sans MS" panose="030F0702030302020204" pitchFamily="66" charset="0"/>
              </a:rPr>
              <a:t>a. Extending the Thread </a:t>
            </a:r>
            <a:r>
              <a:rPr lang="en-US" sz="2000" dirty="0" err="1">
                <a:latin typeface="Comic Sans MS" panose="030F0702030302020204" pitchFamily="66" charset="0"/>
              </a:rPr>
              <a:t>class:You</a:t>
            </a:r>
            <a:r>
              <a:rPr lang="en-US" sz="2000" dirty="0">
                <a:latin typeface="Comic Sans MS" panose="030F0702030302020204" pitchFamily="66" charset="0"/>
              </a:rPr>
              <a:t> can create a new thread by subclassing the Thread class and overriding its run() method.</a:t>
            </a:r>
          </a:p>
        </p:txBody>
      </p:sp>
    </p:spTree>
    <p:extLst>
      <p:ext uri="{BB962C8B-B14F-4D97-AF65-F5344CB8AC3E}">
        <p14:creationId xmlns:p14="http://schemas.microsoft.com/office/powerpoint/2010/main" val="3343447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3402-33EF-6E57-D53F-6840ED8F9B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ACC9F2-2F76-4B3B-870E-92602AEC7198}"/>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Multithreading and Concurrency</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0DE73808-336C-26E5-0AAD-EE2FB2948AB2}"/>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9F49CE73-178F-34D3-B931-9191ADEC06AB}"/>
              </a:ext>
            </a:extLst>
          </p:cNvPr>
          <p:cNvSpPr txBox="1"/>
          <p:nvPr/>
        </p:nvSpPr>
        <p:spPr>
          <a:xfrm>
            <a:off x="558998" y="783756"/>
            <a:ext cx="10930759" cy="4708981"/>
          </a:xfrm>
          <a:prstGeom prst="rect">
            <a:avLst/>
          </a:prstGeom>
          <a:noFill/>
        </p:spPr>
        <p:txBody>
          <a:bodyPr wrap="square">
            <a:spAutoFit/>
          </a:bodyPr>
          <a:lstStyle/>
          <a:p>
            <a:pPr algn="just"/>
            <a:r>
              <a:rPr lang="en-US" sz="2000" dirty="0">
                <a:latin typeface="Comic Sans MS" panose="030F0702030302020204" pitchFamily="66" charset="0"/>
              </a:rPr>
              <a:t>class </a:t>
            </a:r>
            <a:r>
              <a:rPr lang="en-US" sz="2000" dirty="0" err="1">
                <a:latin typeface="Comic Sans MS" panose="030F0702030302020204" pitchFamily="66" charset="0"/>
              </a:rPr>
              <a:t>MyThread</a:t>
            </a:r>
            <a:r>
              <a:rPr lang="en-US" sz="2000" dirty="0">
                <a:latin typeface="Comic Sans MS" panose="030F0702030302020204" pitchFamily="66" charset="0"/>
              </a:rPr>
              <a:t> extends Thread {</a:t>
            </a:r>
          </a:p>
          <a:p>
            <a:pPr algn="just"/>
            <a:r>
              <a:rPr lang="en-US" sz="2000" dirty="0">
                <a:latin typeface="Comic Sans MS" panose="030F0702030302020204" pitchFamily="66" charset="0"/>
              </a:rPr>
              <a:t>    @Override</a:t>
            </a:r>
          </a:p>
          <a:p>
            <a:pPr algn="just"/>
            <a:r>
              <a:rPr lang="en-US" sz="2000" dirty="0">
                <a:latin typeface="Comic Sans MS" panose="030F0702030302020204" pitchFamily="66" charset="0"/>
              </a:rPr>
              <a:t>    public void run()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("Thread is running");</a:t>
            </a:r>
          </a:p>
          <a:p>
            <a:pPr algn="just"/>
            <a:r>
              <a:rPr lang="en-US" sz="2000" dirty="0">
                <a:latin typeface="Comic Sans MS" panose="030F0702030302020204" pitchFamily="66" charset="0"/>
              </a:rPr>
              <a:t>    }</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a:t>
            </a:r>
            <a:r>
              <a:rPr lang="en-US" sz="2000" dirty="0" err="1">
                <a:latin typeface="Comic Sans MS" panose="030F0702030302020204" pitchFamily="66" charset="0"/>
              </a:rPr>
              <a:t>MyThread</a:t>
            </a:r>
            <a:r>
              <a:rPr lang="en-US" sz="2000" dirty="0">
                <a:latin typeface="Comic Sans MS" panose="030F0702030302020204" pitchFamily="66" charset="0"/>
              </a:rPr>
              <a:t> thread = new </a:t>
            </a:r>
            <a:r>
              <a:rPr lang="en-US" sz="2000" dirty="0" err="1">
                <a:latin typeface="Comic Sans MS" panose="030F0702030302020204" pitchFamily="66" charset="0"/>
              </a:rPr>
              <a:t>MyThread</a:t>
            </a:r>
            <a:r>
              <a:rPr lang="en-US" sz="2000" dirty="0">
                <a:latin typeface="Comic Sans MS" panose="030F0702030302020204" pitchFamily="66" charset="0"/>
              </a:rPr>
              <a:t>();</a:t>
            </a:r>
          </a:p>
          <a:p>
            <a:pPr algn="just"/>
            <a:r>
              <a:rPr lang="en-US" sz="2000" dirty="0">
                <a:latin typeface="Comic Sans MS" panose="030F0702030302020204" pitchFamily="66" charset="0"/>
              </a:rPr>
              <a:t>        </a:t>
            </a:r>
            <a:r>
              <a:rPr lang="en-US" sz="2000" dirty="0" err="1">
                <a:latin typeface="Comic Sans MS" panose="030F0702030302020204" pitchFamily="66" charset="0"/>
              </a:rPr>
              <a:t>thread.start</a:t>
            </a:r>
            <a:r>
              <a:rPr lang="en-US" sz="2000" dirty="0">
                <a:latin typeface="Comic Sans MS" panose="030F0702030302020204" pitchFamily="66" charset="0"/>
              </a:rPr>
              <a:t>();  // Starts the thread</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r>
              <a:rPr lang="en-US" sz="2000" dirty="0">
                <a:latin typeface="Comic Sans MS" panose="030F0702030302020204" pitchFamily="66" charset="0"/>
              </a:rPr>
              <a:t>b. Implementing the Runnable </a:t>
            </a:r>
            <a:r>
              <a:rPr lang="en-US" sz="2000" dirty="0" err="1">
                <a:latin typeface="Comic Sans MS" panose="030F0702030302020204" pitchFamily="66" charset="0"/>
              </a:rPr>
              <a:t>interface:An</a:t>
            </a:r>
            <a:r>
              <a:rPr lang="en-US" sz="2000" dirty="0">
                <a:latin typeface="Comic Sans MS" panose="030F0702030302020204" pitchFamily="66" charset="0"/>
              </a:rPr>
              <a:t> alternative is to implement the Runnable interface, which is often preferred because Java allows you to implement multiple interfaces but only extends one class.</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24840773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346BA-EBA3-79B0-1450-49BA0DE181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06C5D1-9D05-3715-1484-6FBCEF8A378C}"/>
              </a:ext>
            </a:extLst>
          </p:cNvPr>
          <p:cNvSpPr/>
          <p:nvPr/>
        </p:nvSpPr>
        <p:spPr>
          <a:xfrm>
            <a:off x="430923" y="210208"/>
            <a:ext cx="10930759" cy="492443"/>
          </a:xfrm>
          <a:prstGeom prst="rect">
            <a:avLst/>
          </a:prstGeom>
        </p:spPr>
        <p:txBody>
          <a:bodyPr wrap="square">
            <a:spAutoFit/>
          </a:bodyPr>
          <a:lstStyle/>
          <a:p>
            <a:pPr lvl="1" algn="ctr"/>
            <a:r>
              <a:rPr lang="en-US" sz="2600" b="1" dirty="0">
                <a:solidFill>
                  <a:srgbClr val="FF0000"/>
                </a:solidFill>
                <a:effectLst>
                  <a:outerShdw blurRad="38100" dist="38100" dir="2700000" algn="tl">
                    <a:srgbClr val="000000">
                      <a:alpha val="43137"/>
                    </a:srgbClr>
                  </a:outerShdw>
                </a:effectLst>
                <a:latin typeface="Comic Sans MS" panose="030F0702030302020204" pitchFamily="66" charset="0"/>
              </a:rPr>
              <a:t>Multithreading and Concurrency</a:t>
            </a:r>
            <a:endParaRPr lang="en-US" sz="2600" b="1" i="0"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2" name="Rectangle 1">
            <a:extLst>
              <a:ext uri="{FF2B5EF4-FFF2-40B4-BE49-F238E27FC236}">
                <a16:creationId xmlns:a16="http://schemas.microsoft.com/office/drawing/2014/main" id="{639C7F9F-B837-FBFB-DB70-A767C754466A}"/>
              </a:ext>
            </a:extLst>
          </p:cNvPr>
          <p:cNvSpPr/>
          <p:nvPr/>
        </p:nvSpPr>
        <p:spPr>
          <a:xfrm>
            <a:off x="234917" y="889701"/>
            <a:ext cx="11518785" cy="830997"/>
          </a:xfrm>
          <a:prstGeom prst="rect">
            <a:avLst/>
          </a:prstGeom>
        </p:spPr>
        <p:txBody>
          <a:bodyPr wrap="square">
            <a:spAutoFit/>
          </a:bodyPr>
          <a:lstStyle/>
          <a:p>
            <a:pPr marL="457200" indent="-457200">
              <a:buFont typeface="Wingdings" panose="05000000000000000000" pitchFamily="2" charset="2"/>
              <a:buChar char="Ø"/>
            </a:pPr>
            <a:endParaRPr lang="en-US" sz="2000" b="0" i="0" dirty="0">
              <a:solidFill>
                <a:srgbClr val="000000"/>
              </a:solidFill>
              <a:effectLst/>
              <a:latin typeface="Comic Sans MS" panose="030F0702030302020204" pitchFamily="66" charset="0"/>
            </a:endParaRPr>
          </a:p>
          <a:p>
            <a:pPr marL="457200" indent="-457200">
              <a:buFont typeface="Wingdings" panose="05000000000000000000" pitchFamily="2" charset="2"/>
              <a:buChar char="Ø"/>
            </a:pPr>
            <a:endParaRPr lang="en-US" altLang="en-US" sz="2800" dirty="0">
              <a:latin typeface="Comic Sans MS" panose="030F0702030302020204" pitchFamily="66" charset="0"/>
              <a:cs typeface="Times New Roman" panose="02020603050405020304" pitchFamily="18" charset="0"/>
            </a:endParaRPr>
          </a:p>
        </p:txBody>
      </p:sp>
      <p:sp>
        <p:nvSpPr>
          <p:cNvPr id="7" name="TextBox 6">
            <a:extLst>
              <a:ext uri="{FF2B5EF4-FFF2-40B4-BE49-F238E27FC236}">
                <a16:creationId xmlns:a16="http://schemas.microsoft.com/office/drawing/2014/main" id="{F8947C4D-6E0D-9562-B8E7-E727B19F6E99}"/>
              </a:ext>
            </a:extLst>
          </p:cNvPr>
          <p:cNvSpPr txBox="1"/>
          <p:nvPr/>
        </p:nvSpPr>
        <p:spPr>
          <a:xfrm>
            <a:off x="558998" y="783756"/>
            <a:ext cx="10930759" cy="4093428"/>
          </a:xfrm>
          <a:prstGeom prst="rect">
            <a:avLst/>
          </a:prstGeom>
          <a:noFill/>
        </p:spPr>
        <p:txBody>
          <a:bodyPr wrap="square">
            <a:spAutoFit/>
          </a:bodyPr>
          <a:lstStyle/>
          <a:p>
            <a:pPr algn="just"/>
            <a:r>
              <a:rPr lang="en-US" sz="2000" dirty="0">
                <a:latin typeface="Comic Sans MS" panose="030F0702030302020204" pitchFamily="66" charset="0"/>
              </a:rPr>
              <a:t>class </a:t>
            </a:r>
            <a:r>
              <a:rPr lang="en-US" sz="2000" dirty="0" err="1">
                <a:latin typeface="Comic Sans MS" panose="030F0702030302020204" pitchFamily="66" charset="0"/>
              </a:rPr>
              <a:t>MyRunnable</a:t>
            </a:r>
            <a:r>
              <a:rPr lang="en-US" sz="2000" dirty="0">
                <a:latin typeface="Comic Sans MS" panose="030F0702030302020204" pitchFamily="66" charset="0"/>
              </a:rPr>
              <a:t> implements Runnable {</a:t>
            </a:r>
          </a:p>
          <a:p>
            <a:pPr algn="just"/>
            <a:r>
              <a:rPr lang="en-US" sz="2000" dirty="0">
                <a:latin typeface="Comic Sans MS" panose="030F0702030302020204" pitchFamily="66" charset="0"/>
              </a:rPr>
              <a:t>    @Override</a:t>
            </a:r>
          </a:p>
          <a:p>
            <a:pPr algn="just"/>
            <a:r>
              <a:rPr lang="en-US" sz="2000" dirty="0">
                <a:latin typeface="Comic Sans MS" panose="030F0702030302020204" pitchFamily="66" charset="0"/>
              </a:rPr>
              <a:t>    public void run() {</a:t>
            </a:r>
          </a:p>
          <a:p>
            <a:pPr algn="just"/>
            <a:r>
              <a:rPr lang="en-US" sz="2000" dirty="0">
                <a:latin typeface="Comic Sans MS" panose="030F0702030302020204" pitchFamily="66" charset="0"/>
              </a:rPr>
              <a:t>        </a:t>
            </a:r>
            <a:r>
              <a:rPr lang="en-US" sz="2000" dirty="0" err="1">
                <a:latin typeface="Comic Sans MS" panose="030F0702030302020204" pitchFamily="66" charset="0"/>
              </a:rPr>
              <a:t>System.out.println</a:t>
            </a:r>
            <a:r>
              <a:rPr lang="en-US" sz="2000" dirty="0">
                <a:latin typeface="Comic Sans MS" panose="030F0702030302020204" pitchFamily="66" charset="0"/>
              </a:rPr>
              <a:t>("Thread is running");</a:t>
            </a:r>
          </a:p>
          <a:p>
            <a:pPr algn="just"/>
            <a:r>
              <a:rPr lang="en-US" sz="2000" dirty="0">
                <a:latin typeface="Comic Sans MS" panose="030F0702030302020204" pitchFamily="66" charset="0"/>
              </a:rPr>
              <a:t>    }</a:t>
            </a:r>
          </a:p>
          <a:p>
            <a:pPr algn="just"/>
            <a:endParaRPr lang="en-US" sz="2000" dirty="0">
              <a:latin typeface="Comic Sans MS" panose="030F0702030302020204" pitchFamily="66" charset="0"/>
            </a:endParaRPr>
          </a:p>
          <a:p>
            <a:pPr algn="just"/>
            <a:r>
              <a:rPr lang="en-US" sz="2000" dirty="0">
                <a:latin typeface="Comic Sans MS" panose="030F0702030302020204" pitchFamily="66" charset="0"/>
              </a:rPr>
              <a:t>    public static void main(String[] </a:t>
            </a:r>
            <a:r>
              <a:rPr lang="en-US" sz="2000" dirty="0" err="1">
                <a:latin typeface="Comic Sans MS" panose="030F0702030302020204" pitchFamily="66" charset="0"/>
              </a:rPr>
              <a:t>args</a:t>
            </a:r>
            <a:r>
              <a:rPr lang="en-US" sz="2000" dirty="0">
                <a:latin typeface="Comic Sans MS" panose="030F0702030302020204" pitchFamily="66" charset="0"/>
              </a:rPr>
              <a:t>) {</a:t>
            </a:r>
          </a:p>
          <a:p>
            <a:pPr algn="just"/>
            <a:r>
              <a:rPr lang="en-US" sz="2000" dirty="0">
                <a:latin typeface="Comic Sans MS" panose="030F0702030302020204" pitchFamily="66" charset="0"/>
              </a:rPr>
              <a:t>        </a:t>
            </a:r>
            <a:r>
              <a:rPr lang="en-US" sz="2000" dirty="0" err="1">
                <a:latin typeface="Comic Sans MS" panose="030F0702030302020204" pitchFamily="66" charset="0"/>
              </a:rPr>
              <a:t>MyRunnable</a:t>
            </a:r>
            <a:r>
              <a:rPr lang="en-US" sz="2000" dirty="0">
                <a:latin typeface="Comic Sans MS" panose="030F0702030302020204" pitchFamily="66" charset="0"/>
              </a:rPr>
              <a:t> </a:t>
            </a:r>
            <a:r>
              <a:rPr lang="en-US" sz="2000" dirty="0" err="1">
                <a:latin typeface="Comic Sans MS" panose="030F0702030302020204" pitchFamily="66" charset="0"/>
              </a:rPr>
              <a:t>myRunnable</a:t>
            </a:r>
            <a:r>
              <a:rPr lang="en-US" sz="2000" dirty="0">
                <a:latin typeface="Comic Sans MS" panose="030F0702030302020204" pitchFamily="66" charset="0"/>
              </a:rPr>
              <a:t> = new </a:t>
            </a:r>
            <a:r>
              <a:rPr lang="en-US" sz="2000" dirty="0" err="1">
                <a:latin typeface="Comic Sans MS" panose="030F0702030302020204" pitchFamily="66" charset="0"/>
              </a:rPr>
              <a:t>MyRunnable</a:t>
            </a:r>
            <a:r>
              <a:rPr lang="en-US" sz="2000" dirty="0">
                <a:latin typeface="Comic Sans MS" panose="030F0702030302020204" pitchFamily="66" charset="0"/>
              </a:rPr>
              <a:t>();</a:t>
            </a:r>
          </a:p>
          <a:p>
            <a:pPr algn="just"/>
            <a:r>
              <a:rPr lang="en-US" sz="2000" dirty="0">
                <a:latin typeface="Comic Sans MS" panose="030F0702030302020204" pitchFamily="66" charset="0"/>
              </a:rPr>
              <a:t>        Thread </a:t>
            </a:r>
            <a:r>
              <a:rPr lang="en-US" sz="2000" dirty="0" err="1">
                <a:latin typeface="Comic Sans MS" panose="030F0702030302020204" pitchFamily="66" charset="0"/>
              </a:rPr>
              <a:t>thread</a:t>
            </a:r>
            <a:r>
              <a:rPr lang="en-US" sz="2000" dirty="0">
                <a:latin typeface="Comic Sans MS" panose="030F0702030302020204" pitchFamily="66" charset="0"/>
              </a:rPr>
              <a:t> = new Thread(</a:t>
            </a:r>
            <a:r>
              <a:rPr lang="en-US" sz="2000" dirty="0" err="1">
                <a:latin typeface="Comic Sans MS" panose="030F0702030302020204" pitchFamily="66" charset="0"/>
              </a:rPr>
              <a:t>myRunnable</a:t>
            </a:r>
            <a:r>
              <a:rPr lang="en-US" sz="2000" dirty="0">
                <a:latin typeface="Comic Sans MS" panose="030F0702030302020204" pitchFamily="66" charset="0"/>
              </a:rPr>
              <a:t>);</a:t>
            </a:r>
          </a:p>
          <a:p>
            <a:pPr algn="just"/>
            <a:r>
              <a:rPr lang="en-US" sz="2000" dirty="0">
                <a:latin typeface="Comic Sans MS" panose="030F0702030302020204" pitchFamily="66" charset="0"/>
              </a:rPr>
              <a:t>        </a:t>
            </a:r>
            <a:r>
              <a:rPr lang="en-US" sz="2000" dirty="0" err="1">
                <a:latin typeface="Comic Sans MS" panose="030F0702030302020204" pitchFamily="66" charset="0"/>
              </a:rPr>
              <a:t>thread.start</a:t>
            </a:r>
            <a:r>
              <a:rPr lang="en-US" sz="2000" dirty="0">
                <a:latin typeface="Comic Sans MS" panose="030F0702030302020204" pitchFamily="66" charset="0"/>
              </a:rPr>
              <a:t>();</a:t>
            </a:r>
          </a:p>
          <a:p>
            <a:pPr algn="just"/>
            <a:r>
              <a:rPr lang="en-US" sz="2000" dirty="0">
                <a:latin typeface="Comic Sans MS" panose="030F0702030302020204" pitchFamily="66" charset="0"/>
              </a:rPr>
              <a:t>    }</a:t>
            </a:r>
          </a:p>
          <a:p>
            <a:pPr algn="just"/>
            <a:r>
              <a:rPr lang="en-US" sz="2000" dirty="0">
                <a:latin typeface="Comic Sans MS" panose="030F0702030302020204" pitchFamily="66" charset="0"/>
              </a:rPr>
              <a:t>}</a:t>
            </a:r>
          </a:p>
          <a:p>
            <a:pPr algn="just"/>
            <a:endParaRPr lang="en-US" sz="2000" dirty="0">
              <a:latin typeface="Comic Sans MS" panose="030F0702030302020204" pitchFamily="66" charset="0"/>
            </a:endParaRPr>
          </a:p>
        </p:txBody>
      </p:sp>
    </p:spTree>
    <p:extLst>
      <p:ext uri="{BB962C8B-B14F-4D97-AF65-F5344CB8AC3E}">
        <p14:creationId xmlns:p14="http://schemas.microsoft.com/office/powerpoint/2010/main" val="443812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75BE149-AF22-4CAD-9239-8712B7DBD8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999" y="161925"/>
            <a:ext cx="11477626" cy="6438900"/>
          </a:xfrm>
          <a:prstGeom prst="rect">
            <a:avLst/>
          </a:prstGeom>
        </p:spPr>
      </p:pic>
      <p:sp>
        <p:nvSpPr>
          <p:cNvPr id="3" name="Content Placeholder 2"/>
          <p:cNvSpPr>
            <a:spLocks noGrp="1"/>
          </p:cNvSpPr>
          <p:nvPr>
            <p:ph idx="1"/>
          </p:nvPr>
        </p:nvSpPr>
        <p:spPr/>
        <p:txBody>
          <a:bodyPr>
            <a:normAutofit/>
          </a:bodyPr>
          <a:lstStyle/>
          <a:p>
            <a:pPr marL="0" indent="0" algn="ctr">
              <a:buNone/>
            </a:pPr>
            <a:endParaRPr lang="en-US" sz="4500"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marL="0" indent="0" algn="ctr">
              <a:buNone/>
            </a:pPr>
            <a:r>
              <a:rPr lang="en-US" sz="4500" b="1" dirty="0">
                <a:solidFill>
                  <a:schemeClr val="bg1"/>
                </a:solidFill>
                <a:effectLst>
                  <a:outerShdw blurRad="38100" dist="38100" dir="2700000" algn="tl">
                    <a:srgbClr val="000000">
                      <a:alpha val="43137"/>
                    </a:srgbClr>
                  </a:outerShdw>
                </a:effectLst>
                <a:latin typeface="Comic Sans MS" panose="030F0702030302020204" pitchFamily="66" charset="0"/>
              </a:rPr>
              <a:t>THANK YOU FOR LISTENING</a:t>
            </a:r>
          </a:p>
        </p:txBody>
      </p:sp>
    </p:spTree>
    <p:extLst>
      <p:ext uri="{BB962C8B-B14F-4D97-AF65-F5344CB8AC3E}">
        <p14:creationId xmlns:p14="http://schemas.microsoft.com/office/powerpoint/2010/main" val="1103507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10319</TotalTime>
  <Words>5129</Words>
  <Application>Microsoft Office PowerPoint</Application>
  <PresentationFormat>Widescreen</PresentationFormat>
  <Paragraphs>604</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Comic Sans MS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Malachi</dc:creator>
  <cp:lastModifiedBy>Malachi Chidiebere Egbugha</cp:lastModifiedBy>
  <cp:revision>443</cp:revision>
  <dcterms:created xsi:type="dcterms:W3CDTF">2019-10-22T08:02:47Z</dcterms:created>
  <dcterms:modified xsi:type="dcterms:W3CDTF">2025-01-21T08:52:16Z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12314d-160c-44b2-89a8-b5e2f489b2e7_Enabled">
    <vt:lpwstr>true</vt:lpwstr>
  </property>
  <property fmtid="{D5CDD505-2E9C-101B-9397-08002B2CF9AE}" pid="3" name="MSIP_Label_5512314d-160c-44b2-89a8-b5e2f489b2e7_SetDate">
    <vt:lpwstr>2024-03-27T21:32:04Z</vt:lpwstr>
  </property>
  <property fmtid="{D5CDD505-2E9C-101B-9397-08002B2CF9AE}" pid="4" name="MSIP_Label_5512314d-160c-44b2-89a8-b5e2f489b2e7_Method">
    <vt:lpwstr>Privileged</vt:lpwstr>
  </property>
  <property fmtid="{D5CDD505-2E9C-101B-9397-08002B2CF9AE}" pid="5" name="MSIP_Label_5512314d-160c-44b2-89a8-b5e2f489b2e7_Name">
    <vt:lpwstr>5512314d-160c-44b2-89a8-b5e2f489b2e7</vt:lpwstr>
  </property>
  <property fmtid="{D5CDD505-2E9C-101B-9397-08002B2CF9AE}" pid="6" name="MSIP_Label_5512314d-160c-44b2-89a8-b5e2f489b2e7_SiteId">
    <vt:lpwstr>b841de22-e0c3-40c5-b3fe-c287594b4649</vt:lpwstr>
  </property>
  <property fmtid="{D5CDD505-2E9C-101B-9397-08002B2CF9AE}" pid="7" name="MSIP_Label_5512314d-160c-44b2-89a8-b5e2f489b2e7_ActionId">
    <vt:lpwstr>cb033d6f-9302-44bb-a21a-30675752b325</vt:lpwstr>
  </property>
  <property fmtid="{D5CDD505-2E9C-101B-9397-08002B2CF9AE}" pid="8" name="MSIP_Label_5512314d-160c-44b2-89a8-b5e2f489b2e7_ContentBits">
    <vt:lpwstr>0</vt:lpwstr>
  </property>
</Properties>
</file>